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s/slide40.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3"/>
  </p:notesMasterIdLst>
  <p:handoutMasterIdLst>
    <p:handoutMasterId r:id="rId34"/>
  </p:handoutMasterIdLst>
  <p:sldIdLst>
    <p:sldId id="419" r:id="rId5"/>
    <p:sldId id="402" r:id="rId6"/>
    <p:sldId id="483" r:id="rId41"/>
    <p:sldId id="484" r:id="rId42"/>
    <p:sldId id="485" r:id="rId43"/>
    <p:sldId id="486" r:id="rId44"/>
    <p:sldId id="487" r:id="rId45"/>
    <p:sldId id="488" r:id="rId46"/>
    <p:sldId id="489" r:id="rId47"/>
    <p:sldId id="490" r:id="rId48"/>
    <p:sldId id="491" r:id="rId49"/>
    <p:sldId id="492" r:id="rId50"/>
    <p:sldId id="493" r:id="rId51"/>
    <p:sldId id="49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65" autoAdjust="0"/>
    <p:restoredTop sz="81081" autoAdjust="0"/>
  </p:normalViewPr>
  <p:slideViewPr>
    <p:cSldViewPr snapToGrid="0">
      <p:cViewPr varScale="1">
        <p:scale>
          <a:sx n="69" d="100"/>
          <a:sy n="69" d="100"/>
        </p:scale>
        <p:origin x="78" y="96"/>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39" Type="http://schemas.microsoft.com/office/2016/11/relationships/changesInfo" Target="changesInfos/changesInfo1.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36" Type="http://schemas.openxmlformats.org/officeDocument/2006/relationships/viewProps" Target="viewProps.xml"/><Relationship Id="rId4" Type="http://schemas.openxmlformats.org/officeDocument/2006/relationships/slideMaster" Target="slideMasters/slideMaster1.xml"/><Relationship Id="rId35" Type="http://schemas.openxmlformats.org/officeDocument/2006/relationships/presProps" Target="presProps.xml"/><Relationship Id="rId3" Type="http://schemas.openxmlformats.org/officeDocument/2006/relationships/customXml" Target="../customXml/item3.xml"/>  <Relationship Id="rId41" Type="http://schemas.openxmlformats.org/officeDocument/2006/relationships/slide" Target="slides/slide29.xml"/>
  <Relationship Id="rId42" Type="http://schemas.openxmlformats.org/officeDocument/2006/relationships/slide" Target="slides/slide30.xml"/>
  <Relationship Id="rId43" Type="http://schemas.openxmlformats.org/officeDocument/2006/relationships/slide" Target="slides/slide31.xml"/>
  <Relationship Id="rId44" Type="http://schemas.openxmlformats.org/officeDocument/2006/relationships/slide" Target="slides/slide32.xml"/>
  <Relationship Id="rId45" Type="http://schemas.openxmlformats.org/officeDocument/2006/relationships/slide" Target="slides/slide33.xml"/>
  <Relationship Id="rId46" Type="http://schemas.openxmlformats.org/officeDocument/2006/relationships/slide" Target="slides/slide34.xml"/>
  <Relationship Id="rId47" Type="http://schemas.openxmlformats.org/officeDocument/2006/relationships/slide" Target="slides/slide35.xml"/>
  <Relationship Id="rId48" Type="http://schemas.openxmlformats.org/officeDocument/2006/relationships/slide" Target="slides/slide36.xml"/>
  <Relationship Id="rId49" Type="http://schemas.openxmlformats.org/officeDocument/2006/relationships/slide" Target="slides/slide37.xml"/>
  <Relationship Id="rId50" Type="http://schemas.openxmlformats.org/officeDocument/2006/relationships/slide" Target="slides/slide38.xml"/>
  <Relationship Id="rId51" Type="http://schemas.openxmlformats.org/officeDocument/2006/relationships/slide" Target="slides/slide39.xml"/>
  <Relationship Id="rId52" Type="http://schemas.openxmlformats.org/officeDocument/2006/relationships/slide" Target="slides/slide40.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8/10/2025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8/10/2025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what I want you to walk away with today.</a:t>
            </a:r>
          </a:p>
          <a:p>
            <a:r>
              <a:rPr lang="en-US" dirty="0"/>
              <a:t>First, a clear working definition of Spec-Driven Development, and — just as important — why it exists, meaning what problem it's actually solving compared to just prompting an LLM directly.</a:t>
            </a:r>
          </a:p>
          <a:p>
            <a:r>
              <a:rPr lang="en-US" dirty="0"/>
              <a:t>Second, a real understanding of the Full Spec Process — the three documents, Requirements, Design, and Tasks — and what each one is actually for, not just their names.</a:t>
            </a:r>
          </a:p>
          <a:p>
            <a:r>
              <a:rPr lang="en-US" dirty="0"/>
              <a:t>And third, how those three documents connect to each other through traceability, so you can see why this whole approach holds together as a system, not just three separate templates.</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now that we've seen why vibe coding falls apart as systems grow, let's look at what the alternative actually looks like in practice.</a:t>
            </a:r>
          </a:p>
          <a:p>
            <a:r>
              <a:rPr lang="en-US" dirty="0"/>
              <a:t>The spec-driven-development guide on GitHub lays out three levels of documentation depth, and today we're zooming into the most complete one — what they call the Full Spec Process.</a:t>
            </a:r>
          </a:p>
          <a:p>
            <a:r>
              <a:rPr lang="en-US" dirty="0"/>
              <a:t>Think of it as three checkpoints: first you write down what you're building, then you figure out how you're going to build it, and finally you break that plan into tasks you can actually execute.</a:t>
            </a:r>
          </a:p>
          <a:p>
            <a:r>
              <a:rPr lang="en-US" dirty="0"/>
              <a:t>It's basically the same discipline good software teams have always used — requirements, design, tasks — except now it's written specifically so an LLM can read it and generate code that matches it, rather than code that just guesses at your intent.</a:t>
            </a:r>
          </a:p>
          <a:p>
            <a:r>
              <a:rPr lang="en-US" dirty="0"/>
              <a:t>Sound familiar? It's the same three files we mentioned earlier — requirements.md, design.md, tasks.md.</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start with the very first document: requirements.</a:t>
            </a:r>
          </a:p>
          <a:p>
            <a:r>
              <a:rPr lang="en-US" dirty="0"/>
              <a:t>The template asks you to phrase every requirement as a user story — as a certain type of user, I want some functionality, so that I get some benefit — which keeps forcing you to ask ‘who is this for, and why do they need it?’</a:t>
            </a:r>
          </a:p>
          <a:p>
            <a:r>
              <a:rPr lang="en-US" dirty="0"/>
              <a:t>The real trick is the acceptance criteria underneath each story, and that's where EARS comes in. EARS stands for Easy Approach to Requirements Syntax, and it gives you four sentence patterns — WHEN something happens, IF some condition is true, WHILE something is ongoing, or WHERE some context applies — and each one ends with the word SHALL to describe exactly what the system must do.</a:t>
            </a:r>
          </a:p>
          <a:p>
            <a:r>
              <a:rPr lang="en-US" dirty="0"/>
              <a:t>It sounds a bit rigid, almost like legal language, but that's the point — it removes ambiguity. If I just say ‘the system should handle bad input nicely,’ an LLM might interpret ‘nicely’ ten different ways. But if I say ‘WHEN a user submits an invalid payment amount, THEN the system SHALL reject the request and return a validation error,’ there's only one way to implement that.</a:t>
            </a:r>
          </a:p>
          <a:p>
            <a:r>
              <a:rPr lang="en-US" dirty="0"/>
              <a:t>The template also has room for the boring-but-important stuff — performance, security, usability requirements, and a glossary of terms — so nobody's guessing what a word means three months later.</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Once the requirements are signed off, we move to design — and this is where a lot of vibe-coding sessions quietly go wrong, because the LLM ends up making architectural decisions on the fly, mid-conversation, with nobody reviewing them.</a:t>
            </a:r>
          </a:p>
          <a:p>
            <a:r>
              <a:rPr lang="en-US" dirty="0"/>
              <a:t>The design template forces those decisions into the open before any code gets written. You describe the overall architecture — how this feature talks to other systems — then break it into components with clear responsibilities, define your data models as actual schemas, and spell out your API endpoints with example requests and responses.</a:t>
            </a:r>
          </a:p>
          <a:p>
            <a:r>
              <a:rPr lang="en-US" dirty="0"/>
              <a:t>There's also a section for the things that are easy to forget until it's too late: how you handle errors consistently, how you secure the endpoints, what your performance targets are.</a:t>
            </a:r>
          </a:p>
          <a:p>
            <a:r>
              <a:rPr lang="en-US" dirty="0"/>
              <a:t>The nice part is that every one of these choices should be traceable back to a requirement. If a reviewer looks at your design and can't tell which requirement justifies a particular component, that's a good sign it's scope creep — or the LLM inventing something nobody actually asked for.</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last document is tasks, and honestly this is my favourite one to hand to an LLM, because it's the difference between saying ‘build me the whole feature’ and saying ‘do step 4.2, and only step 4.2.’</a:t>
            </a:r>
          </a:p>
          <a:p>
            <a:r>
              <a:rPr lang="en-US" dirty="0"/>
              <a:t>The template breaks the work into phases — you'll usually start with foundational setup, then core business logic, then the API layer, then the UI, then integration and testing, and finally deployment.</a:t>
            </a:r>
          </a:p>
          <a:p>
            <a:r>
              <a:rPr lang="en-US" dirty="0"/>
              <a:t>Every task in that list is supposed to reference back to a requirement number, so there's a straight line you can trace from ‘the user needs this’ all the way down to ‘this specific line of the task list.’</a:t>
            </a:r>
          </a:p>
          <a:p>
            <a:r>
              <a:rPr lang="en-US" dirty="0"/>
              <a:t>And the guidance is to keep each task small — something like one to two days of work — because that's roughly the unit size where you can actually verify whether it worked before moving on.</a:t>
            </a:r>
          </a:p>
          <a:p>
            <a:r>
              <a:rPr lang="en-US" dirty="0"/>
              <a:t>When you feed one task at a time to an LLM instead of the entire spec, you get code that's far easier to review, and if something's wrong, you know exactly which fifty lines to look at instead of the whole file.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the piece that ties the whole process together: traceability.</a:t>
            </a:r>
          </a:p>
          <a:p>
            <a:r>
              <a:rPr lang="en-US" dirty="0"/>
              <a:t>Each document isn't meant to stand alone — it's a chain. A design component should point back to the requirement it's satisfying. A task should literally cite the requirement number it implements, so when you look at the task list you see little tags like ‘Requirements: 2.3’ at the bottom of each item.</a:t>
            </a:r>
          </a:p>
          <a:p>
            <a:r>
              <a:rPr lang="en-US" dirty="0"/>
              <a:t>Each template also comes with its own review checklist, so before you're allowed to move from requirements to design, you tick off things like ‘is every acceptance criterion testable,’ or ‘does every WHEN statement describe a specific trigger.’</a:t>
            </a:r>
          </a:p>
          <a:p>
            <a:r>
              <a:rPr lang="en-US" dirty="0"/>
              <a:t>It feels like extra overhead the first time you do it, but what you get in return is huge: at any point, for any line of code, you can ask ‘why does this exist’ and actually answer it — instead of shrugging and saying ‘the AI generated it and it seemed to work.’</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thing worth being upfront about: the Full Spec Process is thorough, and thorough takes time. Nobody's suggesting you write a design document to fix a typo.</a:t>
            </a:r>
          </a:p>
          <a:p>
            <a:r>
              <a:rPr lang="en-US" dirty="0"/>
              <a:t>That's why the guide defines three tiers. The Full Spec — requirements, design, and tasks — is meant for standard feature development, the kind of thing that's going to live in your codebase for a long time and touch multiple people.</a:t>
            </a:r>
          </a:p>
          <a:p>
            <a:r>
              <a:rPr lang="en-US" dirty="0"/>
              <a:t>Then there's a Quick Spec, which drops the design document and goes straight from requirements to tasks, aimed at work you can finish in a day or three. And a Micro Spec, which is about as lightweight as it gets, for changes you'd knock out in under a day.</a:t>
            </a:r>
          </a:p>
          <a:p>
            <a:r>
              <a:rPr lang="en-US" dirty="0"/>
              <a:t>The skill here isn't memorising the templates — it's judgment: how risky is this change, how long will it live, how many people need to agree on it before it ships? That's what should decide which tier you reach for, not just how the request happened to be worded.</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bring this together. The big mental shift with spec-driven development is that the specification becomes the primary artifact, and the code becomes something you can regenerate — it's downstream of the spec, not the other way around.</a:t>
            </a:r>
          </a:p>
          <a:p>
            <a:r>
              <a:rPr lang="en-US" dirty="0"/>
              <a:t>Everything we walked through today serves one goal: removing ambiguity. The EARS syntax removes ambiguity in requirements. Explicit data models and API contracts remove ambiguity in design. Citing requirement IDs on every task removes ambiguity in execution.</a:t>
            </a:r>
          </a:p>
          <a:p>
            <a:r>
              <a:rPr lang="en-US" dirty="0"/>
              <a:t>And because everything traces back to something reviewed, you get a level of trust in AI-generated code that plain vibe coding just can't offer — you're not trusting the model's judgement, you're trusting a document a human already signed off on.</a:t>
            </a:r>
          </a:p>
          <a:p>
            <a:r>
              <a:rPr lang="en-US" dirty="0"/>
              <a:t>And don't forget: this isn't an all-or-nothing commitment. Pick the tier that matches the job.</a:t>
            </a:r>
          </a:p>
          <a:p>
            <a:r>
              <a:rPr lang="en-US" dirty="0"/>
              <a:t>The bottom line I want you to walk away with is this: spec-driven development isn't about slowing your team down with paperwork — it's about doing the hard thinking up front, so that when the code finally gets generated, you're not stuck redoing it three times.</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Good morning / good afternoon, everyone. Today we're switching gears a little — instead of looking at how models like Transformers and LLMs work under the hood, we're going to look at how we actually work *with* them when we're building software.</a:t>
            </a:r>
          </a:p>
          <a:p>
            <a:r>
              <a:rPr lang="en-US" dirty="0"/>
              <a:t>The topic is Spec-Driven Development, or SDD for short. It's a practical answer to a question a lot of teams are wrestling with right now: now that an LLM can write code for us, how do we make sure it writes the *right* code?</a:t>
            </a:r>
          </a:p>
          <a:p>
            <a:r>
              <a:rPr lang="en-US" dirty="0"/>
              <a:t>By the end of this session you'll know exactly what that looks like in practice — not just the philosophy, but the actual documents and structure behind it.</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ground this in something concrete before we get abstract: vibe coding.</a:t>
            </a:r>
          </a:p>
          <a:p>
            <a:r>
              <a:rPr lang="en-US" dirty="0"/>
              <a:t>Vibe coding is basically what most of us have already been doing with AI coding tools — you describe what you want in plain English, the model writes the code, and you refine it back and forth in conversation until it feels right.</a:t>
            </a:r>
          </a:p>
          <a:p>
            <a:r>
              <a:rPr lang="en-US" dirty="0"/>
              <a:t>The example here is a WhatsApp payment checker — you ask for something that checks if a message confirms payment and pulls out the amount, and the model just... writes it. No spec, no design doc, just a prompt and a result.</a:t>
            </a:r>
          </a:p>
          <a:p>
            <a:r>
              <a:rPr lang="en-US" dirty="0"/>
              <a:t>And it works! For a quick prototype like this, vibe coding is genuinely great — fast, low friction, perfect for exploring an idea. But notice something important: the LLM is the one deciding the structure of the code, not you. You're reacting to what it produces rather than directing it up front. Keep that thought in mind, because it's exactly the gap Spec-Driven Development is designed to close.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what's the alternative to vibe coding? Spec-Driven Development.</a:t>
            </a:r>
          </a:p>
          <a:p>
            <a:r>
              <a:rPr lang="en-US" dirty="0"/>
              <a:t>The core idea is simple to say and a little harder to practice: before any code gets generated, you write a clear, structured spec — your requirements, your data models, your API contracts, your edge cases. That spec becomes the source of truth, and the LLM's job is to generate code that satisfies it — not the other way around, where the code defines what happened and you reverse-engineer whether it's correct.</a:t>
            </a:r>
          </a:p>
          <a:p>
            <a:r>
              <a:rPr lang="en-US" dirty="0"/>
              <a:t>This isn't a brand-new invention, by the way — you'll see it show up in real agentic coding tools today, like Claude Code and GitHub's Spec Kit, structured as three files: requirements.md, design.md, and tasks.md. We'll spend most of today unpacking exactly what goes into each of those.</a:t>
            </a:r>
          </a:p>
          <a:p>
            <a:r>
              <a:rPr lang="en-US" dirty="0"/>
              <a:t>And because these are just text files, they get reviewed and version-controlled exactly like code does — which means you get traceability and safe iteration, the same discipline you'd expect from a real engineering process.</a:t>
            </a:r>
          </a:p>
          <a:p>
            <a:r>
              <a:rPr lang="en-US" dirty="0"/>
              <a:t>The example on this slide is a nice contrast to the vibe coding one: instead of saying 'build a payment parser' and hoping for the best, the spec fixes the formats and rules first, and only then does the LLM get to write code against it.</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might be thinking, 'this all sounds like extra process — do we really need it?' Let's talk about why vibe coding, as fun as it is, starts to break down once a system grows past a quick prototype.</a:t>
            </a:r>
          </a:p>
          <a:p>
            <a:r>
              <a:rPr lang="en-US" dirty="0"/>
              <a:t>The first failure mode is hallucinated logic — the model invents behaviour nobody actually asked for, especially around edge cases it wasn't told about explicitly.</a:t>
            </a:r>
          </a:p>
          <a:p>
            <a:r>
              <a:rPr lang="en-US" dirty="0"/>
              <a:t>The second is inconsistency — ask for the same thing on two different days, and you might get two different implementations, because there's no fixed reference the model is working from.</a:t>
            </a:r>
          </a:p>
          <a:p>
            <a:r>
              <a:rPr lang="en-US" dirty="0"/>
              <a:t>The third is that it's hard to review. If there's no spec, what does a reviewer even check the code against? Their own intuition? The original prompt, which was probably three sentences long?</a:t>
            </a:r>
          </a:p>
          <a:p>
            <a:r>
              <a:rPr lang="en-US" dirty="0"/>
              <a:t>And the fourth is maintainability — six months later, a teammate looks at a design choice in the code and has absolutely no idea why it was made that way, because that reasoning only ever existed inside a chat conversation.</a:t>
            </a:r>
          </a:p>
          <a:p>
            <a:r>
              <a:rPr lang="en-US" dirty="0"/>
              <a:t>What Spec-Driven Development gives you is an explicit, testable contract — something both the LLM and the team can generate against, verify against, and safely regenerate against when things need to change.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put these two approaches side by side, because I don't want you to walk away thinking vibe coding is 'bad' — it isn't, it's just suited to a different job.</a:t>
            </a:r>
          </a:p>
          <a:p>
            <a:r>
              <a:rPr lang="en-US" dirty="0"/>
              <a:t>Vibe coding is fast and exploratory — you drive the code directly with natural language prompts. It's great for prototypes, demos, one-off scripts, throwaway tools. The risk is hallucination, inconsistency, and code that's hard to scale or review once it needs to live longer than a demo.</a:t>
            </a:r>
          </a:p>
          <a:p>
            <a:r>
              <a:rPr lang="en-US" dirty="0"/>
              <a:t>Spec-Driven Development is deliberate and specification-first — the spec defines what's required before any code gets generated. It's the right fit for production systems, team projects, anything compliance-critical, anywhere multiple people need to agree on what 'correct' means. What you get in return is traceability, consistency, and testability.</a:t>
            </a:r>
          </a:p>
          <a:p>
            <a:r>
              <a:rPr lang="en-US" dirty="0"/>
              <a:t>The key takeaway I want you to remember: vibe coding is how you explore an idea. Spec-Driven Development is how you engineer that idea into a product that can actually scale. And from here, we're going to go deep into exactly how SDD structures that spec — starting with the Full Spec Process.</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Just to close things out, here's where all of this material comes from, in case you want to go deeper on your own.</a:t>
            </a:r>
          </a:p>
          <a:p>
            <a:r>
              <a:rPr lang="en-US" dirty="0"/>
              <a:t>The main source is the spec-driven-development repository on GitHub — that's where the Requirements, Design, and Tasks templates we walked through today actually live, along with worked examples and review checklists for each one.</a:t>
            </a:r>
          </a:p>
          <a:p>
            <a:r>
              <a:rPr lang="en-US" dirty="0"/>
              <a:t>If you want to see this workflow already built into a tool, look at GitHub's Spec Kit, and at Claude Code's support for requirements.md, design.md, and tasks.md files — both are practical implementations of exactly what we discussed.</a:t>
            </a:r>
          </a:p>
          <a:p>
            <a:r>
              <a:rPr lang="en-US" dirty="0"/>
              <a:t>And if EARS syntax was new to you, it's worth reading up on it separately — it's used well beyond this one guide, in a lot of formal requirements engineering.</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ITI122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203270" y="1076562"/>
            <a:ext cx="6198982" cy="1613597"/>
          </a:xfrm>
        </p:spPr>
        <p:txBody>
          <a:bodyPr>
            <a:normAutofit fontScale="92500" lnSpcReduction="20000"/>
          </a:bodyPr>
          <a:lstStyle/>
          <a:p>
            <a:pPr marL="0" indent="0">
              <a:lnSpc>
                <a:spcPct val="110000"/>
              </a:lnSpc>
              <a:spcAft>
                <a:spcPts val="600"/>
              </a:spcAft>
              <a:buNone/>
            </a:pPr>
            <a:r>
              <a:rPr lang="en-SG" sz="4800" dirty="0"/>
              <a:t>Coding with AI:</a:t>
            </a:r>
          </a:p>
          <a:p>
            <a:pPr marL="0" indent="0">
              <a:lnSpc>
                <a:spcPct val="110000"/>
              </a:lnSpc>
              <a:spcAft>
                <a:spcPts val="600"/>
              </a:spcAft>
              <a:buNone/>
            </a:pPr>
            <a:r>
              <a:rPr lang="en-SG" sz="4800" dirty="0"/>
              <a:t>Spec-Driven Development</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5240-7FB9-719D-31A3-9285D2702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71B1-6C5D-3259-B42A-793ADF2CE90C}"/>
              </a:ext>
            </a:extLst>
          </p:cNvPr>
          <p:cNvSpPr>
            <a:spLocks noGrp="1"/>
          </p:cNvSpPr>
          <p:nvPr>
            <p:ph type="title"/>
          </p:nvPr>
        </p:nvSpPr>
        <p:spPr/>
        <p:txBody>
          <a:bodyPr/>
          <a:lstStyle/>
          <a:p>
            <a:r>
              <a:rPr lang="en-GB" dirty="0"/>
              <a:t>Learning Outcomes</a:t>
            </a:r>
          </a:p>
        </p:txBody>
      </p:sp>
      <p:sp>
        <p:nvSpPr>
          <p:cNvPr id="3" name="Text Placeholder 2">
            <a:extLst>
              <a:ext uri="{FF2B5EF4-FFF2-40B4-BE49-F238E27FC236}">
                <a16:creationId xmlns:a16="http://schemas.microsoft.com/office/drawing/2014/main" id="{DD3B9174-B1BD-7F76-160C-AB73246A18B4}"/>
              </a:ext>
            </a:extLst>
          </p:cNvPr>
          <p:cNvSpPr>
            <a:spLocks noGrp="1"/>
          </p:cNvSpPr>
          <p:nvPr>
            <p:ph type="body" sz="quarter" idx="11"/>
          </p:nvPr>
        </p:nvSpPr>
        <p:spPr/>
        <p:txBody>
          <a:bodyPr>
            <a:normAutofit/>
          </a:bodyPr>
          <a:lstStyle/>
          <a:p>
            <a:pPr marL="0" indent="0">
              <a:buNone/>
            </a:pPr>
            <a:r>
              <a:rPr lang="en-US" sz="2400"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Upon completion of this session, the learners should be able to:</a:t>
            </a:r>
          </a:p>
          <a:p>
            <a:r>
              <a:rPr lang="en-US" sz="2400" b="0" i="0" dirty="0">
                <a:solidFill>
                  <a:srgbClr val="212529"/>
                </a:solidFill>
                <a:effectLst/>
                <a:ea typeface="Roboto" panose="02000000000000000000" pitchFamily="2" charset="0"/>
                <a:cs typeface="Roboto" panose="02000000000000000000" pitchFamily="2" charset="0"/>
              </a:rPr>
              <a:t>Explain what Spec-Driven Development (SDD) is and why it matters.</a:t>
            </a:r>
          </a:p>
          <a:p>
            <a:r>
              <a:rPr lang="en-US" sz="2400" b="0" i="0" dirty="0">
                <a:solidFill>
                  <a:srgbClr val="212529"/>
                </a:solidFill>
                <a:effectLst/>
                <a:ea typeface="Roboto" panose="02000000000000000000" pitchFamily="2" charset="0"/>
                <a:cs typeface="Roboto" panose="02000000000000000000" pitchFamily="2" charset="0"/>
              </a:rPr>
              <a:t>Describe the Full Spec Process — Requirements, Design, and Tasks — </a:t>
            </a:r>
            <a:r>
              <a:rPr lang="en-US" sz="2400" dirty="0">
                <a:solidFill>
                  <a:srgbClr val="212529"/>
                </a:solidFill>
                <a:ea typeface="Roboto" panose="02000000000000000000" pitchFamily="2" charset="0"/>
                <a:cs typeface="Roboto" panose="02000000000000000000" pitchFamily="2" charset="0"/>
              </a:rPr>
              <a:t>and how traceability connects them.</a:t>
            </a:r>
            <a:endParaRPr lang="en-US" sz="2400" b="0" i="0" dirty="0">
              <a:solidFill>
                <a:srgbClr val="212529"/>
              </a:solidFill>
              <a:effectLst/>
              <a:ea typeface="Roboto" panose="02000000000000000000" pitchFamily="2" charset="0"/>
              <a:cs typeface="Roboto" panose="02000000000000000000" pitchFamily="2" charset="0"/>
            </a:endParaRP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ITI122 Generative AI - PDC in Generative AI &amp; Deep Learning</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extLst>
      <p:ext uri="{BB962C8B-B14F-4D97-AF65-F5344CB8AC3E}">
        <p14:creationId xmlns:p14="http://schemas.microsoft.com/office/powerpoint/2010/main" val="3155291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AE8F-06F4-9704-C204-B7128CDBCD96}"/>
              </a:ext>
            </a:extLst>
          </p:cNvPr>
          <p:cNvSpPr>
            <a:spLocks noGrp="1"/>
          </p:cNvSpPr>
          <p:nvPr>
            <p:ph type="title"/>
          </p:nvPr>
        </p:nvSpPr>
        <p:spPr/>
        <p:txBody>
          <a:bodyPr/>
          <a:lstStyle/>
          <a:p>
            <a:r>
              <a:rPr lang="en-US" dirty="0"/>
              <a:t>LLM in Action: Vibe Coding Example</a:t>
            </a:r>
          </a:p>
        </p:txBody>
      </p:sp>
      <p:sp>
        <p:nvSpPr>
          <p:cNvPr id="3" name="Text Placeholder 2">
            <a:extLst>
              <a:ext uri="{FF2B5EF4-FFF2-40B4-BE49-F238E27FC236}">
                <a16:creationId xmlns:a16="http://schemas.microsoft.com/office/drawing/2014/main" id="{7D8178D9-C514-3F38-4620-920013691000}"/>
              </a:ext>
            </a:extLst>
          </p:cNvPr>
          <p:cNvSpPr>
            <a:spLocks noGrp="1"/>
          </p:cNvSpPr>
          <p:nvPr>
            <p:ph type="body" sz="quarter" idx="11"/>
          </p:nvPr>
        </p:nvSpPr>
        <p:spPr/>
        <p:txBody>
          <a:bodyPr/>
          <a:lstStyle/>
          <a:p>
            <a:r>
              <a:rPr lang="en-US" b="1" dirty="0"/>
              <a:t>Vibe coding: </a:t>
            </a:r>
            <a:r>
              <a:rPr lang="en-US" dirty="0"/>
              <a:t>describe what you want in plain English; the LLM generates the code directly, refined through conversation.</a:t>
            </a:r>
          </a:p>
          <a:p>
            <a:pPr marL="0" indent="0">
              <a:buNone/>
            </a:pPr>
            <a:r>
              <a:rPr lang="en-US" b="1" dirty="0"/>
              <a:t>Example:</a:t>
            </a:r>
            <a:endParaRPr lang="en-US" b="1" dirty="0"/>
          </a:p>
          <a:p>
            <a:r>
              <a:rPr lang="en-US" dirty="0"/>
              <a:t>Prompt: </a:t>
            </a:r>
            <a:r>
              <a:rPr lang="en-US" i="1" dirty="0"/>
              <a:t>“Check if a WhatsApp message confirms payment and extract the amount.”</a:t>
            </a:r>
          </a:p>
          <a:p>
            <a:pPr lvl="1"/>
            <a:r>
              <a:rPr lang="en-US" sz="2200" dirty="0">
                <a:latin typeface="Consolas"/>
                <a:cs typeface="Consolas"/>
              </a:rPr>
              <a:t>if "paid" in msg: return re.search(r"\$(\d+\.\d{2})", msg)</a:t>
            </a:r>
          </a:p>
          <a:p>
            <a:r>
              <a:rPr lang="en-US" dirty="0"/>
              <a:t>→ Code appears instantly; developer refines with: </a:t>
            </a:r>
            <a:r>
              <a:rPr lang="en-US" i="1" dirty="0"/>
              <a:t>“also handle SGD and USD.”</a:t>
            </a:r>
          </a:p>
          <a:p>
            <a:r>
              <a:rPr lang="en-US" dirty="0"/>
              <a:t>Great for prototypes — but the </a:t>
            </a:r>
            <a:r>
              <a:rPr lang="en-US" b="1" dirty="0"/>
              <a:t>LLM decides the structure</a:t>
            </a:r>
            <a:r>
              <a:rPr lang="en-US" dirty="0"/>
              <a:t>, not a spec.</a:t>
            </a:r>
          </a:p>
        </p:txBody>
      </p:sp>
      <p:sp>
        <p:nvSpPr>
          <p:cNvPr id="4" name="Footer Placeholder 3">
            <a:extLst>
              <a:ext uri="{FF2B5EF4-FFF2-40B4-BE49-F238E27FC236}">
                <a16:creationId xmlns:a16="http://schemas.microsoft.com/office/drawing/2014/main" id="{B084EF79-A67E-7A75-78C2-8A6C77E68A58}"/>
              </a:ext>
            </a:extLst>
          </p:cNvPr>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a:extLst>
              <a:ext uri="{FF2B5EF4-FFF2-40B4-BE49-F238E27FC236}">
                <a16:creationId xmlns:a16="http://schemas.microsoft.com/office/drawing/2014/main" id="{C110CD18-EB18-5D0F-F891-72CC4295AF6F}"/>
              </a:ext>
            </a:extLst>
          </p:cNvPr>
          <p:cNvSpPr>
            <a:spLocks noGrp="1"/>
          </p:cNvSpPr>
          <p:nvPr>
            <p:ph type="sldNum" sz="quarter" idx="14"/>
          </p:nvPr>
        </p:nvSpPr>
        <p:spPr/>
        <p:txBody>
          <a:bodyPr/>
          <a:lstStyle/>
          <a:p>
            <a:fld id="{CE19DD2C-80DA-488C-99A4-6C8CE83C9C30}" type="slidenum">
              <a:rPr lang="en-SG" smtClean="0"/>
              <a:t>23</a:t>
            </a:fld>
            <a:endParaRPr lang="en-SG"/>
          </a:p>
        </p:txBody>
      </p:sp>
    </p:spTree>
    <p:extLst>
      <p:ext uri="{BB962C8B-B14F-4D97-AF65-F5344CB8AC3E}">
        <p14:creationId xmlns:p14="http://schemas.microsoft.com/office/powerpoint/2010/main" val="4034097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AE8F-06F4-9704-C204-B7128CDBCD96}"/>
              </a:ext>
            </a:extLst>
          </p:cNvPr>
          <p:cNvSpPr>
            <a:spLocks noGrp="1"/>
          </p:cNvSpPr>
          <p:nvPr>
            <p:ph type="title"/>
          </p:nvPr>
        </p:nvSpPr>
        <p:spPr/>
        <p:txBody>
          <a:bodyPr/>
          <a:lstStyle/>
          <a:p>
            <a:r>
              <a:rPr lang="en-US" dirty="0"/>
              <a:t>What is Spec-Driven Development (SDD)?</a:t>
            </a:r>
          </a:p>
        </p:txBody>
      </p:sp>
      <p:sp>
        <p:nvSpPr>
          <p:cNvPr id="3" name="Text Placeholder 2">
            <a:extLst>
              <a:ext uri="{FF2B5EF4-FFF2-40B4-BE49-F238E27FC236}">
                <a16:creationId xmlns:a16="http://schemas.microsoft.com/office/drawing/2014/main" id="{7D8178D9-C514-3F38-4620-920013691000}"/>
              </a:ext>
            </a:extLst>
          </p:cNvPr>
          <p:cNvSpPr>
            <a:spLocks noGrp="1"/>
          </p:cNvSpPr>
          <p:nvPr>
            <p:ph type="body" sz="quarter" idx="11"/>
          </p:nvPr>
        </p:nvSpPr>
        <p:spPr/>
        <p:txBody>
          <a:bodyPr/>
          <a:lstStyle/>
          <a:p>
            <a:r>
              <a:rPr lang="en-US" b="1" dirty="0"/>
              <a:t>SDD: </a:t>
            </a:r>
            <a:r>
              <a:rPr lang="en-US" dirty="0"/>
              <a:t>writing a clear, structured spec — requirements, data models, API contracts, edge cases — before any code is generated.</a:t>
            </a:r>
          </a:p>
          <a:p>
            <a:r>
              <a:rPr lang="en-US" dirty="0"/>
              <a:t>The spec becomes the source of truth; the LLM generates code to satisfy it, not the other way around.</a:t>
            </a:r>
          </a:p>
          <a:p>
            <a:r>
              <a:rPr lang="en-US" dirty="0"/>
              <a:t>Used in agentic coding tools (Claude Code, GitHub Spec Kit) via structured docs: </a:t>
            </a:r>
            <a:r>
              <a:rPr lang="en-US" b="1" dirty="0"/>
              <a:t>requirements.md, design.md, tasks.md</a:t>
            </a:r>
            <a:r>
              <a:rPr lang="en-US" dirty="0"/>
              <a:t>.</a:t>
            </a:r>
          </a:p>
          <a:p>
            <a:r>
              <a:rPr lang="en-US" dirty="0"/>
              <a:t>Reviewed and version-controlled like code — enabling traceability and safe iteration.</a:t>
            </a:r>
          </a:p>
          <a:p>
            <a:pPr marL="0" indent="0">
              <a:buNone/>
            </a:pPr>
            <a:r>
              <a:rPr lang="en-US" b="1" dirty="0"/>
              <a:t>Example: </a:t>
            </a:r>
            <a:r>
              <a:rPr lang="en-US" dirty="0"/>
              <a:t>instead of </a:t>
            </a:r>
            <a:r>
              <a:rPr lang="en-US" i="1" dirty="0"/>
              <a:t>“build a payment parser,”</a:t>
            </a:r>
            <a:r>
              <a:rPr lang="en-US" dirty="0"/>
              <a:t> the spec fixes the formats and rules first — then the LLM codes to it.</a:t>
            </a:r>
          </a:p>
        </p:txBody>
      </p:sp>
      <p:sp>
        <p:nvSpPr>
          <p:cNvPr id="4" name="Footer Placeholder 3">
            <a:extLst>
              <a:ext uri="{FF2B5EF4-FFF2-40B4-BE49-F238E27FC236}">
                <a16:creationId xmlns:a16="http://schemas.microsoft.com/office/drawing/2014/main" id="{B084EF79-A67E-7A75-78C2-8A6C77E68A58}"/>
              </a:ext>
            </a:extLst>
          </p:cNvPr>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a:extLst>
              <a:ext uri="{FF2B5EF4-FFF2-40B4-BE49-F238E27FC236}">
                <a16:creationId xmlns:a16="http://schemas.microsoft.com/office/drawing/2014/main" id="{C110CD18-EB18-5D0F-F891-72CC4295AF6F}"/>
              </a:ext>
            </a:extLst>
          </p:cNvPr>
          <p:cNvSpPr>
            <a:spLocks noGrp="1"/>
          </p:cNvSpPr>
          <p:nvPr>
            <p:ph type="sldNum" sz="quarter" idx="14"/>
          </p:nvPr>
        </p:nvSpPr>
        <p:spPr/>
        <p:txBody>
          <a:bodyPr/>
          <a:lstStyle/>
          <a:p>
            <a:fld id="{CE19DD2C-80DA-488C-99A4-6C8CE83C9C30}" type="slidenum">
              <a:rPr lang="en-SG" smtClean="0"/>
              <a:t>23</a:t>
            </a:fld>
            <a:endParaRPr lang="en-SG"/>
          </a:p>
        </p:txBody>
      </p:sp>
    </p:spTree>
    <p:extLst>
      <p:ext uri="{BB962C8B-B14F-4D97-AF65-F5344CB8AC3E}">
        <p14:creationId xmlns:p14="http://schemas.microsoft.com/office/powerpoint/2010/main" val="4034097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AE8F-06F4-9704-C204-B7128CDBCD96}"/>
              </a:ext>
            </a:extLst>
          </p:cNvPr>
          <p:cNvSpPr>
            <a:spLocks noGrp="1"/>
          </p:cNvSpPr>
          <p:nvPr>
            <p:ph type="title"/>
          </p:nvPr>
        </p:nvSpPr>
        <p:spPr/>
        <p:txBody>
          <a:bodyPr/>
          <a:lstStyle/>
          <a:p>
            <a:r>
              <a:rPr lang="en-US" dirty="0"/>
              <a:t>Why is Spec-Driven Development Needed?</a:t>
            </a:r>
          </a:p>
        </p:txBody>
      </p:sp>
      <p:sp>
        <p:nvSpPr>
          <p:cNvPr id="3" name="Text Placeholder 2">
            <a:extLst>
              <a:ext uri="{FF2B5EF4-FFF2-40B4-BE49-F238E27FC236}">
                <a16:creationId xmlns:a16="http://schemas.microsoft.com/office/drawing/2014/main" id="{7D8178D9-C514-3F38-4620-920013691000}"/>
              </a:ext>
            </a:extLst>
          </p:cNvPr>
          <p:cNvSpPr>
            <a:spLocks noGrp="1"/>
          </p:cNvSpPr>
          <p:nvPr>
            <p:ph type="body" sz="quarter" idx="11"/>
          </p:nvPr>
        </p:nvSpPr>
        <p:spPr/>
        <p:txBody>
          <a:bodyPr/>
          <a:lstStyle/>
          <a:p>
            <a:r>
              <a:rPr lang="en-US" dirty="0"/>
              <a:t>Vibe coding is fast for prototypes but breaks down as systems grow:</a:t>
            </a:r>
          </a:p>
          <a:p>
            <a:r>
              <a:rPr lang="en-US" b="1" dirty="0"/>
              <a:t>Hallucinated logic:</a:t>
            </a:r>
            <a:r>
              <a:rPr lang="en-US" dirty="0"/>
              <a:t> LLM invents behaviour that was never intended, especially in edge cases.</a:t>
            </a:r>
          </a:p>
          <a:p>
            <a:r>
              <a:rPr lang="en-US" b="1" dirty="0"/>
              <a:t>Inconsistent output:</a:t>
            </a:r>
            <a:r>
              <a:rPr lang="en-US" dirty="0"/>
              <a:t> the same prompt on different days can generate different code.</a:t>
            </a:r>
          </a:p>
          <a:p>
            <a:r>
              <a:rPr lang="en-US" b="1" dirty="0"/>
              <a:t>Hard to review:</a:t>
            </a:r>
            <a:r>
              <a:rPr lang="en-US" dirty="0"/>
              <a:t> no shared reference to check “is this correct?” besides the code itself.</a:t>
            </a:r>
          </a:p>
          <a:p>
            <a:r>
              <a:rPr lang="en-US" b="1" dirty="0"/>
              <a:t>Hard to maintain:</a:t>
            </a:r>
            <a:r>
              <a:rPr lang="en-US" dirty="0"/>
              <a:t> teammates can't tell why a design choice was made.</a:t>
            </a:r>
          </a:p>
          <a:p>
            <a:pPr marL="0" indent="0">
              <a:buNone/>
            </a:pPr>
            <a:r>
              <a:rPr lang="en-US" b="1" dirty="0"/>
              <a:t>Why SDD helps: </a:t>
            </a:r>
            <a:r>
              <a:rPr lang="en-US" dirty="0"/>
              <a:t>it gives the LLM — and the team — an explicit, testable contract to generate, verify, and regenerate code against.</a:t>
            </a:r>
          </a:p>
        </p:txBody>
      </p:sp>
      <p:sp>
        <p:nvSpPr>
          <p:cNvPr id="4" name="Footer Placeholder 3">
            <a:extLst>
              <a:ext uri="{FF2B5EF4-FFF2-40B4-BE49-F238E27FC236}">
                <a16:creationId xmlns:a16="http://schemas.microsoft.com/office/drawing/2014/main" id="{B084EF79-A67E-7A75-78C2-8A6C77E68A58}"/>
              </a:ext>
            </a:extLst>
          </p:cNvPr>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a:extLst>
              <a:ext uri="{FF2B5EF4-FFF2-40B4-BE49-F238E27FC236}">
                <a16:creationId xmlns:a16="http://schemas.microsoft.com/office/drawing/2014/main" id="{C110CD18-EB18-5D0F-F891-72CC4295AF6F}"/>
              </a:ext>
            </a:extLst>
          </p:cNvPr>
          <p:cNvSpPr>
            <a:spLocks noGrp="1"/>
          </p:cNvSpPr>
          <p:nvPr>
            <p:ph type="sldNum" sz="quarter" idx="14"/>
          </p:nvPr>
        </p:nvSpPr>
        <p:spPr/>
        <p:txBody>
          <a:bodyPr/>
          <a:lstStyle/>
          <a:p>
            <a:fld id="{CE19DD2C-80DA-488C-99A4-6C8CE83C9C30}" type="slidenum">
              <a:rPr lang="en-SG" smtClean="0"/>
              <a:t>23</a:t>
            </a:fld>
            <a:endParaRPr lang="en-SG"/>
          </a:p>
        </p:txBody>
      </p:sp>
    </p:spTree>
    <p:extLst>
      <p:ext uri="{BB962C8B-B14F-4D97-AF65-F5344CB8AC3E}">
        <p14:creationId xmlns:p14="http://schemas.microsoft.com/office/powerpoint/2010/main" val="4034097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AE8F-06F4-9704-C204-B7128CDBCD96}"/>
              </a:ext>
            </a:extLst>
          </p:cNvPr>
          <p:cNvSpPr>
            <a:spLocks noGrp="1"/>
          </p:cNvSpPr>
          <p:nvPr>
            <p:ph type="title"/>
          </p:nvPr>
        </p:nvSpPr>
        <p:spPr/>
        <p:txBody>
          <a:bodyPr/>
          <a:lstStyle/>
          <a:p>
            <a:r>
              <a:rPr lang="en-US" dirty="0"/>
              <a:t>Vibe Coding vs. Spec-Driven Development</a:t>
            </a:r>
          </a:p>
        </p:txBody>
      </p:sp>
      <p:sp>
        <p:nvSpPr>
          <p:cNvPr id="3" name="Text Placeholder 2">
            <a:extLst>
              <a:ext uri="{FF2B5EF4-FFF2-40B4-BE49-F238E27FC236}">
                <a16:creationId xmlns:a16="http://schemas.microsoft.com/office/drawing/2014/main" id="{7D8178D9-C514-3F38-4620-920013691000}"/>
              </a:ext>
            </a:extLst>
          </p:cNvPr>
          <p:cNvSpPr>
            <a:spLocks noGrp="1"/>
          </p:cNvSpPr>
          <p:nvPr>
            <p:ph type="body" sz="quarter" idx="11"/>
          </p:nvPr>
        </p:nvSpPr>
        <p:spPr/>
        <p:txBody>
          <a:bodyPr/>
          <a:lstStyle/>
          <a:p>
            <a:pPr marL="0" indent="0">
              <a:buNone/>
            </a:pPr>
            <a:r>
              <a:rPr lang="en-US" b="1" dirty="0">
                <a:solidFill>
                  <a:srgbClr val="164194"/>
                </a:solidFill>
              </a:rPr>
              <a:t>Vibe Coding</a:t>
            </a:r>
          </a:p>
          <a:p>
            <a:pPr lvl="1"/>
            <a:r>
              <a:rPr lang="en-US" sz="2400" dirty="0">
                <a:latin typeface="+mn-lt"/>
              </a:rPr>
              <a:t>Fast, exploratory — natural-language prompts drive the code directly.</a:t>
            </a:r>
          </a:p>
          <a:p>
            <a:pPr lvl="1"/>
            <a:r>
              <a:rPr lang="en-US" sz="2400" dirty="0">
                <a:latin typeface="+mn-lt"/>
              </a:rPr>
              <a:t>Best for prototypes, demos, and one-off scripts.</a:t>
            </a:r>
          </a:p>
          <a:p>
            <a:pPr lvl="1"/>
            <a:r>
              <a:rPr lang="en-US" sz="2400" dirty="0">
                <a:latin typeface="+mn-lt"/>
              </a:rPr>
              <a:t>Risk: hallucination, inconsistency, hard to scale or review.</a:t>
            </a:r>
          </a:p>
          <a:p>
            <a:pPr marL="0" indent="0">
              <a:buNone/>
            </a:pPr>
            <a:r>
              <a:rPr lang="en-US" b="1" dirty="0">
                <a:solidFill>
                  <a:srgbClr val="E30613"/>
                </a:solidFill>
              </a:rPr>
              <a:t>Spec-Driven Development</a:t>
            </a:r>
          </a:p>
          <a:p>
            <a:pPr lvl="1"/>
            <a:r>
              <a:rPr lang="en-US" sz="2400" dirty="0">
                <a:latin typeface="+mn-lt"/>
              </a:rPr>
              <a:t>Deliberate, specification-first — the spec defines requirements before code generation.</a:t>
            </a:r>
          </a:p>
          <a:p>
            <a:pPr lvl="1"/>
            <a:r>
              <a:rPr lang="en-US" sz="2400" dirty="0">
                <a:latin typeface="+mn-lt"/>
              </a:rPr>
              <a:t>Best for production systems, team projects, and compliance-critical apps.</a:t>
            </a:r>
          </a:p>
          <a:p>
            <a:pPr lvl="1"/>
            <a:r>
              <a:rPr lang="en-US" sz="2400" dirty="0">
                <a:latin typeface="+mn-lt"/>
              </a:rPr>
              <a:t>Benefit: traceability, consistency, testability.</a:t>
            </a:r>
          </a:p>
          <a:p>
            <a:pPr marL="0" indent="0">
              <a:buNone/>
            </a:pPr>
            <a:r>
              <a:rPr lang="en-US" b="1" dirty="0"/>
              <a:t>Key takeaway:</a:t>
            </a:r>
            <a:r>
              <a:rPr lang="en-US" dirty="0"/>
              <a:t> vibe coding explores the idea; SDD engineers the product for scale.</a:t>
            </a:r>
          </a:p>
        </p:txBody>
      </p:sp>
      <p:sp>
        <p:nvSpPr>
          <p:cNvPr id="4" name="Footer Placeholder 3">
            <a:extLst>
              <a:ext uri="{FF2B5EF4-FFF2-40B4-BE49-F238E27FC236}">
                <a16:creationId xmlns:a16="http://schemas.microsoft.com/office/drawing/2014/main" id="{B084EF79-A67E-7A75-78C2-8A6C77E68A58}"/>
              </a:ext>
            </a:extLst>
          </p:cNvPr>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a:extLst>
              <a:ext uri="{FF2B5EF4-FFF2-40B4-BE49-F238E27FC236}">
                <a16:creationId xmlns:a16="http://schemas.microsoft.com/office/drawing/2014/main" id="{C110CD18-EB18-5D0F-F891-72CC4295AF6F}"/>
              </a:ext>
            </a:extLst>
          </p:cNvPr>
          <p:cNvSpPr>
            <a:spLocks noGrp="1"/>
          </p:cNvSpPr>
          <p:nvPr>
            <p:ph type="sldNum" sz="quarter" idx="14"/>
          </p:nvPr>
        </p:nvSpPr>
        <p:spPr/>
        <p:txBody>
          <a:bodyPr/>
          <a:lstStyle/>
          <a:p>
            <a:fld id="{CE19DD2C-80DA-488C-99A4-6C8CE83C9C30}" type="slidenum">
              <a:rPr lang="en-SG" smtClean="0"/>
              <a:t>23</a:t>
            </a:fld>
            <a:endParaRPr lang="en-SG"/>
          </a:p>
        </p:txBody>
      </p:sp>
    </p:spTree>
    <p:extLst>
      <p:ext uri="{BB962C8B-B14F-4D97-AF65-F5344CB8AC3E}">
        <p14:creationId xmlns:p14="http://schemas.microsoft.com/office/powerpoint/2010/main" val="4034097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Full Spec Process: Requirements → Design → Tasks</a:t>
            </a:r>
          </a:p>
        </p:txBody>
      </p:sp>
      <p:sp>
        <p:nvSpPr>
          <p:cNvPr id="3" name="Text Placeholder 2"/>
          <p:cNvSpPr>
            <a:spLocks noGrp="1"/>
          </p:cNvSpPr>
          <p:nvPr>
            <p:ph type="body" sz="quarter" idx="11"/>
          </p:nvPr>
        </p:nvSpPr>
        <p:spPr/>
        <p:txBody>
          <a:bodyPr/>
          <a:lstStyle/>
          <a:p>
            <a:r>
              <a:rPr lang="en-US" dirty="0"/>
              <a:t>The spec-driven-development template library offers three levels of spec depth — we'll zoom into the most thorough path: the Full Spec Process.</a:t>
            </a:r>
          </a:p>
          <a:p>
            <a:r>
              <a:rPr lang="en-US" dirty="0" b="1"/>
              <a:t>Requirements</a:t>
            </a:r>
            <a:r>
              <a:rPr lang="en-US" dirty="0"/>
              <a:t>: what the system must do and why, as structured user stories with testable acceptance criteria.</a:t>
            </a:r>
          </a:p>
          <a:p>
            <a:r>
              <a:rPr lang="en-US" dirty="0" b="1"/>
              <a:t>Design</a:t>
            </a:r>
            <a:r>
              <a:rPr lang="en-US" dirty="0"/>
              <a:t>: translate requirements into architecture — components, data models, and APIs.</a:t>
            </a:r>
          </a:p>
          <a:p>
            <a:r>
              <a:rPr lang="en-US" dirty="0" b="1"/>
              <a:t>Tasks</a:t>
            </a:r>
            <a:r>
              <a:rPr lang="en-US" dirty="0"/>
              <a:t>: break the design into an ordered, step-by-step plan a developer (or an LLM) can execute.</a:t>
            </a:r>
          </a:p>
          <a:p>
            <a:pPr marL="0" indent="0">
              <a:buNone/>
            </a:pPr>
            <a:r>
              <a:rPr lang="en-US" dirty="0" b="1"/>
              <a:t>Best for: </a:t>
            </a:r>
            <a:r>
              <a:rPr lang="en-US" dirty="0"/>
              <a:t>standard feature work that needs thorough documentation, not a same-day patch.</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 Requirements: Writing Specs with EARS</a:t>
            </a:r>
          </a:p>
        </p:txBody>
      </p:sp>
      <p:sp>
        <p:nvSpPr>
          <p:cNvPr id="3" name="Text Placeholder 2"/>
          <p:cNvSpPr>
            <a:spLocks noGrp="1"/>
          </p:cNvSpPr>
          <p:nvPr>
            <p:ph type="body" sz="quarter" idx="11"/>
          </p:nvPr>
        </p:nvSpPr>
        <p:spPr/>
        <p:txBody>
          <a:bodyPr/>
          <a:lstStyle/>
          <a:p>
            <a:r>
              <a:rPr lang="en-US" dirty="0"/>
              <a:t>The requirements template captures each need as a user story, with acceptance criteria written in EARS (Easy Approach to Requirements Syntax).</a:t>
            </a:r>
          </a:p>
          <a:p>
            <a:r>
              <a:rPr lang="en-US" dirty="0" b="1"/>
              <a:t>User Story:</a:t>
            </a:r>
            <a:r>
              <a:rPr lang="en-US" dirty="0"/>
              <a:t> “As a [role], I want [functionality], so that [benefit]” — grounds each requirement in a real need.</a:t>
            </a:r>
          </a:p>
          <a:p>
            <a:r>
              <a:rPr lang="en-US" dirty="0" b="1"/>
              <a:t>EARS keywords:</a:t>
            </a:r>
            <a:r>
              <a:rPr lang="en-US" dirty="0"/>
              <a:t> WHEN, IF, WHILE, WHERE — each paired with SHALL to state exactly what the system must do.</a:t>
            </a:r>
          </a:p>
          <a:p>
            <a:r>
              <a:rPr lang="en-US" dirty="0" b="1"/>
              <a:t>Also covers:</a:t>
            </a:r>
            <a:r>
              <a:rPr lang="en-US" dirty="0"/>
              <a:t> non-functional requirements, constraints, and assumptions.</a:t>
            </a:r>
          </a:p>
          <a:p>
            <a:pPr marL="0" indent="0">
              <a:buNone/>
            </a:pPr>
            <a:r>
              <a:rPr lang="en-US" dirty="0" b="1"/>
              <a:t>Example: </a:t>
            </a:r>
            <a:r>
              <a:rPr lang="en-US" dirty="0" i="1"/>
              <a:t>“WHEN payment is invalid THEN the system SHALL reject it.”</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2 — Design: From Requirements to Architecture</a:t>
            </a:r>
          </a:p>
        </p:txBody>
      </p:sp>
      <p:sp>
        <p:nvSpPr>
          <p:cNvPr id="3" name="Text Placeholder 2"/>
          <p:cNvSpPr>
            <a:spLocks noGrp="1"/>
          </p:cNvSpPr>
          <p:nvPr>
            <p:ph type="body" sz="quarter" idx="11"/>
          </p:nvPr>
        </p:nvSpPr>
        <p:spPr/>
        <p:txBody>
          <a:bodyPr/>
          <a:lstStyle/>
          <a:p>
            <a:r>
              <a:rPr lang="en-US" dirty="0"/>
              <a:t>Once requirements are locked, the design template translates them into concrete technical decisions.</a:t>
            </a:r>
          </a:p>
          <a:p>
            <a:r>
              <a:rPr lang="en-US" dirty="0" b="1"/>
              <a:t>Architecture:</a:t>
            </a:r>
            <a:r>
              <a:rPr lang="en-US" dirty="0"/>
              <a:t> system context diagrams, component responsibilities, and the technology stack — with reasons for each choice.</a:t>
            </a:r>
          </a:p>
          <a:p>
            <a:r>
              <a:rPr lang="en-US" dirty="0" b="1"/>
              <a:t>Data models &amp; API design:</a:t>
            </a:r>
            <a:r>
              <a:rPr lang="en-US" dirty="0"/>
              <a:t> concrete schemas, endpoints, and request/response and error formats.</a:t>
            </a:r>
          </a:p>
          <a:p>
            <a:r>
              <a:rPr lang="en-US" dirty="0" b="1"/>
              <a:t>Also covers:</a:t>
            </a:r>
            <a:r>
              <a:rPr lang="en-US" dirty="0"/>
              <a:t> security (authentication &amp; authorization), error handling, performance targets, and testing strategy.</a:t>
            </a:r>
          </a:p>
          <a:p>
            <a:pPr marL="0" indent="0">
              <a:buNone/>
            </a:pPr>
            <a:r>
              <a:rPr lang="en-US" dirty="0" b="1"/>
              <a:t>Key idea: </a:t>
            </a:r>
            <a:r>
              <a:rPr lang="en-US" dirty="0"/>
              <a:t>every design decision should trace back to a requirement — if you can't say why, it probably doesn't belong.</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3 — Tasks: Turning Design into an Execution Plan</a:t>
            </a:r>
          </a:p>
        </p:txBody>
      </p:sp>
      <p:sp>
        <p:nvSpPr>
          <p:cNvPr id="3" name="Text Placeholder 2"/>
          <p:cNvSpPr>
            <a:spLocks noGrp="1"/>
          </p:cNvSpPr>
          <p:nvPr>
            <p:ph type="body" sz="quarter" idx="11"/>
          </p:nvPr>
        </p:nvSpPr>
        <p:spPr/>
        <p:txBody>
          <a:bodyPr/>
          <a:lstStyle/>
          <a:p>
            <a:r>
              <a:rPr lang="en-US" dirty="0"/>
              <a:t>The tasks template slices the design into small, ordered, checkable units of work.</a:t>
            </a:r>
          </a:p>
          <a:p>
            <a:r>
              <a:rPr lang="en-US" dirty="0" b="1"/>
              <a:t>Phased breakdown:</a:t>
            </a:r>
            <a:r>
              <a:rPr lang="en-US" dirty="0"/>
              <a:t> e.g. foundation &amp; setup → core logic → API layer → UI → integration &amp; testing → deployment.</a:t>
            </a:r>
          </a:p>
          <a:p>
            <a:r>
              <a:rPr lang="en-US" dirty="0" b="1"/>
              <a:t>Each task includes:</a:t>
            </a:r>
            <a:r>
              <a:rPr lang="en-US" dirty="0"/>
              <a:t> a clear scope, acceptance criteria, dependencies, and a reference back to the specific requirement it satisfies.</a:t>
            </a:r>
          </a:p>
          <a:p>
            <a:r>
              <a:rPr lang="en-US" dirty="0" b="1"/>
              <a:t>Sized to be small:</a:t>
            </a:r>
            <a:r>
              <a:rPr lang="en-US" dirty="0"/>
              <a:t> sub-tasks should be completable in 1–2 days, so progress — and correctness — can be checked often.</a:t>
            </a:r>
          </a:p>
          <a:p>
            <a:pPr marL="0" indent="0">
              <a:buNone/>
            </a:pPr>
            <a:r>
              <a:rPr lang="en-US" dirty="0" b="1"/>
              <a:t>Why it matters: </a:t>
            </a:r>
            <a:r>
              <a:rPr lang="en-US" dirty="0"/>
              <a:t>this is the checklist an LLM (or a junior developer) executes one item at a time, instead of guessing the whole system in one shot.</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Traceability: The Golden Thread</a:t>
            </a:r>
          </a:p>
        </p:txBody>
      </p:sp>
      <p:sp>
        <p:nvSpPr>
          <p:cNvPr id="3" name="Text Placeholder 2"/>
          <p:cNvSpPr>
            <a:spLocks noGrp="1"/>
          </p:cNvSpPr>
          <p:nvPr>
            <p:ph type="body" sz="quarter" idx="11"/>
          </p:nvPr>
        </p:nvSpPr>
        <p:spPr/>
        <p:txBody>
          <a:bodyPr/>
          <a:lstStyle/>
          <a:p>
            <a:r>
              <a:rPr lang="en-US" dirty="0"/>
              <a:t>The three documents aren't independent — they're meant to be read as one connected chain.</a:t>
            </a:r>
          </a:p>
          <a:p>
            <a:r>
              <a:rPr lang="en-US" dirty="0" b="1"/>
              <a:t>Requirement → Design:</a:t>
            </a:r>
            <a:r>
              <a:rPr lang="en-US" dirty="0"/>
              <a:t> every component and data model should map to the requirement(s) it satisfies.</a:t>
            </a:r>
          </a:p>
          <a:p>
            <a:r>
              <a:rPr lang="en-US" dirty="0" b="1"/>
              <a:t>Design → Task:</a:t>
            </a:r>
            <a:r>
              <a:rPr lang="en-US" dirty="0"/>
              <a:t> every task cites the specific requirement ID it implements (e.g. “_Requirements: 2.3_”).</a:t>
            </a:r>
          </a:p>
          <a:p>
            <a:r>
              <a:rPr lang="en-US" dirty="0" b="1"/>
              <a:t>Review checklists:</a:t>
            </a:r>
            <a:r>
              <a:rPr lang="en-US" dirty="0"/>
              <a:t> each template ships its own checklist to catch gaps before moving on.</a:t>
            </a:r>
          </a:p>
          <a:p>
            <a:pPr marL="0" indent="0">
              <a:buNone/>
            </a:pPr>
            <a:r>
              <a:rPr lang="en-US" dirty="0" b="1"/>
              <a:t>Result: </a:t>
            </a:r>
            <a:r>
              <a:rPr lang="en-US" dirty="0"/>
              <a:t>if a reviewer asks “why does this code exist?”, there's always an answer.</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Spec Depth</a:t>
            </a:r>
          </a:p>
        </p:txBody>
      </p:sp>
      <p:sp>
        <p:nvSpPr>
          <p:cNvPr id="3" name="Text Placeholder 2"/>
          <p:cNvSpPr>
            <a:spLocks noGrp="1"/>
          </p:cNvSpPr>
          <p:nvPr>
            <p:ph type="body" sz="quarter" idx="11"/>
          </p:nvPr>
        </p:nvSpPr>
        <p:spPr/>
        <p:txBody>
          <a:bodyPr/>
          <a:lstStyle/>
          <a:p>
            <a:r>
              <a:rPr lang="en-US" dirty="0"/>
              <a:t>Not every change needs the full three-document process — the guide defines three tiers.</a:t>
            </a:r>
          </a:p>
          <a:p>
            <a:r>
              <a:rPr lang="en-US" dirty="0" b="1"/>
              <a:t>Full Spec:</a:t>
            </a:r>
            <a:r>
              <a:rPr lang="en-US" dirty="0"/>
              <a:t> Requirements + Design + Tasks — for standard feature development that needs thorough documentation.</a:t>
            </a:r>
          </a:p>
          <a:p>
            <a:r>
              <a:rPr lang="en-US" dirty="0" b="1"/>
              <a:t>Quick Spec:</a:t>
            </a:r>
            <a:r>
              <a:rPr lang="en-US" dirty="0"/>
              <a:t> Requirements + Tasks only — for small features on a 1–3 day timeline.</a:t>
            </a:r>
          </a:p>
          <a:p>
            <a:r>
              <a:rPr lang="en-US" dirty="0" b="1"/>
              <a:t>Micro Spec:</a:t>
            </a:r>
            <a:r>
              <a:rPr lang="en-US" dirty="0"/>
              <a:t> a minimal, streamlined format — for sub-1-day changes.</a:t>
            </a:r>
          </a:p>
          <a:p>
            <a:pPr marL="0" indent="0">
              <a:buNone/>
            </a:pPr>
            <a:r>
              <a:rPr lang="en-US" dirty="0" b="1"/>
              <a:t>Rule of thumb: </a:t>
            </a:r>
            <a:r>
              <a:rPr lang="en-US" dirty="0"/>
              <a:t>match the spec's weight to the risk and lifespan of the change, not to how the request happened to be phrased.</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Takeaways: Practising Spec-Driven Development</a:t>
            </a:r>
          </a:p>
        </p:txBody>
      </p:sp>
      <p:sp>
        <p:nvSpPr>
          <p:cNvPr id="3" name="Text Placeholder 2"/>
          <p:cNvSpPr>
            <a:spLocks noGrp="1"/>
          </p:cNvSpPr>
          <p:nvPr>
            <p:ph type="body" sz="quarter" idx="11"/>
          </p:nvPr>
        </p:nvSpPr>
        <p:spPr/>
        <p:txBody>
          <a:bodyPr/>
          <a:lstStyle/>
          <a:p>
            <a:r>
              <a:rPr lang="en-US" dirty="0" b="1"/>
              <a:t>Spec first, code second:</a:t>
            </a:r>
            <a:r>
              <a:rPr lang="en-US" dirty="0"/>
              <a:t> the documents are the source of truth; code is generated — and regenerated — to satisfy them.</a:t>
            </a:r>
          </a:p>
          <a:p>
            <a:r>
              <a:rPr lang="en-US" dirty="0" b="1"/>
              <a:t>Structure removes ambiguity:</a:t>
            </a:r>
            <a:r>
              <a:rPr lang="en-US" dirty="0"/>
              <a:t> EARS syntax and cited requirement IDs leave little room to guess wrong.</a:t>
            </a:r>
          </a:p>
          <a:p>
            <a:r>
              <a:rPr lang="en-US" dirty="0" b="1"/>
              <a:t>Traceability enables trust:</a:t>
            </a:r>
            <a:r>
              <a:rPr lang="en-US" dirty="0"/>
              <a:t> every design choice and every task can be traced back to a reviewed requirement.</a:t>
            </a:r>
          </a:p>
          <a:p>
            <a:r>
              <a:rPr lang="en-US" dirty="0" b="1"/>
              <a:t>Depth should match the task:</a:t>
            </a:r>
            <a:r>
              <a:rPr lang="en-US" dirty="0"/>
              <a:t> reach for Full, Quick, or Micro Spec based on the size and risk of the change.</a:t>
            </a:r>
          </a:p>
          <a:p>
            <a:pPr marL="0" indent="0">
              <a:buNone/>
            </a:pPr>
            <a:r>
              <a:rPr lang="en-US" dirty="0" b="1"/>
              <a:t>Bottom line: </a:t>
            </a:r>
            <a:r>
              <a:rPr lang="en-US" dirty="0"/>
              <a:t>SDD front-loads the thinking, so the code generated is far less likely to need a redo.</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Text Placeholder 2"/>
          <p:cNvSpPr>
            <a:spLocks noGrp="1"/>
          </p:cNvSpPr>
          <p:nvPr>
            <p:ph type="body" sz="quarter" idx="11"/>
          </p:nvPr>
        </p:nvSpPr>
        <p:spPr/>
        <p:txBody>
          <a:bodyPr/>
          <a:lstStyle/>
          <a:p>
            <a:r>
              <a:rPr lang="en-US" dirty="0" b="1"/>
              <a:t>Spec-Driven Development Guide</a:t>
            </a:r>
            <a:r>
              <a:rPr lang="en-US" dirty="0"/>
              <a:t> (Caleb Del / GitHub) — the templates for Requirements, Design, and Tasks → GitHub repo.</a:t>
            </a:r>
          </a:p>
          <a:p>
            <a:r>
              <a:rPr lang="en-US" dirty="0" b="1"/>
              <a:t>GitHub Spec Kit</a:t>
            </a:r>
            <a:r>
              <a:rPr lang="en-US" dirty="0"/>
              <a:t> — an agentic toolkit that implements the spec-first workflow for AI coding assistants → GitHub.</a:t>
            </a:r>
          </a:p>
          <a:p>
            <a:r>
              <a:rPr lang="en-US" dirty="0" b="1"/>
              <a:t>Claude Code</a:t>
            </a:r>
            <a:r>
              <a:rPr lang="en-US" dirty="0"/>
              <a:t> — supports structured spec files (requirements.md, design.md, tasks.md) as part of its agentic workflow → Docs.</a:t>
            </a:r>
          </a:p>
          <a:p>
            <a:r>
              <a:rPr lang="en-US" dirty="0" b="1"/>
              <a:t>EARS (Easy Approach to Requirements Syntax)</a:t>
            </a:r>
            <a:r>
              <a:rPr lang="en-US" dirty="0"/>
              <a:t> — the requirement-writing format used throughout the Requirements template → Standards Reference.</a:t>
            </a:r>
          </a:p>
        </p:txBody>
      </p:sp>
      <p:sp>
        <p:nvSpPr>
          <p:cNvPr id="4" name="Footer Placeholder 3"/>
          <p:cNvSpPr>
            <a:spLocks noGrp="1"/>
          </p:cNvSpPr>
          <p:nvPr>
            <p:ph type="ftr" sz="quarter" idx="13"/>
          </p:nvPr>
        </p:nvSpPr>
        <p:spPr/>
        <p:txBody>
          <a:bodyPr/>
          <a:lstStyle/>
          <a:p>
            <a:pPr algn="l"/>
            <a:r>
              <a:rPr lang="it-IT"/>
              <a:t>ITI122 Generative AI - PDC in Generative AI &amp; Deep Learning</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2.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9477</TotalTime>
  <Words>2122</Words>
  <Application>Microsoft Office PowerPoint</Application>
  <PresentationFormat>Widescreen</PresentationFormat>
  <Paragraphs>234</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Arvo</vt:lpstr>
      <vt:lpstr>Aptos</vt:lpstr>
      <vt:lpstr>Arial</vt:lpstr>
      <vt:lpstr>Calibri</vt:lpstr>
      <vt:lpstr>Calibri Light</vt:lpstr>
      <vt:lpstr>Roboto</vt:lpstr>
      <vt:lpstr>SEN 129(23) A19</vt:lpstr>
      <vt:lpstr>PowerPoint Presentation</vt:lpstr>
      <vt:lpstr>Learning Outcomes</vt:lpstr>
      <vt:lpstr>What is a Transformer?</vt:lpstr>
      <vt:lpstr>Transformer Architecture Overview</vt:lpstr>
      <vt:lpstr>Why Transformers Made LLMs Possible</vt:lpstr>
      <vt:lpstr>Feature 1 — Self-Attention</vt:lpstr>
      <vt:lpstr>Feature 2 — Multi-Head Attention</vt:lpstr>
      <vt:lpstr>Feature 3 — Positional Encoding</vt:lpstr>
      <vt:lpstr>Feature 4 — Layer Normalization &amp; Residual Connections</vt:lpstr>
      <vt:lpstr>Feature 5 — Scalability &amp; Parallelism</vt:lpstr>
      <vt:lpstr>Feature 6 — Encoder vs. Decoder Architectures</vt:lpstr>
      <vt:lpstr>LLMs Built on Transformers</vt:lpstr>
      <vt:lpstr>Decoder-Only Transformer for LLMs</vt:lpstr>
      <vt:lpstr>Human-like Characteristics of LLMs</vt:lpstr>
      <vt:lpstr>Human-like Characteristics of LLMs</vt:lpstr>
      <vt:lpstr>Human-like Characteristics of LLMs</vt:lpstr>
      <vt:lpstr>Human-like Characteristics of LLMs</vt:lpstr>
      <vt:lpstr>Human-like Characteristics of LLMs</vt:lpstr>
      <vt:lpstr>Human-like Characteristics of LLMs</vt:lpstr>
      <vt:lpstr>Human-like Characteristics of LLMs</vt:lpstr>
      <vt:lpstr>What is Foundation Model?</vt:lpstr>
      <vt:lpstr>What is Foundation Model?</vt:lpstr>
      <vt:lpstr>Large Language Model (LLM)</vt:lpstr>
      <vt:lpstr>General Training Pipeline</vt:lpstr>
      <vt:lpstr>What is a Multimodal LLM?</vt:lpstr>
      <vt:lpstr>Example Tasks Multimodal LLMs Can Do</vt:lpstr>
      <vt:lpstr>Why Multimodality Matters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cp:lastModifiedBy>
  <cp:revision>65</cp:revision>
  <dcterms:created xsi:type="dcterms:W3CDTF">2023-04-05T14:55:09Z</dcterms:created>
  <dcterms:modified xsi:type="dcterms:W3CDTF">2025-10-08T06:21:55Z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