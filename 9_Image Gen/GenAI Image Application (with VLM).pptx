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21"/>
  </p:notesMasterIdLst>
  <p:handoutMasterIdLst>
    <p:handoutMasterId r:id="rId22"/>
  </p:handoutMasterIdLst>
  <p:sldIdLst>
    <p:sldId id="419" r:id="rId5"/>
    <p:sldId id="402" r:id="rId6"/>
    <p:sldId id="426" r:id="rId7"/>
    <p:sldId id="453" r:id="rId8"/>
    <p:sldId id="437" r:id="rId9"/>
    <p:sldId id="443" r:id="rId10"/>
    <p:sldId id="442" r:id="rId11"/>
    <p:sldId id="444" r:id="rId12"/>
    <p:sldId id="445" r:id="rId13"/>
    <p:sldId id="446" r:id="rId14"/>
    <p:sldId id="447" r:id="rId15"/>
    <p:sldId id="448" r:id="rId16"/>
    <p:sldId id="450" r:id="rId17"/>
    <p:sldId id="451" r:id="rId18"/>
    <p:sldId id="454" r:id="rId29"/>
    <p:sldId id="455" r:id="rId30"/>
    <p:sldId id="456" r:id="rId31"/>
    <p:sldId id="457" r:id="rId32"/>
    <p:sldId id="458" r:id="rId33"/>
    <p:sldId id="459" r:id="rId34"/>
    <p:sldId id="460" r:id="rId35"/>
    <p:sldId id="461" r:id="rId36"/>
    <p:sldId id="462" r:id="rId37"/>
    <p:sldId id="463" r:id="rId38"/>
    <p:sldId id="464" r:id="rId39"/>
    <p:sldId id="452" r:id="rId19"/>
    <p:sldId id="40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FBE833F-A7A8-421F-9A61-0E7BE56FC10F}">
          <p14:sldIdLst>
            <p14:sldId id="419"/>
            <p14:sldId id="402"/>
            <p14:sldId id="426"/>
            <p14:sldId id="453"/>
            <p14:sldId id="437"/>
            <p14:sldId id="443"/>
            <p14:sldId id="442"/>
            <p14:sldId id="444"/>
            <p14:sldId id="445"/>
            <p14:sldId id="446"/>
            <p14:sldId id="447"/>
            <p14:sldId id="448"/>
            <p14:sldId id="450"/>
            <p14:sldId id="451"/>
            <p14:sldId id="452"/>
            <p14:sldId id="4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ED7AA8-B633-43EA-B803-6478153F3BD7}" v="3" dt="2025-03-21T02:00:42.0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22" autoAdjust="0"/>
    <p:restoredTop sz="77326" autoAdjust="0"/>
  </p:normalViewPr>
  <p:slideViewPr>
    <p:cSldViewPr snapToGrid="0">
      <p:cViewPr varScale="1">
        <p:scale>
          <a:sx n="113" d="100"/>
          <a:sy n="113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eng Kok MAR (NYP)" userId="62030f1a-a95b-4c33-86e6-478100d64ee1" providerId="ADAL" clId="{58ED7AA8-B633-43EA-B803-6478153F3BD7}"/>
    <pc:docChg chg="undo custSel addSld delSld modSld">
      <pc:chgData name="Kheng Kok MAR (NYP)" userId="62030f1a-a95b-4c33-86e6-478100d64ee1" providerId="ADAL" clId="{58ED7AA8-B633-43EA-B803-6478153F3BD7}" dt="2025-03-21T05:00:48.584" v="153" actId="5793"/>
      <pc:docMkLst>
        <pc:docMk/>
      </pc:docMkLst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2600293482" sldId="262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2807024801" sldId="295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2933152867" sldId="299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250412498" sldId="300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1619976221" sldId="301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4234809244" sldId="302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2070489917" sldId="303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1766828700" sldId="320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880737323" sldId="321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392206436" sldId="322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132682470" sldId="323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169862212" sldId="324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4009347987" sldId="325"/>
        </pc:sldMkLst>
      </pc:sldChg>
      <pc:sldChg chg="del">
        <pc:chgData name="Kheng Kok MAR (NYP)" userId="62030f1a-a95b-4c33-86e6-478100d64ee1" providerId="ADAL" clId="{58ED7AA8-B633-43EA-B803-6478153F3BD7}" dt="2025-03-21T05:00:10.423" v="138" actId="47"/>
        <pc:sldMkLst>
          <pc:docMk/>
          <pc:sldMk cId="1255300212" sldId="327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1320550275" sldId="328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916683871" sldId="329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3836926012" sldId="330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1005339390" sldId="331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3761206000" sldId="333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1070237463" sldId="334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1769685483" sldId="335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781151514" sldId="336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4181970323" sldId="337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3715183010" sldId="338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807812468" sldId="33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114733694" sldId="340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020918737" sldId="341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4113745265" sldId="34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711056098" sldId="345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008210905" sldId="346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922411213" sldId="347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930374708" sldId="34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062503712" sldId="35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186340524" sldId="354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351436070" sldId="358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516845528" sldId="35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606275055" sldId="366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873997129" sldId="368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96573934" sldId="36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624530038" sldId="370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836799505" sldId="372"/>
        </pc:sldMkLst>
      </pc:sldChg>
      <pc:sldChg chg="del">
        <pc:chgData name="Kheng Kok MAR (NYP)" userId="62030f1a-a95b-4c33-86e6-478100d64ee1" providerId="ADAL" clId="{58ED7AA8-B633-43EA-B803-6478153F3BD7}" dt="2025-03-21T05:00:12.373" v="139" actId="47"/>
        <pc:sldMkLst>
          <pc:docMk/>
          <pc:sldMk cId="2712846146" sldId="37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931830914" sldId="374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799979536" sldId="375"/>
        </pc:sldMkLst>
      </pc:sldChg>
      <pc:sldChg chg="del">
        <pc:chgData name="Kheng Kok MAR (NYP)" userId="62030f1a-a95b-4c33-86e6-478100d64ee1" providerId="ADAL" clId="{58ED7AA8-B633-43EA-B803-6478153F3BD7}" dt="2025-03-21T05:00:10.423" v="138" actId="47"/>
        <pc:sldMkLst>
          <pc:docMk/>
          <pc:sldMk cId="2780781574" sldId="377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274829805" sldId="378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1802167371" sldId="379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2990305848" sldId="380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3422701620" sldId="381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680813618" sldId="38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875934704" sldId="384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619453085" sldId="385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4041534699" sldId="386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434463523" sldId="387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273044271" sldId="388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594403404" sldId="38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584676501" sldId="390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4048104730" sldId="391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761234270" sldId="392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140442699" sldId="39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799622941" sldId="394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213993344" sldId="395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879657340" sldId="396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27410163" sldId="397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53696741" sldId="398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929622885" sldId="39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406082339" sldId="400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068316888" sldId="401"/>
        </pc:sldMkLst>
      </pc:sldChg>
      <pc:sldChg chg="modSp add mod">
        <pc:chgData name="Kheng Kok MAR (NYP)" userId="62030f1a-a95b-4c33-86e6-478100d64ee1" providerId="ADAL" clId="{58ED7AA8-B633-43EA-B803-6478153F3BD7}" dt="2025-03-21T04:59:24.160" v="134" actId="20577"/>
        <pc:sldMkLst>
          <pc:docMk/>
          <pc:sldMk cId="3155291161" sldId="402"/>
        </pc:sldMkLst>
        <pc:spChg chg="mod">
          <ac:chgData name="Kheng Kok MAR (NYP)" userId="62030f1a-a95b-4c33-86e6-478100d64ee1" providerId="ADAL" clId="{58ED7AA8-B633-43EA-B803-6478153F3BD7}" dt="2025-03-21T02:00:47.977" v="73" actId="20577"/>
          <ac:spMkLst>
            <pc:docMk/>
            <pc:sldMk cId="3155291161" sldId="402"/>
            <ac:spMk id="2" creationId="{A1D871B1-6C5D-3259-B42A-793ADF2CE90C}"/>
          </ac:spMkLst>
        </pc:spChg>
        <pc:spChg chg="mod">
          <ac:chgData name="Kheng Kok MAR (NYP)" userId="62030f1a-a95b-4c33-86e6-478100d64ee1" providerId="ADAL" clId="{58ED7AA8-B633-43EA-B803-6478153F3BD7}" dt="2025-03-21T04:59:24.160" v="134" actId="20577"/>
          <ac:spMkLst>
            <pc:docMk/>
            <pc:sldMk cId="3155291161" sldId="402"/>
            <ac:spMk id="3" creationId="{DD3B9174-B1BD-7F76-160C-AB73246A18B4}"/>
          </ac:spMkLst>
        </pc:spChg>
      </pc:sldChg>
      <pc:sldChg chg="modSp add del mod">
        <pc:chgData name="Kheng Kok MAR (NYP)" userId="62030f1a-a95b-4c33-86e6-478100d64ee1" providerId="ADAL" clId="{58ED7AA8-B633-43EA-B803-6478153F3BD7}" dt="2025-03-21T02:00:27.386" v="55"/>
        <pc:sldMkLst>
          <pc:docMk/>
          <pc:sldMk cId="3498333577" sldId="402"/>
        </pc:sldMkLst>
        <pc:spChg chg="mod">
          <ac:chgData name="Kheng Kok MAR (NYP)" userId="62030f1a-a95b-4c33-86e6-478100d64ee1" providerId="ADAL" clId="{58ED7AA8-B633-43EA-B803-6478153F3BD7}" dt="2025-03-21T02:00:26.988" v="54" actId="20577"/>
          <ac:spMkLst>
            <pc:docMk/>
            <pc:sldMk cId="3498333577" sldId="402"/>
            <ac:spMk id="2" creationId="{7E5DD8B0-3B00-B572-9211-A9127DBB9BE1}"/>
          </ac:spMkLst>
        </pc:spChg>
      </pc:sldChg>
      <pc:sldChg chg="modSp new mod">
        <pc:chgData name="Kheng Kok MAR (NYP)" userId="62030f1a-a95b-4c33-86e6-478100d64ee1" providerId="ADAL" clId="{58ED7AA8-B633-43EA-B803-6478153F3BD7}" dt="2025-03-21T05:00:48.584" v="153" actId="5793"/>
        <pc:sldMkLst>
          <pc:docMk/>
          <pc:sldMk cId="2767485149" sldId="403"/>
        </pc:sldMkLst>
        <pc:spChg chg="mod">
          <ac:chgData name="Kheng Kok MAR (NYP)" userId="62030f1a-a95b-4c33-86e6-478100d64ee1" providerId="ADAL" clId="{58ED7AA8-B633-43EA-B803-6478153F3BD7}" dt="2025-03-21T05:00:24.783" v="150" actId="20577"/>
          <ac:spMkLst>
            <pc:docMk/>
            <pc:sldMk cId="2767485149" sldId="403"/>
            <ac:spMk id="2" creationId="{B6D222A1-CAB4-531E-D2EE-955F64A570CC}"/>
          </ac:spMkLst>
        </pc:spChg>
        <pc:spChg chg="mod">
          <ac:chgData name="Kheng Kok MAR (NYP)" userId="62030f1a-a95b-4c33-86e6-478100d64ee1" providerId="ADAL" clId="{58ED7AA8-B633-43EA-B803-6478153F3BD7}" dt="2025-03-21T05:00:48.584" v="153" actId="5793"/>
          <ac:spMkLst>
            <pc:docMk/>
            <pc:sldMk cId="2767485149" sldId="403"/>
            <ac:spMk id="3" creationId="{C3D150AC-8FBE-FE32-73FC-FBBA80B56B9E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4A07A7-A8F7-B72E-4B74-261D7D3F95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72104-C5D7-9142-35F7-AC28827A37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3F652-CB33-4F60-88E9-6D8C7BBE5615}" type="datetimeFigureOut">
              <a:rPr lang="en-SG" smtClean="0"/>
              <a:t>3/12/2025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43AF6-21A3-F929-ED7C-7B438738C7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E12D10-68BD-CCCD-9552-0B6E039E3D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006ED-B046-4917-A165-CAAD7C0FC90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6877492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0027D-8C89-4D53-9D0A-8B13C461417F}" type="datetimeFigureOut">
              <a:rPr lang="en-SG" smtClean="0"/>
              <a:t>3/12/2025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0DD26-C564-4A3C-8398-FE9A3FA1B7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6218849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EA3C9-6A75-1ACC-B9DD-02E47A419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233F7-84E0-CA0A-1620-DED80B3EE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03095-1979-EB07-19FD-93E4CD1C3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C96F3-C312-2C6E-327B-F0FB26E0992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28276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slide. Everything so far went text -&gt; image. VLMs run the other way: image + question -&gt; text. Same transformer machinery, opposite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 slide. Stress the single-model idea: one forward pass sees the image and the question. See / align / explain is the mental model for the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last row as the punchline: same fluency, but the answer is anchored to something the model can actually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two paths left to right. Key point: the projector is the only new piece; encoder and LLM are usually pre-trained and frozen at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components, in pipeline order. Ask the class which one is new compared with a text-only LLM (answer: encoder and projector).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stages, cheapest last. Note that stage 1 is matching only; the ability to hold a conversation comes from stage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beats: match (CLIP), generate (Flamingo), converse (LLaVA), commodity (today's assistants).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Captioning and VQA are the two you will demo. Retrieval is the commercial workhorse; reasoning is where hallucination risk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class which of these they have already used this week. Accessibility is the strongest social case; e-commerce is the strongest commercial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 of the image-generation ethics slide. Emphasise hallucination: the fluent sentence hides the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loop drawn on the bridge slide, then hand over to the practical: caption an image you generated earlier in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64572-F5E1-4A3A-A721-7EE4541A5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D856F-22DF-457F-9DA6-2BBBE7724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6B450-8F36-4CA9-BB8A-54BED55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71D93-7B44-402E-B68F-4A50DAAAF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9746C-92A0-4CD8-BF8A-E4787E5D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351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E61EE-C429-4744-8D26-1FB9FBC38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0C32D-939C-4A87-B206-B13FE76F0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6BE5D-2F83-4AEF-8424-C597E22D6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7BA20-D537-4D97-9120-03F8E8122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2ACC6-7178-428F-8CCE-47D86AD0D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189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50FF1-A312-4C8E-9EA2-3491BFAC0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27663-4B68-4F0E-8160-1ADCE9DF4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5D66A-D9A4-4415-8D41-CC1D01E37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03ECE-F479-44BE-A832-5B02157A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826F4-E99A-40B3-8CA0-F3AA4B55B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3385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82B9-76EF-4801-9C08-4047A10F3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9132F-3A32-4B41-90C7-EDF0D345A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6EA9C-159B-4ED1-92F1-09257F863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F40C3-72F4-404A-A9ED-41357771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A5256-D040-4A8E-9B0C-40E9F3883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95349-5DEF-4070-9AE9-0301B436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8126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DE1B5-E354-4039-B5F3-B1498766F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F4FBD-5344-4232-A05C-D05324029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0A864-D109-4C22-B06D-0894FCB2D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1EBD65-DF66-42D8-B090-FD5F3BCAF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5A9A2C-BFB2-48F9-9095-833362DB1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F60E8-DF8A-4529-9FA5-A28A2EA33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B79B9-A512-4CE4-A687-246A34A1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338109-A1A9-4998-B4A1-97ADDAB7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50165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03E35-5299-4B63-8B51-9F4A97C71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A6AC6-0659-4FAD-9E8F-76F401FB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29569-4516-499A-8373-AC26F376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E8AF0-0DB6-489E-ACEC-F21DC9B2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4453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50201-F9A8-4138-A24F-AB852281E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F83975-FF84-487F-AFDC-02263F1E3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4FDBD-62AB-401C-9199-F111ECB26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1278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1716-B274-4466-9712-6CEDEBBDA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32D5B-1F24-430E-80E2-D0E184410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FCB68-134D-45A9-A146-ECD542F0F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AA041-31C7-413C-8A76-152B59F3A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C2EC0-A05A-4B3D-8A8A-BC1CA298D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C253A-3A59-4B50-B64F-0AE1A3580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8922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F7369-8207-4F07-BC27-4276545C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9A7276-13B9-4486-B413-88F6B8EE18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91697-F7DC-4A78-AF6E-6296B045D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1571A-A600-463A-87C9-E3DBFDD13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963BD-E48F-4045-918C-E9E660CC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3A05E-7512-44BA-BD0F-A86E1D35F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0017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DA04D-1F17-4E9B-A65E-2F1F803C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C65C5-F69C-413D-BA7E-583D32A40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91DEE-2925-47EE-8B32-4E17401F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0BC08-FF2F-45C0-A338-E6D2C802C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DE448-78DC-4158-A0A8-43B71EE1C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8230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0EAE97-62E2-4725-A10F-5240A0DCF4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1AE281-0364-46E3-A4EE-1A000C620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BE32D-4087-41E0-882F-E4A1DF219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6DE89-DF6B-4C00-8B4D-5A201E154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3BC24-7B2B-46D2-A14D-E4B04FBC0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03511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4897FD1-71BD-47A6-B797-CF76C131ADA2}"/>
              </a:ext>
            </a:extLst>
          </p:cNvPr>
          <p:cNvGrpSpPr/>
          <p:nvPr/>
        </p:nvGrpSpPr>
        <p:grpSpPr>
          <a:xfrm>
            <a:off x="0" y="1"/>
            <a:ext cx="12192000" cy="96761"/>
            <a:chOff x="0" y="1"/>
            <a:chExt cx="9144000" cy="5013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48B507-1C7C-424E-A896-2B5D193F7988}"/>
                </a:ext>
              </a:extLst>
            </p:cNvPr>
            <p:cNvSpPr/>
            <p:nvPr userDrawn="1"/>
          </p:nvSpPr>
          <p:spPr>
            <a:xfrm>
              <a:off x="0" y="1"/>
              <a:ext cx="4572000" cy="50138"/>
            </a:xfrm>
            <a:prstGeom prst="rect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6A0A9C-1620-46A1-96D8-039E189461A1}"/>
                </a:ext>
              </a:extLst>
            </p:cNvPr>
            <p:cNvSpPr/>
            <p:nvPr userDrawn="1"/>
          </p:nvSpPr>
          <p:spPr>
            <a:xfrm>
              <a:off x="4572000" y="1"/>
              <a:ext cx="4572000" cy="50138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240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83DBF1-F186-4FF9-98D0-2D89BCCD7064}"/>
              </a:ext>
            </a:extLst>
          </p:cNvPr>
          <p:cNvCxnSpPr>
            <a:cxnSpLocks/>
          </p:cNvCxnSpPr>
          <p:nvPr/>
        </p:nvCxnSpPr>
        <p:spPr>
          <a:xfrm>
            <a:off x="279540" y="6530229"/>
            <a:ext cx="116329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itle 8">
            <a:extLst>
              <a:ext uri="{FF2B5EF4-FFF2-40B4-BE49-F238E27FC236}">
                <a16:creationId xmlns:a16="http://schemas.microsoft.com/office/drawing/2014/main" id="{029F2E20-2684-46DF-9D11-02417258E7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95" y="278092"/>
            <a:ext cx="11042511" cy="1078875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SG"/>
              <a:t>Click to add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0D22AC7-14BF-4AF1-B561-7FA3FAB6CB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018" y="1562095"/>
            <a:ext cx="11042651" cy="4791607"/>
          </a:xfrm>
          <a:prstGeom prst="rect">
            <a:avLst/>
          </a:prstGeom>
        </p:spPr>
        <p:txBody>
          <a:bodyPr/>
          <a:lstStyle>
            <a:lvl1pPr marL="380990" indent="-38099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bullets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0820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2248000"/>
            <a:ext cx="12192000" cy="461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4"/>
          <p:cNvSpPr/>
          <p:nvPr/>
        </p:nvSpPr>
        <p:spPr>
          <a:xfrm>
            <a:off x="0" y="2248000"/>
            <a:ext cx="12192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629200" y="984967"/>
            <a:ext cx="10962800" cy="10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629200" y="2558767"/>
            <a:ext cx="109628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79974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2248000"/>
            <a:ext cx="12192000" cy="461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" name="Google Shape;26;p5"/>
          <p:cNvSpPr/>
          <p:nvPr/>
        </p:nvSpPr>
        <p:spPr>
          <a:xfrm>
            <a:off x="0" y="2248000"/>
            <a:ext cx="12192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629200" y="984967"/>
            <a:ext cx="10962800" cy="10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629200" y="2558767"/>
            <a:ext cx="53332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6259000" y="2558767"/>
            <a:ext cx="53332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941412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4368800" y="33"/>
            <a:ext cx="78232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" name="Google Shape;38;p7"/>
          <p:cNvSpPr/>
          <p:nvPr/>
        </p:nvSpPr>
        <p:spPr>
          <a:xfrm rot="-5400000">
            <a:off x="1012200" y="3356600"/>
            <a:ext cx="6858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01437" y="477067"/>
            <a:ext cx="3744000" cy="12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01433" y="1954400"/>
            <a:ext cx="3744000" cy="42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19618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634000" y="1678033"/>
            <a:ext cx="10962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634000" y="4406167"/>
            <a:ext cx="10962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68319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653667" y="651000"/>
            <a:ext cx="83028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50921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6096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" name="Google Shape;47;p9"/>
          <p:cNvSpPr/>
          <p:nvPr/>
        </p:nvSpPr>
        <p:spPr>
          <a:xfrm rot="5400000">
            <a:off x="2595233" y="3357000"/>
            <a:ext cx="68572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354000" y="3705956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771454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7"/>
          <p:cNvSpPr/>
          <p:nvPr/>
        </p:nvSpPr>
        <p:spPr>
          <a:xfrm>
            <a:off x="10059311" y="877033"/>
            <a:ext cx="1732400" cy="5772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3" name="Google Shape;13;p57"/>
          <p:cNvGrpSpPr/>
          <p:nvPr/>
        </p:nvGrpSpPr>
        <p:grpSpPr>
          <a:xfrm>
            <a:off x="0" y="-9451"/>
            <a:ext cx="11548531" cy="6867451"/>
            <a:chOff x="0" y="-7088"/>
            <a:chExt cx="8661398" cy="5150588"/>
          </a:xfrm>
        </p:grpSpPr>
        <p:sp>
          <p:nvSpPr>
            <p:cNvPr id="14" name="Google Shape;14;p57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57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6" name="Google Shape;16;p57"/>
          <p:cNvGrpSpPr/>
          <p:nvPr/>
        </p:nvGrpSpPr>
        <p:grpSpPr>
          <a:xfrm rot="10800000" flipH="1">
            <a:off x="2" y="1454351"/>
            <a:ext cx="11796669" cy="3949300"/>
            <a:chOff x="-8178042" y="-4493254"/>
            <a:chExt cx="19483597" cy="6522736"/>
          </a:xfrm>
        </p:grpSpPr>
        <p:sp>
          <p:nvSpPr>
            <p:cNvPr id="17" name="Google Shape;17;p57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8" name="Google Shape;18;p57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9" name="Google Shape;19;p57"/>
          <p:cNvGrpSpPr/>
          <p:nvPr/>
        </p:nvGrpSpPr>
        <p:grpSpPr>
          <a:xfrm>
            <a:off x="4902981" y="5704465"/>
            <a:ext cx="7307771" cy="577328"/>
            <a:chOff x="5582265" y="4646738"/>
            <a:chExt cx="5480828" cy="432996"/>
          </a:xfrm>
        </p:grpSpPr>
        <p:sp>
          <p:nvSpPr>
            <p:cNvPr id="20" name="Google Shape;20;p57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" name="Google Shape;21;p57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2" name="Google Shape;22;p57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57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" name="Google Shape;24;p57"/>
          <p:cNvSpPr txBox="1">
            <a:spLocks noGrp="1"/>
          </p:cNvSpPr>
          <p:nvPr>
            <p:ph type="ctrTitle"/>
          </p:nvPr>
        </p:nvSpPr>
        <p:spPr>
          <a:xfrm>
            <a:off x="643469" y="1454333"/>
            <a:ext cx="6984320" cy="39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3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5" name="Google Shape;25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70875" y="1454217"/>
            <a:ext cx="2268772" cy="22687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58796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E90C6C-FDE3-C662-2486-197F1D3B3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FC56D8D-12A6-4A5A-B92D-575EE1DEE3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6323" y="1528131"/>
            <a:ext cx="5337923" cy="1866872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z="6667" b="1">
                <a:solidFill>
                  <a:schemeClr val="tx1"/>
                </a:solidFill>
              </a:defRPr>
            </a:lvl1pPr>
          </a:lstStyle>
          <a:p>
            <a:pPr lvl="0"/>
            <a:endParaRPr lang="en-SG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F1328D7-7673-4614-9EEB-F014CD4879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6323" y="3549449"/>
            <a:ext cx="4813671" cy="999104"/>
          </a:xfrm>
          <a:prstGeom prst="rect">
            <a:avLst/>
          </a:prstGeom>
        </p:spPr>
        <p:txBody>
          <a:bodyPr/>
          <a:lstStyle>
            <a:lvl1pPr>
              <a:defRPr sz="1867" b="0">
                <a:solidFill>
                  <a:schemeClr val="tx1"/>
                </a:solidFill>
              </a:defRPr>
            </a:lvl1pPr>
          </a:lstStyle>
          <a:p>
            <a:pPr lvl="0"/>
            <a:endParaRPr lang="en-SG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B0011CE1-EDBF-46B7-9599-4FD9FCE16C51}"/>
              </a:ext>
            </a:extLst>
          </p:cNvPr>
          <p:cNvSpPr/>
          <p:nvPr userDrawn="1"/>
        </p:nvSpPr>
        <p:spPr>
          <a:xfrm rot="2871830">
            <a:off x="6936865" y="138470"/>
            <a:ext cx="257671" cy="2397084"/>
          </a:xfrm>
          <a:custGeom>
            <a:avLst/>
            <a:gdLst>
              <a:gd name="connsiteX0" fmla="*/ 0 w 193253"/>
              <a:gd name="connsiteY0" fmla="*/ 0 h 1820147"/>
              <a:gd name="connsiteX1" fmla="*/ 193253 w 193253"/>
              <a:gd name="connsiteY1" fmla="*/ 0 h 1820147"/>
              <a:gd name="connsiteX2" fmla="*/ 193253 w 193253"/>
              <a:gd name="connsiteY2" fmla="*/ 1820147 h 1820147"/>
              <a:gd name="connsiteX3" fmla="*/ 0 w 193253"/>
              <a:gd name="connsiteY3" fmla="*/ 1820147 h 1820147"/>
              <a:gd name="connsiteX4" fmla="*/ 0 w 193253"/>
              <a:gd name="connsiteY4" fmla="*/ 0 h 1820147"/>
              <a:gd name="connsiteX0" fmla="*/ 0 w 197852"/>
              <a:gd name="connsiteY0" fmla="*/ 0 h 1820147"/>
              <a:gd name="connsiteX1" fmla="*/ 197852 w 197852"/>
              <a:gd name="connsiteY1" fmla="*/ 4378 h 1820147"/>
              <a:gd name="connsiteX2" fmla="*/ 193253 w 197852"/>
              <a:gd name="connsiteY2" fmla="*/ 1820147 h 1820147"/>
              <a:gd name="connsiteX3" fmla="*/ 0 w 197852"/>
              <a:gd name="connsiteY3" fmla="*/ 1820147 h 1820147"/>
              <a:gd name="connsiteX4" fmla="*/ 0 w 197852"/>
              <a:gd name="connsiteY4" fmla="*/ 0 h 1820147"/>
              <a:gd name="connsiteX0" fmla="*/ 5041 w 197852"/>
              <a:gd name="connsiteY0" fmla="*/ 17956 h 1815769"/>
              <a:gd name="connsiteX1" fmla="*/ 197852 w 197852"/>
              <a:gd name="connsiteY1" fmla="*/ 0 h 1815769"/>
              <a:gd name="connsiteX2" fmla="*/ 193253 w 197852"/>
              <a:gd name="connsiteY2" fmla="*/ 1815769 h 1815769"/>
              <a:gd name="connsiteX3" fmla="*/ 0 w 197852"/>
              <a:gd name="connsiteY3" fmla="*/ 1815769 h 1815769"/>
              <a:gd name="connsiteX4" fmla="*/ 5041 w 197852"/>
              <a:gd name="connsiteY4" fmla="*/ 17956 h 1815769"/>
              <a:gd name="connsiteX0" fmla="*/ 5041 w 193253"/>
              <a:gd name="connsiteY0" fmla="*/ 0 h 1797813"/>
              <a:gd name="connsiteX1" fmla="*/ 189316 w 193253"/>
              <a:gd name="connsiteY1" fmla="*/ 220 h 1797813"/>
              <a:gd name="connsiteX2" fmla="*/ 193253 w 193253"/>
              <a:gd name="connsiteY2" fmla="*/ 1797813 h 1797813"/>
              <a:gd name="connsiteX3" fmla="*/ 0 w 193253"/>
              <a:gd name="connsiteY3" fmla="*/ 1797813 h 1797813"/>
              <a:gd name="connsiteX4" fmla="*/ 5041 w 193253"/>
              <a:gd name="connsiteY4" fmla="*/ 0 h 1797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3253" h="1797813">
                <a:moveTo>
                  <a:pt x="5041" y="0"/>
                </a:moveTo>
                <a:lnTo>
                  <a:pt x="189316" y="220"/>
                </a:lnTo>
                <a:cubicBezTo>
                  <a:pt x="190628" y="599418"/>
                  <a:pt x="191941" y="1198615"/>
                  <a:pt x="193253" y="1797813"/>
                </a:cubicBezTo>
                <a:lnTo>
                  <a:pt x="0" y="1797813"/>
                </a:lnTo>
                <a:cubicBezTo>
                  <a:pt x="1680" y="1198542"/>
                  <a:pt x="3361" y="599271"/>
                  <a:pt x="5041" y="0"/>
                </a:cubicBezTo>
                <a:close/>
              </a:path>
            </a:pathLst>
          </a:custGeom>
          <a:solidFill>
            <a:srgbClr val="164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C043153B-9164-4B7D-8967-9232760F77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547" y="393707"/>
            <a:ext cx="2822077" cy="584956"/>
          </a:xfrm>
          <a:prstGeom prst="rect">
            <a:avLst/>
          </a:prstGeom>
        </p:spPr>
      </p:pic>
      <p:sp>
        <p:nvSpPr>
          <p:cNvPr id="2" name="Isosceles Triangle 2">
            <a:extLst>
              <a:ext uri="{FF2B5EF4-FFF2-40B4-BE49-F238E27FC236}">
                <a16:creationId xmlns:a16="http://schemas.microsoft.com/office/drawing/2014/main" id="{A15BFF93-6482-1724-38DE-4828529F78E7}"/>
              </a:ext>
            </a:extLst>
          </p:cNvPr>
          <p:cNvSpPr/>
          <p:nvPr userDrawn="1"/>
        </p:nvSpPr>
        <p:spPr>
          <a:xfrm rot="16200000">
            <a:off x="10798933" y="5465604"/>
            <a:ext cx="1375097" cy="1413193"/>
          </a:xfrm>
          <a:custGeom>
            <a:avLst/>
            <a:gdLst>
              <a:gd name="connsiteX0" fmla="*/ 0 w 906866"/>
              <a:gd name="connsiteY0" fmla="*/ 754622 h 754622"/>
              <a:gd name="connsiteX1" fmla="*/ 453433 w 906866"/>
              <a:gd name="connsiteY1" fmla="*/ 0 h 754622"/>
              <a:gd name="connsiteX2" fmla="*/ 906866 w 906866"/>
              <a:gd name="connsiteY2" fmla="*/ 754622 h 754622"/>
              <a:gd name="connsiteX3" fmla="*/ 0 w 906866"/>
              <a:gd name="connsiteY3" fmla="*/ 754622 h 754622"/>
              <a:gd name="connsiteX0" fmla="*/ 0 w 1143086"/>
              <a:gd name="connsiteY0" fmla="*/ 754622 h 754622"/>
              <a:gd name="connsiteX1" fmla="*/ 453433 w 1143086"/>
              <a:gd name="connsiteY1" fmla="*/ 0 h 754622"/>
              <a:gd name="connsiteX2" fmla="*/ 1143086 w 1143086"/>
              <a:gd name="connsiteY2" fmla="*/ 747002 h 754622"/>
              <a:gd name="connsiteX3" fmla="*/ 0 w 1143086"/>
              <a:gd name="connsiteY3" fmla="*/ 754622 h 754622"/>
              <a:gd name="connsiteX0" fmla="*/ 0 w 1143086"/>
              <a:gd name="connsiteY0" fmla="*/ 1227062 h 1227062"/>
              <a:gd name="connsiteX1" fmla="*/ 3853 w 1143086"/>
              <a:gd name="connsiteY1" fmla="*/ 0 h 1227062"/>
              <a:gd name="connsiteX2" fmla="*/ 1143086 w 1143086"/>
              <a:gd name="connsiteY2" fmla="*/ 1219442 h 1227062"/>
              <a:gd name="connsiteX3" fmla="*/ 0 w 1143086"/>
              <a:gd name="connsiteY3" fmla="*/ 1227062 h 1227062"/>
              <a:gd name="connsiteX0" fmla="*/ 0 w 1143086"/>
              <a:gd name="connsiteY0" fmla="*/ 1219442 h 1219442"/>
              <a:gd name="connsiteX1" fmla="*/ 3853 w 1143086"/>
              <a:gd name="connsiteY1" fmla="*/ 0 h 1219442"/>
              <a:gd name="connsiteX2" fmla="*/ 1143086 w 1143086"/>
              <a:gd name="connsiteY2" fmla="*/ 1219442 h 1219442"/>
              <a:gd name="connsiteX3" fmla="*/ 0 w 1143086"/>
              <a:gd name="connsiteY3" fmla="*/ 1219442 h 1219442"/>
              <a:gd name="connsiteX0" fmla="*/ 0 w 1062123"/>
              <a:gd name="connsiteY0" fmla="*/ 1219442 h 1219442"/>
              <a:gd name="connsiteX1" fmla="*/ 3853 w 1062123"/>
              <a:gd name="connsiteY1" fmla="*/ 0 h 1219442"/>
              <a:gd name="connsiteX2" fmla="*/ 1062123 w 1062123"/>
              <a:gd name="connsiteY2" fmla="*/ 1131336 h 1219442"/>
              <a:gd name="connsiteX3" fmla="*/ 0 w 1062123"/>
              <a:gd name="connsiteY3" fmla="*/ 1219442 h 1219442"/>
              <a:gd name="connsiteX0" fmla="*/ 0 w 1062273"/>
              <a:gd name="connsiteY0" fmla="*/ 1219442 h 1219442"/>
              <a:gd name="connsiteX1" fmla="*/ 3853 w 1062273"/>
              <a:gd name="connsiteY1" fmla="*/ 0 h 1219442"/>
              <a:gd name="connsiteX2" fmla="*/ 1062123 w 1062273"/>
              <a:gd name="connsiteY2" fmla="*/ 1131336 h 1219442"/>
              <a:gd name="connsiteX3" fmla="*/ 0 w 1062273"/>
              <a:gd name="connsiteY3" fmla="*/ 1219442 h 1219442"/>
              <a:gd name="connsiteX0" fmla="*/ 0 w 1062273"/>
              <a:gd name="connsiteY0" fmla="*/ 1219442 h 1219442"/>
              <a:gd name="connsiteX1" fmla="*/ 3853 w 1062273"/>
              <a:gd name="connsiteY1" fmla="*/ 0 h 1219442"/>
              <a:gd name="connsiteX2" fmla="*/ 1062123 w 1062273"/>
              <a:gd name="connsiteY2" fmla="*/ 1131336 h 1219442"/>
              <a:gd name="connsiteX3" fmla="*/ 0 w 1062273"/>
              <a:gd name="connsiteY3" fmla="*/ 1219442 h 1219442"/>
              <a:gd name="connsiteX0" fmla="*/ 31902 w 1058464"/>
              <a:gd name="connsiteY0" fmla="*/ 1131335 h 1132395"/>
              <a:gd name="connsiteX1" fmla="*/ 36 w 1058464"/>
              <a:gd name="connsiteY1" fmla="*/ 0 h 1132395"/>
              <a:gd name="connsiteX2" fmla="*/ 1058306 w 1058464"/>
              <a:gd name="connsiteY2" fmla="*/ 1131336 h 1132395"/>
              <a:gd name="connsiteX3" fmla="*/ 31902 w 1058464"/>
              <a:gd name="connsiteY3" fmla="*/ 1131335 h 1132395"/>
              <a:gd name="connsiteX0" fmla="*/ 5810 w 1032372"/>
              <a:gd name="connsiteY0" fmla="*/ 1074182 h 1075242"/>
              <a:gd name="connsiteX1" fmla="*/ 137 w 1032372"/>
              <a:gd name="connsiteY1" fmla="*/ 0 h 1075242"/>
              <a:gd name="connsiteX2" fmla="*/ 1032214 w 1032372"/>
              <a:gd name="connsiteY2" fmla="*/ 1074183 h 1075242"/>
              <a:gd name="connsiteX3" fmla="*/ 5810 w 1032372"/>
              <a:gd name="connsiteY3" fmla="*/ 1074182 h 1075242"/>
              <a:gd name="connsiteX0" fmla="*/ 1200 w 1032523"/>
              <a:gd name="connsiteY0" fmla="*/ 1078945 h 1078945"/>
              <a:gd name="connsiteX1" fmla="*/ 289 w 1032523"/>
              <a:gd name="connsiteY1" fmla="*/ 0 h 1078945"/>
              <a:gd name="connsiteX2" fmla="*/ 1032366 w 1032523"/>
              <a:gd name="connsiteY2" fmla="*/ 1074183 h 1078945"/>
              <a:gd name="connsiteX3" fmla="*/ 1200 w 1032523"/>
              <a:gd name="connsiteY3" fmla="*/ 1078945 h 1078945"/>
              <a:gd name="connsiteX0" fmla="*/ 0 w 1031323"/>
              <a:gd name="connsiteY0" fmla="*/ 1059895 h 1059895"/>
              <a:gd name="connsiteX1" fmla="*/ 1470 w 1031323"/>
              <a:gd name="connsiteY1" fmla="*/ 0 h 1059895"/>
              <a:gd name="connsiteX2" fmla="*/ 1031166 w 1031323"/>
              <a:gd name="connsiteY2" fmla="*/ 1055133 h 1059895"/>
              <a:gd name="connsiteX3" fmla="*/ 0 w 1031323"/>
              <a:gd name="connsiteY3" fmla="*/ 1059895 h 1059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1323" h="1059895">
                <a:moveTo>
                  <a:pt x="0" y="1059895"/>
                </a:moveTo>
                <a:cubicBezTo>
                  <a:pt x="1284" y="650874"/>
                  <a:pt x="186" y="409021"/>
                  <a:pt x="1470" y="0"/>
                </a:cubicBezTo>
                <a:cubicBezTo>
                  <a:pt x="354227" y="377112"/>
                  <a:pt x="1042740" y="1051880"/>
                  <a:pt x="1031166" y="1055133"/>
                </a:cubicBezTo>
                <a:cubicBezTo>
                  <a:pt x="1043043" y="1057517"/>
                  <a:pt x="381029" y="1059895"/>
                  <a:pt x="0" y="1059895"/>
                </a:cubicBezTo>
                <a:close/>
              </a:path>
            </a:pathLst>
          </a:cu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51460D6-F294-9FEC-8A11-8E4DE73D906F}"/>
              </a:ext>
            </a:extLst>
          </p:cNvPr>
          <p:cNvSpPr/>
          <p:nvPr userDrawn="1"/>
        </p:nvSpPr>
        <p:spPr>
          <a:xfrm rot="13500000">
            <a:off x="11360201" y="5062314"/>
            <a:ext cx="311071" cy="2220841"/>
          </a:xfrm>
          <a:custGeom>
            <a:avLst/>
            <a:gdLst>
              <a:gd name="connsiteX0" fmla="*/ 0 w 185368"/>
              <a:gd name="connsiteY0" fmla="*/ 0 h 1259721"/>
              <a:gd name="connsiteX1" fmla="*/ 185368 w 185368"/>
              <a:gd name="connsiteY1" fmla="*/ 0 h 1259721"/>
              <a:gd name="connsiteX2" fmla="*/ 185368 w 185368"/>
              <a:gd name="connsiteY2" fmla="*/ 1259721 h 1259721"/>
              <a:gd name="connsiteX3" fmla="*/ 0 w 185368"/>
              <a:gd name="connsiteY3" fmla="*/ 1259721 h 1259721"/>
              <a:gd name="connsiteX4" fmla="*/ 0 w 185368"/>
              <a:gd name="connsiteY4" fmla="*/ 0 h 1259721"/>
              <a:gd name="connsiteX0" fmla="*/ 11136 w 185368"/>
              <a:gd name="connsiteY0" fmla="*/ 134862 h 1259721"/>
              <a:gd name="connsiteX1" fmla="*/ 185368 w 185368"/>
              <a:gd name="connsiteY1" fmla="*/ 0 h 1259721"/>
              <a:gd name="connsiteX2" fmla="*/ 185368 w 185368"/>
              <a:gd name="connsiteY2" fmla="*/ 1259721 h 1259721"/>
              <a:gd name="connsiteX3" fmla="*/ 0 w 185368"/>
              <a:gd name="connsiteY3" fmla="*/ 1259721 h 1259721"/>
              <a:gd name="connsiteX4" fmla="*/ 11136 w 185368"/>
              <a:gd name="connsiteY4" fmla="*/ 134862 h 1259721"/>
              <a:gd name="connsiteX0" fmla="*/ 11136 w 185368"/>
              <a:gd name="connsiteY0" fmla="*/ 221597 h 1346456"/>
              <a:gd name="connsiteX1" fmla="*/ 168470 w 185368"/>
              <a:gd name="connsiteY1" fmla="*/ 0 h 1346456"/>
              <a:gd name="connsiteX2" fmla="*/ 185368 w 185368"/>
              <a:gd name="connsiteY2" fmla="*/ 1346456 h 1346456"/>
              <a:gd name="connsiteX3" fmla="*/ 0 w 185368"/>
              <a:gd name="connsiteY3" fmla="*/ 1346456 h 1346456"/>
              <a:gd name="connsiteX4" fmla="*/ 11136 w 185368"/>
              <a:gd name="connsiteY4" fmla="*/ 221597 h 1346456"/>
              <a:gd name="connsiteX0" fmla="*/ 0 w 174232"/>
              <a:gd name="connsiteY0" fmla="*/ 221597 h 1368722"/>
              <a:gd name="connsiteX1" fmla="*/ 157334 w 174232"/>
              <a:gd name="connsiteY1" fmla="*/ 0 h 1368722"/>
              <a:gd name="connsiteX2" fmla="*/ 174232 w 174232"/>
              <a:gd name="connsiteY2" fmla="*/ 1346456 h 1368722"/>
              <a:gd name="connsiteX3" fmla="*/ 366 w 174232"/>
              <a:gd name="connsiteY3" fmla="*/ 1368722 h 1368722"/>
              <a:gd name="connsiteX4" fmla="*/ 0 w 174232"/>
              <a:gd name="connsiteY4" fmla="*/ 221597 h 1368722"/>
              <a:gd name="connsiteX0" fmla="*/ 28972 w 173866"/>
              <a:gd name="connsiteY0" fmla="*/ 283202 h 1368722"/>
              <a:gd name="connsiteX1" fmla="*/ 156968 w 173866"/>
              <a:gd name="connsiteY1" fmla="*/ 0 h 1368722"/>
              <a:gd name="connsiteX2" fmla="*/ 173866 w 173866"/>
              <a:gd name="connsiteY2" fmla="*/ 1346456 h 1368722"/>
              <a:gd name="connsiteX3" fmla="*/ 0 w 173866"/>
              <a:gd name="connsiteY3" fmla="*/ 1368722 h 1368722"/>
              <a:gd name="connsiteX4" fmla="*/ 28972 w 173866"/>
              <a:gd name="connsiteY4" fmla="*/ 283202 h 1368722"/>
              <a:gd name="connsiteX0" fmla="*/ 13460 w 173866"/>
              <a:gd name="connsiteY0" fmla="*/ 267631 h 1368722"/>
              <a:gd name="connsiteX1" fmla="*/ 156968 w 173866"/>
              <a:gd name="connsiteY1" fmla="*/ 0 h 1368722"/>
              <a:gd name="connsiteX2" fmla="*/ 173866 w 173866"/>
              <a:gd name="connsiteY2" fmla="*/ 1346456 h 1368722"/>
              <a:gd name="connsiteX3" fmla="*/ 0 w 173866"/>
              <a:gd name="connsiteY3" fmla="*/ 1368722 h 1368722"/>
              <a:gd name="connsiteX4" fmla="*/ 13460 w 173866"/>
              <a:gd name="connsiteY4" fmla="*/ 267631 h 1368722"/>
              <a:gd name="connsiteX0" fmla="*/ 13460 w 173866"/>
              <a:gd name="connsiteY0" fmla="*/ 257249 h 1358340"/>
              <a:gd name="connsiteX1" fmla="*/ 167308 w 173866"/>
              <a:gd name="connsiteY1" fmla="*/ 0 h 1358340"/>
              <a:gd name="connsiteX2" fmla="*/ 173866 w 173866"/>
              <a:gd name="connsiteY2" fmla="*/ 1336074 h 1358340"/>
              <a:gd name="connsiteX3" fmla="*/ 0 w 173866"/>
              <a:gd name="connsiteY3" fmla="*/ 1358340 h 1358340"/>
              <a:gd name="connsiteX4" fmla="*/ 13460 w 173866"/>
              <a:gd name="connsiteY4" fmla="*/ 257249 h 1358340"/>
              <a:gd name="connsiteX0" fmla="*/ 32818 w 173866"/>
              <a:gd name="connsiteY0" fmla="*/ 279771 h 1358340"/>
              <a:gd name="connsiteX1" fmla="*/ 167308 w 173866"/>
              <a:gd name="connsiteY1" fmla="*/ 0 h 1358340"/>
              <a:gd name="connsiteX2" fmla="*/ 173866 w 173866"/>
              <a:gd name="connsiteY2" fmla="*/ 1336074 h 1358340"/>
              <a:gd name="connsiteX3" fmla="*/ 0 w 173866"/>
              <a:gd name="connsiteY3" fmla="*/ 1358340 h 1358340"/>
              <a:gd name="connsiteX4" fmla="*/ 32818 w 173866"/>
              <a:gd name="connsiteY4" fmla="*/ 279771 h 1358340"/>
              <a:gd name="connsiteX0" fmla="*/ 32818 w 173866"/>
              <a:gd name="connsiteY0" fmla="*/ 269656 h 1348225"/>
              <a:gd name="connsiteX1" fmla="*/ 162520 w 173866"/>
              <a:gd name="connsiteY1" fmla="*/ -1 h 1348225"/>
              <a:gd name="connsiteX2" fmla="*/ 173866 w 173866"/>
              <a:gd name="connsiteY2" fmla="*/ 1325959 h 1348225"/>
              <a:gd name="connsiteX3" fmla="*/ 0 w 173866"/>
              <a:gd name="connsiteY3" fmla="*/ 1348225 h 1348225"/>
              <a:gd name="connsiteX4" fmla="*/ 32818 w 173866"/>
              <a:gd name="connsiteY4" fmla="*/ 269656 h 1348225"/>
              <a:gd name="connsiteX0" fmla="*/ 23240 w 164288"/>
              <a:gd name="connsiteY0" fmla="*/ 269657 h 1327995"/>
              <a:gd name="connsiteX1" fmla="*/ 152942 w 164288"/>
              <a:gd name="connsiteY1" fmla="*/ 0 h 1327995"/>
              <a:gd name="connsiteX2" fmla="*/ 164288 w 164288"/>
              <a:gd name="connsiteY2" fmla="*/ 1325960 h 1327995"/>
              <a:gd name="connsiteX3" fmla="*/ 0 w 164288"/>
              <a:gd name="connsiteY3" fmla="*/ 1327995 h 1327995"/>
              <a:gd name="connsiteX4" fmla="*/ 23240 w 164288"/>
              <a:gd name="connsiteY4" fmla="*/ 269657 h 1327995"/>
              <a:gd name="connsiteX0" fmla="*/ 23240 w 170070"/>
              <a:gd name="connsiteY0" fmla="*/ 261634 h 1319972"/>
              <a:gd name="connsiteX1" fmla="*/ 170070 w 170070"/>
              <a:gd name="connsiteY1" fmla="*/ 0 h 1319972"/>
              <a:gd name="connsiteX2" fmla="*/ 164288 w 170070"/>
              <a:gd name="connsiteY2" fmla="*/ 1317937 h 1319972"/>
              <a:gd name="connsiteX3" fmla="*/ 0 w 170070"/>
              <a:gd name="connsiteY3" fmla="*/ 1319972 h 1319972"/>
              <a:gd name="connsiteX4" fmla="*/ 23240 w 170070"/>
              <a:gd name="connsiteY4" fmla="*/ 261634 h 1319972"/>
              <a:gd name="connsiteX0" fmla="*/ 23240 w 170070"/>
              <a:gd name="connsiteY0" fmla="*/ 261634 h 1368726"/>
              <a:gd name="connsiteX1" fmla="*/ 170070 w 170070"/>
              <a:gd name="connsiteY1" fmla="*/ 0 h 1368726"/>
              <a:gd name="connsiteX2" fmla="*/ 167819 w 170070"/>
              <a:gd name="connsiteY2" fmla="*/ 1368726 h 1368726"/>
              <a:gd name="connsiteX3" fmla="*/ 0 w 170070"/>
              <a:gd name="connsiteY3" fmla="*/ 1319972 h 1368726"/>
              <a:gd name="connsiteX4" fmla="*/ 23240 w 170070"/>
              <a:gd name="connsiteY4" fmla="*/ 261634 h 1368726"/>
              <a:gd name="connsiteX0" fmla="*/ 23240 w 184789"/>
              <a:gd name="connsiteY0" fmla="*/ 261634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23240 w 184789"/>
              <a:gd name="connsiteY4" fmla="*/ 261634 h 1396262"/>
              <a:gd name="connsiteX0" fmla="*/ 14074 w 184789"/>
              <a:gd name="connsiteY0" fmla="*/ 296650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14074 w 184789"/>
              <a:gd name="connsiteY4" fmla="*/ 296650 h 1396262"/>
              <a:gd name="connsiteX0" fmla="*/ 22940 w 184789"/>
              <a:gd name="connsiteY0" fmla="*/ 281148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22940 w 184789"/>
              <a:gd name="connsiteY4" fmla="*/ 281148 h 1396262"/>
              <a:gd name="connsiteX0" fmla="*/ 27672 w 184789"/>
              <a:gd name="connsiteY0" fmla="*/ 253884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27672 w 184789"/>
              <a:gd name="connsiteY4" fmla="*/ 253884 h 1396262"/>
              <a:gd name="connsiteX0" fmla="*/ 0 w 190766"/>
              <a:gd name="connsiteY0" fmla="*/ 250212 h 1396262"/>
              <a:gd name="connsiteX1" fmla="*/ 176047 w 190766"/>
              <a:gd name="connsiteY1" fmla="*/ 0 h 1396262"/>
              <a:gd name="connsiteX2" fmla="*/ 190625 w 190766"/>
              <a:gd name="connsiteY2" fmla="*/ 1396262 h 1396262"/>
              <a:gd name="connsiteX3" fmla="*/ 5977 w 190766"/>
              <a:gd name="connsiteY3" fmla="*/ 1319972 h 1396262"/>
              <a:gd name="connsiteX4" fmla="*/ 0 w 190766"/>
              <a:gd name="connsiteY4" fmla="*/ 250212 h 1396262"/>
              <a:gd name="connsiteX0" fmla="*/ 0 w 197591"/>
              <a:gd name="connsiteY0" fmla="*/ 232644 h 1378694"/>
              <a:gd name="connsiteX1" fmla="*/ 197591 w 197591"/>
              <a:gd name="connsiteY1" fmla="*/ 0 h 1378694"/>
              <a:gd name="connsiteX2" fmla="*/ 190625 w 197591"/>
              <a:gd name="connsiteY2" fmla="*/ 1378694 h 1378694"/>
              <a:gd name="connsiteX3" fmla="*/ 5977 w 197591"/>
              <a:gd name="connsiteY3" fmla="*/ 1302404 h 1378694"/>
              <a:gd name="connsiteX4" fmla="*/ 0 w 197591"/>
              <a:gd name="connsiteY4" fmla="*/ 232644 h 1378694"/>
              <a:gd name="connsiteX0" fmla="*/ 24386 w 191715"/>
              <a:gd name="connsiteY0" fmla="*/ 197901 h 1378694"/>
              <a:gd name="connsiteX1" fmla="*/ 191715 w 191715"/>
              <a:gd name="connsiteY1" fmla="*/ 0 h 1378694"/>
              <a:gd name="connsiteX2" fmla="*/ 184749 w 191715"/>
              <a:gd name="connsiteY2" fmla="*/ 1378694 h 1378694"/>
              <a:gd name="connsiteX3" fmla="*/ 101 w 191715"/>
              <a:gd name="connsiteY3" fmla="*/ 1302404 h 1378694"/>
              <a:gd name="connsiteX4" fmla="*/ 24386 w 191715"/>
              <a:gd name="connsiteY4" fmla="*/ 197901 h 1378694"/>
              <a:gd name="connsiteX0" fmla="*/ 0 w 167329"/>
              <a:gd name="connsiteY0" fmla="*/ 197901 h 1378694"/>
              <a:gd name="connsiteX1" fmla="*/ 167329 w 167329"/>
              <a:gd name="connsiteY1" fmla="*/ 0 h 1378694"/>
              <a:gd name="connsiteX2" fmla="*/ 160363 w 167329"/>
              <a:gd name="connsiteY2" fmla="*/ 1378694 h 1378694"/>
              <a:gd name="connsiteX3" fmla="*/ 4847 w 167329"/>
              <a:gd name="connsiteY3" fmla="*/ 1254857 h 1378694"/>
              <a:gd name="connsiteX4" fmla="*/ 0 w 167329"/>
              <a:gd name="connsiteY4" fmla="*/ 197901 h 1378694"/>
              <a:gd name="connsiteX0" fmla="*/ 22856 w 190185"/>
              <a:gd name="connsiteY0" fmla="*/ 197901 h 1378694"/>
              <a:gd name="connsiteX1" fmla="*/ 190185 w 190185"/>
              <a:gd name="connsiteY1" fmla="*/ 0 h 1378694"/>
              <a:gd name="connsiteX2" fmla="*/ 183219 w 190185"/>
              <a:gd name="connsiteY2" fmla="*/ 1378694 h 1378694"/>
              <a:gd name="connsiteX3" fmla="*/ 106 w 190185"/>
              <a:gd name="connsiteY3" fmla="*/ 1244237 h 1378694"/>
              <a:gd name="connsiteX4" fmla="*/ 22856 w 190185"/>
              <a:gd name="connsiteY4" fmla="*/ 197901 h 1378694"/>
              <a:gd name="connsiteX0" fmla="*/ 22856 w 190185"/>
              <a:gd name="connsiteY0" fmla="*/ 197901 h 1378694"/>
              <a:gd name="connsiteX1" fmla="*/ 190185 w 190185"/>
              <a:gd name="connsiteY1" fmla="*/ 0 h 1378694"/>
              <a:gd name="connsiteX2" fmla="*/ 183220 w 190185"/>
              <a:gd name="connsiteY2" fmla="*/ 1378694 h 1378694"/>
              <a:gd name="connsiteX3" fmla="*/ 106 w 190185"/>
              <a:gd name="connsiteY3" fmla="*/ 1244237 h 1378694"/>
              <a:gd name="connsiteX4" fmla="*/ 22856 w 190185"/>
              <a:gd name="connsiteY4" fmla="*/ 197901 h 1378694"/>
              <a:gd name="connsiteX0" fmla="*/ 20607 w 190194"/>
              <a:gd name="connsiteY0" fmla="*/ 172292 h 1378694"/>
              <a:gd name="connsiteX1" fmla="*/ 190194 w 190194"/>
              <a:gd name="connsiteY1" fmla="*/ 0 h 1378694"/>
              <a:gd name="connsiteX2" fmla="*/ 183229 w 190194"/>
              <a:gd name="connsiteY2" fmla="*/ 1378694 h 1378694"/>
              <a:gd name="connsiteX3" fmla="*/ 115 w 190194"/>
              <a:gd name="connsiteY3" fmla="*/ 1244237 h 1378694"/>
              <a:gd name="connsiteX4" fmla="*/ 20607 w 190194"/>
              <a:gd name="connsiteY4" fmla="*/ 172292 h 1378694"/>
              <a:gd name="connsiteX0" fmla="*/ 20607 w 195117"/>
              <a:gd name="connsiteY0" fmla="*/ 192045 h 1398447"/>
              <a:gd name="connsiteX1" fmla="*/ 195117 w 195117"/>
              <a:gd name="connsiteY1" fmla="*/ 0 h 1398447"/>
              <a:gd name="connsiteX2" fmla="*/ 183229 w 195117"/>
              <a:gd name="connsiteY2" fmla="*/ 1398447 h 1398447"/>
              <a:gd name="connsiteX3" fmla="*/ 115 w 195117"/>
              <a:gd name="connsiteY3" fmla="*/ 1263990 h 1398447"/>
              <a:gd name="connsiteX4" fmla="*/ 20607 w 195117"/>
              <a:gd name="connsiteY4" fmla="*/ 192045 h 1398447"/>
              <a:gd name="connsiteX0" fmla="*/ 14590 w 195152"/>
              <a:gd name="connsiteY0" fmla="*/ 198994 h 1398447"/>
              <a:gd name="connsiteX1" fmla="*/ 195152 w 195152"/>
              <a:gd name="connsiteY1" fmla="*/ 0 h 1398447"/>
              <a:gd name="connsiteX2" fmla="*/ 183264 w 195152"/>
              <a:gd name="connsiteY2" fmla="*/ 1398447 h 1398447"/>
              <a:gd name="connsiteX3" fmla="*/ 150 w 195152"/>
              <a:gd name="connsiteY3" fmla="*/ 1263990 h 1398447"/>
              <a:gd name="connsiteX4" fmla="*/ 14590 w 195152"/>
              <a:gd name="connsiteY4" fmla="*/ 198994 h 1398447"/>
              <a:gd name="connsiteX0" fmla="*/ 14590 w 183796"/>
              <a:gd name="connsiteY0" fmla="*/ 185097 h 1384550"/>
              <a:gd name="connsiteX1" fmla="*/ 183048 w 183796"/>
              <a:gd name="connsiteY1" fmla="*/ 0 h 1384550"/>
              <a:gd name="connsiteX2" fmla="*/ 183264 w 183796"/>
              <a:gd name="connsiteY2" fmla="*/ 1384550 h 1384550"/>
              <a:gd name="connsiteX3" fmla="*/ 150 w 183796"/>
              <a:gd name="connsiteY3" fmla="*/ 1250093 h 1384550"/>
              <a:gd name="connsiteX4" fmla="*/ 14590 w 183796"/>
              <a:gd name="connsiteY4" fmla="*/ 185097 h 1384550"/>
              <a:gd name="connsiteX0" fmla="*/ 14590 w 184829"/>
              <a:gd name="connsiteY0" fmla="*/ 185097 h 1397354"/>
              <a:gd name="connsiteX1" fmla="*/ 183048 w 184829"/>
              <a:gd name="connsiteY1" fmla="*/ 0 h 1397354"/>
              <a:gd name="connsiteX2" fmla="*/ 184393 w 184829"/>
              <a:gd name="connsiteY2" fmla="*/ 1397354 h 1397354"/>
              <a:gd name="connsiteX3" fmla="*/ 150 w 184829"/>
              <a:gd name="connsiteY3" fmla="*/ 1250093 h 1397354"/>
              <a:gd name="connsiteX4" fmla="*/ 14590 w 184829"/>
              <a:gd name="connsiteY4" fmla="*/ 185097 h 1397354"/>
              <a:gd name="connsiteX0" fmla="*/ 14590 w 184492"/>
              <a:gd name="connsiteY0" fmla="*/ 202666 h 1414923"/>
              <a:gd name="connsiteX1" fmla="*/ 161504 w 184492"/>
              <a:gd name="connsiteY1" fmla="*/ 0 h 1414923"/>
              <a:gd name="connsiteX2" fmla="*/ 184393 w 184492"/>
              <a:gd name="connsiteY2" fmla="*/ 1414923 h 1414923"/>
              <a:gd name="connsiteX3" fmla="*/ 150 w 184492"/>
              <a:gd name="connsiteY3" fmla="*/ 1267662 h 1414923"/>
              <a:gd name="connsiteX4" fmla="*/ 14590 w 184492"/>
              <a:gd name="connsiteY4" fmla="*/ 202666 h 1414923"/>
              <a:gd name="connsiteX0" fmla="*/ 14590 w 184526"/>
              <a:gd name="connsiteY0" fmla="*/ 196810 h 1409067"/>
              <a:gd name="connsiteX1" fmla="*/ 168685 w 184526"/>
              <a:gd name="connsiteY1" fmla="*/ 0 h 1409067"/>
              <a:gd name="connsiteX2" fmla="*/ 184393 w 184526"/>
              <a:gd name="connsiteY2" fmla="*/ 1409067 h 1409067"/>
              <a:gd name="connsiteX3" fmla="*/ 150 w 184526"/>
              <a:gd name="connsiteY3" fmla="*/ 1261806 h 1409067"/>
              <a:gd name="connsiteX4" fmla="*/ 14590 w 184526"/>
              <a:gd name="connsiteY4" fmla="*/ 196810 h 1409067"/>
              <a:gd name="connsiteX0" fmla="*/ 712 w 184933"/>
              <a:gd name="connsiteY0" fmla="*/ 197904 h 1409067"/>
              <a:gd name="connsiteX1" fmla="*/ 169092 w 184933"/>
              <a:gd name="connsiteY1" fmla="*/ 0 h 1409067"/>
              <a:gd name="connsiteX2" fmla="*/ 184800 w 184933"/>
              <a:gd name="connsiteY2" fmla="*/ 1409067 h 1409067"/>
              <a:gd name="connsiteX3" fmla="*/ 557 w 184933"/>
              <a:gd name="connsiteY3" fmla="*/ 1261806 h 1409067"/>
              <a:gd name="connsiteX4" fmla="*/ 712 w 184933"/>
              <a:gd name="connsiteY4" fmla="*/ 197904 h 1409067"/>
              <a:gd name="connsiteX0" fmla="*/ 712 w 185008"/>
              <a:gd name="connsiteY0" fmla="*/ 205826 h 1416989"/>
              <a:gd name="connsiteX1" fmla="*/ 176532 w 185008"/>
              <a:gd name="connsiteY1" fmla="*/ 0 h 1416989"/>
              <a:gd name="connsiteX2" fmla="*/ 184800 w 185008"/>
              <a:gd name="connsiteY2" fmla="*/ 1416989 h 1416989"/>
              <a:gd name="connsiteX3" fmla="*/ 557 w 185008"/>
              <a:gd name="connsiteY3" fmla="*/ 1269728 h 1416989"/>
              <a:gd name="connsiteX4" fmla="*/ 712 w 185008"/>
              <a:gd name="connsiteY4" fmla="*/ 205826 h 1416989"/>
              <a:gd name="connsiteX0" fmla="*/ 712 w 185170"/>
              <a:gd name="connsiteY0" fmla="*/ 187888 h 1399051"/>
              <a:gd name="connsiteX1" fmla="*/ 182334 w 185170"/>
              <a:gd name="connsiteY1" fmla="*/ 0 h 1399051"/>
              <a:gd name="connsiteX2" fmla="*/ 184800 w 185170"/>
              <a:gd name="connsiteY2" fmla="*/ 1399051 h 1399051"/>
              <a:gd name="connsiteX3" fmla="*/ 557 w 185170"/>
              <a:gd name="connsiteY3" fmla="*/ 1251790 h 1399051"/>
              <a:gd name="connsiteX4" fmla="*/ 712 w 185170"/>
              <a:gd name="connsiteY4" fmla="*/ 187888 h 1399051"/>
              <a:gd name="connsiteX0" fmla="*/ 712 w 191470"/>
              <a:gd name="connsiteY0" fmla="*/ 197235 h 1408398"/>
              <a:gd name="connsiteX1" fmla="*/ 191470 w 191470"/>
              <a:gd name="connsiteY1" fmla="*/ 0 h 1408398"/>
              <a:gd name="connsiteX2" fmla="*/ 184800 w 191470"/>
              <a:gd name="connsiteY2" fmla="*/ 1408398 h 1408398"/>
              <a:gd name="connsiteX3" fmla="*/ 557 w 191470"/>
              <a:gd name="connsiteY3" fmla="*/ 1261137 h 1408398"/>
              <a:gd name="connsiteX4" fmla="*/ 712 w 191470"/>
              <a:gd name="connsiteY4" fmla="*/ 197235 h 1408398"/>
              <a:gd name="connsiteX0" fmla="*/ 712 w 205141"/>
              <a:gd name="connsiteY0" fmla="*/ 197235 h 1416020"/>
              <a:gd name="connsiteX1" fmla="*/ 191470 w 205141"/>
              <a:gd name="connsiteY1" fmla="*/ 0 h 1416020"/>
              <a:gd name="connsiteX2" fmla="*/ 204992 w 205141"/>
              <a:gd name="connsiteY2" fmla="*/ 1416020 h 1416020"/>
              <a:gd name="connsiteX3" fmla="*/ 557 w 205141"/>
              <a:gd name="connsiteY3" fmla="*/ 1261137 h 1416020"/>
              <a:gd name="connsiteX4" fmla="*/ 712 w 205141"/>
              <a:gd name="connsiteY4" fmla="*/ 197235 h 1416020"/>
              <a:gd name="connsiteX0" fmla="*/ 712 w 205183"/>
              <a:gd name="connsiteY0" fmla="*/ 149617 h 1368402"/>
              <a:gd name="connsiteX1" fmla="*/ 195553 w 205183"/>
              <a:gd name="connsiteY1" fmla="*/ 0 h 1368402"/>
              <a:gd name="connsiteX2" fmla="*/ 204992 w 205183"/>
              <a:gd name="connsiteY2" fmla="*/ 1368402 h 1368402"/>
              <a:gd name="connsiteX3" fmla="*/ 557 w 205183"/>
              <a:gd name="connsiteY3" fmla="*/ 1213519 h 1368402"/>
              <a:gd name="connsiteX4" fmla="*/ 712 w 205183"/>
              <a:gd name="connsiteY4" fmla="*/ 149617 h 1368402"/>
              <a:gd name="connsiteX0" fmla="*/ 0 w 207533"/>
              <a:gd name="connsiteY0" fmla="*/ 174342 h 1368402"/>
              <a:gd name="connsiteX1" fmla="*/ 197903 w 207533"/>
              <a:gd name="connsiteY1" fmla="*/ 0 h 1368402"/>
              <a:gd name="connsiteX2" fmla="*/ 207342 w 207533"/>
              <a:gd name="connsiteY2" fmla="*/ 1368402 h 1368402"/>
              <a:gd name="connsiteX3" fmla="*/ 2907 w 207533"/>
              <a:gd name="connsiteY3" fmla="*/ 1213519 h 1368402"/>
              <a:gd name="connsiteX4" fmla="*/ 0 w 207533"/>
              <a:gd name="connsiteY4" fmla="*/ 174342 h 1368402"/>
              <a:gd name="connsiteX0" fmla="*/ 0 w 207533"/>
              <a:gd name="connsiteY0" fmla="*/ 174342 h 1368402"/>
              <a:gd name="connsiteX1" fmla="*/ 197903 w 207533"/>
              <a:gd name="connsiteY1" fmla="*/ 0 h 1368402"/>
              <a:gd name="connsiteX2" fmla="*/ 207342 w 207533"/>
              <a:gd name="connsiteY2" fmla="*/ 1368402 h 1368402"/>
              <a:gd name="connsiteX3" fmla="*/ 2907 w 207533"/>
              <a:gd name="connsiteY3" fmla="*/ 1175058 h 1368402"/>
              <a:gd name="connsiteX4" fmla="*/ 0 w 207533"/>
              <a:gd name="connsiteY4" fmla="*/ 174342 h 1368402"/>
              <a:gd name="connsiteX0" fmla="*/ 0 w 209045"/>
              <a:gd name="connsiteY0" fmla="*/ 174342 h 1358786"/>
              <a:gd name="connsiteX1" fmla="*/ 197903 w 209045"/>
              <a:gd name="connsiteY1" fmla="*/ 0 h 1358786"/>
              <a:gd name="connsiteX2" fmla="*/ 208872 w 209045"/>
              <a:gd name="connsiteY2" fmla="*/ 1358786 h 1358786"/>
              <a:gd name="connsiteX3" fmla="*/ 2907 w 209045"/>
              <a:gd name="connsiteY3" fmla="*/ 1175058 h 1358786"/>
              <a:gd name="connsiteX4" fmla="*/ 0 w 209045"/>
              <a:gd name="connsiteY4" fmla="*/ 174342 h 1358786"/>
              <a:gd name="connsiteX0" fmla="*/ 0 w 212106"/>
              <a:gd name="connsiteY0" fmla="*/ 185331 h 1358786"/>
              <a:gd name="connsiteX1" fmla="*/ 200964 w 212106"/>
              <a:gd name="connsiteY1" fmla="*/ 0 h 1358786"/>
              <a:gd name="connsiteX2" fmla="*/ 211933 w 212106"/>
              <a:gd name="connsiteY2" fmla="*/ 1358786 h 1358786"/>
              <a:gd name="connsiteX3" fmla="*/ 5968 w 212106"/>
              <a:gd name="connsiteY3" fmla="*/ 1175058 h 1358786"/>
              <a:gd name="connsiteX4" fmla="*/ 0 w 212106"/>
              <a:gd name="connsiteY4" fmla="*/ 185331 h 1358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106" h="1358786">
                <a:moveTo>
                  <a:pt x="0" y="185331"/>
                </a:moveTo>
                <a:cubicBezTo>
                  <a:pt x="63586" y="119586"/>
                  <a:pt x="137378" y="65745"/>
                  <a:pt x="200964" y="0"/>
                </a:cubicBezTo>
                <a:cubicBezTo>
                  <a:pt x="199037" y="439312"/>
                  <a:pt x="213860" y="919474"/>
                  <a:pt x="211933" y="1358786"/>
                </a:cubicBezTo>
                <a:lnTo>
                  <a:pt x="5968" y="1175058"/>
                </a:lnTo>
                <a:cubicBezTo>
                  <a:pt x="3976" y="818471"/>
                  <a:pt x="1992" y="541918"/>
                  <a:pt x="0" y="185331"/>
                </a:cubicBezTo>
                <a:close/>
              </a:path>
            </a:pathLst>
          </a:custGeom>
          <a:solidFill>
            <a:srgbClr val="E306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00AA2F6-9E32-1951-916C-8943096E1C7C}"/>
              </a:ext>
            </a:extLst>
          </p:cNvPr>
          <p:cNvSpPr/>
          <p:nvPr userDrawn="1"/>
        </p:nvSpPr>
        <p:spPr>
          <a:xfrm>
            <a:off x="1058466" y="3902882"/>
            <a:ext cx="5774133" cy="2955801"/>
          </a:xfrm>
          <a:custGeom>
            <a:avLst/>
            <a:gdLst>
              <a:gd name="connsiteX0" fmla="*/ 0 w 7242629"/>
              <a:gd name="connsiteY0" fmla="*/ 0 h 6858000"/>
              <a:gd name="connsiteX1" fmla="*/ 7242629 w 7242629"/>
              <a:gd name="connsiteY1" fmla="*/ 6858000 h 6858000"/>
              <a:gd name="connsiteX2" fmla="*/ 2313585 w 7242629"/>
              <a:gd name="connsiteY2" fmla="*/ 6858000 h 6858000"/>
              <a:gd name="connsiteX3" fmla="*/ 0 w 7242629"/>
              <a:gd name="connsiteY3" fmla="*/ 4667280 h 6858000"/>
              <a:gd name="connsiteX0" fmla="*/ 0 w 7242629"/>
              <a:gd name="connsiteY0" fmla="*/ 0 h 6858000"/>
              <a:gd name="connsiteX1" fmla="*/ 7242629 w 7242629"/>
              <a:gd name="connsiteY1" fmla="*/ 6858000 h 6858000"/>
              <a:gd name="connsiteX2" fmla="*/ 2323185 w 7242629"/>
              <a:gd name="connsiteY2" fmla="*/ 6838800 h 6858000"/>
              <a:gd name="connsiteX3" fmla="*/ 0 w 7242629"/>
              <a:gd name="connsiteY3" fmla="*/ 4667280 h 6858000"/>
              <a:gd name="connsiteX4" fmla="*/ 0 w 7242629"/>
              <a:gd name="connsiteY4" fmla="*/ 0 h 6858000"/>
              <a:gd name="connsiteX0" fmla="*/ 0 w 7242629"/>
              <a:gd name="connsiteY0" fmla="*/ 0 h 6858000"/>
              <a:gd name="connsiteX1" fmla="*/ 3430585 w 7242629"/>
              <a:gd name="connsiteY1" fmla="*/ 32736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488185 w 7242629"/>
              <a:gd name="connsiteY1" fmla="*/ 32736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526585 w 7242629"/>
              <a:gd name="connsiteY1" fmla="*/ 32736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584185 w 7242629"/>
              <a:gd name="connsiteY1" fmla="*/ 33888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593785 w 7242629"/>
              <a:gd name="connsiteY1" fmla="*/ 33888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632185 w 7242629"/>
              <a:gd name="connsiteY1" fmla="*/ 34272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04229"/>
              <a:gd name="connsiteY0" fmla="*/ 0 h 6858000"/>
              <a:gd name="connsiteX1" fmla="*/ 3632185 w 7204229"/>
              <a:gd name="connsiteY1" fmla="*/ 34272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3689785 w 7204229"/>
              <a:gd name="connsiteY1" fmla="*/ 33984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3660985 w 7204229"/>
              <a:gd name="connsiteY1" fmla="*/ 33792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3632185 w 7204229"/>
              <a:gd name="connsiteY1" fmla="*/ 33792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857785 w 7204229"/>
              <a:gd name="connsiteY1" fmla="*/ 7968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20985 w 7204229"/>
              <a:gd name="connsiteY1" fmla="*/ 9696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876985 w 7204229"/>
              <a:gd name="connsiteY1" fmla="*/ 13344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40185 w 7204229"/>
              <a:gd name="connsiteY1" fmla="*/ 1008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963385 w 7204229"/>
              <a:gd name="connsiteY1" fmla="*/ 8928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972985 w 7204229"/>
              <a:gd name="connsiteY1" fmla="*/ 1104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30585 w 7204229"/>
              <a:gd name="connsiteY1" fmla="*/ 960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01785 w 7204229"/>
              <a:gd name="connsiteY1" fmla="*/ 1008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992185 w 7204229"/>
              <a:gd name="connsiteY1" fmla="*/ 9696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9600 w 7204229"/>
              <a:gd name="connsiteY0" fmla="*/ 739200 h 5888400"/>
              <a:gd name="connsiteX1" fmla="*/ 992185 w 7204229"/>
              <a:gd name="connsiteY1" fmla="*/ 0 h 5888400"/>
              <a:gd name="connsiteX2" fmla="*/ 3632185 w 7204229"/>
              <a:gd name="connsiteY2" fmla="*/ 2409600 h 5888400"/>
              <a:gd name="connsiteX3" fmla="*/ 7204229 w 7204229"/>
              <a:gd name="connsiteY3" fmla="*/ 5888400 h 5888400"/>
              <a:gd name="connsiteX4" fmla="*/ 2323185 w 7204229"/>
              <a:gd name="connsiteY4" fmla="*/ 5869200 h 5888400"/>
              <a:gd name="connsiteX5" fmla="*/ 0 w 7204229"/>
              <a:gd name="connsiteY5" fmla="*/ 3697680 h 5888400"/>
              <a:gd name="connsiteX6" fmla="*/ 9600 w 7204229"/>
              <a:gd name="connsiteY6" fmla="*/ 739200 h 5888400"/>
              <a:gd name="connsiteX0" fmla="*/ 0 w 7194629"/>
              <a:gd name="connsiteY0" fmla="*/ 739200 h 5888400"/>
              <a:gd name="connsiteX1" fmla="*/ 982585 w 7194629"/>
              <a:gd name="connsiteY1" fmla="*/ 0 h 5888400"/>
              <a:gd name="connsiteX2" fmla="*/ 3622585 w 7194629"/>
              <a:gd name="connsiteY2" fmla="*/ 2409600 h 5888400"/>
              <a:gd name="connsiteX3" fmla="*/ 7194629 w 7194629"/>
              <a:gd name="connsiteY3" fmla="*/ 5888400 h 5888400"/>
              <a:gd name="connsiteX4" fmla="*/ 2313585 w 7194629"/>
              <a:gd name="connsiteY4" fmla="*/ 5869200 h 5888400"/>
              <a:gd name="connsiteX5" fmla="*/ 777600 w 7194629"/>
              <a:gd name="connsiteY5" fmla="*/ 4456080 h 5888400"/>
              <a:gd name="connsiteX6" fmla="*/ 0 w 7194629"/>
              <a:gd name="connsiteY6" fmla="*/ 739200 h 5888400"/>
              <a:gd name="connsiteX0" fmla="*/ 0 w 7194629"/>
              <a:gd name="connsiteY0" fmla="*/ 0 h 5149200"/>
              <a:gd name="connsiteX1" fmla="*/ 2336185 w 7194629"/>
              <a:gd name="connsiteY1" fmla="*/ 2496000 h 5149200"/>
              <a:gd name="connsiteX2" fmla="*/ 3622585 w 7194629"/>
              <a:gd name="connsiteY2" fmla="*/ 1670400 h 5149200"/>
              <a:gd name="connsiteX3" fmla="*/ 7194629 w 7194629"/>
              <a:gd name="connsiteY3" fmla="*/ 5149200 h 5149200"/>
              <a:gd name="connsiteX4" fmla="*/ 2313585 w 7194629"/>
              <a:gd name="connsiteY4" fmla="*/ 5130000 h 5149200"/>
              <a:gd name="connsiteX5" fmla="*/ 777600 w 7194629"/>
              <a:gd name="connsiteY5" fmla="*/ 3716880 h 5149200"/>
              <a:gd name="connsiteX6" fmla="*/ 0 w 7194629"/>
              <a:gd name="connsiteY6" fmla="*/ 0 h 5149200"/>
              <a:gd name="connsiteX0" fmla="*/ 0 w 7194629"/>
              <a:gd name="connsiteY0" fmla="*/ 0 h 5149200"/>
              <a:gd name="connsiteX1" fmla="*/ 3622585 w 7194629"/>
              <a:gd name="connsiteY1" fmla="*/ 1670400 h 5149200"/>
              <a:gd name="connsiteX2" fmla="*/ 7194629 w 7194629"/>
              <a:gd name="connsiteY2" fmla="*/ 5149200 h 5149200"/>
              <a:gd name="connsiteX3" fmla="*/ 2313585 w 7194629"/>
              <a:gd name="connsiteY3" fmla="*/ 5130000 h 5149200"/>
              <a:gd name="connsiteX4" fmla="*/ 777600 w 7194629"/>
              <a:gd name="connsiteY4" fmla="*/ 3716880 h 5149200"/>
              <a:gd name="connsiteX5" fmla="*/ 0 w 7194629"/>
              <a:gd name="connsiteY5" fmla="*/ 0 h 5149200"/>
              <a:gd name="connsiteX0" fmla="*/ 1737600 w 6417029"/>
              <a:gd name="connsiteY0" fmla="*/ 796800 h 3478800"/>
              <a:gd name="connsiteX1" fmla="*/ 2844985 w 6417029"/>
              <a:gd name="connsiteY1" fmla="*/ 0 h 3478800"/>
              <a:gd name="connsiteX2" fmla="*/ 6417029 w 6417029"/>
              <a:gd name="connsiteY2" fmla="*/ 3478800 h 3478800"/>
              <a:gd name="connsiteX3" fmla="*/ 1535985 w 6417029"/>
              <a:gd name="connsiteY3" fmla="*/ 3459600 h 3478800"/>
              <a:gd name="connsiteX4" fmla="*/ 0 w 6417029"/>
              <a:gd name="connsiteY4" fmla="*/ 2046480 h 3478800"/>
              <a:gd name="connsiteX5" fmla="*/ 1737600 w 6417029"/>
              <a:gd name="connsiteY5" fmla="*/ 796800 h 3478800"/>
              <a:gd name="connsiteX0" fmla="*/ 1392000 w 6417029"/>
              <a:gd name="connsiteY0" fmla="*/ 1036800 h 3478800"/>
              <a:gd name="connsiteX1" fmla="*/ 2844985 w 6417029"/>
              <a:gd name="connsiteY1" fmla="*/ 0 h 3478800"/>
              <a:gd name="connsiteX2" fmla="*/ 6417029 w 6417029"/>
              <a:gd name="connsiteY2" fmla="*/ 3478800 h 3478800"/>
              <a:gd name="connsiteX3" fmla="*/ 1535985 w 6417029"/>
              <a:gd name="connsiteY3" fmla="*/ 3459600 h 3478800"/>
              <a:gd name="connsiteX4" fmla="*/ 0 w 6417029"/>
              <a:gd name="connsiteY4" fmla="*/ 2046480 h 3478800"/>
              <a:gd name="connsiteX5" fmla="*/ 1392000 w 6417029"/>
              <a:gd name="connsiteY5" fmla="*/ 1036800 h 3478800"/>
              <a:gd name="connsiteX0" fmla="*/ 1369520 w 6394549"/>
              <a:gd name="connsiteY0" fmla="*/ 1036800 h 3478800"/>
              <a:gd name="connsiteX1" fmla="*/ 2822505 w 6394549"/>
              <a:gd name="connsiteY1" fmla="*/ 0 h 3478800"/>
              <a:gd name="connsiteX2" fmla="*/ 6394549 w 6394549"/>
              <a:gd name="connsiteY2" fmla="*/ 3478800 h 3478800"/>
              <a:gd name="connsiteX3" fmla="*/ 1513505 w 6394549"/>
              <a:gd name="connsiteY3" fmla="*/ 3459600 h 3478800"/>
              <a:gd name="connsiteX4" fmla="*/ 0 w 6394549"/>
              <a:gd name="connsiteY4" fmla="*/ 2001521 h 3478800"/>
              <a:gd name="connsiteX5" fmla="*/ 1369520 w 6394549"/>
              <a:gd name="connsiteY5" fmla="*/ 1036800 h 3478800"/>
              <a:gd name="connsiteX0" fmla="*/ 1369520 w 6394549"/>
              <a:gd name="connsiteY0" fmla="*/ 1036800 h 3482080"/>
              <a:gd name="connsiteX1" fmla="*/ 2822505 w 6394549"/>
              <a:gd name="connsiteY1" fmla="*/ 0 h 3482080"/>
              <a:gd name="connsiteX2" fmla="*/ 6394549 w 6394549"/>
              <a:gd name="connsiteY2" fmla="*/ 3478800 h 3482080"/>
              <a:gd name="connsiteX3" fmla="*/ 1513506 w 6394549"/>
              <a:gd name="connsiteY3" fmla="*/ 3482080 h 3482080"/>
              <a:gd name="connsiteX4" fmla="*/ 0 w 6394549"/>
              <a:gd name="connsiteY4" fmla="*/ 2001521 h 3482080"/>
              <a:gd name="connsiteX5" fmla="*/ 1369520 w 6394549"/>
              <a:gd name="connsiteY5" fmla="*/ 1036800 h 3482080"/>
              <a:gd name="connsiteX0" fmla="*/ 1369520 w 5826494"/>
              <a:gd name="connsiteY0" fmla="*/ 1036800 h 3482080"/>
              <a:gd name="connsiteX1" fmla="*/ 2822505 w 5826494"/>
              <a:gd name="connsiteY1" fmla="*/ 0 h 3482080"/>
              <a:gd name="connsiteX2" fmla="*/ 5826494 w 5826494"/>
              <a:gd name="connsiteY2" fmla="*/ 2934088 h 3482080"/>
              <a:gd name="connsiteX3" fmla="*/ 1513506 w 5826494"/>
              <a:gd name="connsiteY3" fmla="*/ 3482080 h 3482080"/>
              <a:gd name="connsiteX4" fmla="*/ 0 w 5826494"/>
              <a:gd name="connsiteY4" fmla="*/ 2001521 h 3482080"/>
              <a:gd name="connsiteX5" fmla="*/ 1369520 w 5826494"/>
              <a:gd name="connsiteY5" fmla="*/ 1036800 h 3482080"/>
              <a:gd name="connsiteX0" fmla="*/ 1369520 w 5826494"/>
              <a:gd name="connsiteY0" fmla="*/ 1036800 h 2945150"/>
              <a:gd name="connsiteX1" fmla="*/ 2822505 w 5826494"/>
              <a:gd name="connsiteY1" fmla="*/ 0 h 2945150"/>
              <a:gd name="connsiteX2" fmla="*/ 5826494 w 5826494"/>
              <a:gd name="connsiteY2" fmla="*/ 2934088 h 2945150"/>
              <a:gd name="connsiteX3" fmla="*/ 1427908 w 5826494"/>
              <a:gd name="connsiteY3" fmla="*/ 2945150 h 2945150"/>
              <a:gd name="connsiteX4" fmla="*/ 0 w 5826494"/>
              <a:gd name="connsiteY4" fmla="*/ 2001521 h 2945150"/>
              <a:gd name="connsiteX5" fmla="*/ 1369520 w 5826494"/>
              <a:gd name="connsiteY5" fmla="*/ 1036800 h 2945150"/>
              <a:gd name="connsiteX0" fmla="*/ 1369520 w 5826494"/>
              <a:gd name="connsiteY0" fmla="*/ 1036800 h 2945150"/>
              <a:gd name="connsiteX1" fmla="*/ 2822505 w 5826494"/>
              <a:gd name="connsiteY1" fmla="*/ 0 h 2945150"/>
              <a:gd name="connsiteX2" fmla="*/ 5826494 w 5826494"/>
              <a:gd name="connsiteY2" fmla="*/ 2934088 h 2945150"/>
              <a:gd name="connsiteX3" fmla="*/ 961012 w 5826494"/>
              <a:gd name="connsiteY3" fmla="*/ 2945150 h 2945150"/>
              <a:gd name="connsiteX4" fmla="*/ 0 w 5826494"/>
              <a:gd name="connsiteY4" fmla="*/ 2001521 h 2945150"/>
              <a:gd name="connsiteX5" fmla="*/ 1369520 w 5826494"/>
              <a:gd name="connsiteY5" fmla="*/ 1036800 h 2945150"/>
              <a:gd name="connsiteX0" fmla="*/ 1369520 w 5826494"/>
              <a:gd name="connsiteY0" fmla="*/ 1044581 h 2952931"/>
              <a:gd name="connsiteX1" fmla="*/ 2814724 w 5826494"/>
              <a:gd name="connsiteY1" fmla="*/ 0 h 2952931"/>
              <a:gd name="connsiteX2" fmla="*/ 5826494 w 5826494"/>
              <a:gd name="connsiteY2" fmla="*/ 2941869 h 2952931"/>
              <a:gd name="connsiteX3" fmla="*/ 961012 w 5826494"/>
              <a:gd name="connsiteY3" fmla="*/ 2952931 h 2952931"/>
              <a:gd name="connsiteX4" fmla="*/ 0 w 5826494"/>
              <a:gd name="connsiteY4" fmla="*/ 2009302 h 2952931"/>
              <a:gd name="connsiteX5" fmla="*/ 1369520 w 5826494"/>
              <a:gd name="connsiteY5" fmla="*/ 1044581 h 2952931"/>
              <a:gd name="connsiteX0" fmla="*/ 1369520 w 5849839"/>
              <a:gd name="connsiteY0" fmla="*/ 1044581 h 2952931"/>
              <a:gd name="connsiteX1" fmla="*/ 2814724 w 5849839"/>
              <a:gd name="connsiteY1" fmla="*/ 0 h 2952931"/>
              <a:gd name="connsiteX2" fmla="*/ 5849839 w 5849839"/>
              <a:gd name="connsiteY2" fmla="*/ 2941870 h 2952931"/>
              <a:gd name="connsiteX3" fmla="*/ 961012 w 5849839"/>
              <a:gd name="connsiteY3" fmla="*/ 2952931 h 2952931"/>
              <a:gd name="connsiteX4" fmla="*/ 0 w 5849839"/>
              <a:gd name="connsiteY4" fmla="*/ 2009302 h 2952931"/>
              <a:gd name="connsiteX5" fmla="*/ 1369520 w 5849839"/>
              <a:gd name="connsiteY5" fmla="*/ 1044581 h 2952931"/>
              <a:gd name="connsiteX0" fmla="*/ 1369520 w 5849839"/>
              <a:gd name="connsiteY0" fmla="*/ 1008453 h 2916803"/>
              <a:gd name="connsiteX1" fmla="*/ 2908659 w 5849839"/>
              <a:gd name="connsiteY1" fmla="*/ 0 h 2916803"/>
              <a:gd name="connsiteX2" fmla="*/ 5849839 w 5849839"/>
              <a:gd name="connsiteY2" fmla="*/ 2905742 h 2916803"/>
              <a:gd name="connsiteX3" fmla="*/ 961012 w 5849839"/>
              <a:gd name="connsiteY3" fmla="*/ 2916803 h 2916803"/>
              <a:gd name="connsiteX4" fmla="*/ 0 w 5849839"/>
              <a:gd name="connsiteY4" fmla="*/ 1973174 h 2916803"/>
              <a:gd name="connsiteX5" fmla="*/ 1369520 w 5849839"/>
              <a:gd name="connsiteY5" fmla="*/ 1008453 h 2916803"/>
              <a:gd name="connsiteX0" fmla="*/ 1355069 w 5849839"/>
              <a:gd name="connsiteY0" fmla="*/ 1066259 h 2916803"/>
              <a:gd name="connsiteX1" fmla="*/ 2908659 w 5849839"/>
              <a:gd name="connsiteY1" fmla="*/ 0 h 2916803"/>
              <a:gd name="connsiteX2" fmla="*/ 5849839 w 5849839"/>
              <a:gd name="connsiteY2" fmla="*/ 2905742 h 2916803"/>
              <a:gd name="connsiteX3" fmla="*/ 961012 w 5849839"/>
              <a:gd name="connsiteY3" fmla="*/ 2916803 h 2916803"/>
              <a:gd name="connsiteX4" fmla="*/ 0 w 5849839"/>
              <a:gd name="connsiteY4" fmla="*/ 1973174 h 2916803"/>
              <a:gd name="connsiteX5" fmla="*/ 1355069 w 5849839"/>
              <a:gd name="connsiteY5" fmla="*/ 1066259 h 2916803"/>
              <a:gd name="connsiteX0" fmla="*/ 1340618 w 5835388"/>
              <a:gd name="connsiteY0" fmla="*/ 1066259 h 2916803"/>
              <a:gd name="connsiteX1" fmla="*/ 2894208 w 5835388"/>
              <a:gd name="connsiteY1" fmla="*/ 0 h 2916803"/>
              <a:gd name="connsiteX2" fmla="*/ 5835388 w 5835388"/>
              <a:gd name="connsiteY2" fmla="*/ 2905742 h 2916803"/>
              <a:gd name="connsiteX3" fmla="*/ 946561 w 5835388"/>
              <a:gd name="connsiteY3" fmla="*/ 2916803 h 2916803"/>
              <a:gd name="connsiteX4" fmla="*/ 0 w 5835388"/>
              <a:gd name="connsiteY4" fmla="*/ 1929819 h 2916803"/>
              <a:gd name="connsiteX5" fmla="*/ 1340618 w 5835388"/>
              <a:gd name="connsiteY5" fmla="*/ 1066259 h 2916803"/>
              <a:gd name="connsiteX0" fmla="*/ 1340618 w 5835388"/>
              <a:gd name="connsiteY0" fmla="*/ 1066259 h 2916803"/>
              <a:gd name="connsiteX1" fmla="*/ 2894208 w 5835388"/>
              <a:gd name="connsiteY1" fmla="*/ 0 h 2916803"/>
              <a:gd name="connsiteX2" fmla="*/ 5835388 w 5835388"/>
              <a:gd name="connsiteY2" fmla="*/ 2905742 h 2916803"/>
              <a:gd name="connsiteX3" fmla="*/ 946561 w 5835388"/>
              <a:gd name="connsiteY3" fmla="*/ 2916803 h 2916803"/>
              <a:gd name="connsiteX4" fmla="*/ 0 w 5835388"/>
              <a:gd name="connsiteY4" fmla="*/ 1958723 h 2916803"/>
              <a:gd name="connsiteX5" fmla="*/ 1340618 w 5835388"/>
              <a:gd name="connsiteY5" fmla="*/ 1066259 h 2916803"/>
              <a:gd name="connsiteX0" fmla="*/ 1340618 w 5777582"/>
              <a:gd name="connsiteY0" fmla="*/ 1066259 h 2916803"/>
              <a:gd name="connsiteX1" fmla="*/ 2894208 w 5777582"/>
              <a:gd name="connsiteY1" fmla="*/ 0 h 2916803"/>
              <a:gd name="connsiteX2" fmla="*/ 5777582 w 5777582"/>
              <a:gd name="connsiteY2" fmla="*/ 2905742 h 2916803"/>
              <a:gd name="connsiteX3" fmla="*/ 946561 w 5777582"/>
              <a:gd name="connsiteY3" fmla="*/ 2916803 h 2916803"/>
              <a:gd name="connsiteX4" fmla="*/ 0 w 5777582"/>
              <a:gd name="connsiteY4" fmla="*/ 1958723 h 2916803"/>
              <a:gd name="connsiteX5" fmla="*/ 1340618 w 5777582"/>
              <a:gd name="connsiteY5" fmla="*/ 1066259 h 2916803"/>
              <a:gd name="connsiteX0" fmla="*/ 1340618 w 5828162"/>
              <a:gd name="connsiteY0" fmla="*/ 1066259 h 2916803"/>
              <a:gd name="connsiteX1" fmla="*/ 2894208 w 5828162"/>
              <a:gd name="connsiteY1" fmla="*/ 0 h 2916803"/>
              <a:gd name="connsiteX2" fmla="*/ 5828162 w 5828162"/>
              <a:gd name="connsiteY2" fmla="*/ 2912968 h 2916803"/>
              <a:gd name="connsiteX3" fmla="*/ 946561 w 5828162"/>
              <a:gd name="connsiteY3" fmla="*/ 2916803 h 2916803"/>
              <a:gd name="connsiteX4" fmla="*/ 0 w 5828162"/>
              <a:gd name="connsiteY4" fmla="*/ 1958723 h 2916803"/>
              <a:gd name="connsiteX5" fmla="*/ 1340618 w 5828162"/>
              <a:gd name="connsiteY5" fmla="*/ 1066259 h 2916803"/>
              <a:gd name="connsiteX0" fmla="*/ 0 w 5828162"/>
              <a:gd name="connsiteY0" fmla="*/ 1958723 h 2916803"/>
              <a:gd name="connsiteX1" fmla="*/ 2894208 w 5828162"/>
              <a:gd name="connsiteY1" fmla="*/ 0 h 2916803"/>
              <a:gd name="connsiteX2" fmla="*/ 5828162 w 5828162"/>
              <a:gd name="connsiteY2" fmla="*/ 2912968 h 2916803"/>
              <a:gd name="connsiteX3" fmla="*/ 946561 w 5828162"/>
              <a:gd name="connsiteY3" fmla="*/ 2916803 h 2916803"/>
              <a:gd name="connsiteX4" fmla="*/ 0 w 5828162"/>
              <a:gd name="connsiteY4" fmla="*/ 1958723 h 2916803"/>
              <a:gd name="connsiteX0" fmla="*/ 0 w 5828162"/>
              <a:gd name="connsiteY0" fmla="*/ 1938491 h 2896571"/>
              <a:gd name="connsiteX1" fmla="*/ 2904324 w 5828162"/>
              <a:gd name="connsiteY1" fmla="*/ 0 h 2896571"/>
              <a:gd name="connsiteX2" fmla="*/ 5828162 w 5828162"/>
              <a:gd name="connsiteY2" fmla="*/ 2892736 h 2896571"/>
              <a:gd name="connsiteX3" fmla="*/ 946561 w 5828162"/>
              <a:gd name="connsiteY3" fmla="*/ 2896571 h 2896571"/>
              <a:gd name="connsiteX4" fmla="*/ 0 w 5828162"/>
              <a:gd name="connsiteY4" fmla="*/ 1938491 h 2896571"/>
              <a:gd name="connsiteX0" fmla="*/ 0 w 5797814"/>
              <a:gd name="connsiteY0" fmla="*/ 1948607 h 2896571"/>
              <a:gd name="connsiteX1" fmla="*/ 2873976 w 5797814"/>
              <a:gd name="connsiteY1" fmla="*/ 0 h 2896571"/>
              <a:gd name="connsiteX2" fmla="*/ 5797814 w 5797814"/>
              <a:gd name="connsiteY2" fmla="*/ 2892736 h 2896571"/>
              <a:gd name="connsiteX3" fmla="*/ 916213 w 5797814"/>
              <a:gd name="connsiteY3" fmla="*/ 2896571 h 2896571"/>
              <a:gd name="connsiteX4" fmla="*/ 0 w 5797814"/>
              <a:gd name="connsiteY4" fmla="*/ 1948607 h 2896571"/>
              <a:gd name="connsiteX0" fmla="*/ 0 w 5797814"/>
              <a:gd name="connsiteY0" fmla="*/ 1948607 h 2937035"/>
              <a:gd name="connsiteX1" fmla="*/ 2873976 w 5797814"/>
              <a:gd name="connsiteY1" fmla="*/ 0 h 2937035"/>
              <a:gd name="connsiteX2" fmla="*/ 5797814 w 5797814"/>
              <a:gd name="connsiteY2" fmla="*/ 2892736 h 2937035"/>
              <a:gd name="connsiteX3" fmla="*/ 936446 w 5797814"/>
              <a:gd name="connsiteY3" fmla="*/ 2937035 h 2937035"/>
              <a:gd name="connsiteX4" fmla="*/ 0 w 5797814"/>
              <a:gd name="connsiteY4" fmla="*/ 1948607 h 2937035"/>
              <a:gd name="connsiteX0" fmla="*/ 0 w 5797814"/>
              <a:gd name="connsiteY0" fmla="*/ 1908143 h 2896571"/>
              <a:gd name="connsiteX1" fmla="*/ 2681771 w 5797814"/>
              <a:gd name="connsiteY1" fmla="*/ 0 h 2896571"/>
              <a:gd name="connsiteX2" fmla="*/ 5797814 w 5797814"/>
              <a:gd name="connsiteY2" fmla="*/ 2852272 h 2896571"/>
              <a:gd name="connsiteX3" fmla="*/ 936446 w 5797814"/>
              <a:gd name="connsiteY3" fmla="*/ 2896571 h 2896571"/>
              <a:gd name="connsiteX4" fmla="*/ 0 w 5797814"/>
              <a:gd name="connsiteY4" fmla="*/ 1908143 h 2896571"/>
              <a:gd name="connsiteX0" fmla="*/ 0 w 5605609"/>
              <a:gd name="connsiteY0" fmla="*/ 1908143 h 2896571"/>
              <a:gd name="connsiteX1" fmla="*/ 2681771 w 5605609"/>
              <a:gd name="connsiteY1" fmla="*/ 0 h 2896571"/>
              <a:gd name="connsiteX2" fmla="*/ 5605609 w 5605609"/>
              <a:gd name="connsiteY2" fmla="*/ 2791576 h 2896571"/>
              <a:gd name="connsiteX3" fmla="*/ 936446 w 5605609"/>
              <a:gd name="connsiteY3" fmla="*/ 2896571 h 2896571"/>
              <a:gd name="connsiteX4" fmla="*/ 0 w 5605609"/>
              <a:gd name="connsiteY4" fmla="*/ 1908143 h 2896571"/>
              <a:gd name="connsiteX0" fmla="*/ 0 w 5676421"/>
              <a:gd name="connsiteY0" fmla="*/ 1908143 h 2896571"/>
              <a:gd name="connsiteX1" fmla="*/ 2681771 w 5676421"/>
              <a:gd name="connsiteY1" fmla="*/ 0 h 2896571"/>
              <a:gd name="connsiteX2" fmla="*/ 5676421 w 5676421"/>
              <a:gd name="connsiteY2" fmla="*/ 2821925 h 2896571"/>
              <a:gd name="connsiteX3" fmla="*/ 936446 w 5676421"/>
              <a:gd name="connsiteY3" fmla="*/ 2896571 h 2896571"/>
              <a:gd name="connsiteX4" fmla="*/ 0 w 5676421"/>
              <a:gd name="connsiteY4" fmla="*/ 1908143 h 2896571"/>
              <a:gd name="connsiteX0" fmla="*/ 0 w 5676421"/>
              <a:gd name="connsiteY0" fmla="*/ 1908143 h 2896571"/>
              <a:gd name="connsiteX1" fmla="*/ 2681771 w 5676421"/>
              <a:gd name="connsiteY1" fmla="*/ 0 h 2896571"/>
              <a:gd name="connsiteX2" fmla="*/ 5676421 w 5676421"/>
              <a:gd name="connsiteY2" fmla="*/ 2842157 h 2896571"/>
              <a:gd name="connsiteX3" fmla="*/ 936446 w 5676421"/>
              <a:gd name="connsiteY3" fmla="*/ 2896571 h 2896571"/>
              <a:gd name="connsiteX4" fmla="*/ 0 w 5676421"/>
              <a:gd name="connsiteY4" fmla="*/ 1908143 h 2896571"/>
              <a:gd name="connsiteX0" fmla="*/ 0 w 5727001"/>
              <a:gd name="connsiteY0" fmla="*/ 1908143 h 2896571"/>
              <a:gd name="connsiteX1" fmla="*/ 2681771 w 5727001"/>
              <a:gd name="connsiteY1" fmla="*/ 0 h 2896571"/>
              <a:gd name="connsiteX2" fmla="*/ 5727001 w 5727001"/>
              <a:gd name="connsiteY2" fmla="*/ 2842157 h 2896571"/>
              <a:gd name="connsiteX3" fmla="*/ 936446 w 5727001"/>
              <a:gd name="connsiteY3" fmla="*/ 2896571 h 2896571"/>
              <a:gd name="connsiteX4" fmla="*/ 0 w 5727001"/>
              <a:gd name="connsiteY4" fmla="*/ 1908143 h 2896571"/>
              <a:gd name="connsiteX0" fmla="*/ 0 w 5727001"/>
              <a:gd name="connsiteY0" fmla="*/ 1908143 h 2896571"/>
              <a:gd name="connsiteX1" fmla="*/ 2681771 w 5727001"/>
              <a:gd name="connsiteY1" fmla="*/ 0 h 2896571"/>
              <a:gd name="connsiteX2" fmla="*/ 5727001 w 5727001"/>
              <a:gd name="connsiteY2" fmla="*/ 2872505 h 2896571"/>
              <a:gd name="connsiteX3" fmla="*/ 936446 w 5727001"/>
              <a:gd name="connsiteY3" fmla="*/ 2896571 h 2896571"/>
              <a:gd name="connsiteX4" fmla="*/ 0 w 5727001"/>
              <a:gd name="connsiteY4" fmla="*/ 1908143 h 2896571"/>
              <a:gd name="connsiteX0" fmla="*/ 0 w 5716885"/>
              <a:gd name="connsiteY0" fmla="*/ 1908143 h 2896571"/>
              <a:gd name="connsiteX1" fmla="*/ 2681771 w 5716885"/>
              <a:gd name="connsiteY1" fmla="*/ 0 h 2896571"/>
              <a:gd name="connsiteX2" fmla="*/ 5716885 w 5716885"/>
              <a:gd name="connsiteY2" fmla="*/ 2852273 h 2896571"/>
              <a:gd name="connsiteX3" fmla="*/ 936446 w 5716885"/>
              <a:gd name="connsiteY3" fmla="*/ 2896571 h 2896571"/>
              <a:gd name="connsiteX4" fmla="*/ 0 w 5716885"/>
              <a:gd name="connsiteY4" fmla="*/ 1908143 h 2896571"/>
              <a:gd name="connsiteX0" fmla="*/ 0 w 5716885"/>
              <a:gd name="connsiteY0" fmla="*/ 1867679 h 2856107"/>
              <a:gd name="connsiteX1" fmla="*/ 2661539 w 5716885"/>
              <a:gd name="connsiteY1" fmla="*/ 0 h 2856107"/>
              <a:gd name="connsiteX2" fmla="*/ 5716885 w 5716885"/>
              <a:gd name="connsiteY2" fmla="*/ 2811809 h 2856107"/>
              <a:gd name="connsiteX3" fmla="*/ 936446 w 5716885"/>
              <a:gd name="connsiteY3" fmla="*/ 2856107 h 2856107"/>
              <a:gd name="connsiteX4" fmla="*/ 0 w 5716885"/>
              <a:gd name="connsiteY4" fmla="*/ 1867679 h 2856107"/>
              <a:gd name="connsiteX0" fmla="*/ 0 w 5716885"/>
              <a:gd name="connsiteY0" fmla="*/ 1898027 h 2886455"/>
              <a:gd name="connsiteX1" fmla="*/ 2681771 w 5716885"/>
              <a:gd name="connsiteY1" fmla="*/ 0 h 2886455"/>
              <a:gd name="connsiteX2" fmla="*/ 5716885 w 5716885"/>
              <a:gd name="connsiteY2" fmla="*/ 2842157 h 2886455"/>
              <a:gd name="connsiteX3" fmla="*/ 936446 w 5716885"/>
              <a:gd name="connsiteY3" fmla="*/ 2886455 h 2886455"/>
              <a:gd name="connsiteX4" fmla="*/ 0 w 5716885"/>
              <a:gd name="connsiteY4" fmla="*/ 1898027 h 2886455"/>
              <a:gd name="connsiteX0" fmla="*/ 0 w 5686537"/>
              <a:gd name="connsiteY0" fmla="*/ 1948607 h 2886455"/>
              <a:gd name="connsiteX1" fmla="*/ 2651423 w 5686537"/>
              <a:gd name="connsiteY1" fmla="*/ 0 h 2886455"/>
              <a:gd name="connsiteX2" fmla="*/ 5686537 w 5686537"/>
              <a:gd name="connsiteY2" fmla="*/ 2842157 h 2886455"/>
              <a:gd name="connsiteX3" fmla="*/ 906098 w 5686537"/>
              <a:gd name="connsiteY3" fmla="*/ 2886455 h 2886455"/>
              <a:gd name="connsiteX4" fmla="*/ 0 w 5686537"/>
              <a:gd name="connsiteY4" fmla="*/ 1948607 h 2886455"/>
              <a:gd name="connsiteX0" fmla="*/ 0 w 5565144"/>
              <a:gd name="connsiteY0" fmla="*/ 2059884 h 2886455"/>
              <a:gd name="connsiteX1" fmla="*/ 2530030 w 5565144"/>
              <a:gd name="connsiteY1" fmla="*/ 0 h 2886455"/>
              <a:gd name="connsiteX2" fmla="*/ 5565144 w 5565144"/>
              <a:gd name="connsiteY2" fmla="*/ 2842157 h 2886455"/>
              <a:gd name="connsiteX3" fmla="*/ 784705 w 5565144"/>
              <a:gd name="connsiteY3" fmla="*/ 2886455 h 2886455"/>
              <a:gd name="connsiteX4" fmla="*/ 0 w 5565144"/>
              <a:gd name="connsiteY4" fmla="*/ 2059884 h 2886455"/>
              <a:gd name="connsiteX0" fmla="*/ 0 w 5585376"/>
              <a:gd name="connsiteY0" fmla="*/ 2059884 h 2886455"/>
              <a:gd name="connsiteX1" fmla="*/ 2530030 w 5585376"/>
              <a:gd name="connsiteY1" fmla="*/ 0 h 2886455"/>
              <a:gd name="connsiteX2" fmla="*/ 5585376 w 5585376"/>
              <a:gd name="connsiteY2" fmla="*/ 2862389 h 2886455"/>
              <a:gd name="connsiteX3" fmla="*/ 784705 w 5585376"/>
              <a:gd name="connsiteY3" fmla="*/ 2886455 h 2886455"/>
              <a:gd name="connsiteX4" fmla="*/ 0 w 5585376"/>
              <a:gd name="connsiteY4" fmla="*/ 2059884 h 2886455"/>
              <a:gd name="connsiteX0" fmla="*/ 0 w 5635956"/>
              <a:gd name="connsiteY0" fmla="*/ 2059884 h 2886455"/>
              <a:gd name="connsiteX1" fmla="*/ 2530030 w 5635956"/>
              <a:gd name="connsiteY1" fmla="*/ 0 h 2886455"/>
              <a:gd name="connsiteX2" fmla="*/ 5635956 w 5635956"/>
              <a:gd name="connsiteY2" fmla="*/ 2872505 h 2886455"/>
              <a:gd name="connsiteX3" fmla="*/ 784705 w 5635956"/>
              <a:gd name="connsiteY3" fmla="*/ 2886455 h 2886455"/>
              <a:gd name="connsiteX4" fmla="*/ 0 w 5635956"/>
              <a:gd name="connsiteY4" fmla="*/ 2059884 h 2886455"/>
              <a:gd name="connsiteX0" fmla="*/ 0 w 5762407"/>
              <a:gd name="connsiteY0" fmla="*/ 1899713 h 2886455"/>
              <a:gd name="connsiteX1" fmla="*/ 2656481 w 5762407"/>
              <a:gd name="connsiteY1" fmla="*/ 0 h 2886455"/>
              <a:gd name="connsiteX2" fmla="*/ 5762407 w 5762407"/>
              <a:gd name="connsiteY2" fmla="*/ 2872505 h 2886455"/>
              <a:gd name="connsiteX3" fmla="*/ 911156 w 5762407"/>
              <a:gd name="connsiteY3" fmla="*/ 2886455 h 2886455"/>
              <a:gd name="connsiteX4" fmla="*/ 0 w 5762407"/>
              <a:gd name="connsiteY4" fmla="*/ 1899713 h 2886455"/>
              <a:gd name="connsiteX0" fmla="*/ 0 w 5762407"/>
              <a:gd name="connsiteY0" fmla="*/ 1899713 h 2886455"/>
              <a:gd name="connsiteX1" fmla="*/ 2656481 w 5762407"/>
              <a:gd name="connsiteY1" fmla="*/ 0 h 2886455"/>
              <a:gd name="connsiteX2" fmla="*/ 5762407 w 5762407"/>
              <a:gd name="connsiteY2" fmla="*/ 2872505 h 2886455"/>
              <a:gd name="connsiteX3" fmla="*/ 911156 w 5762407"/>
              <a:gd name="connsiteY3" fmla="*/ 2886455 h 2886455"/>
              <a:gd name="connsiteX4" fmla="*/ 0 w 5762407"/>
              <a:gd name="connsiteY4" fmla="*/ 1899713 h 2886455"/>
              <a:gd name="connsiteX0" fmla="*/ 0 w 5769151"/>
              <a:gd name="connsiteY0" fmla="*/ 1919945 h 2886455"/>
              <a:gd name="connsiteX1" fmla="*/ 2663225 w 5769151"/>
              <a:gd name="connsiteY1" fmla="*/ 0 h 2886455"/>
              <a:gd name="connsiteX2" fmla="*/ 5769151 w 5769151"/>
              <a:gd name="connsiteY2" fmla="*/ 2872505 h 2886455"/>
              <a:gd name="connsiteX3" fmla="*/ 917900 w 5769151"/>
              <a:gd name="connsiteY3" fmla="*/ 2886455 h 2886455"/>
              <a:gd name="connsiteX4" fmla="*/ 0 w 5769151"/>
              <a:gd name="connsiteY4" fmla="*/ 1919945 h 2886455"/>
              <a:gd name="connsiteX0" fmla="*/ 0 w 5769151"/>
              <a:gd name="connsiteY0" fmla="*/ 1899713 h 2866223"/>
              <a:gd name="connsiteX1" fmla="*/ 2656482 w 5769151"/>
              <a:gd name="connsiteY1" fmla="*/ 0 h 2866223"/>
              <a:gd name="connsiteX2" fmla="*/ 5769151 w 5769151"/>
              <a:gd name="connsiteY2" fmla="*/ 2852273 h 2866223"/>
              <a:gd name="connsiteX3" fmla="*/ 917900 w 5769151"/>
              <a:gd name="connsiteY3" fmla="*/ 2866223 h 2866223"/>
              <a:gd name="connsiteX4" fmla="*/ 0 w 5769151"/>
              <a:gd name="connsiteY4" fmla="*/ 1899713 h 2866223"/>
              <a:gd name="connsiteX0" fmla="*/ 0 w 5769151"/>
              <a:gd name="connsiteY0" fmla="*/ 1899713 h 2872967"/>
              <a:gd name="connsiteX1" fmla="*/ 2656482 w 5769151"/>
              <a:gd name="connsiteY1" fmla="*/ 0 h 2872967"/>
              <a:gd name="connsiteX2" fmla="*/ 5769151 w 5769151"/>
              <a:gd name="connsiteY2" fmla="*/ 2852273 h 2872967"/>
              <a:gd name="connsiteX3" fmla="*/ 911157 w 5769151"/>
              <a:gd name="connsiteY3" fmla="*/ 2872967 h 2872967"/>
              <a:gd name="connsiteX4" fmla="*/ 0 w 5769151"/>
              <a:gd name="connsiteY4" fmla="*/ 1899713 h 2872967"/>
              <a:gd name="connsiteX0" fmla="*/ 0 w 5769151"/>
              <a:gd name="connsiteY0" fmla="*/ 1899713 h 2879711"/>
              <a:gd name="connsiteX1" fmla="*/ 2656482 w 5769151"/>
              <a:gd name="connsiteY1" fmla="*/ 0 h 2879711"/>
              <a:gd name="connsiteX2" fmla="*/ 5769151 w 5769151"/>
              <a:gd name="connsiteY2" fmla="*/ 2852273 h 2879711"/>
              <a:gd name="connsiteX3" fmla="*/ 911157 w 5769151"/>
              <a:gd name="connsiteY3" fmla="*/ 2879711 h 2879711"/>
              <a:gd name="connsiteX4" fmla="*/ 0 w 5769151"/>
              <a:gd name="connsiteY4" fmla="*/ 1899713 h 2879711"/>
              <a:gd name="connsiteX0" fmla="*/ 0 w 5769151"/>
              <a:gd name="connsiteY0" fmla="*/ 1988229 h 2968227"/>
              <a:gd name="connsiteX1" fmla="*/ 2669127 w 5769151"/>
              <a:gd name="connsiteY1" fmla="*/ 0 h 2968227"/>
              <a:gd name="connsiteX2" fmla="*/ 5769151 w 5769151"/>
              <a:gd name="connsiteY2" fmla="*/ 2940789 h 2968227"/>
              <a:gd name="connsiteX3" fmla="*/ 911157 w 5769151"/>
              <a:gd name="connsiteY3" fmla="*/ 2968227 h 2968227"/>
              <a:gd name="connsiteX4" fmla="*/ 0 w 5769151"/>
              <a:gd name="connsiteY4" fmla="*/ 1988229 h 2968227"/>
              <a:gd name="connsiteX0" fmla="*/ 0 w 5769151"/>
              <a:gd name="connsiteY0" fmla="*/ 1962939 h 2942937"/>
              <a:gd name="connsiteX1" fmla="*/ 2694417 w 5769151"/>
              <a:gd name="connsiteY1" fmla="*/ 0 h 2942937"/>
              <a:gd name="connsiteX2" fmla="*/ 5769151 w 5769151"/>
              <a:gd name="connsiteY2" fmla="*/ 2915499 h 2942937"/>
              <a:gd name="connsiteX3" fmla="*/ 911157 w 5769151"/>
              <a:gd name="connsiteY3" fmla="*/ 2942937 h 2942937"/>
              <a:gd name="connsiteX4" fmla="*/ 0 w 5769151"/>
              <a:gd name="connsiteY4" fmla="*/ 1962939 h 2942937"/>
              <a:gd name="connsiteX0" fmla="*/ 0 w 5769151"/>
              <a:gd name="connsiteY0" fmla="*/ 2013519 h 2942937"/>
              <a:gd name="connsiteX1" fmla="*/ 2694417 w 5769151"/>
              <a:gd name="connsiteY1" fmla="*/ 0 h 2942937"/>
              <a:gd name="connsiteX2" fmla="*/ 5769151 w 5769151"/>
              <a:gd name="connsiteY2" fmla="*/ 2915499 h 2942937"/>
              <a:gd name="connsiteX3" fmla="*/ 911157 w 5769151"/>
              <a:gd name="connsiteY3" fmla="*/ 2942937 h 2942937"/>
              <a:gd name="connsiteX4" fmla="*/ 0 w 5769151"/>
              <a:gd name="connsiteY4" fmla="*/ 2013519 h 2942937"/>
              <a:gd name="connsiteX0" fmla="*/ 0 w 5503605"/>
              <a:gd name="connsiteY0" fmla="*/ 2317001 h 2942937"/>
              <a:gd name="connsiteX1" fmla="*/ 2428871 w 5503605"/>
              <a:gd name="connsiteY1" fmla="*/ 0 h 2942937"/>
              <a:gd name="connsiteX2" fmla="*/ 5503605 w 5503605"/>
              <a:gd name="connsiteY2" fmla="*/ 2915499 h 2942937"/>
              <a:gd name="connsiteX3" fmla="*/ 645611 w 5503605"/>
              <a:gd name="connsiteY3" fmla="*/ 2942937 h 2942937"/>
              <a:gd name="connsiteX4" fmla="*/ 0 w 5503605"/>
              <a:gd name="connsiteY4" fmla="*/ 2317001 h 2942937"/>
              <a:gd name="connsiteX0" fmla="*/ 0 w 5503605"/>
              <a:gd name="connsiteY0" fmla="*/ 2317001 h 2942937"/>
              <a:gd name="connsiteX1" fmla="*/ 2428871 w 5503605"/>
              <a:gd name="connsiteY1" fmla="*/ 0 h 2942937"/>
              <a:gd name="connsiteX2" fmla="*/ 5503605 w 5503605"/>
              <a:gd name="connsiteY2" fmla="*/ 2915499 h 2942937"/>
              <a:gd name="connsiteX3" fmla="*/ 645611 w 5503605"/>
              <a:gd name="connsiteY3" fmla="*/ 2942937 h 2942937"/>
              <a:gd name="connsiteX4" fmla="*/ 0 w 5503605"/>
              <a:gd name="connsiteY4" fmla="*/ 2317001 h 2942937"/>
              <a:gd name="connsiteX0" fmla="*/ 0 w 5503605"/>
              <a:gd name="connsiteY0" fmla="*/ 2317001 h 2942937"/>
              <a:gd name="connsiteX1" fmla="*/ 2428871 w 5503605"/>
              <a:gd name="connsiteY1" fmla="*/ 0 h 2942937"/>
              <a:gd name="connsiteX2" fmla="*/ 5503605 w 5503605"/>
              <a:gd name="connsiteY2" fmla="*/ 2915499 h 2942937"/>
              <a:gd name="connsiteX3" fmla="*/ 860578 w 5503605"/>
              <a:gd name="connsiteY3" fmla="*/ 2942937 h 2942937"/>
              <a:gd name="connsiteX4" fmla="*/ 0 w 5503605"/>
              <a:gd name="connsiteY4" fmla="*/ 2317001 h 2942937"/>
              <a:gd name="connsiteX0" fmla="*/ 0 w 5364509"/>
              <a:gd name="connsiteY0" fmla="*/ 2215840 h 2942937"/>
              <a:gd name="connsiteX1" fmla="*/ 2289775 w 5364509"/>
              <a:gd name="connsiteY1" fmla="*/ 0 h 2942937"/>
              <a:gd name="connsiteX2" fmla="*/ 5364509 w 5364509"/>
              <a:gd name="connsiteY2" fmla="*/ 2915499 h 2942937"/>
              <a:gd name="connsiteX3" fmla="*/ 721482 w 5364509"/>
              <a:gd name="connsiteY3" fmla="*/ 2942937 h 2942937"/>
              <a:gd name="connsiteX4" fmla="*/ 0 w 5364509"/>
              <a:gd name="connsiteY4" fmla="*/ 2215840 h 2942937"/>
              <a:gd name="connsiteX0" fmla="*/ 0 w 5364509"/>
              <a:gd name="connsiteY0" fmla="*/ 2215840 h 2915499"/>
              <a:gd name="connsiteX1" fmla="*/ 2289775 w 5364509"/>
              <a:gd name="connsiteY1" fmla="*/ 0 h 2915499"/>
              <a:gd name="connsiteX2" fmla="*/ 5364509 w 5364509"/>
              <a:gd name="connsiteY2" fmla="*/ 2915499 h 2915499"/>
              <a:gd name="connsiteX3" fmla="*/ 0 w 5364509"/>
              <a:gd name="connsiteY3" fmla="*/ 2215840 h 2915499"/>
              <a:gd name="connsiteX0" fmla="*/ 0 w 5327774"/>
              <a:gd name="connsiteY0" fmla="*/ 2348085 h 2915499"/>
              <a:gd name="connsiteX1" fmla="*/ 2253040 w 5327774"/>
              <a:gd name="connsiteY1" fmla="*/ 0 h 2915499"/>
              <a:gd name="connsiteX2" fmla="*/ 5327774 w 5327774"/>
              <a:gd name="connsiteY2" fmla="*/ 2915499 h 2915499"/>
              <a:gd name="connsiteX3" fmla="*/ 0 w 5327774"/>
              <a:gd name="connsiteY3" fmla="*/ 2348085 h 2915499"/>
              <a:gd name="connsiteX0" fmla="*/ 0 w 4695932"/>
              <a:gd name="connsiteY0" fmla="*/ 2348085 h 2348085"/>
              <a:gd name="connsiteX1" fmla="*/ 2253040 w 4695932"/>
              <a:gd name="connsiteY1" fmla="*/ 0 h 2348085"/>
              <a:gd name="connsiteX2" fmla="*/ 4695932 w 4695932"/>
              <a:gd name="connsiteY2" fmla="*/ 2320392 h 2348085"/>
              <a:gd name="connsiteX3" fmla="*/ 0 w 4695932"/>
              <a:gd name="connsiteY3" fmla="*/ 2348085 h 2348085"/>
              <a:gd name="connsiteX0" fmla="*/ 0 w 4695932"/>
              <a:gd name="connsiteY0" fmla="*/ 2460076 h 2460076"/>
              <a:gd name="connsiteX1" fmla="*/ 2358807 w 4695932"/>
              <a:gd name="connsiteY1" fmla="*/ 0 h 2460076"/>
              <a:gd name="connsiteX2" fmla="*/ 4695932 w 4695932"/>
              <a:gd name="connsiteY2" fmla="*/ 2432383 h 2460076"/>
              <a:gd name="connsiteX3" fmla="*/ 0 w 4695932"/>
              <a:gd name="connsiteY3" fmla="*/ 2460076 h 2460076"/>
              <a:gd name="connsiteX0" fmla="*/ 0 w 4695932"/>
              <a:gd name="connsiteY0" fmla="*/ 2377949 h 2377949"/>
              <a:gd name="connsiteX1" fmla="*/ 2288296 w 4695932"/>
              <a:gd name="connsiteY1" fmla="*/ 0 h 2377949"/>
              <a:gd name="connsiteX2" fmla="*/ 4695932 w 4695932"/>
              <a:gd name="connsiteY2" fmla="*/ 2350256 h 2377949"/>
              <a:gd name="connsiteX3" fmla="*/ 0 w 4695932"/>
              <a:gd name="connsiteY3" fmla="*/ 2377949 h 2377949"/>
              <a:gd name="connsiteX0" fmla="*/ 0 w 4646574"/>
              <a:gd name="connsiteY0" fmla="*/ 2377949 h 2377949"/>
              <a:gd name="connsiteX1" fmla="*/ 2288296 w 4646574"/>
              <a:gd name="connsiteY1" fmla="*/ 0 h 2377949"/>
              <a:gd name="connsiteX2" fmla="*/ 4646574 w 4646574"/>
              <a:gd name="connsiteY2" fmla="*/ 2350256 h 2377949"/>
              <a:gd name="connsiteX3" fmla="*/ 0 w 4646574"/>
              <a:gd name="connsiteY3" fmla="*/ 2377949 h 2377949"/>
              <a:gd name="connsiteX0" fmla="*/ 0 w 5491143"/>
              <a:gd name="connsiteY0" fmla="*/ 2423575 h 2423575"/>
              <a:gd name="connsiteX1" fmla="*/ 3132865 w 5491143"/>
              <a:gd name="connsiteY1" fmla="*/ 0 h 2423575"/>
              <a:gd name="connsiteX2" fmla="*/ 5491143 w 5491143"/>
              <a:gd name="connsiteY2" fmla="*/ 2350256 h 2423575"/>
              <a:gd name="connsiteX3" fmla="*/ 0 w 5491143"/>
              <a:gd name="connsiteY3" fmla="*/ 2423575 h 2423575"/>
              <a:gd name="connsiteX0" fmla="*/ 0 w 5439435"/>
              <a:gd name="connsiteY0" fmla="*/ 2423575 h 2423575"/>
              <a:gd name="connsiteX1" fmla="*/ 3132865 w 5439435"/>
              <a:gd name="connsiteY1" fmla="*/ 0 h 2423575"/>
              <a:gd name="connsiteX2" fmla="*/ 5439435 w 5439435"/>
              <a:gd name="connsiteY2" fmla="*/ 2359381 h 2423575"/>
              <a:gd name="connsiteX3" fmla="*/ 0 w 5439435"/>
              <a:gd name="connsiteY3" fmla="*/ 2423575 h 2423575"/>
              <a:gd name="connsiteX0" fmla="*/ 0 w 5482525"/>
              <a:gd name="connsiteY0" fmla="*/ 2423575 h 2423575"/>
              <a:gd name="connsiteX1" fmla="*/ 3132865 w 5482525"/>
              <a:gd name="connsiteY1" fmla="*/ 0 h 2423575"/>
              <a:gd name="connsiteX2" fmla="*/ 5482525 w 5482525"/>
              <a:gd name="connsiteY2" fmla="*/ 2414133 h 2423575"/>
              <a:gd name="connsiteX3" fmla="*/ 0 w 5482525"/>
              <a:gd name="connsiteY3" fmla="*/ 2423575 h 2423575"/>
              <a:gd name="connsiteX0" fmla="*/ 0 w 5491143"/>
              <a:gd name="connsiteY0" fmla="*/ 2405325 h 2414133"/>
              <a:gd name="connsiteX1" fmla="*/ 3141483 w 5491143"/>
              <a:gd name="connsiteY1" fmla="*/ 0 h 2414133"/>
              <a:gd name="connsiteX2" fmla="*/ 5491143 w 5491143"/>
              <a:gd name="connsiteY2" fmla="*/ 2414133 h 2414133"/>
              <a:gd name="connsiteX3" fmla="*/ 0 w 5491143"/>
              <a:gd name="connsiteY3" fmla="*/ 2405325 h 2414133"/>
              <a:gd name="connsiteX0" fmla="*/ 0 w 5516997"/>
              <a:gd name="connsiteY0" fmla="*/ 2405325 h 2405325"/>
              <a:gd name="connsiteX1" fmla="*/ 3141483 w 5516997"/>
              <a:gd name="connsiteY1" fmla="*/ 0 h 2405325"/>
              <a:gd name="connsiteX2" fmla="*/ 5516997 w 5516997"/>
              <a:gd name="connsiteY2" fmla="*/ 2395882 h 2405325"/>
              <a:gd name="connsiteX3" fmla="*/ 0 w 5516997"/>
              <a:gd name="connsiteY3" fmla="*/ 2405325 h 2405325"/>
              <a:gd name="connsiteX0" fmla="*/ 0 w 5524753"/>
              <a:gd name="connsiteY0" fmla="*/ 2413538 h 2413538"/>
              <a:gd name="connsiteX1" fmla="*/ 3149239 w 5524753"/>
              <a:gd name="connsiteY1" fmla="*/ 0 h 2413538"/>
              <a:gd name="connsiteX2" fmla="*/ 5524753 w 5524753"/>
              <a:gd name="connsiteY2" fmla="*/ 2395882 h 2413538"/>
              <a:gd name="connsiteX3" fmla="*/ 0 w 5524753"/>
              <a:gd name="connsiteY3" fmla="*/ 2413538 h 2413538"/>
              <a:gd name="connsiteX0" fmla="*/ 0 w 5435258"/>
              <a:gd name="connsiteY0" fmla="*/ 2413538 h 2413538"/>
              <a:gd name="connsiteX1" fmla="*/ 3149239 w 5435258"/>
              <a:gd name="connsiteY1" fmla="*/ 0 h 2413538"/>
              <a:gd name="connsiteX2" fmla="*/ 5435258 w 5435258"/>
              <a:gd name="connsiteY2" fmla="*/ 2370611 h 2413538"/>
              <a:gd name="connsiteX3" fmla="*/ 0 w 5435258"/>
              <a:gd name="connsiteY3" fmla="*/ 2413538 h 2413538"/>
              <a:gd name="connsiteX0" fmla="*/ 0 w 5314114"/>
              <a:gd name="connsiteY0" fmla="*/ 2413538 h 2413538"/>
              <a:gd name="connsiteX1" fmla="*/ 3149239 w 5314114"/>
              <a:gd name="connsiteY1" fmla="*/ 0 h 2413538"/>
              <a:gd name="connsiteX2" fmla="*/ 5314114 w 5314114"/>
              <a:gd name="connsiteY2" fmla="*/ 2257604 h 2413538"/>
              <a:gd name="connsiteX3" fmla="*/ 0 w 5314114"/>
              <a:gd name="connsiteY3" fmla="*/ 2413538 h 2413538"/>
              <a:gd name="connsiteX0" fmla="*/ 0 w 5206430"/>
              <a:gd name="connsiteY0" fmla="*/ 2277929 h 2277929"/>
              <a:gd name="connsiteX1" fmla="*/ 3041555 w 5206430"/>
              <a:gd name="connsiteY1" fmla="*/ 0 h 2277929"/>
              <a:gd name="connsiteX2" fmla="*/ 5206430 w 5206430"/>
              <a:gd name="connsiteY2" fmla="*/ 2257604 h 2277929"/>
              <a:gd name="connsiteX3" fmla="*/ 0 w 5206430"/>
              <a:gd name="connsiteY3" fmla="*/ 2277929 h 2277929"/>
              <a:gd name="connsiteX0" fmla="*/ 0 w 5219891"/>
              <a:gd name="connsiteY0" fmla="*/ 2277929 h 2277929"/>
              <a:gd name="connsiteX1" fmla="*/ 3041555 w 5219891"/>
              <a:gd name="connsiteY1" fmla="*/ 0 h 2277929"/>
              <a:gd name="connsiteX2" fmla="*/ 5219891 w 5219891"/>
              <a:gd name="connsiteY2" fmla="*/ 2257604 h 2277929"/>
              <a:gd name="connsiteX3" fmla="*/ 0 w 5219891"/>
              <a:gd name="connsiteY3" fmla="*/ 2277929 h 2277929"/>
              <a:gd name="connsiteX0" fmla="*/ 0 w 5246811"/>
              <a:gd name="connsiteY0" fmla="*/ 2277929 h 2277929"/>
              <a:gd name="connsiteX1" fmla="*/ 3041555 w 5246811"/>
              <a:gd name="connsiteY1" fmla="*/ 0 h 2277929"/>
              <a:gd name="connsiteX2" fmla="*/ 5246811 w 5246811"/>
              <a:gd name="connsiteY2" fmla="*/ 2257604 h 2277929"/>
              <a:gd name="connsiteX3" fmla="*/ 0 w 5246811"/>
              <a:gd name="connsiteY3" fmla="*/ 2277929 h 2277929"/>
              <a:gd name="connsiteX0" fmla="*/ 0 w 5246811"/>
              <a:gd name="connsiteY0" fmla="*/ 2284743 h 2284743"/>
              <a:gd name="connsiteX1" fmla="*/ 3041555 w 5246811"/>
              <a:gd name="connsiteY1" fmla="*/ 0 h 2284743"/>
              <a:gd name="connsiteX2" fmla="*/ 5246811 w 5246811"/>
              <a:gd name="connsiteY2" fmla="*/ 2264418 h 2284743"/>
              <a:gd name="connsiteX3" fmla="*/ 0 w 5246811"/>
              <a:gd name="connsiteY3" fmla="*/ 2284743 h 2284743"/>
              <a:gd name="connsiteX0" fmla="*/ 0 w 5222463"/>
              <a:gd name="connsiteY0" fmla="*/ 2298370 h 2298370"/>
              <a:gd name="connsiteX1" fmla="*/ 3017207 w 5222463"/>
              <a:gd name="connsiteY1" fmla="*/ 0 h 2298370"/>
              <a:gd name="connsiteX2" fmla="*/ 5222463 w 5222463"/>
              <a:gd name="connsiteY2" fmla="*/ 2264418 h 2298370"/>
              <a:gd name="connsiteX3" fmla="*/ 0 w 5222463"/>
              <a:gd name="connsiteY3" fmla="*/ 2298370 h 2298370"/>
              <a:gd name="connsiteX0" fmla="*/ 0 w 5198115"/>
              <a:gd name="connsiteY0" fmla="*/ 2298370 h 2298370"/>
              <a:gd name="connsiteX1" fmla="*/ 3017207 w 5198115"/>
              <a:gd name="connsiteY1" fmla="*/ 0 h 2298370"/>
              <a:gd name="connsiteX2" fmla="*/ 5198115 w 5198115"/>
              <a:gd name="connsiteY2" fmla="*/ 2271232 h 2298370"/>
              <a:gd name="connsiteX3" fmla="*/ 0 w 5198115"/>
              <a:gd name="connsiteY3" fmla="*/ 2298370 h 2298370"/>
              <a:gd name="connsiteX0" fmla="*/ 0 w 5198115"/>
              <a:gd name="connsiteY0" fmla="*/ 2293222 h 2293222"/>
              <a:gd name="connsiteX1" fmla="*/ 2998811 w 5198115"/>
              <a:gd name="connsiteY1" fmla="*/ 0 h 2293222"/>
              <a:gd name="connsiteX2" fmla="*/ 5198115 w 5198115"/>
              <a:gd name="connsiteY2" fmla="*/ 2266084 h 2293222"/>
              <a:gd name="connsiteX3" fmla="*/ 0 w 5198115"/>
              <a:gd name="connsiteY3" fmla="*/ 2293222 h 2293222"/>
              <a:gd name="connsiteX0" fmla="*/ 0 w 5198115"/>
              <a:gd name="connsiteY0" fmla="*/ 2293222 h 2293222"/>
              <a:gd name="connsiteX1" fmla="*/ 2998811 w 5198115"/>
              <a:gd name="connsiteY1" fmla="*/ 0 h 2293222"/>
              <a:gd name="connsiteX2" fmla="*/ 5198115 w 5198115"/>
              <a:gd name="connsiteY2" fmla="*/ 2255788 h 2293222"/>
              <a:gd name="connsiteX3" fmla="*/ 0 w 5198115"/>
              <a:gd name="connsiteY3" fmla="*/ 2293222 h 2293222"/>
              <a:gd name="connsiteX0" fmla="*/ 0 w 5179719"/>
              <a:gd name="connsiteY0" fmla="*/ 2293222 h 2293222"/>
              <a:gd name="connsiteX1" fmla="*/ 2998811 w 5179719"/>
              <a:gd name="connsiteY1" fmla="*/ 0 h 2293222"/>
              <a:gd name="connsiteX2" fmla="*/ 5179719 w 5179719"/>
              <a:gd name="connsiteY2" fmla="*/ 2255788 h 2293222"/>
              <a:gd name="connsiteX3" fmla="*/ 0 w 5179719"/>
              <a:gd name="connsiteY3" fmla="*/ 2293222 h 2293222"/>
              <a:gd name="connsiteX0" fmla="*/ 0 w 5210379"/>
              <a:gd name="connsiteY0" fmla="*/ 2293222 h 2293222"/>
              <a:gd name="connsiteX1" fmla="*/ 2998811 w 5210379"/>
              <a:gd name="connsiteY1" fmla="*/ 0 h 2293222"/>
              <a:gd name="connsiteX2" fmla="*/ 5210379 w 5210379"/>
              <a:gd name="connsiteY2" fmla="*/ 2255788 h 2293222"/>
              <a:gd name="connsiteX3" fmla="*/ 0 w 5210379"/>
              <a:gd name="connsiteY3" fmla="*/ 2293222 h 2293222"/>
              <a:gd name="connsiteX0" fmla="*/ 0 w 5165070"/>
              <a:gd name="connsiteY0" fmla="*/ 2254611 h 2255788"/>
              <a:gd name="connsiteX1" fmla="*/ 2953502 w 5165070"/>
              <a:gd name="connsiteY1" fmla="*/ 0 h 2255788"/>
              <a:gd name="connsiteX2" fmla="*/ 5165070 w 5165070"/>
              <a:gd name="connsiteY2" fmla="*/ 2255788 h 2255788"/>
              <a:gd name="connsiteX3" fmla="*/ 0 w 5165070"/>
              <a:gd name="connsiteY3" fmla="*/ 2254611 h 2255788"/>
              <a:gd name="connsiteX0" fmla="*/ 0 w 5138640"/>
              <a:gd name="connsiteY0" fmla="*/ 2241741 h 2255788"/>
              <a:gd name="connsiteX1" fmla="*/ 2927072 w 5138640"/>
              <a:gd name="connsiteY1" fmla="*/ 0 h 2255788"/>
              <a:gd name="connsiteX2" fmla="*/ 5138640 w 5138640"/>
              <a:gd name="connsiteY2" fmla="*/ 2255788 h 2255788"/>
              <a:gd name="connsiteX3" fmla="*/ 0 w 5138640"/>
              <a:gd name="connsiteY3" fmla="*/ 2241741 h 2255788"/>
              <a:gd name="connsiteX0" fmla="*/ 0 w 5149967"/>
              <a:gd name="connsiteY0" fmla="*/ 2251394 h 2255788"/>
              <a:gd name="connsiteX1" fmla="*/ 2938399 w 5149967"/>
              <a:gd name="connsiteY1" fmla="*/ 0 h 2255788"/>
              <a:gd name="connsiteX2" fmla="*/ 5149967 w 5149967"/>
              <a:gd name="connsiteY2" fmla="*/ 2255788 h 2255788"/>
              <a:gd name="connsiteX3" fmla="*/ 0 w 5149967"/>
              <a:gd name="connsiteY3" fmla="*/ 2251394 h 2255788"/>
              <a:gd name="connsiteX0" fmla="*/ 0 w 5161294"/>
              <a:gd name="connsiteY0" fmla="*/ 2251394 h 2255788"/>
              <a:gd name="connsiteX1" fmla="*/ 2949726 w 5161294"/>
              <a:gd name="connsiteY1" fmla="*/ 0 h 2255788"/>
              <a:gd name="connsiteX2" fmla="*/ 5161294 w 5161294"/>
              <a:gd name="connsiteY2" fmla="*/ 2255788 h 2255788"/>
              <a:gd name="connsiteX3" fmla="*/ 0 w 5161294"/>
              <a:gd name="connsiteY3" fmla="*/ 2251394 h 2255788"/>
              <a:gd name="connsiteX0" fmla="*/ 0 w 5161294"/>
              <a:gd name="connsiteY0" fmla="*/ 2246568 h 2250962"/>
              <a:gd name="connsiteX1" fmla="*/ 2955391 w 5161294"/>
              <a:gd name="connsiteY1" fmla="*/ 0 h 2250962"/>
              <a:gd name="connsiteX2" fmla="*/ 5161294 w 5161294"/>
              <a:gd name="connsiteY2" fmla="*/ 2250962 h 2250962"/>
              <a:gd name="connsiteX3" fmla="*/ 0 w 5161294"/>
              <a:gd name="connsiteY3" fmla="*/ 2246568 h 2250962"/>
              <a:gd name="connsiteX0" fmla="*/ 0 w 5149967"/>
              <a:gd name="connsiteY0" fmla="*/ 2246568 h 2246568"/>
              <a:gd name="connsiteX1" fmla="*/ 2955391 w 5149967"/>
              <a:gd name="connsiteY1" fmla="*/ 0 h 2246568"/>
              <a:gd name="connsiteX2" fmla="*/ 5149967 w 5149967"/>
              <a:gd name="connsiteY2" fmla="*/ 2243722 h 2246568"/>
              <a:gd name="connsiteX3" fmla="*/ 0 w 5149967"/>
              <a:gd name="connsiteY3" fmla="*/ 2246568 h 2246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9967" h="2246568">
                <a:moveTo>
                  <a:pt x="0" y="2246568"/>
                </a:moveTo>
                <a:lnTo>
                  <a:pt x="2955391" y="0"/>
                </a:lnTo>
                <a:lnTo>
                  <a:pt x="5149967" y="2243722"/>
                </a:lnTo>
                <a:lnTo>
                  <a:pt x="0" y="2246568"/>
                </a:lnTo>
                <a:close/>
              </a:path>
            </a:pathLst>
          </a:custGeom>
          <a:solidFill>
            <a:schemeClr val="bg1">
              <a:lumMod val="8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D" sz="1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11982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4ADB08-1EB9-42B6-AEE5-D0C769541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007F2-5ECD-4C9C-95FE-E9CAF6A0E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8F24D-21B0-455E-80A1-1C8917BE12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74F77-5866-4BE4-909E-22CFEB520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1C9B2-EA38-47FE-848F-FF32C8E84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7" name="MSIPCMContentMarking" descr="{&quot;HashCode&quot;:-2012720162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D9BD36F5-CDDD-89EC-1204-46A113C95B1B}"/>
              </a:ext>
            </a:extLst>
          </p:cNvPr>
          <p:cNvSpPr txBox="1"/>
          <p:nvPr userDrawn="1"/>
        </p:nvSpPr>
        <p:spPr>
          <a:xfrm>
            <a:off x="0" y="110000"/>
            <a:ext cx="103337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SG" sz="1000">
                <a:solidFill>
                  <a:srgbClr val="000000"/>
                </a:solidFill>
                <a:latin typeface="Calibri" panose="020F0502020204030204" pitchFamily="34" charset="0"/>
              </a:rPr>
              <a:t>Official (Open)</a:t>
            </a:r>
          </a:p>
        </p:txBody>
      </p:sp>
    </p:spTree>
    <p:extLst>
      <p:ext uri="{BB962C8B-B14F-4D97-AF65-F5344CB8AC3E}">
        <p14:creationId xmlns:p14="http://schemas.microsoft.com/office/powerpoint/2010/main" val="3516846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1" r:id="rId12"/>
    <p:sldLayoutId id="2147483693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hyperlink" Target="https://www.digitalocean.com/community/tutorials/understanding-ai-image-generation-models-tools-and-techniques" TargetMode="External"/><Relationship Id="rId3" Type="http://schemas.openxmlformats.org/officeDocument/2006/relationships/hyperlink" Target="https://jalammar.github.io/illustrated-stable-diffusion/" TargetMode="External"/><Relationship Id="rId4" Type="http://schemas.openxmlformats.org/officeDocument/2006/relationships/hyperlink" Target="https://medium.com/polo-club-of-data-science/stable-diffusion-explained-for-everyone-77b53f4f1c4" TargetMode="External"/><Relationship Id="rId5" Type="http://schemas.openxmlformats.org/officeDocument/2006/relationships/hyperlink" Target="https://poloclub.github.io/diffusion-explainer/" TargetMode="External"/><Relationship Id="rId6" Type="http://schemas.openxmlformats.org/officeDocument/2006/relationships/hyperlink" Target="https://opencv.org/vision-language-models/" TargetMode="External"/><Relationship Id="rId7" Type="http://schemas.openxmlformats.org/officeDocument/2006/relationships/hyperlink" Target="https://llava-vl.github.io/" TargetMode="External"/><Relationship Id="rId8" Type="http://schemas.openxmlformats.org/officeDocument/2006/relationships/hyperlink" Target="https://github.com/comfyanonymous/ComfyUI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E785A33-1C05-0A99-DEA3-DBBDF06F24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7451" y="1963253"/>
            <a:ext cx="6198982" cy="161359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SG" sz="4800" dirty="0"/>
              <a:t>LLM Image Application</a:t>
            </a:r>
          </a:p>
        </p:txBody>
      </p:sp>
    </p:spTree>
    <p:extLst>
      <p:ext uri="{BB962C8B-B14F-4D97-AF65-F5344CB8AC3E}">
        <p14:creationId xmlns:p14="http://schemas.microsoft.com/office/powerpoint/2010/main" val="3496168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F5240-7FB9-719D-31A3-9285D2702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71B1-6C5D-3259-B42A-793ADF2C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B9174-B1BD-7F76-160C-AB73246A18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212529"/>
                </a:solidFill>
                <a:effectLst/>
                <a:ea typeface="Roboto" panose="02000000000000000000" pitchFamily="2" charset="0"/>
                <a:cs typeface="Roboto" panose="02000000000000000000" pitchFamily="2" charset="0"/>
              </a:rPr>
              <a:t>Upon completion of this session, the learners should be able to: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ea typeface="Roboto" panose="02000000000000000000" pitchFamily="2" charset="0"/>
                <a:cs typeface="Roboto" panose="02000000000000000000" pitchFamily="2" charset="0"/>
              </a:rPr>
              <a:t>Understand the concept of text-to-image generation.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ea typeface="Roboto" panose="02000000000000000000" pitchFamily="2" charset="0"/>
                <a:cs typeface="Roboto" panose="02000000000000000000" pitchFamily="2" charset="0"/>
              </a:rPr>
              <a:t>Examine real-world applications of image generation.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ea typeface="Roboto" panose="02000000000000000000" pitchFamily="2" charset="0"/>
                <a:cs typeface="Roboto" panose="02000000000000000000" pitchFamily="2" charset="0"/>
              </a:rPr>
              <a:t>Develop an image generation prompt using an existing tool or API.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ea typeface="Roboto" panose="02000000000000000000" pitchFamily="2" charset="0"/>
                <a:cs typeface="Roboto" panose="02000000000000000000" pitchFamily="2" charset="0"/>
              </a:rPr>
              <a:t>Explain how a Vision Language Model (VLM) turns an image into a natural-language answer.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ea typeface="Roboto" panose="02000000000000000000" pitchFamily="2" charset="0"/>
                <a:cs typeface="Roboto" panose="02000000000000000000" pitchFamily="2" charset="0"/>
              </a:rPr>
              <a:t>Identify the components of a VLM and the tasks it supports (captioning, VQA, retrieval, reasoning).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ea typeface="Roboto" panose="02000000000000000000" pitchFamily="2" charset="0"/>
                <a:cs typeface="Roboto" panose="02000000000000000000" pitchFamily="2" charset="0"/>
              </a:rPr>
              <a:t>Discuss the limitations and ethical risks of VLMs in practical use.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1A2ED-BA44-7B19-97E4-E9DC855A7F0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 dirty="0"/>
              <a:t>ITI121 Generative AI - PDC in Generative AI &amp; Deep Learning</a:t>
            </a:r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BE5E6-4BAF-74BD-8A1D-C6CA7BB6F2D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5291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A922E-7DF8-4623-CF48-409DEC925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95" y="278092"/>
            <a:ext cx="11042511" cy="1078875"/>
          </a:xfrm>
        </p:spPr>
        <p:txBody>
          <a:bodyPr/>
          <a:lstStyle/>
          <a:p>
            <a:r>
              <a:rPr lang="en-US" dirty="0"/>
              <a:t>Introduction to Text-to-Image Generation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D6170-50E1-DE0A-CDAD-35E2A41504C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 dirty="0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FFDD3-A167-2972-4CAD-F250A2B5EF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3</a:t>
            </a:fld>
            <a:endParaRPr lang="en-SG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AE57F1-46D4-6E10-40D3-D1722E250F3A}"/>
              </a:ext>
            </a:extLst>
          </p:cNvPr>
          <p:cNvSpPr txBox="1"/>
          <p:nvPr/>
        </p:nvSpPr>
        <p:spPr>
          <a:xfrm>
            <a:off x="542018" y="1562095"/>
            <a:ext cx="962095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ea typeface="Noto Sans" pitchFamily="34" charset="-122"/>
                <a:cs typeface="Noto Sans" pitchFamily="34" charset="-120"/>
              </a:rPr>
              <a:t>Foundation: </a:t>
            </a:r>
            <a:r>
              <a:rPr lang="en-US" sz="2000" dirty="0">
                <a:ea typeface="Noto Sans" pitchFamily="34" charset="-122"/>
                <a:cs typeface="Noto Sans" pitchFamily="34" charset="-120"/>
              </a:rPr>
              <a:t>Built on large multimodal foundation models trained with billions of image–text pairs using techniques like diffusion models (e.g., Stable Diffusion, DALL·E) and attention-based alignment.</a:t>
            </a:r>
          </a:p>
          <a:p>
            <a:endParaRPr lang="en-US" sz="2000" dirty="0">
              <a:ea typeface="Noto Sans" pitchFamily="34" charset="-122"/>
              <a:cs typeface="Noto Sans" pitchFamily="34" charset="-120"/>
            </a:endParaRPr>
          </a:p>
          <a:p>
            <a:r>
              <a:rPr lang="en-US" sz="2000" b="1" dirty="0">
                <a:ea typeface="Noto Sans" pitchFamily="34" charset="-122"/>
                <a:cs typeface="Noto Sans" pitchFamily="34" charset="-120"/>
              </a:rPr>
              <a:t>Capabilities: </a:t>
            </a:r>
            <a:r>
              <a:rPr lang="en-US" sz="2000" dirty="0">
                <a:ea typeface="Noto Sans" panose="020B0502040504020204" pitchFamily="34" charset="0"/>
                <a:cs typeface="Noto Sans" panose="020B0502040504020204" pitchFamily="34" charset="0"/>
              </a:rPr>
              <a:t>Creates realistic visuals, edits existing images, generates variations, and adapts style or context.</a:t>
            </a:r>
          </a:p>
          <a:p>
            <a:endParaRPr lang="en-US" sz="2000" dirty="0"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US" sz="2000" dirty="0">
                <a:ea typeface="Noto Sans" pitchFamily="34" charset="-122"/>
                <a:cs typeface="Noto Sans" pitchFamily="34" charset="-120"/>
              </a:rPr>
              <a:t>Automated marketing content generation (ads, social media).</a:t>
            </a:r>
          </a:p>
          <a:p>
            <a:r>
              <a:rPr lang="en-US" sz="2000" dirty="0">
                <a:ea typeface="Noto Sans" pitchFamily="34" charset="-122"/>
                <a:cs typeface="Noto Sans" pitchFamily="34" charset="-120"/>
              </a:rPr>
              <a:t>Product design &amp; visualization (concept art, prototypes).</a:t>
            </a:r>
          </a:p>
          <a:p>
            <a:r>
              <a:rPr lang="en-US" sz="2000" dirty="0">
                <a:ea typeface="Noto Sans" pitchFamily="34" charset="-122"/>
                <a:cs typeface="Noto Sans" pitchFamily="34" charset="-120"/>
              </a:rPr>
              <a:t>E-commerce personalization (dynamic product imagery).</a:t>
            </a:r>
          </a:p>
          <a:p>
            <a:r>
              <a:rPr lang="en-US" sz="2000" dirty="0">
                <a:ea typeface="Noto Sans" pitchFamily="34" charset="-122"/>
                <a:cs typeface="Noto Sans" pitchFamily="34" charset="-120"/>
              </a:rPr>
              <a:t>Training data augmentation for CV/AI systems.</a:t>
            </a:r>
            <a:endParaRPr lang="en-US" sz="2000" dirty="0"/>
          </a:p>
          <a:p>
            <a:endParaRPr lang="en-US" sz="2000" dirty="0"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05325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66760-1D31-56CC-5CDC-C5A59EC80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Stable Diffusion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E39FD0-8669-321A-647F-8C03EE88A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343" y="1075653"/>
            <a:ext cx="8029314" cy="4481477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0085A-FD62-D793-AC2C-6F54235AD7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81343" y="5648570"/>
            <a:ext cx="8029314" cy="36512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altLang="en-US" dirty="0" sz="1050">
                <a:solidFill>
                  <a:srgbClr val="808080"/>
                </a:solidFill>
              </a:rPr>
              <a:t>https://poloclub.github.io/diffusion-explainer/</a:t>
            </a:r>
          </a:p>
          <a:p>
            <a:pPr marL="0" indent="0" algn="ctr">
              <a:buNone/>
            </a:pPr>
            <a:endParaRPr lang="en-S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D3C1F4-010D-5E3B-67EE-AB332576AFB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ECC05-6D2B-B12A-7317-5A6315BF16D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6684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77A9-B8B5-0B4E-0318-2A3C4981A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Noto Sans" pitchFamily="34" charset="-122"/>
                <a:cs typeface="Noto Sans" pitchFamily="34" charset="-120"/>
              </a:rPr>
              <a:t>Core Technologies Behind Text to Image Generation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0C01B5-D9E3-FDF0-8836-E400F129B1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 dirty="0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F12B5-7DC7-9E2D-040A-5338641890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5</a:t>
            </a:fld>
            <a:endParaRPr lang="en-SG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1AC459-F863-4069-886C-E860A1162B5F}"/>
              </a:ext>
            </a:extLst>
          </p:cNvPr>
          <p:cNvSpPr txBox="1"/>
          <p:nvPr/>
        </p:nvSpPr>
        <p:spPr>
          <a:xfrm>
            <a:off x="542018" y="1356967"/>
            <a:ext cx="1004219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Transformers (CLIP)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understand text prompts.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Latent Diffusion Models (DDPM/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UNet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generate images via denoising.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efficient latent representation.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Cross-Attention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align words to image regions.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CFG Guidance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control prompt adherence.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Large-scale training datasets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foundation knowledge of concepts.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D2428E-8CD7-FE25-2884-951313E31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546" y="3610000"/>
            <a:ext cx="5752908" cy="220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22956B-B212-3E36-7D09-DBF1DE67FF6A}"/>
              </a:ext>
            </a:extLst>
          </p:cNvPr>
          <p:cNvSpPr txBox="1"/>
          <p:nvPr/>
        </p:nvSpPr>
        <p:spPr>
          <a:xfrm>
            <a:off x="3219546" y="5892178"/>
            <a:ext cx="5752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solidFill>
                  <a:srgbClr val="808080"/>
                </a:solidFill>
              </a:rPr>
              <a:t>Image source: https://jalammar.github.io/illustrated-stable-diffusion/</a:t>
            </a:r>
          </a:p>
        </p:txBody>
      </p:sp>
    </p:spTree>
    <p:extLst>
      <p:ext uri="{BB962C8B-B14F-4D97-AF65-F5344CB8AC3E}">
        <p14:creationId xmlns:p14="http://schemas.microsoft.com/office/powerpoint/2010/main" val="1032818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0BBC-00C5-8DAE-CE31-A80BEB812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Transformer-based Language Models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60956F-2C63-9980-1EA5-F11B627A4A6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CDEAD-9CD4-1BC8-D61B-5DAC3430DD4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6</a:t>
            </a:fld>
            <a:endParaRPr lang="en-SG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F59EAF9-CE98-3E41-276B-E425A6640534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542018" y="1562095"/>
            <a:ext cx="898017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Text prompts must first be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understood and encoded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transformer architectures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(e.g.,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CLIP, BERT, GPT-style encoders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prompt is converted into embeddings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numerical vectors capturing semantic meaning.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“A cat wearing sunglasses”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→ [0.21, -0.45, ...]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These embeddings condition the image generation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400"/>
              </a:spcBef>
              <a:spcAft>
                <a:spcPts val="800"/>
              </a:spcAft>
              <a:buClrTx/>
              <a:buSzTx/>
              <a:buFontTx/>
              <a:buNone/>
              <a:tabLst/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technology: Transformers + Embedding spaces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5577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https://openai.com/index/clip/</a:t>
            </a:r>
          </a:p>
        </p:txBody>
      </p:sp>
    </p:spTree>
    <p:extLst>
      <p:ext uri="{BB962C8B-B14F-4D97-AF65-F5344CB8AC3E}">
        <p14:creationId xmlns:p14="http://schemas.microsoft.com/office/powerpoint/2010/main" val="4026579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AB563-301C-500C-0A8C-B821F3DA8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Models (Denoising Process)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A1307-70A3-2AB8-91A8-59B617F9A0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18" y="1179323"/>
            <a:ext cx="11042651" cy="4791607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heart of modern text-to-image generation</a:t>
            </a:r>
            <a:r>
              <a:rPr lang="en-US" sz="2400" dirty="0"/>
              <a:t>.</a:t>
            </a:r>
          </a:p>
          <a:p>
            <a:r>
              <a:rPr lang="en-US" sz="2400" dirty="0"/>
              <a:t>Core idea: Start from </a:t>
            </a:r>
            <a:r>
              <a:rPr lang="en-US" sz="2400" b="1" dirty="0"/>
              <a:t>random Gaussian noise</a:t>
            </a:r>
            <a:r>
              <a:rPr lang="en-US" sz="2400" dirty="0"/>
              <a:t>, and </a:t>
            </a:r>
            <a:r>
              <a:rPr lang="en-US" sz="2400" b="1" dirty="0"/>
              <a:t>iteratively denoise</a:t>
            </a:r>
            <a:r>
              <a:rPr lang="en-US" sz="2400" dirty="0"/>
              <a:t> it until a meaningful image forms.</a:t>
            </a:r>
          </a:p>
          <a:p>
            <a:r>
              <a:rPr lang="en-US" sz="2400" dirty="0"/>
              <a:t>The denoising is guided by the </a:t>
            </a:r>
            <a:r>
              <a:rPr lang="en-US" sz="2400" b="1" dirty="0"/>
              <a:t>text embeddings</a:t>
            </a:r>
            <a:r>
              <a:rPr lang="en-US" sz="2400" dirty="0"/>
              <a:t> (prompt).</a:t>
            </a:r>
          </a:p>
          <a:p>
            <a:r>
              <a:rPr lang="en-US" sz="2400" dirty="0"/>
              <a:t>Training:</a:t>
            </a:r>
          </a:p>
          <a:p>
            <a:pPr lvl="1"/>
            <a:r>
              <a:rPr lang="en-US" dirty="0">
                <a:latin typeface="+mn-lt"/>
              </a:rPr>
              <a:t>Add noise to training images step by step.</a:t>
            </a:r>
          </a:p>
          <a:p>
            <a:pPr lvl="1"/>
            <a:r>
              <a:rPr lang="en-US" dirty="0">
                <a:latin typeface="+mn-lt"/>
              </a:rPr>
              <a:t>Train a neural net (U-Net) to </a:t>
            </a:r>
            <a:r>
              <a:rPr lang="en-US" b="1" dirty="0">
                <a:latin typeface="+mn-lt"/>
              </a:rPr>
              <a:t>reverse this process</a:t>
            </a:r>
            <a:r>
              <a:rPr lang="en-US" dirty="0">
                <a:latin typeface="+mn-lt"/>
              </a:rPr>
              <a:t> → predict the “cleaner” image at each step.</a:t>
            </a:r>
          </a:p>
          <a:p>
            <a:r>
              <a:rPr lang="en-US" sz="2400" dirty="0"/>
              <a:t>Sampling:</a:t>
            </a:r>
          </a:p>
          <a:p>
            <a:pPr lvl="1"/>
            <a:r>
              <a:rPr lang="en-US" dirty="0">
                <a:latin typeface="+mn-lt"/>
              </a:rPr>
              <a:t>At inference, start from noise and run the denoising process backward (20–50 steps).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spcBef>
                <a:spcPts val="1600"/>
              </a:spcBef>
              <a:buNone/>
            </a:pPr>
            <a:r>
              <a:rPr lang="en-US" sz="2400" b="1" dirty="0"/>
              <a:t>Key technology:</a:t>
            </a:r>
            <a:r>
              <a:rPr lang="en-US" sz="2400" dirty="0"/>
              <a:t> </a:t>
            </a:r>
            <a:r>
              <a:rPr lang="en-US" sz="2400" b="1" dirty="0"/>
              <a:t>Denoising Diffusion Probabilistic Models (DDPM)</a:t>
            </a:r>
            <a:r>
              <a:rPr lang="en-US" sz="2400" dirty="0"/>
              <a:t> and improvements like </a:t>
            </a:r>
            <a:r>
              <a:rPr lang="en-US" sz="2400" b="1" dirty="0"/>
              <a:t>DDIM, DPM++ schedulers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DFEF6-3A25-1DE8-9E24-39C33CCE5CF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651B09-83C6-BE95-A703-F3970CF3463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36102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57494-0BAF-474B-BFF2-275E7D024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Latent Space Representation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C4D2B-4C4B-97B0-7827-ECCE2F22D3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18" y="1562095"/>
            <a:ext cx="11042651" cy="4791607"/>
          </a:xfrm>
        </p:spPr>
        <p:txBody>
          <a:bodyPr>
            <a:normAutofit/>
          </a:bodyPr>
          <a:lstStyle/>
          <a:p>
            <a:r>
              <a:rPr lang="en-US" sz="2000" dirty="0"/>
              <a:t>Instead of working on raw pixels (huge computational cost), models work in a </a:t>
            </a:r>
            <a:r>
              <a:rPr lang="en-US" sz="2000" b="1" dirty="0"/>
              <a:t>compressed latent space</a:t>
            </a:r>
            <a:r>
              <a:rPr lang="en-US" sz="2000" dirty="0"/>
              <a:t>.</a:t>
            </a:r>
          </a:p>
          <a:p>
            <a:r>
              <a:rPr lang="en-US" sz="2000" dirty="0"/>
              <a:t>A </a:t>
            </a:r>
            <a:r>
              <a:rPr lang="en-US" sz="2000" b="1" dirty="0"/>
              <a:t>Variational Autoencoder (VAE)</a:t>
            </a:r>
            <a:r>
              <a:rPr lang="en-US" sz="2000" dirty="0"/>
              <a:t> is trained to:</a:t>
            </a:r>
          </a:p>
          <a:p>
            <a:pPr lvl="1"/>
            <a:r>
              <a:rPr lang="en-US" sz="2000" b="1" dirty="0">
                <a:latin typeface="+mn-lt"/>
              </a:rPr>
              <a:t>Encode</a:t>
            </a:r>
            <a:r>
              <a:rPr lang="en-US" sz="2000" dirty="0">
                <a:latin typeface="+mn-lt"/>
              </a:rPr>
              <a:t> images → compact latent representation (like a compressed version).</a:t>
            </a:r>
          </a:p>
          <a:p>
            <a:pPr lvl="1"/>
            <a:r>
              <a:rPr lang="en-US" sz="2000" b="1" dirty="0">
                <a:latin typeface="+mn-lt"/>
              </a:rPr>
              <a:t>Decode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latents</a:t>
            </a:r>
            <a:r>
              <a:rPr lang="en-US" sz="2000" dirty="0">
                <a:latin typeface="+mn-lt"/>
              </a:rPr>
              <a:t> → back into high-resolution RGB images.</a:t>
            </a:r>
          </a:p>
          <a:p>
            <a:r>
              <a:rPr lang="en-US" sz="2000" dirty="0"/>
              <a:t>This drastically reduces training + inference costs.</a:t>
            </a:r>
          </a:p>
          <a:p>
            <a:r>
              <a:rPr lang="en-US" sz="2000" dirty="0"/>
              <a:t>Example:</a:t>
            </a:r>
          </a:p>
          <a:p>
            <a:pPr lvl="1"/>
            <a:r>
              <a:rPr lang="en-US" sz="2000" dirty="0">
                <a:latin typeface="+mn-lt"/>
              </a:rPr>
              <a:t>A 512×512 image may be represented as a 64×64 latent.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Key technology:</a:t>
            </a:r>
            <a:r>
              <a:rPr lang="en-US" sz="2000" dirty="0"/>
              <a:t> </a:t>
            </a:r>
            <a:r>
              <a:rPr lang="en-US" sz="2000" b="1" dirty="0"/>
              <a:t>Variational Autoencoders (VAE)</a:t>
            </a:r>
            <a:endParaRPr lang="en-US" sz="2000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06D5E5-9E34-8912-B720-AE2DAAF888B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2AD52-4E78-7203-1576-1A87DD0B89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0282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672EF-1A91-7FAC-2B4C-11CD784C9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Cross-Attention Mechanism (Text ↔ Image Alignment)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68EC4-F1F6-9B58-4D12-FC01ADCBBA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18" y="1562095"/>
            <a:ext cx="11042651" cy="4791607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Critical part of conditioning: How does the model “know” where to put objects described in the text?</a:t>
            </a:r>
          </a:p>
          <a:p>
            <a:pPr/>
            <a:r>
              <a:rPr lang="en-US" sz="2000" dirty="0"/>
              <a:t>Answer: </a:t>
            </a:r>
            <a:r>
              <a:rPr lang="en-US" sz="2000" b="1" dirty="0"/>
              <a:t>Cross-attention layers</a:t>
            </a:r>
            <a:r>
              <a:rPr lang="en-US" sz="2000" dirty="0"/>
              <a:t> in the U-Net.</a:t>
            </a:r>
          </a:p>
          <a:p>
            <a:pPr/>
            <a:r>
              <a:rPr lang="en-US" sz="2000" dirty="0"/>
              <a:t>At each denoising step, the model aligns </a:t>
            </a:r>
            <a:r>
              <a:rPr lang="en-US" sz="2000" b="1" dirty="0"/>
              <a:t>text embeddings with image features</a:t>
            </a:r>
            <a:r>
              <a:rPr lang="en-US" sz="2000" dirty="0"/>
              <a:t>.</a:t>
            </a:r>
          </a:p>
          <a:p>
            <a:pPr/>
            <a:r>
              <a:rPr lang="en-US" sz="2000" dirty="0"/>
              <a:t>Example:</a:t>
            </a:r>
          </a:p>
          <a:p>
            <a:pPr lvl="1"/>
            <a:r>
              <a:rPr lang="en-US" sz="2000" dirty="0">
                <a:latin typeface="+mn-lt"/>
              </a:rPr>
              <a:t>Text: “A red car on a snowy road”.</a:t>
            </a:r>
            <a:endParaRPr lang="en-US" sz="2000" dirty="0">
              <a:latin typeface="+mn-lt"/>
            </a:endParaRPr>
          </a:p>
          <a:p>
            <a:pPr lvl="1"/>
            <a:r>
              <a:rPr lang="en-US" sz="2000" dirty="0">
                <a:latin typeface="+mn-lt"/>
              </a:rPr>
              <a:t>Cross-attention ensures “red car” affects car pixels, “snowy road” affects background.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Key technology:</a:t>
            </a:r>
            <a:r>
              <a:rPr lang="en-US" sz="2000" dirty="0"/>
              <a:t> </a:t>
            </a:r>
            <a:r>
              <a:rPr lang="en-US" sz="2000" b="1" dirty="0"/>
              <a:t>Cross-attention layers inside diffusion models</a:t>
            </a:r>
            <a:endParaRPr lang="en-US" sz="2000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D92142-71B6-3187-EC28-C3B34B993AC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47128-BF42-1749-5878-8E4A80D198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41184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5783-D484-535E-785C-965B2CADC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U-Net Architecture (for Denoising)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254D9-1F0A-EAB6-9ABC-4D2B8F6C0B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000" dirty="0"/>
              <a:t>The neural backbone for diffusion models is usually a </a:t>
            </a:r>
            <a:r>
              <a:rPr lang="en-US" sz="2000" b="1" dirty="0"/>
              <a:t>U-Net CNN with attention layers</a:t>
            </a:r>
            <a:r>
              <a:rPr lang="en-US" sz="2000" dirty="0"/>
              <a:t>.</a:t>
            </a:r>
          </a:p>
          <a:p>
            <a:r>
              <a:rPr lang="en-US" sz="2000" dirty="0"/>
              <a:t>Why U-Net?</a:t>
            </a:r>
          </a:p>
          <a:p>
            <a:pPr lvl="1"/>
            <a:r>
              <a:rPr lang="en-US" sz="2000" dirty="0">
                <a:latin typeface="+mn-lt"/>
              </a:rPr>
              <a:t>It captures both </a:t>
            </a:r>
            <a:r>
              <a:rPr lang="en-US" sz="2000" b="1" dirty="0">
                <a:latin typeface="+mn-lt"/>
              </a:rPr>
              <a:t>global structure</a:t>
            </a:r>
            <a:r>
              <a:rPr lang="en-US" sz="2000" dirty="0">
                <a:latin typeface="+mn-lt"/>
              </a:rPr>
              <a:t> (overall composition) and </a:t>
            </a:r>
            <a:r>
              <a:rPr lang="en-US" sz="2000" b="1" dirty="0">
                <a:latin typeface="+mn-lt"/>
              </a:rPr>
              <a:t>local details</a:t>
            </a:r>
            <a:r>
              <a:rPr lang="en-US" sz="2000" dirty="0">
                <a:latin typeface="+mn-lt"/>
              </a:rPr>
              <a:t> (textures, edges).</a:t>
            </a:r>
          </a:p>
          <a:p>
            <a:pPr lvl="1"/>
            <a:r>
              <a:rPr lang="en-US" sz="2000" dirty="0">
                <a:latin typeface="+mn-lt"/>
              </a:rPr>
              <a:t>Encoder → reduces dimensions (extract features).</a:t>
            </a:r>
          </a:p>
          <a:p>
            <a:pPr lvl="1"/>
            <a:r>
              <a:rPr lang="en-US" sz="2000" dirty="0">
                <a:latin typeface="+mn-lt"/>
              </a:rPr>
              <a:t>Decoder → rebuilds details (refine image).</a:t>
            </a:r>
          </a:p>
          <a:p>
            <a:pPr lvl="1"/>
            <a:r>
              <a:rPr lang="en-US" sz="2000" dirty="0">
                <a:latin typeface="+mn-lt"/>
              </a:rPr>
              <a:t>Skip connections → preserve fine-grained info.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en-US" sz="2000" b="1" dirty="0"/>
              <a:t>Key technology:</a:t>
            </a:r>
            <a:r>
              <a:rPr lang="en-US" sz="2000" dirty="0"/>
              <a:t> </a:t>
            </a:r>
            <a:r>
              <a:rPr lang="en-US" sz="2000" b="1" dirty="0"/>
              <a:t>U-Net with attention blocks</a:t>
            </a:r>
            <a:endParaRPr lang="en-US" sz="2000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962677-6EDB-7968-771C-0F500199469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E5B748-9EE4-6523-4634-B9430A5514A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1244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94830-511F-292F-258D-B8C056E37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Guidance Mechanisms (Prompt Control)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BFC7A-1844-6CD1-9388-B19D2F6F40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000" dirty="0"/>
              <a:t>Diffusion models can generate arbitrary images, but guidance steers them toward the prompt.</a:t>
            </a:r>
          </a:p>
          <a:p>
            <a:r>
              <a:rPr lang="en-US" sz="2000" b="1" dirty="0"/>
              <a:t>Classifier-Free Guidance (CFG):</a:t>
            </a:r>
            <a:endParaRPr lang="en-US" sz="2000" dirty="0"/>
          </a:p>
          <a:p>
            <a:pPr lvl="1"/>
            <a:r>
              <a:rPr lang="en-US" sz="2000" dirty="0">
                <a:latin typeface="+mn-lt"/>
              </a:rPr>
              <a:t>Run the denoiser twice: once with prompt conditioning, once without.</a:t>
            </a:r>
          </a:p>
          <a:p>
            <a:pPr lvl="1"/>
            <a:r>
              <a:rPr lang="en-US" sz="2000" dirty="0">
                <a:latin typeface="+mn-lt"/>
              </a:rPr>
              <a:t>Combine results → pushes generation closer to the prompt meaning.</a:t>
            </a:r>
          </a:p>
          <a:p>
            <a:r>
              <a:rPr lang="en-US" sz="2000" dirty="0"/>
              <a:t>CFG Scale parameter controls creativity vs fidelity to text.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en-US" sz="2000" b="1" dirty="0"/>
              <a:t>Key technology:</a:t>
            </a:r>
            <a:r>
              <a:rPr lang="en-US" sz="2000" dirty="0"/>
              <a:t> </a:t>
            </a:r>
            <a:r>
              <a:rPr lang="en-US" sz="2000" b="1" dirty="0"/>
              <a:t>Classifier-Free Guidance (CFG)</a:t>
            </a:r>
            <a:endParaRPr lang="en-US" sz="2000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A3EE41-E45E-DA53-C9BB-9C46DF0D811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4EDE17-FABA-53EE-3EE6-0FA42DBA212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81296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4C667-004C-768A-AAB4-E063794B5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Data &amp; Foundation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635B9-D342-0669-6E5C-61DBE73B67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000" dirty="0"/>
              <a:t>These models are trained on </a:t>
            </a:r>
            <a:r>
              <a:rPr lang="en-US" sz="2000" b="1" dirty="0"/>
              <a:t>billions of text–image pairs</a:t>
            </a:r>
            <a:r>
              <a:rPr lang="en-US" sz="2000" dirty="0"/>
              <a:t> (e.g., LAION-5B dataset).</a:t>
            </a:r>
          </a:p>
          <a:p>
            <a:r>
              <a:rPr lang="en-US" sz="2000" dirty="0"/>
              <a:t>Models learn </a:t>
            </a:r>
            <a:r>
              <a:rPr lang="en-US" sz="2000" b="1" dirty="0"/>
              <a:t>text–image alignment</a:t>
            </a:r>
            <a:r>
              <a:rPr lang="en-US" sz="2000" dirty="0"/>
              <a:t> by correlating captions with images.</a:t>
            </a:r>
          </a:p>
          <a:p>
            <a:r>
              <a:rPr lang="en-US" sz="2000" dirty="0"/>
              <a:t>Foundation models like </a:t>
            </a:r>
            <a:r>
              <a:rPr lang="en-US" sz="2000" b="1" dirty="0"/>
              <a:t>Stable Diffusion</a:t>
            </a:r>
            <a:r>
              <a:rPr lang="en-US" sz="2000" dirty="0"/>
              <a:t> are </a:t>
            </a:r>
            <a:r>
              <a:rPr lang="en-US" sz="2000" b="1" dirty="0"/>
              <a:t>pretrained</a:t>
            </a:r>
            <a:r>
              <a:rPr lang="en-US" sz="2000" dirty="0"/>
              <a:t> and then fine-tuned (</a:t>
            </a:r>
            <a:r>
              <a:rPr lang="en-US" sz="2000" dirty="0" err="1"/>
              <a:t>LoRA</a:t>
            </a:r>
            <a:r>
              <a:rPr lang="en-US" sz="2000" dirty="0"/>
              <a:t>, </a:t>
            </a:r>
            <a:r>
              <a:rPr lang="en-US" sz="2000" dirty="0" err="1"/>
              <a:t>DreamBooth</a:t>
            </a:r>
            <a:r>
              <a:rPr lang="en-US" sz="2000" dirty="0"/>
              <a:t>) for custom styles or subjects.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en-US" sz="2000" b="1" dirty="0"/>
              <a:t>Key technology:</a:t>
            </a:r>
            <a:r>
              <a:rPr lang="en-US" sz="2000" dirty="0"/>
              <a:t> </a:t>
            </a:r>
            <a:r>
              <a:rPr lang="en-US" sz="2000" b="1" dirty="0"/>
              <a:t>Large-scale pretraining on text–image datasets</a:t>
            </a:r>
            <a:endParaRPr lang="en-US" sz="2000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5E5384-B131-878D-21EA-A70ADE79024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85F21-0E73-B62F-4E16-8EF742BD6C6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21047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0D3AB-E838-4A10-82BA-753C6A8F8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Pipeline (Simplified)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E3CD5-B6B8-1647-5D29-576C211A95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Prompt Encoding → Transformer (CLIP encoder) → text embeddings.</a:t>
            </a:r>
          </a:p>
          <a:p>
            <a:r>
              <a:rPr lang="en-US" sz="2000" dirty="0"/>
              <a:t>Noise Initialization → Gaussian noise latent.</a:t>
            </a:r>
          </a:p>
          <a:p>
            <a:r>
              <a:rPr lang="en-US" sz="2000" dirty="0"/>
              <a:t>Diffusion Process → U-Net + cross-attention denoises step by step.</a:t>
            </a:r>
          </a:p>
          <a:p>
            <a:r>
              <a:rPr lang="en-US" sz="2000" dirty="0"/>
              <a:t>CFG Guidance → steers toward text meaning.</a:t>
            </a:r>
          </a:p>
          <a:p>
            <a:r>
              <a:rPr lang="en-US" sz="2000" dirty="0"/>
              <a:t>VAE Decode → converts latent → pixel image.</a:t>
            </a:r>
          </a:p>
          <a:p>
            <a:r>
              <a:rPr lang="en-US" sz="2000" dirty="0"/>
              <a:t>Output Image → Final 512×512+ result.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D8057-1C47-AE98-206B-B2B92DD03E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8552C-1953-F47D-CF7B-9383D65A86D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49699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889EE-898D-DBF1-D62F-E8A51252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in the Real World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D3EED-CB7B-F10D-440A-F946210564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18" y="1562095"/>
            <a:ext cx="11042651" cy="4791607"/>
          </a:xfrm>
        </p:spPr>
        <p:txBody>
          <a:bodyPr/>
          <a:lstStyle/>
          <a:p>
            <a:pPr lvl="0"/>
            <a:r>
              <a:rPr lang="en-US" sz="2000" dirty="0"/>
              <a:t>Use cases:</a:t>
            </a:r>
          </a:p>
          <a:p>
            <a:pPr lvl="1"/>
            <a:r>
              <a:rPr lang="en-US" sz="2000" dirty="0">
                <a:latin typeface="+mn-lt"/>
              </a:rPr>
              <a:t>Advertising and marketing (e.g., Canva AI image generator).</a:t>
            </a:r>
          </a:p>
          <a:p>
            <a:pPr lvl="1"/>
            <a:r>
              <a:rPr lang="en-US" sz="2000" dirty="0">
                <a:latin typeface="+mn-lt"/>
              </a:rPr>
              <a:t>Game and animation design.</a:t>
            </a:r>
          </a:p>
          <a:p>
            <a:pPr lvl="1"/>
            <a:r>
              <a:rPr lang="en-US" sz="2000" dirty="0">
                <a:latin typeface="+mn-lt"/>
              </a:rPr>
              <a:t>Educational content and illustrations.</a:t>
            </a:r>
          </a:p>
          <a:p>
            <a:pPr lvl="1"/>
            <a:r>
              <a:rPr lang="en-US" sz="2000" dirty="0">
                <a:latin typeface="+mn-lt"/>
              </a:rPr>
              <a:t>Medical imaging augmentation.</a:t>
            </a:r>
          </a:p>
          <a:p>
            <a:pPr lvl="1"/>
            <a:r>
              <a:rPr lang="en-US" sz="2000" dirty="0">
                <a:latin typeface="+mn-lt"/>
              </a:rPr>
              <a:t>Virtual try-ons (fashion, glasses, furniture).</a:t>
            </a:r>
          </a:p>
          <a:p>
            <a:pPr lvl="0"/>
            <a:r>
              <a:rPr lang="en-US" sz="2000" dirty="0"/>
              <a:t>Case Study:</a:t>
            </a:r>
          </a:p>
          <a:p>
            <a:pPr lvl="1"/>
            <a:r>
              <a:rPr lang="en-US" sz="2000" dirty="0">
                <a:latin typeface="+mn-lt"/>
              </a:rPr>
              <a:t>Example: IKEA Place App + Generative AI for AR.</a:t>
            </a:r>
          </a:p>
          <a:p>
            <a:pPr lvl="1"/>
            <a:r>
              <a:rPr lang="en-US" sz="2000" dirty="0">
                <a:latin typeface="+mn-lt"/>
              </a:rPr>
              <a:t>Example: Using AI image generation in museums for reconstruction.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38A44-08BA-354F-B205-D0A19C05703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EF172B-CEA6-BADC-C75F-377236509CF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78130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570D0-CEE5-2C3C-0E89-2342278D2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Considerations &amp;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A7974-2E33-6BF0-480D-9BA744A4B4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sz="2000" dirty="0"/>
              <a:t>Deepfakes and misinformation.</a:t>
            </a:r>
          </a:p>
          <a:p>
            <a:pPr lvl="0"/>
            <a:r>
              <a:rPr lang="en-US" sz="2000" dirty="0"/>
              <a:t>Copyright and IP issues.</a:t>
            </a:r>
          </a:p>
          <a:p>
            <a:pPr lvl="0"/>
            <a:r>
              <a:rPr lang="en-US" sz="2000" dirty="0"/>
              <a:t>Bias in image generation.</a:t>
            </a:r>
          </a:p>
          <a:p>
            <a:pPr lvl="0"/>
            <a:r>
              <a:rPr lang="en-US" sz="2000" dirty="0"/>
              <a:t>Hallucination of non-existent elements.</a:t>
            </a:r>
          </a:p>
          <a:p>
            <a:pPr lvl="0"/>
            <a:r>
              <a:rPr lang="en-US" sz="2000" dirty="0"/>
              <a:t>How do we mitigate all of the above? Watermarking, content filters and prompt guidelines.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D0831-8886-CC02-2E47-80D4BC7EF15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EAF00-FD83-A8DC-235D-F96C81FBCA7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222A1-CAB4-531E-D2EE-955F64A5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150AC-8FBE-FE32-73FC-FBBA80B56B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18" y="1562095"/>
            <a:ext cx="11042651" cy="4791607"/>
          </a:xfrm>
        </p:spPr>
        <p:txBody>
          <a:bodyPr>
            <a:normAutofit/>
          </a:bodyPr>
          <a:lstStyle/>
          <a:p>
            <a:r>
              <a:rPr lang="en-US" sz="1600" dirty="0"/>
              <a:t>Rombach, R. et al. (2022). </a:t>
            </a:r>
            <a:r>
              <a:rPr lang="en-US" sz="1600" i="1" dirty="0"/>
              <a:t>High-Resolution Image Synthesis with Latent Diffusion Models </a:t>
            </a:r>
            <a:r>
              <a:rPr lang="en-US" sz="1600" dirty="0"/>
              <a:t>Paper</a:t>
            </a:r>
          </a:p>
          <a:p>
            <a:r>
              <a:rPr lang="en-US" sz="1600" dirty="0"/>
              <a:t>Radford, A. et al. (2021). </a:t>
            </a:r>
            <a:r>
              <a:rPr lang="en-US" sz="1600" i="1" dirty="0"/>
              <a:t>Learning Transferable Visual Models From Natural Language Supervision</a:t>
            </a:r>
            <a:br>
              <a:rPr lang="en-US" sz="2000" dirty="0"/>
            </a:br>
            <a:r>
              <a:rPr lang="en-US" sz="1600" dirty="0"/>
              <a:t>Paper</a:t>
            </a:r>
          </a:p>
          <a:p>
            <a:r>
              <a:rPr lang="en-SG" sz="1600" dirty="0">
                <a:hlinkClick r:id="rId8"/>
              </a:rPr>
              <a:t>https://github.com/comfyanonymous/ComfyUI</a:t>
            </a:r>
          </a:p>
          <a:p>
            <a:r>
              <a:rPr lang="en-SG" sz="1600" dirty="0">
                <a:hlinkClick r:id="rId2"/>
              </a:rPr>
              <a:t>https://www.digitalocean.com/community/tutorials/understanding-ai-image-generation-models-tools-and-techniques</a:t>
            </a:r>
            <a:endParaRPr lang="en-SG" sz="2000" dirty="0"/>
          </a:p>
          <a:p>
            <a:r>
              <a:rPr lang="en-SG" sz="1600" dirty="0">
                <a:hlinkClick r:id="rId3"/>
              </a:rPr>
              <a:t>https://jalammar.github.io/illustrated-stable-diffusion/</a:t>
            </a:r>
            <a:endParaRPr lang="en-SG" sz="2000" dirty="0"/>
          </a:p>
          <a:p>
            <a:r>
              <a:rPr lang="en-SG" sz="1600" dirty="0">
                <a:hlinkClick r:id="rId4"/>
              </a:rPr>
              <a:t>https://medium.com/polo-club-of-data-science/stable-diffusion-explained-for-everyone-77b53f4f1c4</a:t>
            </a:r>
            <a:endParaRPr lang="en-SG" sz="2000" dirty="0"/>
          </a:p>
          <a:p>
            <a:r>
              <a:rPr lang="en-SG" sz="1600">
                <a:hlinkClick r:id="rId5"/>
              </a:rPr>
              <a:t>https://poloclub.github.io/diffusion-explainer/</a:t>
            </a:r>
            <a:endParaRPr lang="en-SG" sz="2000"/>
          </a:p>
          <a:p>
            <a:r>
              <a:rPr lang="en-US" sz="1600" dirty="0"/>
              <a:t>OpenCV (2025). Vision Language Models. </a:t>
            </a:r>
            <a:r>
              <a:rPr sz="1600">
                <a:hlinkClick r:id="rId6"/>
              </a:rPr>
              <a:t>https://opencv.org/vision-language-models/</a:t>
            </a:r>
          </a:p>
          <a:p>
            <a:r>
              <a:rPr lang="en-US" sz="1600" dirty="0"/>
              <a:t>Liu, H. et al. (2023). Visual Instruction Tuning (LLaVA). </a:t>
            </a:r>
            <a:r>
              <a:rPr sz="1600">
                <a:hlinkClick r:id="rId7"/>
              </a:rPr>
              <a:t>https://llava-vl.github.io/</a:t>
            </a:r>
          </a:p>
          <a:p>
            <a:r>
              <a:rPr lang="en-US" sz="1600" dirty="0"/>
              <a:t>Alayrac, J-B. et al. (2022). Flamingo: a Visual Language Model for Few-Shot Learning</a:t>
            </a:r>
          </a:p>
          <a:p>
            <a:endParaRPr lang="en-SG" sz="2000" dirty="0"/>
          </a:p>
          <a:p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23A2C-B0B0-637F-1709-C3ECF194BA0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62F5A-251B-4E6A-11E7-41964510E3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7485149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Image Generation to Image Understanding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D8057-1C47-AE98-206B-B2B92DD03E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8552C-1953-F47D-CF7B-9383D65A86D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13</a:t>
            </a:fld>
            <a:endParaRPr lang="en-SG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4194"/>
                </a:solidFill>
                <a:latin typeface="Calibri"/>
              </a:rPr>
              <a:t>The second half of this lecture: Vision Language Models (VLMs)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4892040" cy="178308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E2B63"/>
                </a:solidFill>
                <a:latin typeface="Calibri"/>
              </a:rPr>
              <a:t>TEXT  →  IMAGE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Generative: a prompt goes in, pixels come out.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Diffusion, U-Net, cross-attention, CFG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56832" y="1874519"/>
            <a:ext cx="4892040" cy="1783080"/>
          </a:xfrm>
          <a:prstGeom prst="roundRect">
            <a:avLst>
              <a:gd name="adj" fmla="val 7000"/>
            </a:avLst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IMAGE  →  TEXT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Understanding: pixels go in, language comes out.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C9D7F0"/>
                </a:solidFill>
                <a:latin typeface="Calibri"/>
              </a:rPr>
              <a:t>Vision encoder, projector, decoder-only LLM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15000" y="2770632"/>
            <a:ext cx="822960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4114800"/>
            <a:ext cx="10908792" cy="96012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Why it matters:  </a:t>
            </a:r>
            <a:r>
              <a:rPr sz="1300" b="0">
                <a:solidFill>
                  <a:srgbClr val="262626"/>
                </a:solidFill>
                <a:latin typeface="Calibri"/>
              </a:rPr>
              <a:t>both directions share the same building blocks — a transformer, an embedding space, and billions of image–text pairs. A VLM can caption, check or critique what a generator produces, and its description can become the next prompt.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Vision Language Model (VLM)?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D8057-1C47-AE98-206B-B2B92DD03E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8552C-1953-F47D-CF7B-9383D65A86D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13</a:t>
            </a:fld>
            <a:endParaRPr lang="en-SG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8064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E2B63"/>
                </a:solidFill>
                <a:latin typeface="Calibri"/>
              </a:rPr>
              <a:t>A VLM is a single model that accepts an image and text together, and returns text.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It joins visual perception to natural language, so the model can describe what it sees and answer questions about it in the same conversation.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Classic computer vision labels objects (“cat”, “table”). A VLM explains the scene — what is happening, where, and why it matters.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It is built by connecting a vision encoder to a large language model, then training the pair on millions of aligned image–text examples.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1645920"/>
            <a:ext cx="4617720" cy="100584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66928" rIns="128016" tIns="82296" bIns="8229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SEE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A vision encoder (ViT) splits the image into patches and turns them into visual tokens.</a:t>
            </a:r>
          </a:p>
        </p:txBody>
      </p:sp>
      <p:sp>
        <p:nvSpPr>
          <p:cNvPr id="8" name="Oval 7"/>
          <p:cNvSpPr/>
          <p:nvPr/>
        </p:nvSpPr>
        <p:spPr>
          <a:xfrm>
            <a:off x="7086600" y="1956816"/>
            <a:ext cx="384048" cy="384048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82296" bIns="8229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31152" y="2880360"/>
            <a:ext cx="4617720" cy="100584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66928" rIns="128016" tIns="82296" bIns="8229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ALIGN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A small MLP projector maps those tokens into the language model’s embedding space.</a:t>
            </a:r>
          </a:p>
        </p:txBody>
      </p:sp>
      <p:sp>
        <p:nvSpPr>
          <p:cNvPr id="10" name="Oval 9"/>
          <p:cNvSpPr/>
          <p:nvPr/>
        </p:nvSpPr>
        <p:spPr>
          <a:xfrm>
            <a:off x="7086600" y="3191256"/>
            <a:ext cx="384048" cy="384048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82296" bIns="8229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31152" y="4114800"/>
            <a:ext cx="4617720" cy="100584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66928" rIns="128016" tIns="82296" bIns="8229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EXPLAIN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The decoder-only LLM reads image + text tokens and writes the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7086600" y="4425696"/>
            <a:ext cx="384048" cy="384048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82296" bIns="8229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Content adapted from: OpenCV — “Vision Language Models” (opencv.org/vision-language-models)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LLM vs Vision Language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D8057-1C47-AE98-206B-B2B92DD03E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8552C-1953-F47D-CF7B-9383D65A86D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13</a:t>
            </a:fld>
            <a:endParaRPr lang="en-SG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908792" cy="2834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0552"/>
                <a:gridCol w="4206240"/>
                <a:gridCol w="4572000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146304" marR="146304" marT="54864" marB="54864" anchor="ctr">
                    <a:solidFill>
                      <a:srgbClr val="1641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Traditional LLM</a:t>
                      </a:r>
                    </a:p>
                  </a:txBody>
                  <a:tcPr marL="146304" marR="146304" marT="54864" marB="54864" anchor="ctr">
                    <a:solidFill>
                      <a:srgbClr val="1641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Vision Language Model</a:t>
                      </a:r>
                    </a:p>
                  </a:txBody>
                  <a:tcPr marL="146304" marR="146304" marT="54864" marB="54864" anchor="ctr">
                    <a:solidFill>
                      <a:srgbClr val="16419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E2B63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Text only</a:t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Images and text, together</a:t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E2B63"/>
                          </a:solidFill>
                          <a:latin typeface="Calibri"/>
                        </a:rPr>
                        <a:t>Knowledge</a:t>
                      </a:r>
                    </a:p>
                  </a:txBody>
                  <a:tcPr marL="146304" marR="146304" marT="54864" marB="54864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Derived from text corpora</a:t>
                      </a:r>
                    </a:p>
                  </a:txBody>
                  <a:tcPr marL="146304" marR="146304" marT="54864" marB="54864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Grounded in text and visual data</a:t>
                      </a:r>
                    </a:p>
                  </a:txBody>
                  <a:tcPr marL="146304" marR="146304" marT="54864" marB="54864" anchor="ctr"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E2B63"/>
                          </a:solidFill>
                          <a:latin typeface="Calibri"/>
                        </a:rPr>
                        <a:t>Reasoning</a:t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Text-based</a:t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Multimodal — across vision and text</a:t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E2B63"/>
                          </a:solidFill>
                          <a:latin typeface="Calibri"/>
                        </a:rPr>
                        <a:t>Example task</a:t>
                      </a:r>
                    </a:p>
                  </a:txBody>
                  <a:tcPr marL="146304" marR="146304" marT="54864" marB="54864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Write a poem about a sunset</a:t>
                      </a:r>
                    </a:p>
                  </a:txBody>
                  <a:tcPr marL="146304" marR="146304" marT="54864" marB="54864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Describe what is in this photograph</a:t>
                      </a:r>
                    </a:p>
                  </a:txBody>
                  <a:tcPr marL="146304" marR="146304" marT="54864" marB="54864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89204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95959"/>
                </a:solidFill>
                <a:latin typeface="Calibri"/>
              </a:rPr>
              <a:t>A VLM does not replace an LLM — it is an LLM with eyes attached.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Content adapted from: OpenCV — “Vision Language Models” (opencv.org/vision-language-models)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Inside a VLM: End-to-End 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D8057-1C47-AE98-206B-B2B92DD03E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8552C-1953-F47D-CF7B-9383D65A86D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13</a:t>
            </a:fld>
            <a:endParaRPr lang="en-SG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600200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Image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photo / frame / scan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1600200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Text prompt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“What is happening here?”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691640"/>
            <a:ext cx="2103120" cy="9601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Image Encoder (ViT)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patches → visual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3200400"/>
            <a:ext cx="2103120" cy="9601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Tokenizer + Embedding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tokens → text vectors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691640"/>
            <a:ext cx="1965960" cy="9601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Vision–Language Projector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small MLP: image → text 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1965960" cy="2468880"/>
          </a:xfrm>
          <a:prstGeom prst="roundRect">
            <a:avLst>
              <a:gd name="adj" fmla="val 7000"/>
            </a:avLst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Shared Embedding Space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C9D7F0"/>
                </a:solidFill>
                <a:latin typeface="Calibri"/>
              </a:rPr>
              <a:t>one sequence of image + text tokens (+ positional encoding)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82912" y="1691640"/>
            <a:ext cx="1965960" cy="9601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Decoder-only LLM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generates text autoregressively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82912" y="3200400"/>
            <a:ext cx="1965960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Answer in words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“Four people share a meal…”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58568" y="2167128"/>
            <a:ext cx="265176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58568" y="3675887"/>
            <a:ext cx="265176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81728" y="2167128"/>
            <a:ext cx="265176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67728" y="2167128"/>
            <a:ext cx="265176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81728" y="3675887"/>
            <a:ext cx="2551176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53728" y="2167128"/>
            <a:ext cx="292608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561320" y="2688336"/>
            <a:ext cx="0" cy="475488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466344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Both modalities end up as vectors in one sequence — that is the whole trick. The LLM then attends jointly across image and text tokens.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Content adapted from: OpenCV — “Vision Language Models” (opencv.org/vision-language-models)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 at a Glance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D8057-1C47-AE98-206B-B2B92DD03E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8552C-1953-F47D-CF7B-9383D65A86D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13</a:t>
            </a:fld>
            <a:endParaRPr lang="en-SG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38144" cy="11887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Image Encoder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A Vision Transformer divides the image into patches and extracts features from each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91640"/>
            <a:ext cx="3438144" cy="11887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Vision–Language Projector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A small multilayer perceptron (MLP) that aligns image embeddings with text embeddings.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3" y="1691640"/>
            <a:ext cx="3438144" cy="11887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Tokenizer &amp; Embedding Layer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Converts the prompt into token IDs, then into dense semantic vectors.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72968"/>
            <a:ext cx="3438144" cy="11887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Positional Encoding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Adds spatial and sequential information so order and location are not lost.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3172968"/>
            <a:ext cx="3438144" cy="11887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Shared Embedding Space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Image and text tokens become one sequence, enabling joint attention across modalities.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3172968"/>
            <a:ext cx="3438144" cy="11887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Decoder-only LLM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Produces the answer token by token, conditioned on the full multimodal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Read them in order: the first four prepare the tokens, the last two do the thinking.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Content adapted from: OpenCV — “Vision Language Models” (opencv.org/vision-language-models)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VLMs Are Trained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D8057-1C47-AE98-206B-B2B92DD03E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8552C-1953-F47D-CF7B-9383D65A86D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13</a:t>
            </a:fld>
            <a:endParaRPr lang="en-SG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438144" cy="123444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0E2B63"/>
                </a:solidFill>
                <a:latin typeface="Calibri"/>
              </a:rPr>
              <a:t>1   Contrastive pre-training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Millions of image–text pairs teach the encoder which pictures and which captions belong together (CLIP-style).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38144" cy="123444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0E2B63"/>
                </a:solidFill>
                <a:latin typeface="Calibri"/>
              </a:rPr>
              <a:t>2   Alignment of modalities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The projector is trained so image embeddings land where the language model already understands meaning.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3" y="1645920"/>
            <a:ext cx="3438144" cy="123444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0E2B63"/>
                </a:solidFill>
                <a:latin typeface="Calibri"/>
              </a:rPr>
              <a:t>3   Instruction tuning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Curated question-and-answer data turns the pair into a conversational assistant that follows instructions.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2258568"/>
            <a:ext cx="201168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45552" y="2258568"/>
            <a:ext cx="201168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20040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B63"/>
                </a:solidFill>
                <a:latin typeface="Calibri"/>
              </a:rPr>
              <a:t>Datasets that make this possible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2532888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64194"/>
                </a:solidFill>
                <a:latin typeface="Calibri"/>
              </a:rPr>
              <a:t>LAION-5B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Calibri"/>
              </a:rPr>
              <a:t>5B+ image–text pairs,
multilingual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611880"/>
            <a:ext cx="2532888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64194"/>
                </a:solidFill>
                <a:latin typeface="Calibri"/>
              </a:rPr>
              <a:t>PMD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Calibri"/>
              </a:rPr>
              <a:t>~70M pairs from COCO and
Conceptual Captions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11880"/>
            <a:ext cx="2532888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64194"/>
                </a:solidFill>
                <a:latin typeface="Calibri"/>
              </a:rPr>
              <a:t>VQA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Calibri"/>
              </a:rPr>
              <a:t>200k+ images,
five questions each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3611880"/>
            <a:ext cx="2532888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64194"/>
                </a:solidFill>
                <a:latin typeface="Calibri"/>
              </a:rPr>
              <a:t>ImageNet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Calibri"/>
              </a:rPr>
              <a:t>14M+ labelled images,
WordNet hierarchy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Content adapted from: OpenCV — “Vision Language Models” (opencv.org/vision-language-models)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Vision Language Models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D8057-1C47-AE98-206B-B2B92DD03E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8552C-1953-F47D-CF7B-9383D65A86D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13</a:t>
            </a:fld>
            <a:endParaRPr lang="en-SG"/>
          </a:p>
        </p:txBody>
      </p:sp>
      <p:sp>
        <p:nvSpPr>
          <p:cNvPr id="6" name="Rectangle 5"/>
          <p:cNvSpPr/>
          <p:nvPr/>
        </p:nvSpPr>
        <p:spPr>
          <a:xfrm>
            <a:off x="868680" y="2999232"/>
            <a:ext cx="10469880" cy="27940"/>
          </a:xfrm>
          <a:prstGeom prst="rect">
            <a:avLst/>
          </a:prstGeom>
          <a:solidFill>
            <a:srgbClr val="C3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2551176" cy="1298448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CLIP   </a:t>
            </a:r>
            <a:r>
              <a:rPr sz="1300" b="0">
                <a:solidFill>
                  <a:srgbClr val="595959"/>
                </a:solidFill>
                <a:latin typeface="Calibri"/>
              </a:rPr>
              <a:t>2021 · OpenAI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Trained on internet image–text pairs to build a shared embedding space. Matches images to captions, but does not write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6524" y="2779776"/>
            <a:ext cx="20320" cy="118872"/>
          </a:xfrm>
          <a:prstGeom prst="rect">
            <a:avLst/>
          </a:prstGeom>
          <a:solidFill>
            <a:srgbClr val="C3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96795" y="2889504"/>
            <a:ext cx="237744" cy="237744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419856" y="3310128"/>
            <a:ext cx="2551176" cy="1298448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Flamingo   </a:t>
            </a:r>
            <a:r>
              <a:rPr sz="1300" b="0">
                <a:solidFill>
                  <a:srgbClr val="595959"/>
                </a:solidFill>
                <a:latin typeface="Calibri"/>
              </a:rPr>
              <a:t>2022 · DeepMind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Moves from matching to generating: produces free-form text about an image, with few-shot prompting.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6300" y="3127248"/>
            <a:ext cx="20320" cy="182880"/>
          </a:xfrm>
          <a:prstGeom prst="rect">
            <a:avLst/>
          </a:prstGeom>
          <a:solidFill>
            <a:srgbClr val="C3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6572" y="2889504"/>
            <a:ext cx="237744" cy="237744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199632" y="1481328"/>
            <a:ext cx="2551176" cy="1298448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LLaVA   </a:t>
            </a:r>
            <a:r>
              <a:rPr sz="1300" b="0">
                <a:solidFill>
                  <a:srgbClr val="595959"/>
                </a:solidFill>
                <a:latin typeface="Calibri"/>
              </a:rPr>
              <a:t>2023 · Open source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Connects a CLIP vision backbone to a strong LLM (Vicuna) through a simple fusion layer — real image conversations.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66076" y="2779776"/>
            <a:ext cx="20320" cy="118872"/>
          </a:xfrm>
          <a:prstGeom prst="rect">
            <a:avLst/>
          </a:prstGeom>
          <a:solidFill>
            <a:srgbClr val="C3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56348" y="2889504"/>
            <a:ext cx="237744" cy="237744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979408" y="3310128"/>
            <a:ext cx="2551176" cy="1298448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Today   </a:t>
            </a:r>
            <a:r>
              <a:rPr sz="1300" b="0">
                <a:solidFill>
                  <a:srgbClr val="595959"/>
                </a:solidFill>
                <a:latin typeface="Calibri"/>
              </a:rPr>
              <a:t>Multimodal assistants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GPT-4o, Gemini, Claude, Qwen-VL: image, text and often audio in one model, deployed at scale.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5852" y="3127248"/>
            <a:ext cx="20320" cy="182880"/>
          </a:xfrm>
          <a:prstGeom prst="rect">
            <a:avLst/>
          </a:prstGeom>
          <a:solidFill>
            <a:srgbClr val="C3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36124" y="2889504"/>
            <a:ext cx="237744" cy="237744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The trend: better alignment, larger language backbones and instruction data — not new image encoders.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9496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Content adapted from: OpenCV — “Vision Language Models” (opencv.org/vision-language-models)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VLMs Can Do: Core Tasks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D8057-1C47-AE98-206B-B2B92DD03E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8552C-1953-F47D-CF7B-9383D65A86D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13</a:t>
            </a:fld>
            <a:endParaRPr lang="en-SG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03520" cy="132588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B63"/>
                </a:solidFill>
                <a:latin typeface="Calibri"/>
              </a:rPr>
              <a:t>Image Captioning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Generate a description of the picture.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4194"/>
                </a:solidFill>
                <a:latin typeface="Calibri"/>
              </a:rPr>
              <a:t>Example:  </a:t>
            </a:r>
            <a:r>
              <a:rPr sz="1150" b="0">
                <a:solidFill>
                  <a:srgbClr val="595959"/>
                </a:solidFill>
                <a:latin typeface="Calibri"/>
              </a:rPr>
              <a:t>“A group of colleagues looking at a laptop in an office.”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691640"/>
            <a:ext cx="5303520" cy="132588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B63"/>
                </a:solidFill>
                <a:latin typeface="Calibri"/>
              </a:rPr>
              <a:t>Visual Question Answering (VQA)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Answer a specific question about the content.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4194"/>
                </a:solidFill>
                <a:latin typeface="Calibri"/>
              </a:rPr>
              <a:t>Example:  </a:t>
            </a:r>
            <a:r>
              <a:rPr sz="1150" b="0">
                <a:solidFill>
                  <a:srgbClr val="595959"/>
                </a:solidFill>
                <a:latin typeface="Calibri"/>
              </a:rPr>
              <a:t>“How many people are at the table?” → “Four.”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10128"/>
            <a:ext cx="5303520" cy="132588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B63"/>
                </a:solidFill>
                <a:latin typeface="Calibri"/>
              </a:rPr>
              <a:t>Image–Text Retrieval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Search a collection with an image, text, or both.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4194"/>
                </a:solidFill>
                <a:latin typeface="Calibri"/>
              </a:rPr>
              <a:t>Example:  </a:t>
            </a:r>
            <a:r>
              <a:rPr sz="1150" b="0">
                <a:solidFill>
                  <a:srgbClr val="595959"/>
                </a:solidFill>
                <a:latin typeface="Calibri"/>
              </a:rPr>
              <a:t>“Find the red chair that matches this photo.”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3310128"/>
            <a:ext cx="5303520" cy="132588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B63"/>
                </a:solidFill>
                <a:latin typeface="Calibri"/>
              </a:rPr>
              <a:t>Visual Reasoning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Interpret relationships and context, not just objects.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4194"/>
                </a:solidFill>
                <a:latin typeface="Calibri"/>
              </a:rPr>
              <a:t>Example:  </a:t>
            </a:r>
            <a:r>
              <a:rPr sz="1150" b="0">
                <a:solidFill>
                  <a:srgbClr val="595959"/>
                </a:solidFill>
                <a:latin typeface="Calibri"/>
              </a:rPr>
              <a:t>“Why might this person be smiling?”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Captioning and VQA are the demos; retrieval is the commercial workhorse.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Content adapted from: OpenCV — “Vision Language Models” (opencv.org/vision-language-models)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VLM Applications in the Real World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D8057-1C47-AE98-206B-B2B92DD03E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8552C-1953-F47D-CF7B-9383D65A86D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13</a:t>
            </a:fld>
            <a:endParaRPr lang="en-SG"/>
          </a:p>
        </p:txBody>
      </p:sp>
      <p:sp>
        <p:nvSpPr>
          <p:cNvPr id="6" name="Oval 5"/>
          <p:cNvSpPr/>
          <p:nvPr/>
        </p:nvSpPr>
        <p:spPr>
          <a:xfrm>
            <a:off x="640080" y="1755648"/>
            <a:ext cx="502920" cy="502920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82296" bIns="8229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09928"/>
            <a:ext cx="101772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B63"/>
                </a:solidFill>
                <a:latin typeface="Calibri"/>
              </a:rPr>
              <a:t>Accessibility  —  </a:t>
            </a:r>
            <a:r>
              <a:rPr sz="1400" b="0">
                <a:solidFill>
                  <a:srgbClr val="262626"/>
                </a:solidFill>
                <a:latin typeface="Calibri"/>
              </a:rPr>
              <a:t>Screen readers that describe images and screenshots aloud for visually impaired users.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68879"/>
            <a:ext cx="502920" cy="502920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82296" bIns="8229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101772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B63"/>
                </a:solidFill>
                <a:latin typeface="Calibri"/>
              </a:rPr>
              <a:t>Content organisation  —  </a:t>
            </a:r>
            <a:r>
              <a:rPr sz="1400" b="0">
                <a:solidFill>
                  <a:srgbClr val="262626"/>
                </a:solidFill>
                <a:latin typeface="Calibri"/>
              </a:rPr>
              <a:t>Auto-tagging, sorting and moderating large media libraries without manual labelling.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182112"/>
            <a:ext cx="502920" cy="502920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82296" bIns="8229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36392"/>
            <a:ext cx="101772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B63"/>
                </a:solidFill>
                <a:latin typeface="Calibri"/>
              </a:rPr>
              <a:t>E-commerce  —  </a:t>
            </a:r>
            <a:r>
              <a:rPr sz="1400" b="0">
                <a:solidFill>
                  <a:srgbClr val="262626"/>
                </a:solidFill>
                <a:latin typeface="Calibri"/>
              </a:rPr>
              <a:t>Product search and recommendation from a photo plus a few words of refinement.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95344"/>
            <a:ext cx="502920" cy="502920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82296" bIns="8229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49624"/>
            <a:ext cx="101772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B63"/>
                </a:solidFill>
                <a:latin typeface="Calibri"/>
              </a:rPr>
              <a:t>Multimodal search  —  </a:t>
            </a:r>
            <a:r>
              <a:rPr sz="1400" b="0">
                <a:solidFill>
                  <a:srgbClr val="262626"/>
                </a:solidFill>
                <a:latin typeface="Calibri"/>
              </a:rPr>
              <a:t>Search engines that combine a picture and a question in one query.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608576"/>
            <a:ext cx="502920" cy="502920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82296" bIns="8229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62856"/>
            <a:ext cx="101772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B63"/>
                </a:solidFill>
                <a:latin typeface="Calibri"/>
              </a:rPr>
              <a:t>Documentation support  —  </a:t>
            </a:r>
            <a:r>
              <a:rPr sz="1400" b="0">
                <a:solidFill>
                  <a:srgbClr val="262626"/>
                </a:solidFill>
                <a:latin typeface="Calibri"/>
              </a:rPr>
              <a:t>Drafting first-pass descriptions of diagrams, charts, forms and scanned documents.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Content adapted from: OpenCV — “Vision Language Models” (opencv.org/vision-language-models)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Challenges of VLMs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D8057-1C47-AE98-206B-B2B92DD03E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8552C-1953-F47D-CF7B-9383D65A86D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13</a:t>
            </a:fld>
            <a:endParaRPr lang="en-SG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03520" cy="96012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Model complexity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Two architectures in one make training, tuning and deployment harder.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691640"/>
            <a:ext cx="5303520" cy="96012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Bias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Incorrect patterns in the training data are memorised and repeated.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5303520" cy="96012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Limited understanding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Strong pattern recognition is not the same as true reasoning.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926080"/>
            <a:ext cx="5303520" cy="96012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Hallucination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The model can describe objects that are simply not in the image.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60520"/>
            <a:ext cx="5303520" cy="96012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Poor generalisation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Accuracy drops on out-of-distribution or unseen material.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4160520"/>
            <a:ext cx="5303520" cy="96012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Computational cost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Substantial resources are needed to train and to serve.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94960"/>
            <a:ext cx="10908792" cy="658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06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30613"/>
                </a:solidFill>
                <a:latin typeface="Calibri"/>
              </a:rPr>
              <a:t>Ethics:  </a:t>
            </a:r>
            <a:r>
              <a:rPr sz="1250" b="0">
                <a:solidFill>
                  <a:srgbClr val="262626"/>
                </a:solidFill>
                <a:latin typeface="Calibri"/>
              </a:rPr>
              <a:t>training images are often collected without informed consent, and a confident wrong answer is still wrong — keep a human in the loop for anything high-stakes.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Together: Generation + Understanding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D8057-1C47-AE98-206B-B2B92DD03E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8552C-1953-F47D-CF7B-9383D65A86D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13</a:t>
            </a:fld>
            <a:endParaRPr lang="en-SG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Prompt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“a cat wearing sunglasses”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8144" y="1874519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Diffusion model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text → image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874519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Generated image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pixels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34272" y="1874519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VLM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C9D7F0"/>
                </a:solidFill>
                <a:latin typeface="Calibri"/>
              </a:rPr>
              <a:t>image → 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82112" y="2331720"/>
            <a:ext cx="219456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80176" y="2331720"/>
            <a:ext cx="219456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78240" y="2331720"/>
            <a:ext cx="219456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38144" y="3108960"/>
            <a:ext cx="8110727" cy="566928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E2B63"/>
                </a:solidFill>
                <a:latin typeface="Calibri"/>
              </a:rPr>
              <a:t>Caption / critique feeds back — “the sunglasses are missing” → refine the prompt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87000" y="2825496"/>
            <a:ext cx="0" cy="246888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892807" y="3392424"/>
            <a:ext cx="1508761" cy="0"/>
          </a:xfrm>
          <a:prstGeom prst="line">
            <a:avLst/>
          </a:prstGeom>
          <a:ln w="22225">
            <a:solidFill>
              <a:srgbClr val="164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892807" y="2843784"/>
            <a:ext cx="0" cy="54864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023360"/>
            <a:ext cx="1090879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E2B63"/>
                </a:solidFill>
                <a:latin typeface="Calibri"/>
              </a:rPr>
              <a:t>Three things to take 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4194"/>
                </a:solidFill>
                <a:latin typeface="Calibri"/>
              </a:rPr>
              <a:t>•   </a:t>
            </a:r>
            <a:r>
              <a:rPr sz="1300" b="0">
                <a:solidFill>
                  <a:srgbClr val="262626"/>
                </a:solidFill>
                <a:latin typeface="Calibri"/>
              </a:rPr>
              <a:t>Generation and understanding are the same toolkit pointed in opposite directions.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4194"/>
                </a:solidFill>
                <a:latin typeface="Calibri"/>
              </a:rPr>
              <a:t>•   </a:t>
            </a:r>
            <a:r>
              <a:rPr sz="1300" b="0">
                <a:solidFill>
                  <a:srgbClr val="262626"/>
                </a:solidFill>
                <a:latin typeface="Calibri"/>
              </a:rPr>
              <a:t>A VLM’s answer is only as good as its alignment — fluent text can still be wrong.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4194"/>
                </a:solidFill>
                <a:latin typeface="Calibri"/>
              </a:rPr>
              <a:t>•   </a:t>
            </a:r>
            <a:r>
              <a:rPr sz="1300" b="0">
                <a:solidFill>
                  <a:srgbClr val="262626"/>
                </a:solidFill>
                <a:latin typeface="Calibri"/>
              </a:rPr>
              <a:t>Evaluate with your own images before trusting a VLM in a workflow.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Content adapted from: OpenCV — “Vision Language Models” (opencv.org/vision-language-models)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EN 129(23) A19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E6AFF6A4F3FF49931B55B041F99EFA" ma:contentTypeVersion="23" ma:contentTypeDescription="Create a new document." ma:contentTypeScope="" ma:versionID="61a0eef3450023d494e2ceffcbf7e3df">
  <xsd:schema xmlns:xsd="http://www.w3.org/2001/XMLSchema" xmlns:xs="http://www.w3.org/2001/XMLSchema" xmlns:p="http://schemas.microsoft.com/office/2006/metadata/properties" xmlns:ns2="f64e7450-eb76-4305-9aaa-c7c2fda4733e" xmlns:ns3="1483bdb4-0a8f-43d2-a24f-e17275a3121b" xmlns:ns4="cdc4170c-4545-48f7-871b-33920ecd5df3" targetNamespace="http://schemas.microsoft.com/office/2006/metadata/properties" ma:root="true" ma:fieldsID="dcf00dde415673dc76d9a86cc65b0522" ns2:_="" ns3:_="" ns4:_="">
    <xsd:import namespace="f64e7450-eb76-4305-9aaa-c7c2fda4733e"/>
    <xsd:import namespace="1483bdb4-0a8f-43d2-a24f-e17275a3121b"/>
    <xsd:import namespace="cdc4170c-4545-48f7-871b-33920ecd5d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SharedWithUsers" minOccurs="0"/>
                <xsd:element ref="ns2:Owner" minOccurs="0"/>
                <xsd:element ref="ns4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e7450-eb76-4305-9aaa-c7c2fda473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58e8660-d7f0-40dc-9355-39c17cfe3e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SharedWithUsers" ma:index="19" nillable="true" ma:displayName="Shared With" ma:list="UserInfo" ma:SearchPeopleOnly="false" ma:internalName="SharedWithUse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Owner" ma:index="20" nillable="true" ma:displayName="Owner" ma:internalName="Owner" ma:readOnly="false">
      <xsd:simpleType>
        <xsd:restriction base="dms:Text">
          <xsd:maxLength value="255"/>
        </xsd:restriction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83bdb4-0a8f-43d2-a24f-e17275a3121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07bdc7dd-b19c-4daa-ac60-4cc2365c7a3f}" ma:internalName="TaxCatchAll" ma:showField="CatchAllData" ma:web="1483bdb4-0a8f-43d2-a24f-e17275a312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c4170c-4545-48f7-871b-33920ecd5df3" elementFormDefault="qualified">
    <xsd:import namespace="http://schemas.microsoft.com/office/2006/documentManagement/types"/>
    <xsd:import namespace="http://schemas.microsoft.com/office/infopath/2007/PartnerControls"/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483bdb4-0a8f-43d2-a24f-e17275a3121b" xsi:nil="true"/>
    <SharedWithUsers xmlns="f64e7450-eb76-4305-9aaa-c7c2fda4733e">
      <UserInfo>
        <DisplayName/>
        <AccountId xsi:nil="true"/>
        <AccountType/>
      </UserInfo>
    </SharedWithUsers>
    <lcf76f155ced4ddcb4097134ff3c332f xmlns="f64e7450-eb76-4305-9aaa-c7c2fda4733e">
      <Terms xmlns="http://schemas.microsoft.com/office/infopath/2007/PartnerControls"/>
    </lcf76f155ced4ddcb4097134ff3c332f>
    <Owner xmlns="f64e7450-eb76-4305-9aaa-c7c2fda4733e" xsi:nil="true"/>
  </documentManagement>
</p:properties>
</file>

<file path=customXml/itemProps1.xml><?xml version="1.0" encoding="utf-8"?>
<ds:datastoreItem xmlns:ds="http://schemas.openxmlformats.org/officeDocument/2006/customXml" ds:itemID="{BA923E17-E709-4E48-9BD1-C688FFB5E7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4e7450-eb76-4305-9aaa-c7c2fda4733e"/>
    <ds:schemaRef ds:uri="1483bdb4-0a8f-43d2-a24f-e17275a3121b"/>
    <ds:schemaRef ds:uri="cdc4170c-4545-48f7-871b-33920ecd5df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0EE154-A736-456D-A3E2-2774536219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4823A8-D13E-443D-AF76-75DA2E9EFDDD}">
  <ds:schemaRefs>
    <ds:schemaRef ds:uri="http://schemas.microsoft.com/office/2006/metadata/properties"/>
    <ds:schemaRef ds:uri="http://schemas.microsoft.com/office/infopath/2007/PartnerControls"/>
    <ds:schemaRef ds:uri="1483bdb4-0a8f-43d2-a24f-e17275a3121b"/>
    <ds:schemaRef ds:uri="f64e7450-eb76-4305-9aaa-c7c2fda4733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SEN 129(23) A19</Template>
  <TotalTime>11653</TotalTime>
  <Words>1228</Words>
  <Application>Microsoft Office PowerPoint</Application>
  <PresentationFormat>Widescreen</PresentationFormat>
  <Paragraphs>148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Arvo</vt:lpstr>
      <vt:lpstr>Aptos</vt:lpstr>
      <vt:lpstr>Arial</vt:lpstr>
      <vt:lpstr>Calibri</vt:lpstr>
      <vt:lpstr>Calibri Light</vt:lpstr>
      <vt:lpstr>Noto Sans</vt:lpstr>
      <vt:lpstr>Roboto</vt:lpstr>
      <vt:lpstr>SEN 129(23) A19</vt:lpstr>
      <vt:lpstr>PowerPoint Presentation</vt:lpstr>
      <vt:lpstr>Learning Outcomes</vt:lpstr>
      <vt:lpstr>Introduction to Text to Image Generation?</vt:lpstr>
      <vt:lpstr>Stable Diffusion Model</vt:lpstr>
      <vt:lpstr>Core Technologies Behind Text to Image Generation</vt:lpstr>
      <vt:lpstr>Transformer-based Language Models</vt:lpstr>
      <vt:lpstr>Diffusion Models (Denoising Process)</vt:lpstr>
      <vt:lpstr>Latent Space Representation</vt:lpstr>
      <vt:lpstr>Cross-Attention Mechanism (Text ↔ Image Alignment)</vt:lpstr>
      <vt:lpstr>U-Net Architecture (for Denoising)</vt:lpstr>
      <vt:lpstr>Guidance Mechanisms (Prompt Control)</vt:lpstr>
      <vt:lpstr>Training Data &amp; Foundation Models</vt:lpstr>
      <vt:lpstr>End-to-End Pipeline (Simplified)</vt:lpstr>
      <vt:lpstr>Applications in the Real World </vt:lpstr>
      <vt:lpstr>Ethical Considerations &amp; Limitations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</dc:title>
  <dc:creator>Kheng Kok Mar</dc:creator>
  <cp:lastModifiedBy>Chee Hong WEE (NYP)</cp:lastModifiedBy>
  <cp:revision>46</cp:revision>
  <dcterms:created xsi:type="dcterms:W3CDTF">2023-04-05T14:55:09Z</dcterms:created>
  <dcterms:modified xsi:type="dcterms:W3CDTF">2025-12-03T02:21:03Z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0x0101009FE6AFF6A4F3FF49931B55B041F99EFA</vt:lpwstr>
  </property>
  <property fmtid="{D5CDD505-2E9C-101B-9397-08002B2CF9AE}" pid="3" name="MSIP_Label_babe128f-e2ab-4b18-9c62-301caee5e80a_Enabled">
    <vt:lpwstr>true</vt:lpwstr>
  </property>
  <property fmtid="{D5CDD505-2E9C-101B-9397-08002B2CF9AE}" pid="4" name="MSIP_Label_babe128f-e2ab-4b18-9c62-301caee5e80a_SetDate">
    <vt:lpwstr>2023-05-30T04:02:35Z</vt:lpwstr>
  </property>
  <property fmtid="{D5CDD505-2E9C-101B-9397-08002B2CF9AE}" pid="5" name="MSIP_Label_babe128f-e2ab-4b18-9c62-301caee5e80a_Method">
    <vt:lpwstr>Privileged</vt:lpwstr>
  </property>
  <property fmtid="{D5CDD505-2E9C-101B-9397-08002B2CF9AE}" pid="6" name="MSIP_Label_babe128f-e2ab-4b18-9c62-301caee5e80a_Name">
    <vt:lpwstr>OFFICIAL [OPEN]</vt:lpwstr>
  </property>
  <property fmtid="{D5CDD505-2E9C-101B-9397-08002B2CF9AE}" pid="7" name="MSIP_Label_babe128f-e2ab-4b18-9c62-301caee5e80a_SiteId">
    <vt:lpwstr>243ebaed-00d0-4690-a7dc-75893b0d9f98</vt:lpwstr>
  </property>
  <property fmtid="{D5CDD505-2E9C-101B-9397-08002B2CF9AE}" pid="8" name="MSIP_Label_babe128f-e2ab-4b18-9c62-301caee5e80a_ActionId">
    <vt:lpwstr>3c58ffe5-4c8c-497d-b23e-0c1208da03ba</vt:lpwstr>
  </property>
  <property fmtid="{D5CDD505-2E9C-101B-9397-08002B2CF9AE}" pid="9" name="MSIP_Label_babe128f-e2ab-4b18-9c62-301caee5e80a_ContentBits">
    <vt:lpwstr>1</vt:lpwstr>
  </property>
  <property fmtid="{D5CDD505-2E9C-101B-9397-08002B2CF9AE}" pid="10" name="MediaServiceImageTags">
    <vt:lpwstr/>
  </property>
</Properties>
</file>