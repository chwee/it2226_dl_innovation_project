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568"/>
                </a:solidFill>
                <a:latin typeface="Arial"/>
              </a:defRPr>
            </a:pPr>
            <a:r>
              <a:rPr sz="1100" b="0" i="0" u="none" strike="noStrike">
                <a:solidFill>
                  <a:srgbClr val="4A5568"/>
                </a:solidFill>
                <a:latin typeface="Arial"/>
              </a:rPr>
              <a:t>p50 Inference Latency (ms, batch=1, T4 GPU)</a:t>
            </a:r>
          </a:p>
        </c:rich>
      </c:tx>
      <c:layout/>
      <c:overlay val="0"/>
    </c:title>
    <c:autoTitleDeleted val="0"/>
    <c:plotArea>
      <c:layout/>
      <c:barChart>
        <c:barDir val="col"/>
        <c:grouping val="clustered"/>
        <c:varyColors val="0"/>
        <c:ser>
          <c:idx val="0"/>
          <c:order val="0"/>
          <c:tx>
            <c:strRef>
              <c:f>Sheet1!$B$1</c:f>
              <c:strCache>
                <c:ptCount val="1"/>
                <c:pt idx="0">
                  <c:v>p50 Latency (ms)</c:v>
                </c:pt>
              </c:strCache>
            </c:strRef>
          </c:tx>
          <c:spPr>
            <a:solidFill>
              <a:srgbClr val="2B4C7E"/>
            </a:solidFill>
            <a:effectLst/>
          </c:spPr>
          <c:invertIfNegative val="0"/>
          <c:dLbls>
            <c:numFmt formatCode="#,##0" sourceLinked="0"/>
            <c:txPr>
              <a:bodyPr/>
              <a:lstStyle/>
              <a:p>
                <a:pPr>
                  <a:defRPr b="0" i="0" strike="noStrike" sz="1200" u="none">
                    <a:solidFill>
                      <a:srgbClr val="1C2B3A"/>
                    </a:solidFill>
                    <a:latin typeface="Arial"/>
                  </a:defRPr>
                </a:pPr>
              </a:p>
            </c:txPr>
            <c:showLegendKey val="0"/>
            <c:showVal val="1"/>
            <c:showCatName val="0"/>
            <c:showSerName val="0"/>
            <c:showPercent val="0"/>
            <c:showBubbleSize val="0"/>
            <c:showLeaderLines val="0"/>
          </c:dLbls>
          <c:dPt>
            <c:idx val="0"/>
            <c:invertIfNegative val="0"/>
            <c:bubble3D val="0"/>
            <c:spPr>
              <a:solidFill>
                <a:srgbClr val="2B4C7E"/>
              </a:solidFill>
              <a:effectLst/>
            </c:spPr>
          </c:dPt>
          <c:dPt>
            <c:idx val="1"/>
            <c:invertIfNegative val="0"/>
            <c:bubble3D val="0"/>
            <c:spPr>
              <a:solidFill>
                <a:srgbClr val="2F855A"/>
              </a:solidFill>
              <a:effectLst/>
            </c:spPr>
          </c:dPt>
          <c:dPt>
            <c:idx val="2"/>
            <c:invertIfNegative val="0"/>
            <c:bubble3D val="0"/>
            <c:spPr>
              <a:solidFill>
                <a:srgbClr val="00BFA5"/>
              </a:solidFill>
              <a:effectLst/>
            </c:spPr>
          </c:dPt>
          <c:dPt>
            <c:idx val="3"/>
            <c:invertIfNegative val="0"/>
            <c:bubble3D val="0"/>
            <c:spPr>
              <a:solidFill>
                <a:srgbClr val="6B46C1"/>
              </a:solidFill>
              <a:effectLst/>
            </c:spPr>
          </c:dPt>
          <c:dPt>
            <c:idx val="4"/>
            <c:invertIfNegative val="0"/>
            <c:bubble3D val="0"/>
            <c:spPr>
              <a:solidFill>
                <a:srgbClr val="F59E0B"/>
              </a:solidFill>
              <a:effectLst/>
            </c:spPr>
          </c:dPt>
          <c:cat>
            <c:multiLvlStrRef>
              <c:f>Sheet1!$A$2:$A$6</c:f>
              <c:multiLvlStrCache>
                <c:ptCount val="5"/>
                <c:lvl>
                  <c:pt idx="0">
                    <c:v>FP32 Baseline</c:v>
                  </c:pt>
                  <c:pt idx="1">
                    <c:v>FP32 + Compiled</c:v>
                  </c:pt>
                  <c:pt idx="2">
                    <c:v>INT8 PTQ</c:v>
                  </c:pt>
                  <c:pt idx="3">
                    <c:v>INT8 QAT</c:v>
                  </c:pt>
                  <c:pt idx="4">
                    <c:v>Distilled + INT8</c:v>
                  </c:pt>
                </c:lvl>
              </c:multiLvlStrCache>
            </c:multiLvlStrRef>
          </c:cat>
          <c:val>
            <c:numRef>
              <c:f>Sheet1!$B$2:$B$6</c:f>
              <c:numCache>
                <c:formatCode>General</c:formatCode>
                <c:ptCount val="5"/>
                <c:pt idx="0">
                  <c:v>18</c:v>
                </c:pt>
                <c:pt idx="1">
                  <c:v>9</c:v>
                </c:pt>
                <c:pt idx="2">
                  <c:v>7</c:v>
                </c:pt>
                <c:pt idx="3">
                  <c:v>6</c:v>
                </c:pt>
                <c:pt idx="4">
                  <c:v>4</c:v>
                </c:pt>
              </c:numCache>
            </c:numRef>
          </c:val>
        </c:ser>
        <c:dLbls>
          <c:numFmt formatCode="#,##0" sourceLinked="0"/>
          <c:txPr>
            <a:bodyPr/>
            <a:lstStyle/>
            <a:p>
              <a:pPr>
                <a:defRPr b="0" i="0" strike="noStrike" sz="1200" u="none">
                  <a:solidFill>
                    <a:srgbClr val="1C2B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D"/>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yourself and the 1-hour session structure.
Opening hook: 'A BERT model has 110 million parameters. Running it for 1 million inference requests on AWS costs ~$150. Optimize it well and that bill drops to $15.' That single number sets up every technique we'll cover today.
Tell students the agenda: we will cover four main optimization pillars — quantization, pruning, knowledge distillation, and compilation — plus a hands-on overview. Each technique alone gives 1.5–4× speedup; combining them can give 10–50×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briefly — don't read every item. Just say:
'We start with the problem — why do we even need to optimize? Then we'll go through four core techniques one by one, each with a simple visual and a concrete example of what it achieves. In the last 12 minutes we look at combining them and you'll see the Colab notebook from last session extended with these ideas.'
Ask a quick show-of-hands: 'How many of you have tried running a model on a CPU and found it too slow?' — good way to anchor the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numbers tell the cost story:
1. '10–100× reduction' — this sounds big. Explain it: an un-optimized FP32 model on a cloud GPU might cost $1/1000 inferences. A properly quantized + compiled version on the same hardware costs &lt;$0.01. At 10M inferences/day that's the difference between $10K and $100 per day.
2. 'BERT at 4 GB vs 1 GB' — show students that model SIZE directly gates deployment: 4 GB doesn't fit in edge device RAM; 1 GB does. This is why mobile ML teams always quantize before shipment.
3. '3–5× latency' — this is p50 latency, not throughput. Explain the difference: latency is per-request response time, throughput is requests/second. They don't always move together.
Carbon footnote: use this to motivate sustainability in AI engineering — increasingly a professional expectation.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phrase 'after training'. Students often confuse optimization with efficient training (mixed-precision training, gradient checkpointing, etc.). Those are separate concerns. Here we're post-training optimization — the model is already fully trained.
The three goals form a triangle: you can rarely fully maximize all three simultaneously. Most real deployments trade a small accuracy point for a big latency/cost win — and that trade-off is what the benchmarking session is about.
Ask students: 'If you could have a model that's 3× faster but 1% less accurate, would you deploy it?' — this is a real engineering decision they'll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session. Tell students:
'Think of these four techniques as tools in a toolbox. Each one attacks a different cost axis. A quantization engineer at Google once said: quantization is the first thing you try, pruning is the next, distillation is the nuclear option when you need a completely different form factor, and compilation is always the last step before deployment.'
Key point: they are ADDITIVE. Applying quantization AND compilation on the same model gives more speedup than either alone.
A rough industry benchmark: INT8 quantization alone → 2–4× on GPU; structured pruning → 1.5–3× latency; distillation → custom student size; compilation → additional 1.3–2×. Stack all four → 6–20× total improvement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Brief pause here.
Say: 'Quantization is almost always the first technique you apply to a model. It's fast, it's reversible (you keep the original FP32 weights), and it gives the largest guaranteed benefit for the least engineering effort.'
The three stats: '&lt;1% accuracy drop' is the key — students often assume quantization destroys accuracy. For most vision models and many NLP models, INT8 PTQ (post-training quantization) loses &lt;0.5% top-1 accuracy. The magic is in how the activation ranges are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top diagram slowly:
  FP32 = 32-bit float (4 bytes per number). INT8 = 8-bit integer (1 byte). Same information, 4× less storage.
  The quantization formula: x_int = round(x_float / scale + zero_point). The scale and zero_point are computed from the data distribution during calibration.
PTQ vs QAT decision rule: 'Start with PTQ. If accuracy is within your SLA, you're done. Only graduate to QAT if PTQ accuracy is too low — typically for INT4 or aggressive INT8 on dense models.'
W4A8 mention: tell advanced students this is the frontier for LLM serving — weights at 4-bit (huge size savings) but activations remain at 8-bit (maintains throughput). GPTQ, AWQ, and LLM.int8() are the key papers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misconception to address before the next slide:
'Pruning and sparsity are not the same thing as speedup. This is the #1 mistake students make.' Zeroing out 50% of weights (unstructured pruning) reduces file size ONLY after compression — the dense GPU matmul still processes those zeros at the same speed.
Structured pruning (removing entire filters, heads, layers) IS what actually reduces FLOPs and latency, because the resulting model is smaller and denser — no sparsity needed.
The Lottery Ticket Hypothesis (Frankle &amp; Carlin, 2019) adds a theoretical foundation: large networks contain sparse sub-networks that could have been trained from scratch to the same accuracy. Pruning finds those sub-networks.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extra time on the critical distinction — this comes up in assessments and in interviews.
Draw the analogy on the whiteboard if possible:
  Unstructured: take a full 1000-page book, blank out random words. The book still has 1000 pages and takes the same time to read.
  Structured: remove 200 entire pages that are redundant. Now it's an 800-page book — faster to read.
Real-world example: MobileNet-V2 uses depthwise separable convolutions — essentially a pre-structured-pruned design. It's 8× fewer parameters than ResNet-50 with similar accuracy on ImageNet.
Lottery Ticket connection: SparseGPT (Frantar &amp; Alistarh, 2023) applies unstructured pruning to GPT models and achieves 50% sparsity with near-zero accuracy loss — but they explicitly note it only helps on sparse CUDA kernels, not standard PyTorch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Distillation is the most 'human' of the four techniques — it's literally mentorship encoded as a loss function.
Key paper reference: Hinton, Vinyals &amp; Dean (2015) 'Distilling the Knowledge in a Neural Network'. Accessible and short (9 pages) — recommended reading.
Practical impact: DistilBERT is 40% smaller than BERT-base, 60% faster, retains 97% of BERT's performance on GLUE. This is the standard NLP example of distillation done well.
DeiT is the vision example: trains a ViT student using a CNN teacher (ResNet or EfficientNet) to transfer the CNN's inductive bias about image structure — closing the gap between CNNs and ViTs for small-data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about soft labels: a hard label says 'this is a cat (100%)'. A soft label says 'this is 72% cat, 22% dog' — which tells the student that cats and dogs look somewhat similar. This inter-class similarity information is hidden in the teacher's outputs and is the core of what makes distillation work.
Temperature T: higher temperature (e.g. T=4) smooths the probability distribution, making the soft labels more informative. At T=1 you get the model's raw softmax; at T=10 the differences between classes become very small.
DistilBERT numbers: BERT-base has 110M params; DistilBERT has 66M (40% reduction), is 60% faster, retains 97% GLUE performance. This is the benchmark students should know by heart.
Ask: 'Why would you use feature-based distillation over response-based?' → when the intermediate representations carry structural information (e.g. spatial feature maps in object detection) that isn't captured by the output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Compilation is always the LAST step — it requires a fixed model graph (exported to ONNX or TorchScript) as input. You compile AFTER quantization and pruning.
What it does internally:
  1. Graph fusion: fuse Conv+BN+ReLU into a single kernel → fewer memory round-trips
  2. Kernel auto-tuning: try multiple algorithm implementations for each op and pick the fastest for THIS specific hardware + batch size
  3. Precision assignment: automatically use FP16 for compute-heavy ops, FP32 for precision-critical parts
Analogy: compilation is like a C++ compiler with -O3 flags — it takes correct but generic code and produces hardware-optimized binary. The model logic doesn't change; the execution plan does.
TensorRT is NVIDIA-only; OpenVINO is Intel-only. ONNX Runtime is cross-platform and is the easiest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diagram while explaining the ONNX portability story:
'You train in PyTorch. You export to ONNX once. Then you compile to four different targets without changing the model or retraining. This is why ONNX has become the standard interchange format for production deployment.'
TensorRT deep dive (2 minutes if time allows):
  - Input: ONNX + precision flags (FP16=True, INT8=True)
  - Output: a .engine file optimized for the EXACT GPU model and batch size
  - Important: TRT engines are NOT portable across GPU generations — rebuild when you change hardware
Student exercise: in the Colab notebook, run: ort.InferenceSession('model.onnx', providers=['CUDAExecutionProvider', 'CPUExecutionProvider']). Check sess.get_providers() to confirm CUDA is active. This IS the ORT CUDA 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pipeline slide synthesizes the whole session. Emphasize the ORDER:
  1. If you need a fundamentally different form factor (mobile, tiny edge device) → distil first
  2. Quantize the resulting model (or original if no distillation)
  3. Prune if you still need more latency/size reduction
  4. ALWAYS compile last — compilation is hardware-specific and locks the model to a target
Practical shortcut: '80% of the gain comes from quantization + compilation. Do those two first, measure, then decide if you need distillation or pruning.'
Real example: Google's production BERT for Search is reportedly distilled (DistilBERT-like), quantized to INT8, and compiled with XLA for TPUs. Each step was measured independently before applying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bubble chart (bubbles represent model size) shows the typical trade-off landscape.
Key teaching points:
  1. The Pareto frontier is the upper-left boundary — models where you cannot get better latency without worse accuracy.
  2. The 'INT8 PTQ' bubble is almost always the best first move: large latency win, tiny accuracy cost.
  3. 'FP32+Compiled' shows that compilation without quantization still helps — you get latency savings without touching accuracy AT ALL.
Discussion question: 'Your production SLA is 5ms p95 latency and your accuracy constraint is ≥75% top-1. Looking at this chart, which model variant would you deploy?'
Connect to the Colab notebook: students generated this exact chart (p50/p95 latency × model size × precision) in the previous session's benchmarking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out every tool — use this slide as a reference map.
Key things to highlight:
  1. 'torch.onnx.export is always step 1. You need ONNX to use any of the downstream tools.'
  2. Hugging Face Optimum is the easiest path for Transformer quantization — one-line API.
  3. bitsandbytes (Tim Dettmers' library) is what makes LLM.int8() and QLoRA possible — students who want to run LLaMA on a 24GB GPU need this.
  4. Triton Server is what all major cloud providers (GCP Vertex AI, AWS SageMaker, Azure ML) use internally for model serving.
Tell students: 'For this module's assessment, you only need torch.onnx.export, ONNX Runtime quantization tools, and ONNX Runtime for serving — that's the minimum viable production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is a direct extension of the CV Engineering Colab notebook from last session.
How to run the lab:
  - Open Colab notebook: Runtime &gt; Change runtime type &gt; T4 GPU
  - Students should have the notebook from last session; if not, share the link
  - Tasks A–C: follow Sections 4–6 of the notebook (code is already written)
  - Task D: Section 7 benchmarking harness — students extend it with new model paths
  - Task E: Section 7, the matplotlib cell at the bottom — run it on their own numbers
Assessment link: Tasks D and E produce the deliverable for learning objective 'benchmark latency vs accuracy trade-off'. Students screenshot their chart + paste the DataFrame output.
Common issues: if CUDAExecutionProvider is not found, check that ONNX Runtime GPU was installed (pip install onnxruntime-gpu, not onnxruntime).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summary — go through each point briskly (30 seconds each), then open for questions.
Suggested question prompts if the room is quiet:
  - 'When would you choose knowledge distillation over quantization?'
    (When you need a fundamentally different architecture size, not just a precision change)
  - 'What's the one thing you MUST do before applying TensorRT or OpenVINO?'
    (Export to ONNX)
  - 'You've quantized a ResNet-50 to INT8 and the accuracy dropped from 76.1% to 74.0%. What do you do?'
    (Check calibration dataset quality first; if still too low, apply QAT)
Homework: read Hinton et al. 2015 (distillation paper, 9 pages) and the GPTQ paper abstract (arXiv:2210.17323). Bring questions to next session.
Remind students about the Colab notebook deliverable: Tasks D + E chart + benchmark table, submitted before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132320" y="-822960"/>
            <a:ext cx="3200400" cy="3200400"/>
          </a:xfrm>
          <a:prstGeom prst="ellipse">
            <a:avLst/>
          </a:prstGeom>
          <a:solidFill>
            <a:srgbClr val="00BFA5">
              <a:alpha val="12000"/>
            </a:srgbClr>
          </a:solidFill>
          <a:ln w="12700">
            <a:solidFill>
              <a:srgbClr val="00BFA5"/>
            </a:solidFill>
            <a:prstDash val="solid"/>
          </a:ln>
        </p:spPr>
      </p:sp>
      <p:sp>
        <p:nvSpPr>
          <p:cNvPr id="3" name="Shape 1"/>
          <p:cNvSpPr/>
          <p:nvPr/>
        </p:nvSpPr>
        <p:spPr>
          <a:xfrm>
            <a:off x="-914400" y="3200400"/>
            <a:ext cx="3200400" cy="3200400"/>
          </a:xfrm>
          <a:prstGeom prst="ellipse">
            <a:avLst/>
          </a:prstGeom>
          <a:solidFill>
            <a:srgbClr val="00BFA5">
              <a:alpha val="12000"/>
            </a:srgbClr>
          </a:solidFill>
          <a:ln w="12700">
            <a:solidFill>
              <a:srgbClr val="00BFA5"/>
            </a:solidFill>
            <a:prstDash val="solid"/>
          </a:ln>
        </p:spPr>
      </p:sp>
      <p:sp>
        <p:nvSpPr>
          <p:cNvPr id="4" name="Text 2"/>
          <p:cNvSpPr/>
          <p:nvPr/>
        </p:nvSpPr>
        <p:spPr>
          <a:xfrm>
            <a:off x="640080" y="822960"/>
            <a:ext cx="7772400" cy="548640"/>
          </a:xfrm>
          <a:prstGeom prst="rect">
            <a:avLst/>
          </a:prstGeom>
          <a:noFill/>
          <a:ln/>
        </p:spPr>
        <p:txBody>
          <a:bodyPr wrap="square" rtlCol="0" anchor="ctr"/>
          <a:lstStyle/>
          <a:p>
            <a:pPr indent="0" marL="0">
              <a:buNone/>
            </a:pPr>
            <a:r>
              <a:rPr lang="en-US" sz="2200" dirty="0">
                <a:solidFill>
                  <a:srgbClr val="00BFA5"/>
                </a:solidFill>
                <a:latin typeface="Calibri" pitchFamily="34" charset="0"/>
                <a:ea typeface="Calibri" pitchFamily="34" charset="-122"/>
                <a:cs typeface="Calibri" pitchFamily="34" charset="-120"/>
              </a:rPr>
              <a:t>Introduction to</a:t>
            </a:r>
            <a:endParaRPr lang="en-US" sz="2200" dirty="0"/>
          </a:p>
        </p:txBody>
      </p:sp>
      <p:sp>
        <p:nvSpPr>
          <p:cNvPr id="5" name="Text 3"/>
          <p:cNvSpPr/>
          <p:nvPr/>
        </p:nvSpPr>
        <p:spPr>
          <a:xfrm>
            <a:off x="640080" y="1325880"/>
            <a:ext cx="8229600" cy="91440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AI Model Optimization</a:t>
            </a:r>
            <a:endParaRPr lang="en-US" sz="4600" dirty="0"/>
          </a:p>
        </p:txBody>
      </p:sp>
      <p:sp>
        <p:nvSpPr>
          <p:cNvPr id="6" name="Text 4"/>
          <p:cNvSpPr/>
          <p:nvPr/>
        </p:nvSpPr>
        <p:spPr>
          <a:xfrm>
            <a:off x="640080" y="2148840"/>
            <a:ext cx="8229600" cy="73152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Techniques</a:t>
            </a:r>
            <a:endParaRPr lang="en-US" sz="4600" dirty="0"/>
          </a:p>
        </p:txBody>
      </p:sp>
      <p:sp>
        <p:nvSpPr>
          <p:cNvPr id="7" name="Shape 5"/>
          <p:cNvSpPr/>
          <p:nvPr/>
        </p:nvSpPr>
        <p:spPr>
          <a:xfrm>
            <a:off x="640080" y="2926080"/>
            <a:ext cx="1645920" cy="0"/>
          </a:xfrm>
          <a:prstGeom prst="line">
            <a:avLst/>
          </a:prstGeom>
          <a:noFill/>
          <a:ln w="38100">
            <a:solidFill>
              <a:srgbClr val="00BFA5"/>
            </a:solidFill>
            <a:prstDash val="solid"/>
          </a:ln>
        </p:spPr>
      </p:sp>
      <p:sp>
        <p:nvSpPr>
          <p:cNvPr id="8" name="Text 6"/>
          <p:cNvSpPr/>
          <p:nvPr/>
        </p:nvSpPr>
        <p:spPr>
          <a:xfrm>
            <a:off x="640080" y="3154680"/>
            <a:ext cx="6400800" cy="320040"/>
          </a:xfrm>
          <a:prstGeom prst="rect">
            <a:avLst/>
          </a:prstGeom>
          <a:noFill/>
          <a:ln/>
        </p:spPr>
        <p:txBody>
          <a:bodyPr wrap="square" rtlCol="0" anchor="ctr"/>
          <a:lstStyle/>
          <a:p>
            <a:pPr indent="0" marL="0">
              <a:buNone/>
            </a:pPr>
            <a:r>
              <a:rPr lang="en-US" sz="1400" dirty="0">
                <a:solidFill>
                  <a:srgbClr val="A0AEC0"/>
                </a:solidFill>
                <a:latin typeface="Calibri" pitchFamily="34" charset="0"/>
                <a:ea typeface="Calibri" pitchFamily="34" charset="-122"/>
                <a:cs typeface="Calibri" pitchFamily="34" charset="-120"/>
              </a:rPr>
              <a:t>1-Hour Introductory Course</a:t>
            </a:r>
            <a:endParaRPr lang="en-US" sz="1400" dirty="0"/>
          </a:p>
        </p:txBody>
      </p:sp>
      <p:sp>
        <p:nvSpPr>
          <p:cNvPr id="9" name="Text 7"/>
          <p:cNvSpPr/>
          <p:nvPr/>
        </p:nvSpPr>
        <p:spPr>
          <a:xfrm>
            <a:off x="640080" y="3502152"/>
            <a:ext cx="7772400" cy="292608"/>
          </a:xfrm>
          <a:prstGeom prst="rect">
            <a:avLst/>
          </a:prstGeom>
          <a:noFill/>
          <a:ln/>
        </p:spPr>
        <p:txBody>
          <a:bodyPr wrap="square" rtlCol="0" anchor="ctr"/>
          <a:lstStyle/>
          <a:p>
            <a:pPr indent="0" marL="0">
              <a:buNone/>
            </a:pPr>
            <a:r>
              <a:rPr lang="en-US" sz="1300" dirty="0">
                <a:solidFill>
                  <a:srgbClr val="718096"/>
                </a:solidFill>
                <a:latin typeface="Calibri" pitchFamily="34" charset="0"/>
                <a:ea typeface="Calibri" pitchFamily="34" charset="-122"/>
                <a:cs typeface="Calibri" pitchFamily="34" charset="-120"/>
              </a:rPr>
              <a:t>Quantization · Pruning · Distillation · Compilation</a:t>
            </a:r>
            <a:endParaRPr lang="en-US" sz="1300" dirty="0"/>
          </a:p>
        </p:txBody>
      </p:sp>
      <p:sp>
        <p:nvSpPr>
          <p:cNvPr id="10" name="Text 8"/>
          <p:cNvSpPr/>
          <p:nvPr/>
        </p:nvSpPr>
        <p:spPr>
          <a:xfrm>
            <a:off x="640080" y="4663440"/>
            <a:ext cx="7772400" cy="256032"/>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Nanyang Polytechnic · School of Information Technology</a:t>
            </a:r>
            <a:endParaRPr lang="en-US" sz="1100" dirty="0"/>
          </a:p>
        </p:txBody>
      </p:sp>
      <p:pic>
        <p:nvPicPr>
          <p:cNvPr id="11" name="Image 0" descr="preencoded.png">    </p:cNvPr>
          <p:cNvPicPr>
            <a:picLocks noChangeAspect="1"/>
          </p:cNvPicPr>
          <p:nvPr/>
        </p:nvPicPr>
        <p:blipFill>
          <a:blip r:embed="rId1"/>
          <a:stretch>
            <a:fillRect/>
          </a:stretch>
        </p:blipFill>
        <p:spPr>
          <a:xfrm>
            <a:off x="7863840" y="1920240"/>
            <a:ext cx="594360" cy="594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D"/>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Today's agenda</a:t>
            </a:r>
            <a:endParaRPr lang="en-US" sz="3000" dirty="0"/>
          </a:p>
        </p:txBody>
      </p:sp>
      <p:sp>
        <p:nvSpPr>
          <p:cNvPr id="3" name="Text 1"/>
          <p:cNvSpPr/>
          <p:nvPr/>
        </p:nvSpPr>
        <p:spPr>
          <a:xfrm>
            <a:off x="411480" y="795528"/>
            <a:ext cx="8321040" cy="27432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60 minutes · 4 techniques · hands-on walkthrough</a:t>
            </a:r>
            <a:endParaRPr lang="en-US" sz="1300" dirty="0"/>
          </a:p>
        </p:txBody>
      </p:sp>
      <p:sp>
        <p:nvSpPr>
          <p:cNvPr id="4" name="Shape 2"/>
          <p:cNvSpPr/>
          <p:nvPr/>
        </p:nvSpPr>
        <p:spPr>
          <a:xfrm>
            <a:off x="411480" y="1005840"/>
            <a:ext cx="4206240" cy="804672"/>
          </a:xfrm>
          <a:prstGeom prst="roundRect">
            <a:avLst>
              <a:gd name="adj" fmla="val 13636"/>
            </a:avLst>
          </a:prstGeom>
          <a:solidFill>
            <a:srgbClr val="EBF0FA"/>
          </a:solidFill>
          <a:ln w="12700">
            <a:solidFill>
              <a:srgbClr val="EBF0FA"/>
            </a:solidFill>
            <a:prstDash val="solid"/>
          </a:ln>
        </p:spPr>
      </p:sp>
      <p:sp>
        <p:nvSpPr>
          <p:cNvPr id="5" name="Text 3"/>
          <p:cNvSpPr/>
          <p:nvPr/>
        </p:nvSpPr>
        <p:spPr>
          <a:xfrm>
            <a:off x="576072" y="1078992"/>
            <a:ext cx="457200" cy="320040"/>
          </a:xfrm>
          <a:prstGeom prst="rect">
            <a:avLst/>
          </a:prstGeom>
          <a:noFill/>
          <a:ln/>
        </p:spPr>
        <p:txBody>
          <a:bodyPr wrap="square" rtlCol="0" anchor="ctr"/>
          <a:lstStyle/>
          <a:p>
            <a:pPr indent="0" marL="0">
              <a:buNone/>
            </a:pPr>
            <a:r>
              <a:rPr lang="en-US" sz="1800" b="1" dirty="0">
                <a:solidFill>
                  <a:srgbClr val="2B4C7E"/>
                </a:solidFill>
                <a:latin typeface="Calibri" pitchFamily="34" charset="0"/>
                <a:ea typeface="Calibri" pitchFamily="34" charset="-122"/>
                <a:cs typeface="Calibri" pitchFamily="34" charset="-120"/>
              </a:rPr>
              <a:t>01</a:t>
            </a:r>
            <a:endParaRPr lang="en-US" sz="1800" dirty="0"/>
          </a:p>
        </p:txBody>
      </p:sp>
      <p:sp>
        <p:nvSpPr>
          <p:cNvPr id="6" name="Text 4"/>
          <p:cNvSpPr/>
          <p:nvPr/>
        </p:nvSpPr>
        <p:spPr>
          <a:xfrm>
            <a:off x="1005840" y="1060704"/>
            <a:ext cx="3017520" cy="320040"/>
          </a:xfrm>
          <a:prstGeom prst="rect">
            <a:avLst/>
          </a:prstGeom>
          <a:noFill/>
          <a:ln/>
        </p:spPr>
        <p:txBody>
          <a:bodyPr wrap="square" rtlCol="0" anchor="ctr"/>
          <a:lstStyle/>
          <a:p>
            <a:pPr indent="0" marL="0">
              <a:buNone/>
            </a:pPr>
            <a:r>
              <a:rPr lang="en-US" sz="1400" b="1" dirty="0">
                <a:solidFill>
                  <a:srgbClr val="1C2B3A"/>
                </a:solidFill>
                <a:latin typeface="Calibri" pitchFamily="34" charset="0"/>
                <a:ea typeface="Calibri" pitchFamily="34" charset="-122"/>
                <a:cs typeface="Calibri" pitchFamily="34" charset="-120"/>
              </a:rPr>
              <a:t>Why optimize?</a:t>
            </a:r>
            <a:endParaRPr lang="en-US" sz="1400" dirty="0"/>
          </a:p>
        </p:txBody>
      </p:sp>
      <p:sp>
        <p:nvSpPr>
          <p:cNvPr id="7" name="Text 5"/>
          <p:cNvSpPr/>
          <p:nvPr/>
        </p:nvSpPr>
        <p:spPr>
          <a:xfrm>
            <a:off x="1005840" y="1389888"/>
            <a:ext cx="3017520" cy="256032"/>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The cost, latency &amp; energy problem</a:t>
            </a:r>
            <a:endParaRPr lang="en-US" sz="1050" dirty="0"/>
          </a:p>
        </p:txBody>
      </p:sp>
      <p:sp>
        <p:nvSpPr>
          <p:cNvPr id="8" name="Shape 6"/>
          <p:cNvSpPr/>
          <p:nvPr/>
        </p:nvSpPr>
        <p:spPr>
          <a:xfrm>
            <a:off x="3593592" y="1078992"/>
            <a:ext cx="868680" cy="246888"/>
          </a:xfrm>
          <a:prstGeom prst="roundRect">
            <a:avLst>
              <a:gd name="adj" fmla="val 48148"/>
            </a:avLst>
          </a:prstGeom>
          <a:solidFill>
            <a:srgbClr val="2B4C7E"/>
          </a:solidFill>
          <a:ln w="12700">
            <a:solidFill>
              <a:srgbClr val="2B4C7E"/>
            </a:solidFill>
            <a:prstDash val="solid"/>
          </a:ln>
        </p:spPr>
      </p:sp>
      <p:sp>
        <p:nvSpPr>
          <p:cNvPr id="9" name="Text 7"/>
          <p:cNvSpPr/>
          <p:nvPr/>
        </p:nvSpPr>
        <p:spPr>
          <a:xfrm>
            <a:off x="3593592" y="1078992"/>
            <a:ext cx="86868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 min</a:t>
            </a:r>
            <a:endParaRPr lang="en-US" sz="950" dirty="0"/>
          </a:p>
        </p:txBody>
      </p:sp>
      <p:sp>
        <p:nvSpPr>
          <p:cNvPr id="10" name="Shape 8"/>
          <p:cNvSpPr/>
          <p:nvPr/>
        </p:nvSpPr>
        <p:spPr>
          <a:xfrm>
            <a:off x="411480" y="1965960"/>
            <a:ext cx="4206240" cy="804672"/>
          </a:xfrm>
          <a:prstGeom prst="roundRect">
            <a:avLst>
              <a:gd name="adj" fmla="val 13636"/>
            </a:avLst>
          </a:prstGeom>
          <a:solidFill>
            <a:srgbClr val="E6F7F5"/>
          </a:solidFill>
          <a:ln w="12700">
            <a:solidFill>
              <a:srgbClr val="E6F7F5"/>
            </a:solidFill>
            <a:prstDash val="solid"/>
          </a:ln>
        </p:spPr>
      </p:sp>
      <p:sp>
        <p:nvSpPr>
          <p:cNvPr id="11" name="Text 9"/>
          <p:cNvSpPr/>
          <p:nvPr/>
        </p:nvSpPr>
        <p:spPr>
          <a:xfrm>
            <a:off x="576072" y="2039112"/>
            <a:ext cx="457200" cy="320040"/>
          </a:xfrm>
          <a:prstGeom prst="rect">
            <a:avLst/>
          </a:prstGeom>
          <a:noFill/>
          <a:ln/>
        </p:spPr>
        <p:txBody>
          <a:bodyPr wrap="square" rtlCol="0" anchor="ctr"/>
          <a:lstStyle/>
          <a:p>
            <a:pPr indent="0" marL="0">
              <a:buNone/>
            </a:pPr>
            <a:r>
              <a:rPr lang="en-US" sz="1800" b="1" dirty="0">
                <a:solidFill>
                  <a:srgbClr val="007C6E"/>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1005840" y="2020824"/>
            <a:ext cx="3017520" cy="320040"/>
          </a:xfrm>
          <a:prstGeom prst="rect">
            <a:avLst/>
          </a:prstGeom>
          <a:noFill/>
          <a:ln/>
        </p:spPr>
        <p:txBody>
          <a:bodyPr wrap="square" rtlCol="0" anchor="ctr"/>
          <a:lstStyle/>
          <a:p>
            <a:pPr indent="0" marL="0">
              <a:buNone/>
            </a:pPr>
            <a:r>
              <a:rPr lang="en-US" sz="1400" b="1" dirty="0">
                <a:solidFill>
                  <a:srgbClr val="1C2B3A"/>
                </a:solidFill>
                <a:latin typeface="Calibri" pitchFamily="34" charset="0"/>
                <a:ea typeface="Calibri" pitchFamily="34" charset="-122"/>
                <a:cs typeface="Calibri" pitchFamily="34" charset="-120"/>
              </a:rPr>
              <a:t>Quantization</a:t>
            </a:r>
            <a:endParaRPr lang="en-US" sz="1400" dirty="0"/>
          </a:p>
        </p:txBody>
      </p:sp>
      <p:sp>
        <p:nvSpPr>
          <p:cNvPr id="13" name="Text 11"/>
          <p:cNvSpPr/>
          <p:nvPr/>
        </p:nvSpPr>
        <p:spPr>
          <a:xfrm>
            <a:off x="1005840" y="2350008"/>
            <a:ext cx="3017520" cy="256032"/>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Reducing numerical precision (FP32 → INT8)</a:t>
            </a:r>
            <a:endParaRPr lang="en-US" sz="1050" dirty="0"/>
          </a:p>
        </p:txBody>
      </p:sp>
      <p:sp>
        <p:nvSpPr>
          <p:cNvPr id="14" name="Shape 12"/>
          <p:cNvSpPr/>
          <p:nvPr/>
        </p:nvSpPr>
        <p:spPr>
          <a:xfrm>
            <a:off x="3593592" y="2039112"/>
            <a:ext cx="868680" cy="246888"/>
          </a:xfrm>
          <a:prstGeom prst="roundRect">
            <a:avLst>
              <a:gd name="adj" fmla="val 48148"/>
            </a:avLst>
          </a:prstGeom>
          <a:solidFill>
            <a:srgbClr val="007C6E"/>
          </a:solidFill>
          <a:ln w="12700">
            <a:solidFill>
              <a:srgbClr val="007C6E"/>
            </a:solidFill>
            <a:prstDash val="solid"/>
          </a:ln>
        </p:spPr>
      </p:sp>
      <p:sp>
        <p:nvSpPr>
          <p:cNvPr id="15" name="Text 13"/>
          <p:cNvSpPr/>
          <p:nvPr/>
        </p:nvSpPr>
        <p:spPr>
          <a:xfrm>
            <a:off x="3593592" y="2039112"/>
            <a:ext cx="86868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12 min</a:t>
            </a:r>
            <a:endParaRPr lang="en-US" sz="950" dirty="0"/>
          </a:p>
        </p:txBody>
      </p:sp>
      <p:sp>
        <p:nvSpPr>
          <p:cNvPr id="16" name="Shape 14"/>
          <p:cNvSpPr/>
          <p:nvPr/>
        </p:nvSpPr>
        <p:spPr>
          <a:xfrm>
            <a:off x="411480" y="2926080"/>
            <a:ext cx="4206240" cy="804672"/>
          </a:xfrm>
          <a:prstGeom prst="roundRect">
            <a:avLst>
              <a:gd name="adj" fmla="val 13636"/>
            </a:avLst>
          </a:prstGeom>
          <a:solidFill>
            <a:srgbClr val="EDE9FE"/>
          </a:solidFill>
          <a:ln w="12700">
            <a:solidFill>
              <a:srgbClr val="EDE9FE"/>
            </a:solidFill>
            <a:prstDash val="solid"/>
          </a:ln>
        </p:spPr>
      </p:sp>
      <p:sp>
        <p:nvSpPr>
          <p:cNvPr id="17" name="Text 15"/>
          <p:cNvSpPr/>
          <p:nvPr/>
        </p:nvSpPr>
        <p:spPr>
          <a:xfrm>
            <a:off x="576072" y="2999232"/>
            <a:ext cx="457200" cy="320040"/>
          </a:xfrm>
          <a:prstGeom prst="rect">
            <a:avLst/>
          </a:prstGeom>
          <a:noFill/>
          <a:ln/>
        </p:spPr>
        <p:txBody>
          <a:bodyPr wrap="square" rtlCol="0" anchor="ctr"/>
          <a:lstStyle/>
          <a:p>
            <a:pPr indent="0" marL="0">
              <a:buNone/>
            </a:pPr>
            <a:r>
              <a:rPr lang="en-US" sz="1800" b="1" dirty="0">
                <a:solidFill>
                  <a:srgbClr val="6B46C1"/>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1005840" y="2980944"/>
            <a:ext cx="3017520" cy="320040"/>
          </a:xfrm>
          <a:prstGeom prst="rect">
            <a:avLst/>
          </a:prstGeom>
          <a:noFill/>
          <a:ln/>
        </p:spPr>
        <p:txBody>
          <a:bodyPr wrap="square" rtlCol="0" anchor="ctr"/>
          <a:lstStyle/>
          <a:p>
            <a:pPr indent="0" marL="0">
              <a:buNone/>
            </a:pPr>
            <a:r>
              <a:rPr lang="en-US" sz="1400" b="1" dirty="0">
                <a:solidFill>
                  <a:srgbClr val="1C2B3A"/>
                </a:solidFill>
                <a:latin typeface="Calibri" pitchFamily="34" charset="0"/>
                <a:ea typeface="Calibri" pitchFamily="34" charset="-122"/>
                <a:cs typeface="Calibri" pitchFamily="34" charset="-120"/>
              </a:rPr>
              <a:t>Pruning</a:t>
            </a:r>
            <a:endParaRPr lang="en-US" sz="1400" dirty="0"/>
          </a:p>
        </p:txBody>
      </p:sp>
      <p:sp>
        <p:nvSpPr>
          <p:cNvPr id="19" name="Text 17"/>
          <p:cNvSpPr/>
          <p:nvPr/>
        </p:nvSpPr>
        <p:spPr>
          <a:xfrm>
            <a:off x="1005840" y="3310128"/>
            <a:ext cx="3017520" cy="256032"/>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Removing redundant weights &amp; channels</a:t>
            </a:r>
            <a:endParaRPr lang="en-US" sz="1050" dirty="0"/>
          </a:p>
        </p:txBody>
      </p:sp>
      <p:sp>
        <p:nvSpPr>
          <p:cNvPr id="20" name="Shape 18"/>
          <p:cNvSpPr/>
          <p:nvPr/>
        </p:nvSpPr>
        <p:spPr>
          <a:xfrm>
            <a:off x="3593592" y="2999232"/>
            <a:ext cx="868680" cy="246888"/>
          </a:xfrm>
          <a:prstGeom prst="roundRect">
            <a:avLst>
              <a:gd name="adj" fmla="val 48148"/>
            </a:avLst>
          </a:prstGeom>
          <a:solidFill>
            <a:srgbClr val="6B46C1"/>
          </a:solidFill>
          <a:ln w="12700">
            <a:solidFill>
              <a:srgbClr val="6B46C1"/>
            </a:solidFill>
            <a:prstDash val="solid"/>
          </a:ln>
        </p:spPr>
      </p:sp>
      <p:sp>
        <p:nvSpPr>
          <p:cNvPr id="21" name="Text 19"/>
          <p:cNvSpPr/>
          <p:nvPr/>
        </p:nvSpPr>
        <p:spPr>
          <a:xfrm>
            <a:off x="3593592" y="2999232"/>
            <a:ext cx="86868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 min</a:t>
            </a:r>
            <a:endParaRPr lang="en-US" sz="950" dirty="0"/>
          </a:p>
        </p:txBody>
      </p:sp>
      <p:sp>
        <p:nvSpPr>
          <p:cNvPr id="22" name="Shape 20"/>
          <p:cNvSpPr/>
          <p:nvPr/>
        </p:nvSpPr>
        <p:spPr>
          <a:xfrm>
            <a:off x="411480" y="3886200"/>
            <a:ext cx="4206240" cy="804672"/>
          </a:xfrm>
          <a:prstGeom prst="roundRect">
            <a:avLst>
              <a:gd name="adj" fmla="val 13636"/>
            </a:avLst>
          </a:prstGeom>
          <a:solidFill>
            <a:srgbClr val="FEF3DC"/>
          </a:solidFill>
          <a:ln w="12700">
            <a:solidFill>
              <a:srgbClr val="FEF3DC"/>
            </a:solidFill>
            <a:prstDash val="solid"/>
          </a:ln>
        </p:spPr>
      </p:sp>
      <p:sp>
        <p:nvSpPr>
          <p:cNvPr id="23" name="Text 21"/>
          <p:cNvSpPr/>
          <p:nvPr/>
        </p:nvSpPr>
        <p:spPr>
          <a:xfrm>
            <a:off x="576072" y="3959352"/>
            <a:ext cx="457200" cy="320040"/>
          </a:xfrm>
          <a:prstGeom prst="rect">
            <a:avLst/>
          </a:prstGeom>
          <a:noFill/>
          <a:ln/>
        </p:spPr>
        <p:txBody>
          <a:bodyPr wrap="square" rtlCol="0" anchor="ctr"/>
          <a:lstStyle/>
          <a:p>
            <a:pPr indent="0" marL="0">
              <a:buNone/>
            </a:pPr>
            <a:r>
              <a:rPr lang="en-US" sz="1800" b="1" dirty="0">
                <a:solidFill>
                  <a:srgbClr val="92400E"/>
                </a:solidFill>
                <a:latin typeface="Calibri" pitchFamily="34" charset="0"/>
                <a:ea typeface="Calibri" pitchFamily="34" charset="-122"/>
                <a:cs typeface="Calibri" pitchFamily="34" charset="-120"/>
              </a:rPr>
              <a:t>04</a:t>
            </a:r>
            <a:endParaRPr lang="en-US" sz="1800" dirty="0"/>
          </a:p>
        </p:txBody>
      </p:sp>
      <p:sp>
        <p:nvSpPr>
          <p:cNvPr id="24" name="Text 22"/>
          <p:cNvSpPr/>
          <p:nvPr/>
        </p:nvSpPr>
        <p:spPr>
          <a:xfrm>
            <a:off x="1005840" y="3941064"/>
            <a:ext cx="3017520" cy="320040"/>
          </a:xfrm>
          <a:prstGeom prst="rect">
            <a:avLst/>
          </a:prstGeom>
          <a:noFill/>
          <a:ln/>
        </p:spPr>
        <p:txBody>
          <a:bodyPr wrap="square" rtlCol="0" anchor="ctr"/>
          <a:lstStyle/>
          <a:p>
            <a:pPr indent="0" marL="0">
              <a:buNone/>
            </a:pPr>
            <a:r>
              <a:rPr lang="en-US" sz="1400" b="1" dirty="0">
                <a:solidFill>
                  <a:srgbClr val="1C2B3A"/>
                </a:solidFill>
                <a:latin typeface="Calibri" pitchFamily="34" charset="0"/>
                <a:ea typeface="Calibri" pitchFamily="34" charset="-122"/>
                <a:cs typeface="Calibri" pitchFamily="34" charset="-120"/>
              </a:rPr>
              <a:t>Knowledge Distillation</a:t>
            </a:r>
            <a:endParaRPr lang="en-US" sz="1400" dirty="0"/>
          </a:p>
        </p:txBody>
      </p:sp>
      <p:sp>
        <p:nvSpPr>
          <p:cNvPr id="25" name="Text 23"/>
          <p:cNvSpPr/>
          <p:nvPr/>
        </p:nvSpPr>
        <p:spPr>
          <a:xfrm>
            <a:off x="1005840" y="4270248"/>
            <a:ext cx="3017520" cy="256032"/>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Training a small student from a large teacher</a:t>
            </a:r>
            <a:endParaRPr lang="en-US" sz="1050" dirty="0"/>
          </a:p>
        </p:txBody>
      </p:sp>
      <p:sp>
        <p:nvSpPr>
          <p:cNvPr id="26" name="Shape 24"/>
          <p:cNvSpPr/>
          <p:nvPr/>
        </p:nvSpPr>
        <p:spPr>
          <a:xfrm>
            <a:off x="3593592" y="3959352"/>
            <a:ext cx="868680" cy="246888"/>
          </a:xfrm>
          <a:prstGeom prst="roundRect">
            <a:avLst>
              <a:gd name="adj" fmla="val 48148"/>
            </a:avLst>
          </a:prstGeom>
          <a:solidFill>
            <a:srgbClr val="92400E"/>
          </a:solidFill>
          <a:ln w="12700">
            <a:solidFill>
              <a:srgbClr val="92400E"/>
            </a:solidFill>
            <a:prstDash val="solid"/>
          </a:ln>
        </p:spPr>
      </p:sp>
      <p:sp>
        <p:nvSpPr>
          <p:cNvPr id="27" name="Text 25"/>
          <p:cNvSpPr/>
          <p:nvPr/>
        </p:nvSpPr>
        <p:spPr>
          <a:xfrm>
            <a:off x="3593592" y="3959352"/>
            <a:ext cx="86868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 min</a:t>
            </a:r>
            <a:endParaRPr lang="en-US" sz="950" dirty="0"/>
          </a:p>
        </p:txBody>
      </p:sp>
      <p:sp>
        <p:nvSpPr>
          <p:cNvPr id="28" name="Shape 26"/>
          <p:cNvSpPr/>
          <p:nvPr/>
        </p:nvSpPr>
        <p:spPr>
          <a:xfrm>
            <a:off x="4828032" y="1005840"/>
            <a:ext cx="4206240" cy="804672"/>
          </a:xfrm>
          <a:prstGeom prst="roundRect">
            <a:avLst>
              <a:gd name="adj" fmla="val 13636"/>
            </a:avLst>
          </a:prstGeom>
          <a:solidFill>
            <a:srgbClr val="F0FFF4"/>
          </a:solidFill>
          <a:ln w="12700">
            <a:solidFill>
              <a:srgbClr val="F0FFF4"/>
            </a:solidFill>
            <a:prstDash val="solid"/>
          </a:ln>
        </p:spPr>
      </p:sp>
      <p:sp>
        <p:nvSpPr>
          <p:cNvPr id="29" name="Text 27"/>
          <p:cNvSpPr/>
          <p:nvPr/>
        </p:nvSpPr>
        <p:spPr>
          <a:xfrm>
            <a:off x="4992624" y="1078992"/>
            <a:ext cx="457200" cy="320040"/>
          </a:xfrm>
          <a:prstGeom prst="rect">
            <a:avLst/>
          </a:prstGeom>
          <a:noFill/>
          <a:ln/>
        </p:spPr>
        <p:txBody>
          <a:bodyPr wrap="square" rtlCol="0" anchor="ctr"/>
          <a:lstStyle/>
          <a:p>
            <a:pPr indent="0" marL="0">
              <a:buNone/>
            </a:pPr>
            <a:r>
              <a:rPr lang="en-US" sz="1800" b="1" dirty="0">
                <a:solidFill>
                  <a:srgbClr val="2F855A"/>
                </a:solidFill>
                <a:latin typeface="Calibri" pitchFamily="34" charset="0"/>
                <a:ea typeface="Calibri" pitchFamily="34" charset="-122"/>
                <a:cs typeface="Calibri" pitchFamily="34" charset="-120"/>
              </a:rPr>
              <a:t>05</a:t>
            </a:r>
            <a:endParaRPr lang="en-US" sz="1800" dirty="0"/>
          </a:p>
        </p:txBody>
      </p:sp>
      <p:sp>
        <p:nvSpPr>
          <p:cNvPr id="30" name="Text 28"/>
          <p:cNvSpPr/>
          <p:nvPr/>
        </p:nvSpPr>
        <p:spPr>
          <a:xfrm>
            <a:off x="5422392" y="1060704"/>
            <a:ext cx="3017520" cy="320040"/>
          </a:xfrm>
          <a:prstGeom prst="rect">
            <a:avLst/>
          </a:prstGeom>
          <a:noFill/>
          <a:ln/>
        </p:spPr>
        <p:txBody>
          <a:bodyPr wrap="square" rtlCol="0" anchor="ctr"/>
          <a:lstStyle/>
          <a:p>
            <a:pPr indent="0" marL="0">
              <a:buNone/>
            </a:pPr>
            <a:r>
              <a:rPr lang="en-US" sz="1400" b="1" dirty="0">
                <a:solidFill>
                  <a:srgbClr val="1C2B3A"/>
                </a:solidFill>
                <a:latin typeface="Calibri" pitchFamily="34" charset="0"/>
                <a:ea typeface="Calibri" pitchFamily="34" charset="-122"/>
                <a:cs typeface="Calibri" pitchFamily="34" charset="-120"/>
              </a:rPr>
              <a:t>Compilation</a:t>
            </a:r>
            <a:endParaRPr lang="en-US" sz="1400" dirty="0"/>
          </a:p>
        </p:txBody>
      </p:sp>
      <p:sp>
        <p:nvSpPr>
          <p:cNvPr id="31" name="Text 29"/>
          <p:cNvSpPr/>
          <p:nvPr/>
        </p:nvSpPr>
        <p:spPr>
          <a:xfrm>
            <a:off x="5422392" y="1389888"/>
            <a:ext cx="3017520" cy="256032"/>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Hardware-specific graph fusion &amp; kernel tuning</a:t>
            </a:r>
            <a:endParaRPr lang="en-US" sz="1050" dirty="0"/>
          </a:p>
        </p:txBody>
      </p:sp>
      <p:sp>
        <p:nvSpPr>
          <p:cNvPr id="32" name="Shape 30"/>
          <p:cNvSpPr/>
          <p:nvPr/>
        </p:nvSpPr>
        <p:spPr>
          <a:xfrm>
            <a:off x="8010144" y="1078992"/>
            <a:ext cx="868680" cy="246888"/>
          </a:xfrm>
          <a:prstGeom prst="roundRect">
            <a:avLst>
              <a:gd name="adj" fmla="val 48148"/>
            </a:avLst>
          </a:prstGeom>
          <a:solidFill>
            <a:srgbClr val="2F855A"/>
          </a:solidFill>
          <a:ln w="12700">
            <a:solidFill>
              <a:srgbClr val="2F855A"/>
            </a:solidFill>
            <a:prstDash val="solid"/>
          </a:ln>
        </p:spPr>
      </p:sp>
      <p:sp>
        <p:nvSpPr>
          <p:cNvPr id="33" name="Text 31"/>
          <p:cNvSpPr/>
          <p:nvPr/>
        </p:nvSpPr>
        <p:spPr>
          <a:xfrm>
            <a:off x="8010144" y="1078992"/>
            <a:ext cx="86868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 min</a:t>
            </a:r>
            <a:endParaRPr lang="en-US" sz="950" dirty="0"/>
          </a:p>
        </p:txBody>
      </p:sp>
      <p:sp>
        <p:nvSpPr>
          <p:cNvPr id="34" name="Shape 32"/>
          <p:cNvSpPr/>
          <p:nvPr/>
        </p:nvSpPr>
        <p:spPr>
          <a:xfrm>
            <a:off x="4828032" y="1965960"/>
            <a:ext cx="4206240" cy="804672"/>
          </a:xfrm>
          <a:prstGeom prst="roundRect">
            <a:avLst>
              <a:gd name="adj" fmla="val 13636"/>
            </a:avLst>
          </a:prstGeom>
          <a:solidFill>
            <a:srgbClr val="FDEAEA"/>
          </a:solidFill>
          <a:ln w="12700">
            <a:solidFill>
              <a:srgbClr val="FDEAEA"/>
            </a:solidFill>
            <a:prstDash val="solid"/>
          </a:ln>
        </p:spPr>
      </p:sp>
      <p:sp>
        <p:nvSpPr>
          <p:cNvPr id="35" name="Text 33"/>
          <p:cNvSpPr/>
          <p:nvPr/>
        </p:nvSpPr>
        <p:spPr>
          <a:xfrm>
            <a:off x="4992624" y="2039112"/>
            <a:ext cx="457200" cy="320040"/>
          </a:xfrm>
          <a:prstGeom prst="rect">
            <a:avLst/>
          </a:prstGeom>
          <a:noFill/>
          <a:ln/>
        </p:spPr>
        <p:txBody>
          <a:bodyPr wrap="square" rtlCol="0" anchor="ctr"/>
          <a:lstStyle/>
          <a:p>
            <a:pPr indent="0" marL="0">
              <a:buNone/>
            </a:pPr>
            <a:r>
              <a:rPr lang="en-US" sz="1800" b="1" dirty="0">
                <a:solidFill>
                  <a:srgbClr val="E53E3E"/>
                </a:solidFill>
                <a:latin typeface="Calibri" pitchFamily="34" charset="0"/>
                <a:ea typeface="Calibri" pitchFamily="34" charset="-122"/>
                <a:cs typeface="Calibri" pitchFamily="34" charset="-120"/>
              </a:rPr>
              <a:t>06</a:t>
            </a:r>
            <a:endParaRPr lang="en-US" sz="1800" dirty="0"/>
          </a:p>
        </p:txBody>
      </p:sp>
      <p:sp>
        <p:nvSpPr>
          <p:cNvPr id="36" name="Text 34"/>
          <p:cNvSpPr/>
          <p:nvPr/>
        </p:nvSpPr>
        <p:spPr>
          <a:xfrm>
            <a:off x="5422392" y="2020824"/>
            <a:ext cx="3017520" cy="320040"/>
          </a:xfrm>
          <a:prstGeom prst="rect">
            <a:avLst/>
          </a:prstGeom>
          <a:noFill/>
          <a:ln/>
        </p:spPr>
        <p:txBody>
          <a:bodyPr wrap="square" rtlCol="0" anchor="ctr"/>
          <a:lstStyle/>
          <a:p>
            <a:pPr indent="0" marL="0">
              <a:buNone/>
            </a:pPr>
            <a:r>
              <a:rPr lang="en-US" sz="1400" b="1" dirty="0">
                <a:solidFill>
                  <a:srgbClr val="1C2B3A"/>
                </a:solidFill>
                <a:latin typeface="Calibri" pitchFamily="34" charset="0"/>
                <a:ea typeface="Calibri" pitchFamily="34" charset="-122"/>
                <a:cs typeface="Calibri" pitchFamily="34" charset="-120"/>
              </a:rPr>
              <a:t>Combining &amp; Trade-offs</a:t>
            </a:r>
            <a:endParaRPr lang="en-US" sz="1400" dirty="0"/>
          </a:p>
        </p:txBody>
      </p:sp>
      <p:sp>
        <p:nvSpPr>
          <p:cNvPr id="37" name="Text 35"/>
          <p:cNvSpPr/>
          <p:nvPr/>
        </p:nvSpPr>
        <p:spPr>
          <a:xfrm>
            <a:off x="5422392" y="2350008"/>
            <a:ext cx="3017520" cy="256032"/>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Stacking techniques · accuracy vs speed curves</a:t>
            </a:r>
            <a:endParaRPr lang="en-US" sz="1050" dirty="0"/>
          </a:p>
        </p:txBody>
      </p:sp>
      <p:sp>
        <p:nvSpPr>
          <p:cNvPr id="38" name="Shape 36"/>
          <p:cNvSpPr/>
          <p:nvPr/>
        </p:nvSpPr>
        <p:spPr>
          <a:xfrm>
            <a:off x="8010144" y="2039112"/>
            <a:ext cx="868680" cy="246888"/>
          </a:xfrm>
          <a:prstGeom prst="roundRect">
            <a:avLst>
              <a:gd name="adj" fmla="val 48148"/>
            </a:avLst>
          </a:prstGeom>
          <a:solidFill>
            <a:srgbClr val="E53E3E"/>
          </a:solidFill>
          <a:ln w="12700">
            <a:solidFill>
              <a:srgbClr val="E53E3E"/>
            </a:solidFill>
            <a:prstDash val="solid"/>
          </a:ln>
        </p:spPr>
      </p:sp>
      <p:sp>
        <p:nvSpPr>
          <p:cNvPr id="39" name="Text 37"/>
          <p:cNvSpPr/>
          <p:nvPr/>
        </p:nvSpPr>
        <p:spPr>
          <a:xfrm>
            <a:off x="8010144" y="2039112"/>
            <a:ext cx="86868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min</a:t>
            </a:r>
            <a:endParaRPr lang="en-US" sz="950" dirty="0"/>
          </a:p>
        </p:txBody>
      </p:sp>
      <p:sp>
        <p:nvSpPr>
          <p:cNvPr id="40" name="Shape 38"/>
          <p:cNvSpPr/>
          <p:nvPr/>
        </p:nvSpPr>
        <p:spPr>
          <a:xfrm>
            <a:off x="4828032" y="2926080"/>
            <a:ext cx="4206240" cy="804672"/>
          </a:xfrm>
          <a:prstGeom prst="roundRect">
            <a:avLst>
              <a:gd name="adj" fmla="val 13636"/>
            </a:avLst>
          </a:prstGeom>
          <a:solidFill>
            <a:srgbClr val="F1F5F9"/>
          </a:solidFill>
          <a:ln w="12700">
            <a:solidFill>
              <a:srgbClr val="F1F5F9"/>
            </a:solidFill>
            <a:prstDash val="solid"/>
          </a:ln>
        </p:spPr>
      </p:sp>
      <p:sp>
        <p:nvSpPr>
          <p:cNvPr id="41" name="Text 39"/>
          <p:cNvSpPr/>
          <p:nvPr/>
        </p:nvSpPr>
        <p:spPr>
          <a:xfrm>
            <a:off x="4992624" y="2999232"/>
            <a:ext cx="457200" cy="320040"/>
          </a:xfrm>
          <a:prstGeom prst="rect">
            <a:avLst/>
          </a:prstGeom>
          <a:noFill/>
          <a:ln/>
        </p:spPr>
        <p:txBody>
          <a:bodyPr wrap="square" rtlCol="0" anchor="ctr"/>
          <a:lstStyle/>
          <a:p>
            <a:pPr indent="0" marL="0">
              <a:buNone/>
            </a:pPr>
            <a:r>
              <a:rPr lang="en-US" sz="1800" b="1" dirty="0">
                <a:solidFill>
                  <a:srgbClr val="4A5568"/>
                </a:solidFill>
                <a:latin typeface="Calibri" pitchFamily="34" charset="0"/>
                <a:ea typeface="Calibri" pitchFamily="34" charset="-122"/>
                <a:cs typeface="Calibri" pitchFamily="34" charset="-120"/>
              </a:rPr>
              <a:t>07</a:t>
            </a:r>
            <a:endParaRPr lang="en-US" sz="1800" dirty="0"/>
          </a:p>
        </p:txBody>
      </p:sp>
      <p:sp>
        <p:nvSpPr>
          <p:cNvPr id="42" name="Text 40"/>
          <p:cNvSpPr/>
          <p:nvPr/>
        </p:nvSpPr>
        <p:spPr>
          <a:xfrm>
            <a:off x="5422392" y="2980944"/>
            <a:ext cx="3017520" cy="320040"/>
          </a:xfrm>
          <a:prstGeom prst="rect">
            <a:avLst/>
          </a:prstGeom>
          <a:noFill/>
          <a:ln/>
        </p:spPr>
        <p:txBody>
          <a:bodyPr wrap="square" rtlCol="0" anchor="ctr"/>
          <a:lstStyle/>
          <a:p>
            <a:pPr indent="0" marL="0">
              <a:buNone/>
            </a:pPr>
            <a:r>
              <a:rPr lang="en-US" sz="1400" b="1" dirty="0">
                <a:solidFill>
                  <a:srgbClr val="1C2B3A"/>
                </a:solidFill>
                <a:latin typeface="Calibri" pitchFamily="34" charset="0"/>
                <a:ea typeface="Calibri" pitchFamily="34" charset="-122"/>
                <a:cs typeface="Calibri" pitchFamily="34" charset="-120"/>
              </a:rPr>
              <a:t>Lab &amp; Wrap-up</a:t>
            </a:r>
            <a:endParaRPr lang="en-US" sz="1400" dirty="0"/>
          </a:p>
        </p:txBody>
      </p:sp>
      <p:sp>
        <p:nvSpPr>
          <p:cNvPr id="43" name="Text 41"/>
          <p:cNvSpPr/>
          <p:nvPr/>
        </p:nvSpPr>
        <p:spPr>
          <a:xfrm>
            <a:off x="5422392" y="3310128"/>
            <a:ext cx="3017520" cy="256032"/>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Colab walkthrough + Q&amp;A</a:t>
            </a:r>
            <a:endParaRPr lang="en-US" sz="1050" dirty="0"/>
          </a:p>
        </p:txBody>
      </p:sp>
      <p:sp>
        <p:nvSpPr>
          <p:cNvPr id="44" name="Shape 42"/>
          <p:cNvSpPr/>
          <p:nvPr/>
        </p:nvSpPr>
        <p:spPr>
          <a:xfrm>
            <a:off x="8010144" y="2999232"/>
            <a:ext cx="868680" cy="246888"/>
          </a:xfrm>
          <a:prstGeom prst="roundRect">
            <a:avLst>
              <a:gd name="adj" fmla="val 48148"/>
            </a:avLst>
          </a:prstGeom>
          <a:solidFill>
            <a:srgbClr val="4A5568"/>
          </a:solidFill>
          <a:ln w="12700">
            <a:solidFill>
              <a:srgbClr val="4A5568"/>
            </a:solidFill>
            <a:prstDash val="solid"/>
          </a:ln>
        </p:spPr>
      </p:sp>
      <p:sp>
        <p:nvSpPr>
          <p:cNvPr id="45" name="Text 43"/>
          <p:cNvSpPr/>
          <p:nvPr/>
        </p:nvSpPr>
        <p:spPr>
          <a:xfrm>
            <a:off x="8010144" y="2999232"/>
            <a:ext cx="86868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min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Why does optimization matter?</a:t>
            </a:r>
            <a:endParaRPr lang="en-US" sz="2800" dirty="0"/>
          </a:p>
        </p:txBody>
      </p:sp>
      <p:sp>
        <p:nvSpPr>
          <p:cNvPr id="3" name="Text 1"/>
          <p:cNvSpPr/>
          <p:nvPr/>
        </p:nvSpPr>
        <p:spPr>
          <a:xfrm>
            <a:off x="411480" y="777240"/>
            <a:ext cx="8321040" cy="320040"/>
          </a:xfrm>
          <a:prstGeom prst="rect">
            <a:avLst/>
          </a:prstGeom>
          <a:noFill/>
          <a:ln/>
        </p:spPr>
        <p:txBody>
          <a:bodyPr wrap="square" rtlCol="0" anchor="ctr"/>
          <a:lstStyle/>
          <a:p>
            <a:pPr indent="0" marL="0">
              <a:buNone/>
            </a:pPr>
            <a:r>
              <a:rPr lang="en-US" sz="1300" dirty="0">
                <a:solidFill>
                  <a:srgbClr val="A0AEC0"/>
                </a:solidFill>
                <a:latin typeface="Calibri" pitchFamily="34" charset="0"/>
                <a:ea typeface="Calibri" pitchFamily="34" charset="-122"/>
                <a:cs typeface="Calibri" pitchFamily="34" charset="-120"/>
              </a:rPr>
              <a:t>Unoptimized production models are expensive, slow, and energy-hungry.</a:t>
            </a:r>
            <a:endParaRPr lang="en-US" sz="1300" dirty="0"/>
          </a:p>
        </p:txBody>
      </p:sp>
      <p:sp>
        <p:nvSpPr>
          <p:cNvPr id="4" name="Shape 2"/>
          <p:cNvSpPr/>
          <p:nvPr/>
        </p:nvSpPr>
        <p:spPr>
          <a:xfrm>
            <a:off x="411480" y="1325880"/>
            <a:ext cx="2651760" cy="2331720"/>
          </a:xfrm>
          <a:prstGeom prst="roundRect">
            <a:avLst>
              <a:gd name="adj" fmla="val 5490"/>
            </a:avLst>
          </a:prstGeom>
          <a:solidFill>
            <a:srgbClr val="1A2E45"/>
          </a:solidFill>
          <a:ln w="12700">
            <a:solidFill>
              <a:srgbClr val="263A54"/>
            </a:solidFill>
            <a:prstDash val="solid"/>
          </a:ln>
        </p:spPr>
      </p:sp>
      <p:sp>
        <p:nvSpPr>
          <p:cNvPr id="5" name="Text 3"/>
          <p:cNvSpPr/>
          <p:nvPr/>
        </p:nvSpPr>
        <p:spPr>
          <a:xfrm>
            <a:off x="411480" y="1874520"/>
            <a:ext cx="2651760" cy="82296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10–100×</a:t>
            </a:r>
            <a:endParaRPr lang="en-US" sz="3800" dirty="0"/>
          </a:p>
        </p:txBody>
      </p:sp>
      <p:sp>
        <p:nvSpPr>
          <p:cNvPr id="6" name="Text 4"/>
          <p:cNvSpPr/>
          <p:nvPr/>
        </p:nvSpPr>
        <p:spPr>
          <a:xfrm>
            <a:off x="411480" y="2679192"/>
            <a:ext cx="2651760" cy="365760"/>
          </a:xfrm>
          <a:prstGeom prst="rect">
            <a:avLst/>
          </a:prstGeom>
          <a:noFill/>
          <a:ln/>
        </p:spPr>
        <p:txBody>
          <a:bodyPr wrap="square"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Inference cost</a:t>
            </a:r>
            <a:endParaRPr lang="en-US" sz="1300" dirty="0"/>
          </a:p>
        </p:txBody>
      </p:sp>
      <p:sp>
        <p:nvSpPr>
          <p:cNvPr id="7" name="Text 5"/>
          <p:cNvSpPr/>
          <p:nvPr/>
        </p:nvSpPr>
        <p:spPr>
          <a:xfrm>
            <a:off x="576072" y="3044952"/>
            <a:ext cx="2322576" cy="502920"/>
          </a:xfrm>
          <a:prstGeom prst="rect">
            <a:avLst/>
          </a:prstGeom>
          <a:noFill/>
          <a:ln/>
        </p:spPr>
        <p:txBody>
          <a:bodyPr wrap="square" rtlCol="0" anchor="ctr"/>
          <a:lstStyle/>
          <a:p>
            <a:pPr algn="ctr" indent="0" marL="0">
              <a:buNone/>
            </a:pPr>
            <a:r>
              <a:rPr lang="en-US" sz="1050" dirty="0">
                <a:solidFill>
                  <a:srgbClr val="718096"/>
                </a:solidFill>
                <a:latin typeface="Calibri" pitchFamily="34" charset="0"/>
                <a:ea typeface="Calibri" pitchFamily="34" charset="-122"/>
                <a:cs typeface="Calibri" pitchFamily="34" charset="-120"/>
              </a:rPr>
              <a:t>reduction possible with full optimization stack</a:t>
            </a:r>
            <a:endParaRPr lang="en-US" sz="1050" dirty="0"/>
          </a:p>
        </p:txBody>
      </p:sp>
      <p:sp>
        <p:nvSpPr>
          <p:cNvPr id="8" name="Shape 6"/>
          <p:cNvSpPr/>
          <p:nvPr/>
        </p:nvSpPr>
        <p:spPr>
          <a:xfrm>
            <a:off x="3319272" y="1325880"/>
            <a:ext cx="2651760" cy="2331720"/>
          </a:xfrm>
          <a:prstGeom prst="roundRect">
            <a:avLst>
              <a:gd name="adj" fmla="val 5490"/>
            </a:avLst>
          </a:prstGeom>
          <a:solidFill>
            <a:srgbClr val="1A2E45"/>
          </a:solidFill>
          <a:ln w="12700">
            <a:solidFill>
              <a:srgbClr val="263A54"/>
            </a:solidFill>
            <a:prstDash val="solid"/>
          </a:ln>
        </p:spPr>
      </p:sp>
      <p:sp>
        <p:nvSpPr>
          <p:cNvPr id="9" name="Text 7"/>
          <p:cNvSpPr/>
          <p:nvPr/>
        </p:nvSpPr>
        <p:spPr>
          <a:xfrm>
            <a:off x="3319272" y="1874520"/>
            <a:ext cx="2651760" cy="82296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4.0 GB</a:t>
            </a:r>
            <a:endParaRPr lang="en-US" sz="3800" dirty="0"/>
          </a:p>
        </p:txBody>
      </p:sp>
      <p:sp>
        <p:nvSpPr>
          <p:cNvPr id="10" name="Text 8"/>
          <p:cNvSpPr/>
          <p:nvPr/>
        </p:nvSpPr>
        <p:spPr>
          <a:xfrm>
            <a:off x="3319272" y="2679192"/>
            <a:ext cx="2651760" cy="365760"/>
          </a:xfrm>
          <a:prstGeom prst="rect">
            <a:avLst/>
          </a:prstGeom>
          <a:noFill/>
          <a:ln/>
        </p:spPr>
        <p:txBody>
          <a:bodyPr wrap="square" rtlCol="0" anchor="ctr"/>
          <a:lstStyle/>
          <a:p>
            <a:pPr algn="ctr" indent="0" marL="0">
              <a:buNone/>
            </a:pPr>
            <a:r>
              <a:rPr lang="en-US" sz="1300" b="1" dirty="0">
                <a:solidFill>
                  <a:srgbClr val="00BFA5"/>
                </a:solidFill>
                <a:latin typeface="Calibri" pitchFamily="34" charset="0"/>
                <a:ea typeface="Calibri" pitchFamily="34" charset="-122"/>
                <a:cs typeface="Calibri" pitchFamily="34" charset="-120"/>
              </a:rPr>
              <a:t>BERT base (FP32)</a:t>
            </a:r>
            <a:endParaRPr lang="en-US" sz="1300" dirty="0"/>
          </a:p>
        </p:txBody>
      </p:sp>
      <p:sp>
        <p:nvSpPr>
          <p:cNvPr id="11" name="Text 9"/>
          <p:cNvSpPr/>
          <p:nvPr/>
        </p:nvSpPr>
        <p:spPr>
          <a:xfrm>
            <a:off x="3483864" y="3044952"/>
            <a:ext cx="2322576" cy="502920"/>
          </a:xfrm>
          <a:prstGeom prst="rect">
            <a:avLst/>
          </a:prstGeom>
          <a:noFill/>
          <a:ln/>
        </p:spPr>
        <p:txBody>
          <a:bodyPr wrap="square" rtlCol="0" anchor="ctr"/>
          <a:lstStyle/>
          <a:p>
            <a:pPr algn="ctr" indent="0" marL="0">
              <a:buNone/>
            </a:pPr>
            <a:r>
              <a:rPr lang="en-US" sz="1050" dirty="0">
                <a:solidFill>
                  <a:srgbClr val="718096"/>
                </a:solidFill>
                <a:latin typeface="Calibri" pitchFamily="34" charset="0"/>
                <a:ea typeface="Calibri" pitchFamily="34" charset="-122"/>
                <a:cs typeface="Calibri" pitchFamily="34" charset="-120"/>
              </a:rPr>
              <a:t>shrinks to 1 GB at INT8 — fits a mobile device</a:t>
            </a:r>
            <a:endParaRPr lang="en-US" sz="1050" dirty="0"/>
          </a:p>
        </p:txBody>
      </p:sp>
      <p:sp>
        <p:nvSpPr>
          <p:cNvPr id="12" name="Shape 10"/>
          <p:cNvSpPr/>
          <p:nvPr/>
        </p:nvSpPr>
        <p:spPr>
          <a:xfrm>
            <a:off x="6227064" y="1325880"/>
            <a:ext cx="2651760" cy="2331720"/>
          </a:xfrm>
          <a:prstGeom prst="roundRect">
            <a:avLst>
              <a:gd name="adj" fmla="val 5490"/>
            </a:avLst>
          </a:prstGeom>
          <a:solidFill>
            <a:srgbClr val="1A2E45"/>
          </a:solidFill>
          <a:ln w="12700">
            <a:solidFill>
              <a:srgbClr val="263A54"/>
            </a:solidFill>
            <a:prstDash val="solid"/>
          </a:ln>
        </p:spPr>
      </p:sp>
      <p:sp>
        <p:nvSpPr>
          <p:cNvPr id="13" name="Text 11"/>
          <p:cNvSpPr/>
          <p:nvPr/>
        </p:nvSpPr>
        <p:spPr>
          <a:xfrm>
            <a:off x="6227064" y="1874520"/>
            <a:ext cx="2651760" cy="82296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3–5×</a:t>
            </a:r>
            <a:endParaRPr lang="en-US" sz="3800" dirty="0"/>
          </a:p>
        </p:txBody>
      </p:sp>
      <p:sp>
        <p:nvSpPr>
          <p:cNvPr id="14" name="Text 12"/>
          <p:cNvSpPr/>
          <p:nvPr/>
        </p:nvSpPr>
        <p:spPr>
          <a:xfrm>
            <a:off x="6227064" y="2679192"/>
            <a:ext cx="2651760" cy="365760"/>
          </a:xfrm>
          <a:prstGeom prst="rect">
            <a:avLst/>
          </a:prstGeom>
          <a:noFill/>
          <a:ln/>
        </p:spPr>
        <p:txBody>
          <a:bodyPr wrap="square" rtlCol="0" anchor="ctr"/>
          <a:lstStyle/>
          <a:p>
            <a:pPr algn="ctr" indent="0" marL="0">
              <a:buNone/>
            </a:pPr>
            <a:r>
              <a:rPr lang="en-US" sz="1300" b="1" dirty="0">
                <a:solidFill>
                  <a:srgbClr val="E53E3E"/>
                </a:solidFill>
                <a:latin typeface="Calibri" pitchFamily="34" charset="0"/>
                <a:ea typeface="Calibri" pitchFamily="34" charset="-122"/>
                <a:cs typeface="Calibri" pitchFamily="34" charset="-120"/>
              </a:rPr>
              <a:t>Latency speedup</a:t>
            </a:r>
            <a:endParaRPr lang="en-US" sz="1300" dirty="0"/>
          </a:p>
        </p:txBody>
      </p:sp>
      <p:sp>
        <p:nvSpPr>
          <p:cNvPr id="15" name="Text 13"/>
          <p:cNvSpPr/>
          <p:nvPr/>
        </p:nvSpPr>
        <p:spPr>
          <a:xfrm>
            <a:off x="6391656" y="3044952"/>
            <a:ext cx="2322576" cy="502920"/>
          </a:xfrm>
          <a:prstGeom prst="rect">
            <a:avLst/>
          </a:prstGeom>
          <a:noFill/>
          <a:ln/>
        </p:spPr>
        <p:txBody>
          <a:bodyPr wrap="square" rtlCol="0" anchor="ctr"/>
          <a:lstStyle/>
          <a:p>
            <a:pPr algn="ctr" indent="0" marL="0">
              <a:buNone/>
            </a:pPr>
            <a:r>
              <a:rPr lang="en-US" sz="1050" dirty="0">
                <a:solidFill>
                  <a:srgbClr val="718096"/>
                </a:solidFill>
                <a:latin typeface="Calibri" pitchFamily="34" charset="0"/>
                <a:ea typeface="Calibri" pitchFamily="34" charset="-122"/>
                <a:cs typeface="Calibri" pitchFamily="34" charset="-120"/>
              </a:rPr>
              <a:t>INT8 quantization alone on a typical GPU/CPU</a:t>
            </a:r>
            <a:endParaRPr lang="en-US" sz="1050" dirty="0"/>
          </a:p>
        </p:txBody>
      </p:sp>
      <p:sp>
        <p:nvSpPr>
          <p:cNvPr id="16" name="Shape 14"/>
          <p:cNvSpPr/>
          <p:nvPr/>
        </p:nvSpPr>
        <p:spPr>
          <a:xfrm>
            <a:off x="1463040" y="1463040"/>
            <a:ext cx="530352" cy="530352"/>
          </a:xfrm>
          <a:prstGeom prst="ellipse">
            <a:avLst/>
          </a:prstGeom>
          <a:solidFill>
            <a:srgbClr val="F59E0B">
              <a:alpha val="15000"/>
            </a:srgbClr>
          </a:solidFill>
          <a:ln w="12700">
            <a:solidFill>
              <a:srgbClr val="F59E0B"/>
            </a:solidFill>
            <a:prstDash val="solid"/>
          </a:ln>
        </p:spPr>
      </p:sp>
      <p:pic>
        <p:nvPicPr>
          <p:cNvPr id="17" name="Image 0" descr="preencoded.png">    </p:cNvPr>
          <p:cNvPicPr>
            <a:picLocks noChangeAspect="1"/>
          </p:cNvPicPr>
          <p:nvPr/>
        </p:nvPicPr>
        <p:blipFill>
          <a:blip r:embed="rId1"/>
          <a:stretch>
            <a:fillRect/>
          </a:stretch>
        </p:blipFill>
        <p:spPr>
          <a:xfrm>
            <a:off x="1527048" y="1517904"/>
            <a:ext cx="393192" cy="393192"/>
          </a:xfrm>
          <a:prstGeom prst="rect">
            <a:avLst/>
          </a:prstGeom>
        </p:spPr>
      </p:pic>
      <p:sp>
        <p:nvSpPr>
          <p:cNvPr id="18" name="Shape 15"/>
          <p:cNvSpPr/>
          <p:nvPr/>
        </p:nvSpPr>
        <p:spPr>
          <a:xfrm>
            <a:off x="4370832" y="1463040"/>
            <a:ext cx="530352" cy="530352"/>
          </a:xfrm>
          <a:prstGeom prst="ellipse">
            <a:avLst/>
          </a:prstGeom>
          <a:solidFill>
            <a:srgbClr val="00BFA5">
              <a:alpha val="15000"/>
            </a:srgbClr>
          </a:solidFill>
          <a:ln w="12700">
            <a:solidFill>
              <a:srgbClr val="00BFA5"/>
            </a:solidFill>
            <a:prstDash val="solid"/>
          </a:ln>
        </p:spPr>
      </p:sp>
      <p:pic>
        <p:nvPicPr>
          <p:cNvPr id="19" name="Image 1" descr="preencoded.png">    </p:cNvPr>
          <p:cNvPicPr>
            <a:picLocks noChangeAspect="1"/>
          </p:cNvPicPr>
          <p:nvPr/>
        </p:nvPicPr>
        <p:blipFill>
          <a:blip r:embed="rId2"/>
          <a:stretch>
            <a:fillRect/>
          </a:stretch>
        </p:blipFill>
        <p:spPr>
          <a:xfrm>
            <a:off x="4434840" y="1517904"/>
            <a:ext cx="393192" cy="393192"/>
          </a:xfrm>
          <a:prstGeom prst="rect">
            <a:avLst/>
          </a:prstGeom>
        </p:spPr>
      </p:pic>
      <p:sp>
        <p:nvSpPr>
          <p:cNvPr id="20" name="Shape 16"/>
          <p:cNvSpPr/>
          <p:nvPr/>
        </p:nvSpPr>
        <p:spPr>
          <a:xfrm>
            <a:off x="7278624" y="1463040"/>
            <a:ext cx="530352" cy="530352"/>
          </a:xfrm>
          <a:prstGeom prst="ellipse">
            <a:avLst/>
          </a:prstGeom>
          <a:solidFill>
            <a:srgbClr val="E53E3E">
              <a:alpha val="15000"/>
            </a:srgbClr>
          </a:solidFill>
          <a:ln w="12700">
            <a:solidFill>
              <a:srgbClr val="E53E3E"/>
            </a:solidFill>
            <a:prstDash val="solid"/>
          </a:ln>
        </p:spPr>
      </p:sp>
      <p:pic>
        <p:nvPicPr>
          <p:cNvPr id="21" name="Image 2" descr="preencoded.png">    </p:cNvPr>
          <p:cNvPicPr>
            <a:picLocks noChangeAspect="1"/>
          </p:cNvPicPr>
          <p:nvPr/>
        </p:nvPicPr>
        <p:blipFill>
          <a:blip r:embed="rId3"/>
          <a:stretch>
            <a:fillRect/>
          </a:stretch>
        </p:blipFill>
        <p:spPr>
          <a:xfrm>
            <a:off x="7342632" y="1517904"/>
            <a:ext cx="393192" cy="393192"/>
          </a:xfrm>
          <a:prstGeom prst="rect">
            <a:avLst/>
          </a:prstGeom>
        </p:spPr>
      </p:pic>
      <p:sp>
        <p:nvSpPr>
          <p:cNvPr id="22" name="Shape 17"/>
          <p:cNvSpPr/>
          <p:nvPr/>
        </p:nvSpPr>
        <p:spPr>
          <a:xfrm>
            <a:off x="411480" y="3840480"/>
            <a:ext cx="8321040" cy="777240"/>
          </a:xfrm>
          <a:prstGeom prst="roundRect">
            <a:avLst>
              <a:gd name="adj" fmla="val 11765"/>
            </a:avLst>
          </a:prstGeom>
          <a:solidFill>
            <a:srgbClr val="00BFA5">
              <a:alpha val="12000"/>
            </a:srgbClr>
          </a:solidFill>
          <a:ln w="12700">
            <a:solidFill>
              <a:srgbClr val="00BFA5"/>
            </a:solidFill>
            <a:prstDash val="solid"/>
          </a:ln>
        </p:spPr>
      </p:sp>
      <p:sp>
        <p:nvSpPr>
          <p:cNvPr id="23" name="Text 18"/>
          <p:cNvSpPr/>
          <p:nvPr/>
        </p:nvSpPr>
        <p:spPr>
          <a:xfrm>
            <a:off x="594360" y="3904488"/>
            <a:ext cx="7955280" cy="640080"/>
          </a:xfrm>
          <a:prstGeom prst="rect">
            <a:avLst/>
          </a:prstGeom>
          <a:noFill/>
          <a:ln/>
        </p:spPr>
        <p:txBody>
          <a:bodyPr wrap="square" rtlCol="0" anchor="ctr"/>
          <a:lstStyle/>
          <a:p>
            <a:pPr indent="0" marL="0">
              <a:buNone/>
            </a:pPr>
            <a:r>
              <a:rPr lang="en-US" sz="1200" i="1" dirty="0">
                <a:solidFill>
                  <a:srgbClr val="E2FDFB"/>
                </a:solidFill>
                <a:latin typeface="Calibri" pitchFamily="34" charset="0"/>
                <a:ea typeface="Calibri" pitchFamily="34" charset="-122"/>
                <a:cs typeface="Calibri" pitchFamily="34" charset="-120"/>
              </a:rPr>
              <a:t>GPT-3 training emitted ~552 tonnes of CO₂. Every 10× reduction in inference cost directly reduces energy usage and carbon footprint at scale.</a:t>
            </a:r>
            <a:endParaRPr lang="en-US" sz="1200" dirty="0"/>
          </a:p>
        </p:txBody>
      </p:sp>
      <p:pic>
        <p:nvPicPr>
          <p:cNvPr id="24" name="Image 3" descr="preencoded.png">    </p:cNvPr>
          <p:cNvPicPr>
            <a:picLocks noChangeAspect="1"/>
          </p:cNvPicPr>
          <p:nvPr/>
        </p:nvPicPr>
        <p:blipFill>
          <a:blip r:embed="rId4"/>
          <a:stretch>
            <a:fillRect/>
          </a:stretch>
        </p:blipFill>
        <p:spPr>
          <a:xfrm>
            <a:off x="457200" y="3959352"/>
            <a:ext cx="320040" cy="320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3000" b="1" dirty="0">
                <a:solidFill>
                  <a:srgbClr val="1C2B3A"/>
                </a:solidFill>
                <a:latin typeface="Calibri" pitchFamily="34" charset="0"/>
                <a:ea typeface="Calibri" pitchFamily="34" charset="-122"/>
                <a:cs typeface="Calibri" pitchFamily="34" charset="-120"/>
              </a:rPr>
              <a:t>What is model optimization?</a:t>
            </a:r>
            <a:endParaRPr lang="en-US" sz="3000" dirty="0"/>
          </a:p>
        </p:txBody>
      </p:sp>
      <p:sp>
        <p:nvSpPr>
          <p:cNvPr id="3" name="Text 1"/>
          <p:cNvSpPr/>
          <p:nvPr/>
        </p:nvSpPr>
        <p:spPr>
          <a:xfrm>
            <a:off x="411480" y="795528"/>
            <a:ext cx="8321040" cy="27432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Making a trained model smaller, faster, and cheaper — without retraining from scratch</a:t>
            </a:r>
            <a:endParaRPr lang="en-US" sz="1300" dirty="0"/>
          </a:p>
        </p:txBody>
      </p:sp>
      <p:sp>
        <p:nvSpPr>
          <p:cNvPr id="4" name="Shape 2"/>
          <p:cNvSpPr/>
          <p:nvPr/>
        </p:nvSpPr>
        <p:spPr>
          <a:xfrm>
            <a:off x="411480" y="1005840"/>
            <a:ext cx="4114800" cy="3703320"/>
          </a:xfrm>
          <a:prstGeom prst="roundRect">
            <a:avLst>
              <a:gd name="adj" fmla="val 2963"/>
            </a:avLst>
          </a:prstGeom>
          <a:solidFill>
            <a:srgbClr val="0D1B2A"/>
          </a:solidFill>
          <a:ln w="12700">
            <a:solidFill>
              <a:srgbClr val="0D1B2A"/>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594360" y="1143000"/>
            <a:ext cx="3749040" cy="320040"/>
          </a:xfrm>
          <a:prstGeom prst="rect">
            <a:avLst/>
          </a:prstGeom>
          <a:noFill/>
          <a:ln/>
        </p:spPr>
        <p:txBody>
          <a:bodyPr wrap="square" rtlCol="0" anchor="ctr"/>
          <a:lstStyle/>
          <a:p>
            <a:pPr indent="0" marL="0">
              <a:buNone/>
            </a:pPr>
            <a:r>
              <a:rPr lang="en-US" sz="1100" b="1" dirty="0">
                <a:solidFill>
                  <a:srgbClr val="00BFA5"/>
                </a:solidFill>
                <a:latin typeface="Calibri" pitchFamily="34" charset="0"/>
                <a:ea typeface="Calibri" pitchFamily="34" charset="-122"/>
                <a:cs typeface="Calibri" pitchFamily="34" charset="-120"/>
              </a:rPr>
              <a:t>Definition</a:t>
            </a:r>
            <a:endParaRPr lang="en-US" sz="1100" dirty="0"/>
          </a:p>
        </p:txBody>
      </p:sp>
      <p:sp>
        <p:nvSpPr>
          <p:cNvPr id="6" name="Text 4"/>
          <p:cNvSpPr/>
          <p:nvPr/>
        </p:nvSpPr>
        <p:spPr>
          <a:xfrm>
            <a:off x="594360" y="1481328"/>
            <a:ext cx="3749040" cy="1508760"/>
          </a:xfrm>
          <a:prstGeom prst="rect">
            <a:avLst/>
          </a:prstGeom>
          <a:noFill/>
          <a:ln/>
        </p:spPr>
        <p:txBody>
          <a:bodyPr wrap="square" rtlCol="0" anchor="ctr"/>
          <a:lstStyle/>
          <a:p>
            <a:pPr indent="0" marL="0">
              <a:lnSpc>
                <a:spcPct val="130000"/>
              </a:lnSpc>
              <a:buNone/>
            </a:pPr>
            <a:r>
              <a:rPr lang="en-US" sz="1300" dirty="0">
                <a:solidFill>
                  <a:srgbClr val="CBD5E0"/>
                </a:solidFill>
                <a:latin typeface="Calibri" pitchFamily="34" charset="0"/>
                <a:ea typeface="Calibri" pitchFamily="34" charset="-122"/>
                <a:cs typeface="Calibri" pitchFamily="34" charset="-120"/>
              </a:rPr>
              <a:t>Model optimization is the engineering process of reducing a trained neural network's computational cost — in terms of latency, memory, and energy — while preserving as much of its task performance (accuracy, F1, etc.) as possible.</a:t>
            </a:r>
            <a:endParaRPr lang="en-US" sz="1300" dirty="0"/>
          </a:p>
        </p:txBody>
      </p:sp>
      <p:sp>
        <p:nvSpPr>
          <p:cNvPr id="7" name="Shape 5"/>
          <p:cNvSpPr/>
          <p:nvPr/>
        </p:nvSpPr>
        <p:spPr>
          <a:xfrm>
            <a:off x="594360" y="3017520"/>
            <a:ext cx="3291840" cy="0"/>
          </a:xfrm>
          <a:prstGeom prst="line">
            <a:avLst/>
          </a:prstGeom>
          <a:noFill/>
          <a:ln w="12700">
            <a:solidFill>
              <a:srgbClr val="263A54"/>
            </a:solidFill>
            <a:prstDash val="solid"/>
          </a:ln>
        </p:spPr>
      </p:sp>
      <p:sp>
        <p:nvSpPr>
          <p:cNvPr id="8" name="Text 6"/>
          <p:cNvSpPr/>
          <p:nvPr/>
        </p:nvSpPr>
        <p:spPr>
          <a:xfrm>
            <a:off x="594360" y="3108960"/>
            <a:ext cx="3749040" cy="256032"/>
          </a:xfrm>
          <a:prstGeom prst="rect">
            <a:avLst/>
          </a:prstGeom>
          <a:noFill/>
          <a:ln/>
        </p:spPr>
        <p:txBody>
          <a:bodyPr wrap="square" rtlCol="0" anchor="ctr"/>
          <a:lstStyle/>
          <a:p>
            <a:pPr indent="0" marL="0">
              <a:buNone/>
            </a:pPr>
            <a:r>
              <a:rPr lang="en-US" sz="1000" b="1" dirty="0">
                <a:solidFill>
                  <a:srgbClr val="00BFA5"/>
                </a:solidFill>
                <a:latin typeface="Calibri" pitchFamily="34" charset="0"/>
                <a:ea typeface="Calibri" pitchFamily="34" charset="-122"/>
                <a:cs typeface="Calibri" pitchFamily="34" charset="-120"/>
              </a:rPr>
              <a:t>Key insight</a:t>
            </a:r>
            <a:endParaRPr lang="en-US" sz="1000" dirty="0"/>
          </a:p>
        </p:txBody>
      </p:sp>
      <p:sp>
        <p:nvSpPr>
          <p:cNvPr id="9" name="Text 7"/>
          <p:cNvSpPr/>
          <p:nvPr/>
        </p:nvSpPr>
        <p:spPr>
          <a:xfrm>
            <a:off x="594360" y="3401568"/>
            <a:ext cx="3749040" cy="777240"/>
          </a:xfrm>
          <a:prstGeom prst="rect">
            <a:avLst/>
          </a:prstGeom>
          <a:noFill/>
          <a:ln/>
        </p:spPr>
        <p:txBody>
          <a:bodyPr wrap="square" rtlCol="0" anchor="ctr"/>
          <a:lstStyle/>
          <a:p>
            <a:pPr indent="0" marL="0">
              <a:lnSpc>
                <a:spcPct val="130000"/>
              </a:lnSpc>
              <a:buNone/>
            </a:pPr>
            <a:r>
              <a:rPr lang="en-US" sz="1200" i="1" dirty="0">
                <a:solidFill>
                  <a:srgbClr val="A0AEC0"/>
                </a:solidFill>
                <a:latin typeface="Calibri" pitchFamily="34" charset="0"/>
                <a:ea typeface="Calibri" pitchFamily="34" charset="-122"/>
                <a:cs typeface="Calibri" pitchFamily="34" charset="-120"/>
              </a:rPr>
              <a:t>Optimization happens AFTER training. You keep the model's learned knowledge but change how it is represented and executed.</a:t>
            </a:r>
            <a:endParaRPr lang="en-US" sz="1200" dirty="0"/>
          </a:p>
        </p:txBody>
      </p:sp>
      <p:sp>
        <p:nvSpPr>
          <p:cNvPr id="10" name="Shape 8"/>
          <p:cNvSpPr/>
          <p:nvPr/>
        </p:nvSpPr>
        <p:spPr>
          <a:xfrm>
            <a:off x="4800600" y="1005840"/>
            <a:ext cx="3931920" cy="1097280"/>
          </a:xfrm>
          <a:prstGeom prst="roundRect">
            <a:avLst>
              <a:gd name="adj" fmla="val 10000"/>
            </a:avLst>
          </a:prstGeom>
          <a:solidFill>
            <a:srgbClr val="E6F7F5"/>
          </a:solidFill>
          <a:ln w="12700">
            <a:solidFill>
              <a:srgbClr val="E6F7F5"/>
            </a:solidFill>
            <a:prstDash val="solid"/>
          </a:ln>
          <a:effectLst>
            <a:outerShdw sx="100000" sy="100000" kx="0" ky="0" algn="bl" rotWithShape="0" blurRad="101600" dist="25400" dir="8100000">
              <a:srgbClr val="000000">
                <a:alpha val="10000"/>
              </a:srgbClr>
            </a:outerShdw>
          </a:effectLst>
        </p:spPr>
      </p:sp>
      <p:pic>
        <p:nvPicPr>
          <p:cNvPr id="11" name="Image 0" descr="preencoded.png">    </p:cNvPr>
          <p:cNvPicPr>
            <a:picLocks noChangeAspect="1"/>
          </p:cNvPicPr>
          <p:nvPr/>
        </p:nvPicPr>
        <p:blipFill>
          <a:blip r:embed="rId1"/>
          <a:stretch>
            <a:fillRect/>
          </a:stretch>
        </p:blipFill>
        <p:spPr>
          <a:xfrm>
            <a:off x="5001768" y="1325880"/>
            <a:ext cx="411480" cy="411480"/>
          </a:xfrm>
          <a:prstGeom prst="rect">
            <a:avLst/>
          </a:prstGeom>
        </p:spPr>
      </p:pic>
      <p:sp>
        <p:nvSpPr>
          <p:cNvPr id="12" name="Text 9"/>
          <p:cNvSpPr/>
          <p:nvPr/>
        </p:nvSpPr>
        <p:spPr>
          <a:xfrm>
            <a:off x="5550408" y="1143000"/>
            <a:ext cx="2834640" cy="365760"/>
          </a:xfrm>
          <a:prstGeom prst="rect">
            <a:avLst/>
          </a:prstGeom>
          <a:noFill/>
          <a:ln/>
        </p:spPr>
        <p:txBody>
          <a:bodyPr wrap="square" rtlCol="0" anchor="ctr"/>
          <a:lstStyle/>
          <a:p>
            <a:pPr indent="0" marL="0">
              <a:buNone/>
            </a:pPr>
            <a:r>
              <a:rPr lang="en-US" sz="1700" b="1" dirty="0">
                <a:solidFill>
                  <a:srgbClr val="007C6E"/>
                </a:solidFill>
                <a:latin typeface="Calibri" pitchFamily="34" charset="0"/>
                <a:ea typeface="Calibri" pitchFamily="34" charset="-122"/>
                <a:cs typeface="Calibri" pitchFamily="34" charset="-120"/>
              </a:rPr>
              <a:t>Smaller</a:t>
            </a:r>
            <a:endParaRPr lang="en-US" sz="1700" dirty="0"/>
          </a:p>
        </p:txBody>
      </p:sp>
      <p:sp>
        <p:nvSpPr>
          <p:cNvPr id="13" name="Text 10"/>
          <p:cNvSpPr/>
          <p:nvPr/>
        </p:nvSpPr>
        <p:spPr>
          <a:xfrm>
            <a:off x="5550408" y="1527048"/>
            <a:ext cx="2971800" cy="438912"/>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Fewer bits per weight → less RAM and storage</a:t>
            </a:r>
            <a:endParaRPr lang="en-US" sz="1150" dirty="0"/>
          </a:p>
        </p:txBody>
      </p:sp>
      <p:sp>
        <p:nvSpPr>
          <p:cNvPr id="14" name="Shape 11"/>
          <p:cNvSpPr/>
          <p:nvPr/>
        </p:nvSpPr>
        <p:spPr>
          <a:xfrm>
            <a:off x="4800600" y="2267712"/>
            <a:ext cx="3931920" cy="1097280"/>
          </a:xfrm>
          <a:prstGeom prst="roundRect">
            <a:avLst>
              <a:gd name="adj" fmla="val 10000"/>
            </a:avLst>
          </a:prstGeom>
          <a:solidFill>
            <a:srgbClr val="EBF0FA"/>
          </a:solidFill>
          <a:ln w="12700">
            <a:solidFill>
              <a:srgbClr val="EBF0FA"/>
            </a:solidFill>
            <a:prstDash val="solid"/>
          </a:ln>
          <a:effectLst>
            <a:outerShdw sx="100000" sy="100000" kx="0" ky="0" algn="bl" rotWithShape="0" blurRad="101600" dist="25400" dir="8100000">
              <a:srgbClr val="000000">
                <a:alpha val="10000"/>
              </a:srgbClr>
            </a:outerShdw>
          </a:effectLst>
        </p:spPr>
      </p:sp>
      <p:pic>
        <p:nvPicPr>
          <p:cNvPr id="15" name="Image 1" descr="preencoded.png">    </p:cNvPr>
          <p:cNvPicPr>
            <a:picLocks noChangeAspect="1"/>
          </p:cNvPicPr>
          <p:nvPr/>
        </p:nvPicPr>
        <p:blipFill>
          <a:blip r:embed="rId2"/>
          <a:stretch>
            <a:fillRect/>
          </a:stretch>
        </p:blipFill>
        <p:spPr>
          <a:xfrm>
            <a:off x="5001768" y="2587752"/>
            <a:ext cx="411480" cy="411480"/>
          </a:xfrm>
          <a:prstGeom prst="rect">
            <a:avLst/>
          </a:prstGeom>
        </p:spPr>
      </p:pic>
      <p:sp>
        <p:nvSpPr>
          <p:cNvPr id="16" name="Text 12"/>
          <p:cNvSpPr/>
          <p:nvPr/>
        </p:nvSpPr>
        <p:spPr>
          <a:xfrm>
            <a:off x="5550408" y="2404872"/>
            <a:ext cx="2834640" cy="365760"/>
          </a:xfrm>
          <a:prstGeom prst="rect">
            <a:avLst/>
          </a:prstGeom>
          <a:noFill/>
          <a:ln/>
        </p:spPr>
        <p:txBody>
          <a:bodyPr wrap="square" rtlCol="0" anchor="ctr"/>
          <a:lstStyle/>
          <a:p>
            <a:pPr indent="0" marL="0">
              <a:buNone/>
            </a:pPr>
            <a:r>
              <a:rPr lang="en-US" sz="1700" b="1" dirty="0">
                <a:solidFill>
                  <a:srgbClr val="2B4C7E"/>
                </a:solidFill>
                <a:latin typeface="Calibri" pitchFamily="34" charset="0"/>
                <a:ea typeface="Calibri" pitchFamily="34" charset="-122"/>
                <a:cs typeface="Calibri" pitchFamily="34" charset="-120"/>
              </a:rPr>
              <a:t>Faster</a:t>
            </a:r>
            <a:endParaRPr lang="en-US" sz="1700" dirty="0"/>
          </a:p>
        </p:txBody>
      </p:sp>
      <p:sp>
        <p:nvSpPr>
          <p:cNvPr id="17" name="Text 13"/>
          <p:cNvSpPr/>
          <p:nvPr/>
        </p:nvSpPr>
        <p:spPr>
          <a:xfrm>
            <a:off x="5550408" y="2788920"/>
            <a:ext cx="2971800" cy="438912"/>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Fewer operations → lower latency per request</a:t>
            </a:r>
            <a:endParaRPr lang="en-US" sz="1150" dirty="0"/>
          </a:p>
        </p:txBody>
      </p:sp>
      <p:sp>
        <p:nvSpPr>
          <p:cNvPr id="18" name="Shape 14"/>
          <p:cNvSpPr/>
          <p:nvPr/>
        </p:nvSpPr>
        <p:spPr>
          <a:xfrm>
            <a:off x="4800600" y="3529584"/>
            <a:ext cx="3931920" cy="1097280"/>
          </a:xfrm>
          <a:prstGeom prst="roundRect">
            <a:avLst>
              <a:gd name="adj" fmla="val 10000"/>
            </a:avLst>
          </a:prstGeom>
          <a:solidFill>
            <a:srgbClr val="FEF3DC"/>
          </a:solidFill>
          <a:ln w="12700">
            <a:solidFill>
              <a:srgbClr val="FEF3DC"/>
            </a:solidFill>
            <a:prstDash val="solid"/>
          </a:ln>
          <a:effectLst>
            <a:outerShdw sx="100000" sy="100000" kx="0" ky="0" algn="bl" rotWithShape="0" blurRad="101600" dist="25400" dir="8100000">
              <a:srgbClr val="000000">
                <a:alpha val="10000"/>
              </a:srgbClr>
            </a:outerShdw>
          </a:effectLst>
        </p:spPr>
      </p:sp>
      <p:pic>
        <p:nvPicPr>
          <p:cNvPr id="19" name="Image 2" descr="preencoded.png">    </p:cNvPr>
          <p:cNvPicPr>
            <a:picLocks noChangeAspect="1"/>
          </p:cNvPicPr>
          <p:nvPr/>
        </p:nvPicPr>
        <p:blipFill>
          <a:blip r:embed="rId3"/>
          <a:stretch>
            <a:fillRect/>
          </a:stretch>
        </p:blipFill>
        <p:spPr>
          <a:xfrm>
            <a:off x="5001768" y="3849624"/>
            <a:ext cx="411480" cy="411480"/>
          </a:xfrm>
          <a:prstGeom prst="rect">
            <a:avLst/>
          </a:prstGeom>
        </p:spPr>
      </p:pic>
      <p:sp>
        <p:nvSpPr>
          <p:cNvPr id="20" name="Text 15"/>
          <p:cNvSpPr/>
          <p:nvPr/>
        </p:nvSpPr>
        <p:spPr>
          <a:xfrm>
            <a:off x="5550408" y="3666744"/>
            <a:ext cx="2834640" cy="365760"/>
          </a:xfrm>
          <a:prstGeom prst="rect">
            <a:avLst/>
          </a:prstGeom>
          <a:noFill/>
          <a:ln/>
        </p:spPr>
        <p:txBody>
          <a:bodyPr wrap="square" rtlCol="0" anchor="ctr"/>
          <a:lstStyle/>
          <a:p>
            <a:pPr indent="0" marL="0">
              <a:buNone/>
            </a:pPr>
            <a:r>
              <a:rPr lang="en-US" sz="1700" b="1" dirty="0">
                <a:solidFill>
                  <a:srgbClr val="92400E"/>
                </a:solidFill>
                <a:latin typeface="Calibri" pitchFamily="34" charset="0"/>
                <a:ea typeface="Calibri" pitchFamily="34" charset="-122"/>
                <a:cs typeface="Calibri" pitchFamily="34" charset="-120"/>
              </a:rPr>
              <a:t>Cheaper</a:t>
            </a:r>
            <a:endParaRPr lang="en-US" sz="1700" dirty="0"/>
          </a:p>
        </p:txBody>
      </p:sp>
      <p:sp>
        <p:nvSpPr>
          <p:cNvPr id="21" name="Text 16"/>
          <p:cNvSpPr/>
          <p:nvPr/>
        </p:nvSpPr>
        <p:spPr>
          <a:xfrm>
            <a:off x="5550408" y="4050792"/>
            <a:ext cx="2971800" cy="438912"/>
          </a:xfrm>
          <a:prstGeom prst="rect">
            <a:avLst/>
          </a:prstGeom>
          <a:noFill/>
          <a:ln/>
        </p:spPr>
        <p:txBody>
          <a:bodyPr wrap="square" rtlCol="0" anchor="ctr"/>
          <a:lstStyle/>
          <a:p>
            <a:pPr indent="0" marL="0">
              <a:buNone/>
            </a:pPr>
            <a:r>
              <a:rPr lang="en-US" sz="1150" dirty="0">
                <a:solidFill>
                  <a:srgbClr val="4A5568"/>
                </a:solidFill>
                <a:latin typeface="Calibri" pitchFamily="34" charset="0"/>
                <a:ea typeface="Calibri" pitchFamily="34" charset="-122"/>
                <a:cs typeface="Calibri" pitchFamily="34" charset="-120"/>
              </a:rPr>
              <a:t>Less compute → lower cloud or device cost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D"/>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3000" b="1" dirty="0">
                <a:solidFill>
                  <a:srgbClr val="1C2B3A"/>
                </a:solidFill>
                <a:latin typeface="Calibri" pitchFamily="34" charset="0"/>
                <a:ea typeface="Calibri" pitchFamily="34" charset="-122"/>
                <a:cs typeface="Calibri" pitchFamily="34" charset="-120"/>
              </a:rPr>
              <a:t>Four core optimization techniques</a:t>
            </a:r>
            <a:endParaRPr lang="en-US" sz="3000" dirty="0"/>
          </a:p>
        </p:txBody>
      </p:sp>
      <p:sp>
        <p:nvSpPr>
          <p:cNvPr id="3" name="Text 1"/>
          <p:cNvSpPr/>
          <p:nvPr/>
        </p:nvSpPr>
        <p:spPr>
          <a:xfrm>
            <a:off x="411480" y="795528"/>
            <a:ext cx="8321040" cy="27432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Each addresses a different axis of cost — all can be combined</a:t>
            </a:r>
            <a:endParaRPr lang="en-US" sz="1300" dirty="0"/>
          </a:p>
        </p:txBody>
      </p:sp>
      <p:sp>
        <p:nvSpPr>
          <p:cNvPr id="4" name="Shape 2"/>
          <p:cNvSpPr/>
          <p:nvPr/>
        </p:nvSpPr>
        <p:spPr>
          <a:xfrm>
            <a:off x="411480" y="1024128"/>
            <a:ext cx="4206240" cy="1691640"/>
          </a:xfrm>
          <a:prstGeom prst="roundRect">
            <a:avLst>
              <a:gd name="adj" fmla="val 6486"/>
            </a:avLst>
          </a:prstGeom>
          <a:solidFill>
            <a:srgbClr val="E6F7F5"/>
          </a:solidFill>
          <a:ln w="12700">
            <a:solidFill>
              <a:srgbClr val="E6F7F5"/>
            </a:solidFill>
            <a:prstDash val="solid"/>
          </a:ln>
          <a:effectLst>
            <a:outerShdw sx="100000" sy="100000" kx="0" ky="0" algn="bl" rotWithShape="0" blurRad="101600" dist="25400" dir="81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612648" y="1225296"/>
            <a:ext cx="457200" cy="457200"/>
          </a:xfrm>
          <a:prstGeom prst="rect">
            <a:avLst/>
          </a:prstGeom>
        </p:spPr>
      </p:pic>
      <p:sp>
        <p:nvSpPr>
          <p:cNvPr id="6" name="Text 3"/>
          <p:cNvSpPr/>
          <p:nvPr/>
        </p:nvSpPr>
        <p:spPr>
          <a:xfrm>
            <a:off x="1188720" y="1115568"/>
            <a:ext cx="2651760" cy="384048"/>
          </a:xfrm>
          <a:prstGeom prst="rect">
            <a:avLst/>
          </a:prstGeom>
          <a:noFill/>
          <a:ln/>
        </p:spPr>
        <p:txBody>
          <a:bodyPr wrap="square" rtlCol="0" anchor="ctr"/>
          <a:lstStyle/>
          <a:p>
            <a:pPr indent="0" marL="0">
              <a:buNone/>
            </a:pPr>
            <a:r>
              <a:rPr lang="en-US" sz="1500" b="1" dirty="0">
                <a:solidFill>
                  <a:srgbClr val="007C6E"/>
                </a:solidFill>
                <a:latin typeface="Calibri" pitchFamily="34" charset="0"/>
                <a:ea typeface="Calibri" pitchFamily="34" charset="-122"/>
                <a:cs typeface="Calibri" pitchFamily="34" charset="-120"/>
              </a:rPr>
              <a:t>Quantization</a:t>
            </a:r>
            <a:endParaRPr lang="en-US" sz="1500" dirty="0"/>
          </a:p>
        </p:txBody>
      </p:sp>
      <p:sp>
        <p:nvSpPr>
          <p:cNvPr id="7" name="Text 4"/>
          <p:cNvSpPr/>
          <p:nvPr/>
        </p:nvSpPr>
        <p:spPr>
          <a:xfrm>
            <a:off x="1188720" y="1481328"/>
            <a:ext cx="2651760" cy="237744"/>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Reduce bit-width</a:t>
            </a:r>
            <a:endParaRPr lang="en-US" sz="1100" dirty="0"/>
          </a:p>
        </p:txBody>
      </p:sp>
      <p:sp>
        <p:nvSpPr>
          <p:cNvPr id="8" name="Text 5"/>
          <p:cNvSpPr/>
          <p:nvPr/>
        </p:nvSpPr>
        <p:spPr>
          <a:xfrm>
            <a:off x="612648" y="1865376"/>
            <a:ext cx="3803904" cy="594360"/>
          </a:xfrm>
          <a:prstGeom prst="rect">
            <a:avLst/>
          </a:prstGeom>
          <a:noFill/>
          <a:ln/>
        </p:spPr>
        <p:txBody>
          <a:bodyPr wrap="square" rtlCol="0" anchor="ctr"/>
          <a:lstStyle/>
          <a:p>
            <a:pPr indent="0" marL="0">
              <a:lnSpc>
                <a:spcPct val="125000"/>
              </a:lnSpc>
              <a:buNone/>
            </a:pPr>
            <a:r>
              <a:rPr lang="en-US" sz="1100" dirty="0">
                <a:solidFill>
                  <a:srgbClr val="4A5568"/>
                </a:solidFill>
                <a:latin typeface="Calibri" pitchFamily="34" charset="0"/>
                <a:ea typeface="Calibri" pitchFamily="34" charset="-122"/>
                <a:cs typeface="Calibri" pitchFamily="34" charset="-120"/>
              </a:rPr>
              <a:t>FP32 → INT8/FP16. Fewer bits per number = smaller model, faster arithmetic.</a:t>
            </a:r>
            <a:endParaRPr lang="en-US" sz="1100" dirty="0"/>
          </a:p>
        </p:txBody>
      </p:sp>
      <p:sp>
        <p:nvSpPr>
          <p:cNvPr id="9" name="Shape 6"/>
          <p:cNvSpPr/>
          <p:nvPr/>
        </p:nvSpPr>
        <p:spPr>
          <a:xfrm>
            <a:off x="3291840" y="1133856"/>
            <a:ext cx="1115568" cy="246888"/>
          </a:xfrm>
          <a:prstGeom prst="roundRect">
            <a:avLst>
              <a:gd name="adj" fmla="val 48148"/>
            </a:avLst>
          </a:prstGeom>
          <a:solidFill>
            <a:srgbClr val="007C6E"/>
          </a:solidFill>
          <a:ln w="12700">
            <a:solidFill>
              <a:srgbClr val="007C6E"/>
            </a:solidFill>
            <a:prstDash val="solid"/>
          </a:ln>
        </p:spPr>
      </p:sp>
      <p:sp>
        <p:nvSpPr>
          <p:cNvPr id="10" name="Text 7"/>
          <p:cNvSpPr/>
          <p:nvPr/>
        </p:nvSpPr>
        <p:spPr>
          <a:xfrm>
            <a:off x="3291840" y="1133856"/>
            <a:ext cx="111556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2–4× size</a:t>
            </a:r>
            <a:endParaRPr lang="en-US" sz="1000" dirty="0"/>
          </a:p>
        </p:txBody>
      </p:sp>
      <p:sp>
        <p:nvSpPr>
          <p:cNvPr id="11" name="Shape 8"/>
          <p:cNvSpPr/>
          <p:nvPr/>
        </p:nvSpPr>
        <p:spPr>
          <a:xfrm>
            <a:off x="4800600" y="1024128"/>
            <a:ext cx="4206240" cy="1691640"/>
          </a:xfrm>
          <a:prstGeom prst="roundRect">
            <a:avLst>
              <a:gd name="adj" fmla="val 6486"/>
            </a:avLst>
          </a:prstGeom>
          <a:solidFill>
            <a:srgbClr val="EDE9FE"/>
          </a:solidFill>
          <a:ln w="12700">
            <a:solidFill>
              <a:srgbClr val="EDE9FE"/>
            </a:solidFill>
            <a:prstDash val="solid"/>
          </a:ln>
          <a:effectLst>
            <a:outerShdw sx="100000" sy="100000" kx="0" ky="0" algn="bl" rotWithShape="0" blurRad="101600" dist="25400" dir="8100000">
              <a:srgbClr val="000000">
                <a:alpha val="10000"/>
              </a:srgbClr>
            </a:outerShdw>
          </a:effectLst>
        </p:spPr>
      </p:sp>
      <p:pic>
        <p:nvPicPr>
          <p:cNvPr id="12" name="Image 1" descr="preencoded.png">    </p:cNvPr>
          <p:cNvPicPr>
            <a:picLocks noChangeAspect="1"/>
          </p:cNvPicPr>
          <p:nvPr/>
        </p:nvPicPr>
        <p:blipFill>
          <a:blip r:embed="rId2"/>
          <a:stretch>
            <a:fillRect/>
          </a:stretch>
        </p:blipFill>
        <p:spPr>
          <a:xfrm>
            <a:off x="5001768" y="1225296"/>
            <a:ext cx="457200" cy="457200"/>
          </a:xfrm>
          <a:prstGeom prst="rect">
            <a:avLst/>
          </a:prstGeom>
        </p:spPr>
      </p:pic>
      <p:sp>
        <p:nvSpPr>
          <p:cNvPr id="13" name="Text 9"/>
          <p:cNvSpPr/>
          <p:nvPr/>
        </p:nvSpPr>
        <p:spPr>
          <a:xfrm>
            <a:off x="5577840" y="1115568"/>
            <a:ext cx="2651760" cy="384048"/>
          </a:xfrm>
          <a:prstGeom prst="rect">
            <a:avLst/>
          </a:prstGeom>
          <a:noFill/>
          <a:ln/>
        </p:spPr>
        <p:txBody>
          <a:bodyPr wrap="square" rtlCol="0" anchor="ctr"/>
          <a:lstStyle/>
          <a:p>
            <a:pPr indent="0" marL="0">
              <a:buNone/>
            </a:pPr>
            <a:r>
              <a:rPr lang="en-US" sz="1500" b="1" dirty="0">
                <a:solidFill>
                  <a:srgbClr val="6B46C1"/>
                </a:solidFill>
                <a:latin typeface="Calibri" pitchFamily="34" charset="0"/>
                <a:ea typeface="Calibri" pitchFamily="34" charset="-122"/>
                <a:cs typeface="Calibri" pitchFamily="34" charset="-120"/>
              </a:rPr>
              <a:t>Pruning</a:t>
            </a:r>
            <a:endParaRPr lang="en-US" sz="1500" dirty="0"/>
          </a:p>
        </p:txBody>
      </p:sp>
      <p:sp>
        <p:nvSpPr>
          <p:cNvPr id="14" name="Text 10"/>
          <p:cNvSpPr/>
          <p:nvPr/>
        </p:nvSpPr>
        <p:spPr>
          <a:xfrm>
            <a:off x="5577840" y="1481328"/>
            <a:ext cx="2651760" cy="237744"/>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Remove redundant weights</a:t>
            </a:r>
            <a:endParaRPr lang="en-US" sz="1100" dirty="0"/>
          </a:p>
        </p:txBody>
      </p:sp>
      <p:sp>
        <p:nvSpPr>
          <p:cNvPr id="15" name="Text 11"/>
          <p:cNvSpPr/>
          <p:nvPr/>
        </p:nvSpPr>
        <p:spPr>
          <a:xfrm>
            <a:off x="5001768" y="1865376"/>
            <a:ext cx="3803904" cy="594360"/>
          </a:xfrm>
          <a:prstGeom prst="rect">
            <a:avLst/>
          </a:prstGeom>
          <a:noFill/>
          <a:ln/>
        </p:spPr>
        <p:txBody>
          <a:bodyPr wrap="square" rtlCol="0" anchor="ctr"/>
          <a:lstStyle/>
          <a:p>
            <a:pPr indent="0" marL="0">
              <a:lnSpc>
                <a:spcPct val="125000"/>
              </a:lnSpc>
              <a:buNone/>
            </a:pPr>
            <a:r>
              <a:rPr lang="en-US" sz="1100" dirty="0">
                <a:solidFill>
                  <a:srgbClr val="4A5568"/>
                </a:solidFill>
                <a:latin typeface="Calibri" pitchFamily="34" charset="0"/>
                <a:ea typeface="Calibri" pitchFamily="34" charset="-122"/>
                <a:cs typeface="Calibri" pitchFamily="34" charset="-120"/>
              </a:rPr>
              <a:t>Zero out or remove unimportant weights/channels. Sparse models = fewer ops.</a:t>
            </a:r>
            <a:endParaRPr lang="en-US" sz="1100" dirty="0"/>
          </a:p>
        </p:txBody>
      </p:sp>
      <p:sp>
        <p:nvSpPr>
          <p:cNvPr id="16" name="Shape 12"/>
          <p:cNvSpPr/>
          <p:nvPr/>
        </p:nvSpPr>
        <p:spPr>
          <a:xfrm>
            <a:off x="7680960" y="1133856"/>
            <a:ext cx="1115568" cy="246888"/>
          </a:xfrm>
          <a:prstGeom prst="roundRect">
            <a:avLst>
              <a:gd name="adj" fmla="val 48148"/>
            </a:avLst>
          </a:prstGeom>
          <a:solidFill>
            <a:srgbClr val="6B46C1"/>
          </a:solidFill>
          <a:ln w="12700">
            <a:solidFill>
              <a:srgbClr val="6B46C1"/>
            </a:solidFill>
            <a:prstDash val="solid"/>
          </a:ln>
        </p:spPr>
      </p:sp>
      <p:sp>
        <p:nvSpPr>
          <p:cNvPr id="17" name="Text 13"/>
          <p:cNvSpPr/>
          <p:nvPr/>
        </p:nvSpPr>
        <p:spPr>
          <a:xfrm>
            <a:off x="7680960" y="1133856"/>
            <a:ext cx="111556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Up to 10×</a:t>
            </a:r>
            <a:endParaRPr lang="en-US" sz="1000" dirty="0"/>
          </a:p>
        </p:txBody>
      </p:sp>
      <p:sp>
        <p:nvSpPr>
          <p:cNvPr id="18" name="Shape 14"/>
          <p:cNvSpPr/>
          <p:nvPr/>
        </p:nvSpPr>
        <p:spPr>
          <a:xfrm>
            <a:off x="411480" y="2944368"/>
            <a:ext cx="4206240" cy="1691640"/>
          </a:xfrm>
          <a:prstGeom prst="roundRect">
            <a:avLst>
              <a:gd name="adj" fmla="val 6486"/>
            </a:avLst>
          </a:prstGeom>
          <a:solidFill>
            <a:srgbClr val="FEF3DC"/>
          </a:solidFill>
          <a:ln w="12700">
            <a:solidFill>
              <a:srgbClr val="FEF3DC"/>
            </a:solidFill>
            <a:prstDash val="solid"/>
          </a:ln>
          <a:effectLst>
            <a:outerShdw sx="100000" sy="100000" kx="0" ky="0" algn="bl" rotWithShape="0" blurRad="101600" dist="25400" dir="8100000">
              <a:srgbClr val="000000">
                <a:alpha val="10000"/>
              </a:srgbClr>
            </a:outerShdw>
          </a:effectLst>
        </p:spPr>
      </p:sp>
      <p:pic>
        <p:nvPicPr>
          <p:cNvPr id="19" name="Image 2" descr="preencoded.png">    </p:cNvPr>
          <p:cNvPicPr>
            <a:picLocks noChangeAspect="1"/>
          </p:cNvPicPr>
          <p:nvPr/>
        </p:nvPicPr>
        <p:blipFill>
          <a:blip r:embed="rId3"/>
          <a:stretch>
            <a:fillRect/>
          </a:stretch>
        </p:blipFill>
        <p:spPr>
          <a:xfrm>
            <a:off x="612648" y="3145536"/>
            <a:ext cx="457200" cy="457200"/>
          </a:xfrm>
          <a:prstGeom prst="rect">
            <a:avLst/>
          </a:prstGeom>
        </p:spPr>
      </p:pic>
      <p:sp>
        <p:nvSpPr>
          <p:cNvPr id="20" name="Text 15"/>
          <p:cNvSpPr/>
          <p:nvPr/>
        </p:nvSpPr>
        <p:spPr>
          <a:xfrm>
            <a:off x="1188720" y="3035808"/>
            <a:ext cx="2651760" cy="384048"/>
          </a:xfrm>
          <a:prstGeom prst="rect">
            <a:avLst/>
          </a:prstGeom>
          <a:noFill/>
          <a:ln/>
        </p:spPr>
        <p:txBody>
          <a:bodyPr wrap="square" rtlCol="0" anchor="ctr"/>
          <a:lstStyle/>
          <a:p>
            <a:pPr indent="0" marL="0">
              <a:buNone/>
            </a:pPr>
            <a:r>
              <a:rPr lang="en-US" sz="1500" b="1" dirty="0">
                <a:solidFill>
                  <a:srgbClr val="92400E"/>
                </a:solidFill>
                <a:latin typeface="Calibri" pitchFamily="34" charset="0"/>
                <a:ea typeface="Calibri" pitchFamily="34" charset="-122"/>
                <a:cs typeface="Calibri" pitchFamily="34" charset="-120"/>
              </a:rPr>
              <a:t>Knowledge Distillation</a:t>
            </a:r>
            <a:endParaRPr lang="en-US" sz="1500" dirty="0"/>
          </a:p>
        </p:txBody>
      </p:sp>
      <p:sp>
        <p:nvSpPr>
          <p:cNvPr id="21" name="Text 16"/>
          <p:cNvSpPr/>
          <p:nvPr/>
        </p:nvSpPr>
        <p:spPr>
          <a:xfrm>
            <a:off x="1188720" y="3401568"/>
            <a:ext cx="2651760" cy="237744"/>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Train a smaller model</a:t>
            </a:r>
            <a:endParaRPr lang="en-US" sz="1100" dirty="0"/>
          </a:p>
        </p:txBody>
      </p:sp>
      <p:sp>
        <p:nvSpPr>
          <p:cNvPr id="22" name="Text 17"/>
          <p:cNvSpPr/>
          <p:nvPr/>
        </p:nvSpPr>
        <p:spPr>
          <a:xfrm>
            <a:off x="612648" y="3785616"/>
            <a:ext cx="3803904" cy="594360"/>
          </a:xfrm>
          <a:prstGeom prst="rect">
            <a:avLst/>
          </a:prstGeom>
          <a:noFill/>
          <a:ln/>
        </p:spPr>
        <p:txBody>
          <a:bodyPr wrap="square" rtlCol="0" anchor="ctr"/>
          <a:lstStyle/>
          <a:p>
            <a:pPr indent="0" marL="0">
              <a:lnSpc>
                <a:spcPct val="125000"/>
              </a:lnSpc>
              <a:buNone/>
            </a:pPr>
            <a:r>
              <a:rPr lang="en-US" sz="1100" dirty="0">
                <a:solidFill>
                  <a:srgbClr val="4A5568"/>
                </a:solidFill>
                <a:latin typeface="Calibri" pitchFamily="34" charset="0"/>
                <a:ea typeface="Calibri" pitchFamily="34" charset="-122"/>
                <a:cs typeface="Calibri" pitchFamily="34" charset="-120"/>
              </a:rPr>
              <a:t>A small 'student' learns from a large 'teacher'. Same accuracy, fraction of the size.</a:t>
            </a:r>
            <a:endParaRPr lang="en-US" sz="1100" dirty="0"/>
          </a:p>
        </p:txBody>
      </p:sp>
      <p:sp>
        <p:nvSpPr>
          <p:cNvPr id="23" name="Shape 18"/>
          <p:cNvSpPr/>
          <p:nvPr/>
        </p:nvSpPr>
        <p:spPr>
          <a:xfrm>
            <a:off x="3291840" y="3054096"/>
            <a:ext cx="1115568" cy="246888"/>
          </a:xfrm>
          <a:prstGeom prst="roundRect">
            <a:avLst>
              <a:gd name="adj" fmla="val 48148"/>
            </a:avLst>
          </a:prstGeom>
          <a:solidFill>
            <a:srgbClr val="92400E"/>
          </a:solidFill>
          <a:ln w="12700">
            <a:solidFill>
              <a:srgbClr val="92400E"/>
            </a:solidFill>
            <a:prstDash val="solid"/>
          </a:ln>
        </p:spPr>
      </p:sp>
      <p:sp>
        <p:nvSpPr>
          <p:cNvPr id="24" name="Text 19"/>
          <p:cNvSpPr/>
          <p:nvPr/>
        </p:nvSpPr>
        <p:spPr>
          <a:xfrm>
            <a:off x="3291840" y="3054096"/>
            <a:ext cx="111556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 size</a:t>
            </a:r>
            <a:endParaRPr lang="en-US" sz="1000" dirty="0"/>
          </a:p>
        </p:txBody>
      </p:sp>
      <p:sp>
        <p:nvSpPr>
          <p:cNvPr id="25" name="Shape 20"/>
          <p:cNvSpPr/>
          <p:nvPr/>
        </p:nvSpPr>
        <p:spPr>
          <a:xfrm>
            <a:off x="4800600" y="2944368"/>
            <a:ext cx="4206240" cy="1691640"/>
          </a:xfrm>
          <a:prstGeom prst="roundRect">
            <a:avLst>
              <a:gd name="adj" fmla="val 6486"/>
            </a:avLst>
          </a:prstGeom>
          <a:solidFill>
            <a:srgbClr val="F0FFF4"/>
          </a:solidFill>
          <a:ln w="12700">
            <a:solidFill>
              <a:srgbClr val="F0FFF4"/>
            </a:solidFill>
            <a:prstDash val="solid"/>
          </a:ln>
          <a:effectLst>
            <a:outerShdw sx="100000" sy="100000" kx="0" ky="0" algn="bl" rotWithShape="0" blurRad="101600" dist="25400" dir="8100000">
              <a:srgbClr val="000000">
                <a:alpha val="10000"/>
              </a:srgbClr>
            </a:outerShdw>
          </a:effectLst>
        </p:spPr>
      </p:sp>
      <p:pic>
        <p:nvPicPr>
          <p:cNvPr id="26" name="Image 3" descr="preencoded.png">    </p:cNvPr>
          <p:cNvPicPr>
            <a:picLocks noChangeAspect="1"/>
          </p:cNvPicPr>
          <p:nvPr/>
        </p:nvPicPr>
        <p:blipFill>
          <a:blip r:embed="rId4"/>
          <a:stretch>
            <a:fillRect/>
          </a:stretch>
        </p:blipFill>
        <p:spPr>
          <a:xfrm>
            <a:off x="5001768" y="3145536"/>
            <a:ext cx="457200" cy="457200"/>
          </a:xfrm>
          <a:prstGeom prst="rect">
            <a:avLst/>
          </a:prstGeom>
        </p:spPr>
      </p:pic>
      <p:sp>
        <p:nvSpPr>
          <p:cNvPr id="27" name="Text 21"/>
          <p:cNvSpPr/>
          <p:nvPr/>
        </p:nvSpPr>
        <p:spPr>
          <a:xfrm>
            <a:off x="5577840" y="3035808"/>
            <a:ext cx="2651760" cy="384048"/>
          </a:xfrm>
          <a:prstGeom prst="rect">
            <a:avLst/>
          </a:prstGeom>
          <a:noFill/>
          <a:ln/>
        </p:spPr>
        <p:txBody>
          <a:bodyPr wrap="square" rtlCol="0" anchor="ctr"/>
          <a:lstStyle/>
          <a:p>
            <a:pPr indent="0" marL="0">
              <a:buNone/>
            </a:pPr>
            <a:r>
              <a:rPr lang="en-US" sz="1500" b="1" dirty="0">
                <a:solidFill>
                  <a:srgbClr val="2F855A"/>
                </a:solidFill>
                <a:latin typeface="Calibri" pitchFamily="34" charset="0"/>
                <a:ea typeface="Calibri" pitchFamily="34" charset="-122"/>
                <a:cs typeface="Calibri" pitchFamily="34" charset="-120"/>
              </a:rPr>
              <a:t>Compilation</a:t>
            </a:r>
            <a:endParaRPr lang="en-US" sz="1500" dirty="0"/>
          </a:p>
        </p:txBody>
      </p:sp>
      <p:sp>
        <p:nvSpPr>
          <p:cNvPr id="28" name="Text 22"/>
          <p:cNvSpPr/>
          <p:nvPr/>
        </p:nvSpPr>
        <p:spPr>
          <a:xfrm>
            <a:off x="5577840" y="3401568"/>
            <a:ext cx="2651760" cy="237744"/>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Hardware-specific tuning</a:t>
            </a:r>
            <a:endParaRPr lang="en-US" sz="1100" dirty="0"/>
          </a:p>
        </p:txBody>
      </p:sp>
      <p:sp>
        <p:nvSpPr>
          <p:cNvPr id="29" name="Text 23"/>
          <p:cNvSpPr/>
          <p:nvPr/>
        </p:nvSpPr>
        <p:spPr>
          <a:xfrm>
            <a:off x="5001768" y="3785616"/>
            <a:ext cx="3803904" cy="594360"/>
          </a:xfrm>
          <a:prstGeom prst="rect">
            <a:avLst/>
          </a:prstGeom>
          <a:noFill/>
          <a:ln/>
        </p:spPr>
        <p:txBody>
          <a:bodyPr wrap="square" rtlCol="0" anchor="ctr"/>
          <a:lstStyle/>
          <a:p>
            <a:pPr indent="0" marL="0">
              <a:lnSpc>
                <a:spcPct val="125000"/>
              </a:lnSpc>
              <a:buNone/>
            </a:pPr>
            <a:r>
              <a:rPr lang="en-US" sz="1100" dirty="0">
                <a:solidFill>
                  <a:srgbClr val="4A5568"/>
                </a:solidFill>
                <a:latin typeface="Calibri" pitchFamily="34" charset="0"/>
                <a:ea typeface="Calibri" pitchFamily="34" charset="-122"/>
                <a:cs typeface="Calibri" pitchFamily="34" charset="-120"/>
              </a:rPr>
              <a:t>Graph fusion, kernel auto-tuning (TensorRT, OpenVINO). Squeezes last ms from hardware.</a:t>
            </a:r>
            <a:endParaRPr lang="en-US" sz="1100" dirty="0"/>
          </a:p>
        </p:txBody>
      </p:sp>
      <p:sp>
        <p:nvSpPr>
          <p:cNvPr id="30" name="Shape 24"/>
          <p:cNvSpPr/>
          <p:nvPr/>
        </p:nvSpPr>
        <p:spPr>
          <a:xfrm>
            <a:off x="7680960" y="3054096"/>
            <a:ext cx="1115568" cy="246888"/>
          </a:xfrm>
          <a:prstGeom prst="roundRect">
            <a:avLst>
              <a:gd name="adj" fmla="val 48148"/>
            </a:avLst>
          </a:prstGeom>
          <a:solidFill>
            <a:srgbClr val="2F855A"/>
          </a:solidFill>
          <a:ln w="12700">
            <a:solidFill>
              <a:srgbClr val="2F855A"/>
            </a:solidFill>
            <a:prstDash val="solid"/>
          </a:ln>
        </p:spPr>
      </p:sp>
      <p:sp>
        <p:nvSpPr>
          <p:cNvPr id="31" name="Text 25"/>
          <p:cNvSpPr/>
          <p:nvPr/>
        </p:nvSpPr>
        <p:spPr>
          <a:xfrm>
            <a:off x="7680960" y="3054096"/>
            <a:ext cx="111556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1.5–3× speed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217920" y="-457200"/>
            <a:ext cx="3657600" cy="3657600"/>
          </a:xfrm>
          <a:prstGeom prst="ellipse">
            <a:avLst/>
          </a:prstGeom>
          <a:solidFill>
            <a:srgbClr val="00BFA5">
              <a:alpha val="8000"/>
            </a:srgbClr>
          </a:solidFill>
          <a:ln w="12700">
            <a:solidFill>
              <a:srgbClr val="00BFA5"/>
            </a:solidFill>
            <a:prstDash val="solid"/>
          </a:ln>
        </p:spPr>
      </p:sp>
      <p:sp>
        <p:nvSpPr>
          <p:cNvPr id="3" name="Text 1"/>
          <p:cNvSpPr/>
          <p:nvPr/>
        </p:nvSpPr>
        <p:spPr>
          <a:xfrm>
            <a:off x="640080" y="731520"/>
            <a:ext cx="2743200" cy="1097280"/>
          </a:xfrm>
          <a:prstGeom prst="rect">
            <a:avLst/>
          </a:prstGeom>
          <a:noFill/>
          <a:ln/>
        </p:spPr>
        <p:txBody>
          <a:bodyPr wrap="square" rtlCol="0" anchor="ctr"/>
          <a:lstStyle/>
          <a:p>
            <a:pPr indent="0" marL="0">
              <a:buNone/>
            </a:pPr>
            <a:r>
              <a:rPr lang="en-US" sz="8000" b="1" dirty="0">
                <a:solidFill>
                  <a:srgbClr val="00BFA5">
                    <a:alpha val="80000"/>
                  </a:srgbClr>
                </a:solidFill>
                <a:latin typeface="Calibri" pitchFamily="34" charset="0"/>
                <a:ea typeface="Calibri" pitchFamily="34" charset="-122"/>
                <a:cs typeface="Calibri" pitchFamily="34" charset="-120"/>
              </a:rPr>
              <a:t>01</a:t>
            </a:r>
            <a:endParaRPr lang="en-US" sz="8000" dirty="0"/>
          </a:p>
        </p:txBody>
      </p:sp>
      <p:sp>
        <p:nvSpPr>
          <p:cNvPr id="4" name="Text 2"/>
          <p:cNvSpPr/>
          <p:nvPr/>
        </p:nvSpPr>
        <p:spPr>
          <a:xfrm>
            <a:off x="640080" y="1645920"/>
            <a:ext cx="7863840" cy="77724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Quantization</a:t>
            </a:r>
            <a:endParaRPr lang="en-US" sz="4400" dirty="0"/>
          </a:p>
        </p:txBody>
      </p:sp>
      <p:sp>
        <p:nvSpPr>
          <p:cNvPr id="5" name="Text 3"/>
          <p:cNvSpPr/>
          <p:nvPr/>
        </p:nvSpPr>
        <p:spPr>
          <a:xfrm>
            <a:off x="640080" y="2450592"/>
            <a:ext cx="6858000" cy="411480"/>
          </a:xfrm>
          <a:prstGeom prst="rect">
            <a:avLst/>
          </a:prstGeom>
          <a:noFill/>
          <a:ln/>
        </p:spPr>
        <p:txBody>
          <a:bodyPr wrap="square" rtlCol="0" anchor="ctr"/>
          <a:lstStyle/>
          <a:p>
            <a:pPr indent="0" marL="0">
              <a:buNone/>
            </a:pPr>
            <a:r>
              <a:rPr lang="en-US" sz="1600" dirty="0">
                <a:solidFill>
                  <a:srgbClr val="A0AEC0"/>
                </a:solidFill>
                <a:latin typeface="Calibri" pitchFamily="34" charset="0"/>
                <a:ea typeface="Calibri" pitchFamily="34" charset="-122"/>
                <a:cs typeface="Calibri" pitchFamily="34" charset="-120"/>
              </a:rPr>
              <a:t>Reducing numerical precision to shrink models and speed up inference</a:t>
            </a:r>
            <a:endParaRPr lang="en-US" sz="1600" dirty="0"/>
          </a:p>
        </p:txBody>
      </p:sp>
      <p:sp>
        <p:nvSpPr>
          <p:cNvPr id="6" name="Shape 4"/>
          <p:cNvSpPr/>
          <p:nvPr/>
        </p:nvSpPr>
        <p:spPr>
          <a:xfrm>
            <a:off x="640080" y="3246120"/>
            <a:ext cx="2514600" cy="1417320"/>
          </a:xfrm>
          <a:prstGeom prst="roundRect">
            <a:avLst>
              <a:gd name="adj" fmla="val 6452"/>
            </a:avLst>
          </a:prstGeom>
          <a:solidFill>
            <a:srgbClr val="1A2E45"/>
          </a:solidFill>
          <a:ln w="12700">
            <a:solidFill>
              <a:srgbClr val="263A54"/>
            </a:solidFill>
            <a:prstDash val="solid"/>
          </a:ln>
        </p:spPr>
      </p:sp>
      <p:sp>
        <p:nvSpPr>
          <p:cNvPr id="7" name="Text 5"/>
          <p:cNvSpPr/>
          <p:nvPr/>
        </p:nvSpPr>
        <p:spPr>
          <a:xfrm>
            <a:off x="640080" y="3429000"/>
            <a:ext cx="2514600" cy="594360"/>
          </a:xfrm>
          <a:prstGeom prst="rect">
            <a:avLst/>
          </a:prstGeom>
          <a:noFill/>
          <a:ln/>
        </p:spPr>
        <p:txBody>
          <a:bodyPr wrap="square" rtlCol="0" anchor="ctr"/>
          <a:lstStyle/>
          <a:p>
            <a:pPr algn="ctr" indent="0" marL="0">
              <a:buNone/>
            </a:pPr>
            <a:r>
              <a:rPr lang="en-US" sz="3000" b="1" dirty="0">
                <a:solidFill>
                  <a:srgbClr val="00BFA5"/>
                </a:solidFill>
                <a:latin typeface="Calibri" pitchFamily="34" charset="0"/>
                <a:ea typeface="Calibri" pitchFamily="34" charset="-122"/>
                <a:cs typeface="Calibri" pitchFamily="34" charset="-120"/>
              </a:rPr>
              <a:t>2–4×</a:t>
            </a:r>
            <a:endParaRPr lang="en-US" sz="3000" dirty="0"/>
          </a:p>
        </p:txBody>
      </p:sp>
      <p:sp>
        <p:nvSpPr>
          <p:cNvPr id="8" name="Text 6"/>
          <p:cNvSpPr/>
          <p:nvPr/>
        </p:nvSpPr>
        <p:spPr>
          <a:xfrm>
            <a:off x="640080" y="4050792"/>
            <a:ext cx="2514600" cy="347472"/>
          </a:xfrm>
          <a:prstGeom prst="rect">
            <a:avLst/>
          </a:prstGeom>
          <a:noFill/>
          <a:ln/>
        </p:spPr>
        <p:txBody>
          <a:bodyPr wrap="square" rtlCol="0" anchor="ctr"/>
          <a:lstStyle/>
          <a:p>
            <a:pPr algn="ctr" indent="0" marL="0">
              <a:buNone/>
            </a:pPr>
            <a:r>
              <a:rPr lang="en-US" sz="1100" dirty="0">
                <a:solidFill>
                  <a:srgbClr val="A0AEC0"/>
                </a:solidFill>
                <a:latin typeface="Calibri" pitchFamily="34" charset="0"/>
                <a:ea typeface="Calibri" pitchFamily="34" charset="-122"/>
                <a:cs typeface="Calibri" pitchFamily="34" charset="-120"/>
              </a:rPr>
              <a:t>model size reduction</a:t>
            </a:r>
            <a:endParaRPr lang="en-US" sz="1100" dirty="0"/>
          </a:p>
        </p:txBody>
      </p:sp>
      <p:sp>
        <p:nvSpPr>
          <p:cNvPr id="9" name="Shape 7"/>
          <p:cNvSpPr/>
          <p:nvPr/>
        </p:nvSpPr>
        <p:spPr>
          <a:xfrm>
            <a:off x="3474720" y="3246120"/>
            <a:ext cx="2514600" cy="1417320"/>
          </a:xfrm>
          <a:prstGeom prst="roundRect">
            <a:avLst>
              <a:gd name="adj" fmla="val 6452"/>
            </a:avLst>
          </a:prstGeom>
          <a:solidFill>
            <a:srgbClr val="1A2E45"/>
          </a:solidFill>
          <a:ln w="12700">
            <a:solidFill>
              <a:srgbClr val="263A54"/>
            </a:solidFill>
            <a:prstDash val="solid"/>
          </a:ln>
        </p:spPr>
      </p:sp>
      <p:sp>
        <p:nvSpPr>
          <p:cNvPr id="10" name="Text 8"/>
          <p:cNvSpPr/>
          <p:nvPr/>
        </p:nvSpPr>
        <p:spPr>
          <a:xfrm>
            <a:off x="3474720" y="3429000"/>
            <a:ext cx="2514600" cy="594360"/>
          </a:xfrm>
          <a:prstGeom prst="rect">
            <a:avLst/>
          </a:prstGeom>
          <a:noFill/>
          <a:ln/>
        </p:spPr>
        <p:txBody>
          <a:bodyPr wrap="square" rtlCol="0" anchor="ctr"/>
          <a:lstStyle/>
          <a:p>
            <a:pPr algn="ctr" indent="0" marL="0">
              <a:buNone/>
            </a:pPr>
            <a:r>
              <a:rPr lang="en-US" sz="3000" b="1" dirty="0">
                <a:solidFill>
                  <a:srgbClr val="00BFA5"/>
                </a:solidFill>
                <a:latin typeface="Calibri" pitchFamily="34" charset="0"/>
                <a:ea typeface="Calibri" pitchFamily="34" charset="-122"/>
                <a:cs typeface="Calibri" pitchFamily="34" charset="-120"/>
              </a:rPr>
              <a:t>1.5–3×</a:t>
            </a:r>
            <a:endParaRPr lang="en-US" sz="3000" dirty="0"/>
          </a:p>
        </p:txBody>
      </p:sp>
      <p:sp>
        <p:nvSpPr>
          <p:cNvPr id="11" name="Text 9"/>
          <p:cNvSpPr/>
          <p:nvPr/>
        </p:nvSpPr>
        <p:spPr>
          <a:xfrm>
            <a:off x="3474720" y="4050792"/>
            <a:ext cx="2514600" cy="347472"/>
          </a:xfrm>
          <a:prstGeom prst="rect">
            <a:avLst/>
          </a:prstGeom>
          <a:noFill/>
          <a:ln/>
        </p:spPr>
        <p:txBody>
          <a:bodyPr wrap="square" rtlCol="0" anchor="ctr"/>
          <a:lstStyle/>
          <a:p>
            <a:pPr algn="ctr" indent="0" marL="0">
              <a:buNone/>
            </a:pPr>
            <a:r>
              <a:rPr lang="en-US" sz="1100" dirty="0">
                <a:solidFill>
                  <a:srgbClr val="A0AEC0"/>
                </a:solidFill>
                <a:latin typeface="Calibri" pitchFamily="34" charset="0"/>
                <a:ea typeface="Calibri" pitchFamily="34" charset="-122"/>
                <a:cs typeface="Calibri" pitchFamily="34" charset="-120"/>
              </a:rPr>
              <a:t>inference speedup</a:t>
            </a:r>
            <a:endParaRPr lang="en-US" sz="1100" dirty="0"/>
          </a:p>
        </p:txBody>
      </p:sp>
      <p:sp>
        <p:nvSpPr>
          <p:cNvPr id="12" name="Shape 10"/>
          <p:cNvSpPr/>
          <p:nvPr/>
        </p:nvSpPr>
        <p:spPr>
          <a:xfrm>
            <a:off x="6309360" y="3246120"/>
            <a:ext cx="2514600" cy="1417320"/>
          </a:xfrm>
          <a:prstGeom prst="roundRect">
            <a:avLst>
              <a:gd name="adj" fmla="val 6452"/>
            </a:avLst>
          </a:prstGeom>
          <a:solidFill>
            <a:srgbClr val="1A2E45"/>
          </a:solidFill>
          <a:ln w="12700">
            <a:solidFill>
              <a:srgbClr val="263A54"/>
            </a:solidFill>
            <a:prstDash val="solid"/>
          </a:ln>
        </p:spPr>
      </p:sp>
      <p:sp>
        <p:nvSpPr>
          <p:cNvPr id="13" name="Text 11"/>
          <p:cNvSpPr/>
          <p:nvPr/>
        </p:nvSpPr>
        <p:spPr>
          <a:xfrm>
            <a:off x="6309360" y="3429000"/>
            <a:ext cx="2514600" cy="594360"/>
          </a:xfrm>
          <a:prstGeom prst="rect">
            <a:avLst/>
          </a:prstGeom>
          <a:noFill/>
          <a:ln/>
        </p:spPr>
        <p:txBody>
          <a:bodyPr wrap="square" rtlCol="0" anchor="ctr"/>
          <a:lstStyle/>
          <a:p>
            <a:pPr algn="ctr" indent="0" marL="0">
              <a:buNone/>
            </a:pPr>
            <a:r>
              <a:rPr lang="en-US" sz="3000" b="1" dirty="0">
                <a:solidFill>
                  <a:srgbClr val="00BFA5"/>
                </a:solidFill>
                <a:latin typeface="Calibri" pitchFamily="34" charset="0"/>
                <a:ea typeface="Calibri" pitchFamily="34" charset="-122"/>
                <a:cs typeface="Calibri" pitchFamily="34" charset="-120"/>
              </a:rPr>
              <a:t>&lt;1%</a:t>
            </a:r>
            <a:endParaRPr lang="en-US" sz="3000" dirty="0"/>
          </a:p>
        </p:txBody>
      </p:sp>
      <p:sp>
        <p:nvSpPr>
          <p:cNvPr id="14" name="Text 12"/>
          <p:cNvSpPr/>
          <p:nvPr/>
        </p:nvSpPr>
        <p:spPr>
          <a:xfrm>
            <a:off x="6309360" y="4050792"/>
            <a:ext cx="2514600" cy="347472"/>
          </a:xfrm>
          <a:prstGeom prst="rect">
            <a:avLst/>
          </a:prstGeom>
          <a:noFill/>
          <a:ln/>
        </p:spPr>
        <p:txBody>
          <a:bodyPr wrap="square" rtlCol="0" anchor="ctr"/>
          <a:lstStyle/>
          <a:p>
            <a:pPr algn="ctr" indent="0" marL="0">
              <a:buNone/>
            </a:pPr>
            <a:r>
              <a:rPr lang="en-US" sz="1100" dirty="0">
                <a:solidFill>
                  <a:srgbClr val="A0AEC0"/>
                </a:solidFill>
                <a:latin typeface="Calibri" pitchFamily="34" charset="0"/>
                <a:ea typeface="Calibri" pitchFamily="34" charset="-122"/>
                <a:cs typeface="Calibri" pitchFamily="34" charset="-120"/>
              </a:rPr>
              <a:t>typical accuracy drop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3000" b="1" dirty="0">
                <a:solidFill>
                  <a:srgbClr val="1C2B3A"/>
                </a:solidFill>
                <a:latin typeface="Calibri" pitchFamily="34" charset="0"/>
                <a:ea typeface="Calibri" pitchFamily="34" charset="-122"/>
                <a:cs typeface="Calibri" pitchFamily="34" charset="-120"/>
              </a:rPr>
              <a:t>Quantization: how it works</a:t>
            </a:r>
            <a:endParaRPr lang="en-US" sz="3000" dirty="0"/>
          </a:p>
        </p:txBody>
      </p:sp>
      <p:sp>
        <p:nvSpPr>
          <p:cNvPr id="3" name="Text 1"/>
          <p:cNvSpPr/>
          <p:nvPr/>
        </p:nvSpPr>
        <p:spPr>
          <a:xfrm>
            <a:off x="411480" y="795528"/>
            <a:ext cx="8321040" cy="27432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Map floating-point values to discrete integer levels using a scale factor and zero-point</a:t>
            </a:r>
            <a:endParaRPr lang="en-US" sz="1300" dirty="0"/>
          </a:p>
        </p:txBody>
      </p:sp>
      <p:sp>
        <p:nvSpPr>
          <p:cNvPr id="4" name="Shape 2"/>
          <p:cNvSpPr/>
          <p:nvPr/>
        </p:nvSpPr>
        <p:spPr>
          <a:xfrm>
            <a:off x="457200" y="1024128"/>
            <a:ext cx="2423160" cy="1325880"/>
          </a:xfrm>
          <a:prstGeom prst="roundRect">
            <a:avLst>
              <a:gd name="adj" fmla="val 8276"/>
            </a:avLst>
          </a:prstGeom>
          <a:solidFill>
            <a:srgbClr val="EBF0FA"/>
          </a:solidFill>
          <a:ln w="12700">
            <a:solidFill>
              <a:srgbClr val="EBF0FA"/>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594360" y="1133856"/>
            <a:ext cx="2148840" cy="320040"/>
          </a:xfrm>
          <a:prstGeom prst="rect">
            <a:avLst/>
          </a:prstGeom>
          <a:noFill/>
          <a:ln/>
        </p:spPr>
        <p:txBody>
          <a:bodyPr wrap="square" rtlCol="0" anchor="ctr"/>
          <a:lstStyle/>
          <a:p>
            <a:pPr indent="0" marL="0">
              <a:buNone/>
            </a:pPr>
            <a:r>
              <a:rPr lang="en-US" sz="1200" b="1" dirty="0">
                <a:solidFill>
                  <a:srgbClr val="2B4C7E"/>
                </a:solidFill>
                <a:latin typeface="Calibri" pitchFamily="34" charset="0"/>
                <a:ea typeface="Calibri" pitchFamily="34" charset="-122"/>
                <a:cs typeface="Calibri" pitchFamily="34" charset="-120"/>
              </a:rPr>
              <a:t>FP32 weight</a:t>
            </a:r>
            <a:endParaRPr lang="en-US" sz="1200" dirty="0"/>
          </a:p>
        </p:txBody>
      </p:sp>
      <p:sp>
        <p:nvSpPr>
          <p:cNvPr id="6" name="Text 4"/>
          <p:cNvSpPr/>
          <p:nvPr/>
        </p:nvSpPr>
        <p:spPr>
          <a:xfrm>
            <a:off x="594360" y="1527048"/>
            <a:ext cx="2148840" cy="594360"/>
          </a:xfrm>
          <a:prstGeom prst="rect">
            <a:avLst/>
          </a:prstGeom>
          <a:noFill/>
          <a:ln/>
        </p:spPr>
        <p:txBody>
          <a:bodyPr wrap="square" rtlCol="0" anchor="ctr"/>
          <a:lstStyle/>
          <a:p>
            <a:pPr algn="ctr" indent="0" marL="0">
              <a:buNone/>
            </a:pPr>
            <a:r>
              <a:rPr lang="en-US" sz="2000" b="1" dirty="0">
                <a:solidFill>
                  <a:srgbClr val="1C2B3A"/>
                </a:solidFill>
                <a:latin typeface="Calibri" pitchFamily="34" charset="0"/>
                <a:ea typeface="Calibri" pitchFamily="34" charset="-122"/>
                <a:cs typeface="Calibri" pitchFamily="34" charset="-120"/>
              </a:rPr>
              <a:t>0.3721...</a:t>
            </a:r>
            <a:endParaRPr lang="en-US" sz="2000" dirty="0"/>
          </a:p>
        </p:txBody>
      </p:sp>
      <p:sp>
        <p:nvSpPr>
          <p:cNvPr id="7" name="Shape 5"/>
          <p:cNvSpPr/>
          <p:nvPr/>
        </p:nvSpPr>
        <p:spPr>
          <a:xfrm>
            <a:off x="3063240" y="1024128"/>
            <a:ext cx="2423160" cy="1325880"/>
          </a:xfrm>
          <a:prstGeom prst="roundRect">
            <a:avLst>
              <a:gd name="adj" fmla="val 8276"/>
            </a:avLst>
          </a:prstGeom>
          <a:solidFill>
            <a:srgbClr val="E6F7F5"/>
          </a:solidFill>
          <a:ln w="12700">
            <a:solidFill>
              <a:srgbClr val="E6F7F5"/>
            </a:solidFill>
            <a:prstDash val="solid"/>
          </a:ln>
          <a:effectLst>
            <a:outerShdw sx="100000" sy="100000" kx="0" ky="0" algn="bl" rotWithShape="0" blurRad="101600" dist="25400" dir="8100000">
              <a:srgbClr val="000000">
                <a:alpha val="10000"/>
              </a:srgbClr>
            </a:outerShdw>
          </a:effectLst>
        </p:spPr>
      </p:sp>
      <p:sp>
        <p:nvSpPr>
          <p:cNvPr id="8" name="Text 6"/>
          <p:cNvSpPr/>
          <p:nvPr/>
        </p:nvSpPr>
        <p:spPr>
          <a:xfrm>
            <a:off x="3200400" y="1133856"/>
            <a:ext cx="2148840" cy="320040"/>
          </a:xfrm>
          <a:prstGeom prst="rect">
            <a:avLst/>
          </a:prstGeom>
          <a:noFill/>
          <a:ln/>
        </p:spPr>
        <p:txBody>
          <a:bodyPr wrap="square" rtlCol="0" anchor="ctr"/>
          <a:lstStyle/>
          <a:p>
            <a:pPr indent="0" marL="0">
              <a:buNone/>
            </a:pPr>
            <a:r>
              <a:rPr lang="en-US" sz="1200" b="1" dirty="0">
                <a:solidFill>
                  <a:srgbClr val="007C6E"/>
                </a:solidFill>
                <a:latin typeface="Calibri" pitchFamily="34" charset="0"/>
                <a:ea typeface="Calibri" pitchFamily="34" charset="-122"/>
                <a:cs typeface="Calibri" pitchFamily="34" charset="-120"/>
              </a:rPr>
              <a:t>Quantize</a:t>
            </a:r>
            <a:endParaRPr lang="en-US" sz="1200" dirty="0"/>
          </a:p>
        </p:txBody>
      </p:sp>
      <p:sp>
        <p:nvSpPr>
          <p:cNvPr id="9" name="Text 7"/>
          <p:cNvSpPr/>
          <p:nvPr/>
        </p:nvSpPr>
        <p:spPr>
          <a:xfrm>
            <a:off x="3200400" y="1527048"/>
            <a:ext cx="2148840" cy="594360"/>
          </a:xfrm>
          <a:prstGeom prst="rect">
            <a:avLst/>
          </a:prstGeom>
          <a:noFill/>
          <a:ln/>
        </p:spPr>
        <p:txBody>
          <a:bodyPr wrap="square" rtlCol="0" anchor="ctr"/>
          <a:lstStyle/>
          <a:p>
            <a:pPr algn="ctr" indent="0" marL="0">
              <a:buNone/>
            </a:pPr>
            <a:r>
              <a:rPr lang="en-US" sz="2000" b="1" dirty="0">
                <a:solidFill>
                  <a:srgbClr val="1C2B3A"/>
                </a:solidFill>
                <a:latin typeface="Calibri" pitchFamily="34" charset="0"/>
                <a:ea typeface="Calibri" pitchFamily="34" charset="-122"/>
                <a:cs typeface="Calibri" pitchFamily="34" charset="-120"/>
              </a:rPr>
              <a:t>× scale + zero</a:t>
            </a:r>
            <a:endParaRPr lang="en-US" sz="2000" dirty="0"/>
          </a:p>
        </p:txBody>
      </p:sp>
      <p:sp>
        <p:nvSpPr>
          <p:cNvPr id="10" name="Shape 8"/>
          <p:cNvSpPr/>
          <p:nvPr/>
        </p:nvSpPr>
        <p:spPr>
          <a:xfrm>
            <a:off x="5760720" y="1024128"/>
            <a:ext cx="2423160" cy="1325880"/>
          </a:xfrm>
          <a:prstGeom prst="roundRect">
            <a:avLst>
              <a:gd name="adj" fmla="val 8276"/>
            </a:avLst>
          </a:prstGeom>
          <a:solidFill>
            <a:srgbClr val="F0FFF4"/>
          </a:solidFill>
          <a:ln w="12700">
            <a:solidFill>
              <a:srgbClr val="F0FFF4"/>
            </a:solidFill>
            <a:prstDash val="solid"/>
          </a:ln>
          <a:effectLst>
            <a:outerShdw sx="100000" sy="100000" kx="0" ky="0" algn="bl" rotWithShape="0" blurRad="101600" dist="25400" dir="8100000">
              <a:srgbClr val="000000">
                <a:alpha val="10000"/>
              </a:srgbClr>
            </a:outerShdw>
          </a:effectLst>
        </p:spPr>
      </p:sp>
      <p:sp>
        <p:nvSpPr>
          <p:cNvPr id="11" name="Text 9"/>
          <p:cNvSpPr/>
          <p:nvPr/>
        </p:nvSpPr>
        <p:spPr>
          <a:xfrm>
            <a:off x="5897880" y="1133856"/>
            <a:ext cx="2148840" cy="320040"/>
          </a:xfrm>
          <a:prstGeom prst="rect">
            <a:avLst/>
          </a:prstGeom>
          <a:noFill/>
          <a:ln/>
        </p:spPr>
        <p:txBody>
          <a:bodyPr wrap="square" rtlCol="0" anchor="ctr"/>
          <a:lstStyle/>
          <a:p>
            <a:pPr indent="0" marL="0">
              <a:buNone/>
            </a:pPr>
            <a:r>
              <a:rPr lang="en-US" sz="1200" b="1" dirty="0">
                <a:solidFill>
                  <a:srgbClr val="2F855A"/>
                </a:solidFill>
                <a:latin typeface="Calibri" pitchFamily="34" charset="0"/>
                <a:ea typeface="Calibri" pitchFamily="34" charset="-122"/>
                <a:cs typeface="Calibri" pitchFamily="34" charset="-120"/>
              </a:rPr>
              <a:t>INT8 weight</a:t>
            </a:r>
            <a:endParaRPr lang="en-US" sz="1200" dirty="0"/>
          </a:p>
        </p:txBody>
      </p:sp>
      <p:sp>
        <p:nvSpPr>
          <p:cNvPr id="12" name="Text 10"/>
          <p:cNvSpPr/>
          <p:nvPr/>
        </p:nvSpPr>
        <p:spPr>
          <a:xfrm>
            <a:off x="5897880" y="1527048"/>
            <a:ext cx="2148840" cy="594360"/>
          </a:xfrm>
          <a:prstGeom prst="rect">
            <a:avLst/>
          </a:prstGeom>
          <a:noFill/>
          <a:ln/>
        </p:spPr>
        <p:txBody>
          <a:bodyPr wrap="square" rtlCol="0" anchor="ctr"/>
          <a:lstStyle/>
          <a:p>
            <a:pPr algn="ctr" indent="0" marL="0">
              <a:buNone/>
            </a:pPr>
            <a:r>
              <a:rPr lang="en-US" sz="2000" b="1" dirty="0">
                <a:solidFill>
                  <a:srgbClr val="1C2B3A"/>
                </a:solidFill>
                <a:latin typeface="Calibri" pitchFamily="34" charset="0"/>
                <a:ea typeface="Calibri" pitchFamily="34" charset="-122"/>
                <a:cs typeface="Calibri" pitchFamily="34" charset="-120"/>
              </a:rPr>
              <a:t>47</a:t>
            </a:r>
            <a:endParaRPr lang="en-US" sz="2000" dirty="0"/>
          </a:p>
        </p:txBody>
      </p:sp>
      <p:sp>
        <p:nvSpPr>
          <p:cNvPr id="13" name="Shape 11"/>
          <p:cNvSpPr/>
          <p:nvPr/>
        </p:nvSpPr>
        <p:spPr>
          <a:xfrm>
            <a:off x="2560320" y="1673352"/>
            <a:ext cx="457200" cy="0"/>
          </a:xfrm>
          <a:prstGeom prst="line">
            <a:avLst/>
          </a:prstGeom>
          <a:noFill/>
          <a:ln w="31750">
            <a:solidFill>
              <a:srgbClr val="00BFA5"/>
            </a:solidFill>
            <a:prstDash val="solid"/>
          </a:ln>
        </p:spPr>
      </p:sp>
      <p:sp>
        <p:nvSpPr>
          <p:cNvPr id="14" name="Shape 12"/>
          <p:cNvSpPr/>
          <p:nvPr/>
        </p:nvSpPr>
        <p:spPr>
          <a:xfrm>
            <a:off x="5239512" y="1673352"/>
            <a:ext cx="457200" cy="0"/>
          </a:xfrm>
          <a:prstGeom prst="line">
            <a:avLst/>
          </a:prstGeom>
          <a:noFill/>
          <a:ln w="31750">
            <a:solidFill>
              <a:srgbClr val="00BFA5"/>
            </a:solidFill>
            <a:prstDash val="solid"/>
          </a:ln>
        </p:spPr>
      </p:sp>
      <p:pic>
        <p:nvPicPr>
          <p:cNvPr id="15" name="Image 0" descr="preencoded.png">    </p:cNvPr>
          <p:cNvPicPr>
            <a:picLocks noChangeAspect="1"/>
          </p:cNvPicPr>
          <p:nvPr/>
        </p:nvPicPr>
        <p:blipFill>
          <a:blip r:embed="rId1"/>
          <a:stretch>
            <a:fillRect/>
          </a:stretch>
        </p:blipFill>
        <p:spPr>
          <a:xfrm>
            <a:off x="2779776" y="1536192"/>
            <a:ext cx="310896" cy="310896"/>
          </a:xfrm>
          <a:prstGeom prst="rect">
            <a:avLst/>
          </a:prstGeom>
        </p:spPr>
      </p:pic>
      <p:pic>
        <p:nvPicPr>
          <p:cNvPr id="16" name="Image 1" descr="preencoded.png">    </p:cNvPr>
          <p:cNvPicPr>
            <a:picLocks noChangeAspect="1"/>
          </p:cNvPicPr>
          <p:nvPr/>
        </p:nvPicPr>
        <p:blipFill>
          <a:blip r:embed="rId2"/>
          <a:stretch>
            <a:fillRect/>
          </a:stretch>
        </p:blipFill>
        <p:spPr>
          <a:xfrm>
            <a:off x="5486400" y="1536192"/>
            <a:ext cx="310896" cy="310896"/>
          </a:xfrm>
          <a:prstGeom prst="rect">
            <a:avLst/>
          </a:prstGeom>
        </p:spPr>
      </p:pic>
      <p:sp>
        <p:nvSpPr>
          <p:cNvPr id="17" name="Shape 13"/>
          <p:cNvSpPr/>
          <p:nvPr/>
        </p:nvSpPr>
        <p:spPr>
          <a:xfrm>
            <a:off x="457200" y="2633472"/>
            <a:ext cx="4069080" cy="2212848"/>
          </a:xfrm>
          <a:prstGeom prst="roundRect">
            <a:avLst>
              <a:gd name="adj" fmla="val 4959"/>
            </a:avLst>
          </a:prstGeom>
          <a:solidFill>
            <a:srgbClr val="E6F7F5"/>
          </a:solidFill>
          <a:ln w="12700">
            <a:solidFill>
              <a:srgbClr val="E6F7F5"/>
            </a:solidFill>
            <a:prstDash val="solid"/>
          </a:ln>
          <a:effectLst>
            <a:outerShdw sx="100000" sy="100000" kx="0" ky="0" algn="bl" rotWithShape="0" blurRad="101600" dist="25400" dir="8100000">
              <a:srgbClr val="000000">
                <a:alpha val="10000"/>
              </a:srgbClr>
            </a:outerShdw>
          </a:effectLst>
        </p:spPr>
      </p:sp>
      <p:sp>
        <p:nvSpPr>
          <p:cNvPr id="18" name="Shape 14"/>
          <p:cNvSpPr/>
          <p:nvPr/>
        </p:nvSpPr>
        <p:spPr>
          <a:xfrm>
            <a:off x="621792" y="2761488"/>
            <a:ext cx="3739896" cy="246888"/>
          </a:xfrm>
          <a:prstGeom prst="roundRect">
            <a:avLst>
              <a:gd name="adj" fmla="val 48148"/>
            </a:avLst>
          </a:prstGeom>
          <a:solidFill>
            <a:srgbClr val="00BFA5"/>
          </a:solidFill>
          <a:ln w="12700">
            <a:solidFill>
              <a:srgbClr val="00BFA5"/>
            </a:solidFill>
            <a:prstDash val="solid"/>
          </a:ln>
        </p:spPr>
      </p:sp>
      <p:sp>
        <p:nvSpPr>
          <p:cNvPr id="19" name="Text 15"/>
          <p:cNvSpPr/>
          <p:nvPr/>
        </p:nvSpPr>
        <p:spPr>
          <a:xfrm>
            <a:off x="621792" y="2761488"/>
            <a:ext cx="3739896" cy="2468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PTQ — Post-Training Quantization</a:t>
            </a:r>
            <a:endParaRPr lang="en-US" sz="1050" dirty="0"/>
          </a:p>
        </p:txBody>
      </p:sp>
      <p:sp>
        <p:nvSpPr>
          <p:cNvPr id="20" name="Text 16"/>
          <p:cNvSpPr/>
          <p:nvPr/>
        </p:nvSpPr>
        <p:spPr>
          <a:xfrm>
            <a:off x="621792" y="3136392"/>
            <a:ext cx="3739896" cy="1609344"/>
          </a:xfrm>
          <a:prstGeom prst="rect">
            <a:avLst/>
          </a:prstGeom>
          <a:noFill/>
          <a:ln/>
        </p:spPr>
        <p:txBody>
          <a:bodyPr wrap="square" rtlCol="0" anchor="ctr"/>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Works on an already-trained model — no retraining needed</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Uses a small calibration dataset (100–500 samples) to estimate activation ranges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Dynamic PTQ: activations quantized at runtime (easy, good for Transformers)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Static PTQ: activations quantized offline (better for CNNs, needs calibration data)</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Best first step — try this before QAT</a:t>
            </a:r>
            <a:endParaRPr lang="en-US" sz="1100" dirty="0"/>
          </a:p>
        </p:txBody>
      </p:sp>
      <p:sp>
        <p:nvSpPr>
          <p:cNvPr id="21" name="Shape 17"/>
          <p:cNvSpPr/>
          <p:nvPr/>
        </p:nvSpPr>
        <p:spPr>
          <a:xfrm>
            <a:off x="4800600" y="2633472"/>
            <a:ext cx="4069080" cy="2212848"/>
          </a:xfrm>
          <a:prstGeom prst="roundRect">
            <a:avLst>
              <a:gd name="adj" fmla="val 4959"/>
            </a:avLst>
          </a:prstGeom>
          <a:solidFill>
            <a:srgbClr val="FEF3DC"/>
          </a:solidFill>
          <a:ln w="12700">
            <a:solidFill>
              <a:srgbClr val="FEF3DC"/>
            </a:solidFill>
            <a:prstDash val="solid"/>
          </a:ln>
          <a:effectLst>
            <a:outerShdw sx="100000" sy="100000" kx="0" ky="0" algn="bl" rotWithShape="0" blurRad="101600" dist="25400" dir="8100000">
              <a:srgbClr val="000000">
                <a:alpha val="10000"/>
              </a:srgbClr>
            </a:outerShdw>
          </a:effectLst>
        </p:spPr>
      </p:sp>
      <p:sp>
        <p:nvSpPr>
          <p:cNvPr id="22" name="Shape 18"/>
          <p:cNvSpPr/>
          <p:nvPr/>
        </p:nvSpPr>
        <p:spPr>
          <a:xfrm>
            <a:off x="4965192" y="2761488"/>
            <a:ext cx="3739896" cy="246888"/>
          </a:xfrm>
          <a:prstGeom prst="roundRect">
            <a:avLst>
              <a:gd name="adj" fmla="val 48148"/>
            </a:avLst>
          </a:prstGeom>
          <a:solidFill>
            <a:srgbClr val="B45309"/>
          </a:solidFill>
          <a:ln w="12700">
            <a:solidFill>
              <a:srgbClr val="B45309"/>
            </a:solidFill>
            <a:prstDash val="solid"/>
          </a:ln>
        </p:spPr>
      </p:sp>
      <p:sp>
        <p:nvSpPr>
          <p:cNvPr id="23" name="Text 19"/>
          <p:cNvSpPr/>
          <p:nvPr/>
        </p:nvSpPr>
        <p:spPr>
          <a:xfrm>
            <a:off x="4965192" y="2761488"/>
            <a:ext cx="3739896" cy="2468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QAT — Quantization-Aware Training</a:t>
            </a:r>
            <a:endParaRPr lang="en-US" sz="1050" dirty="0"/>
          </a:p>
        </p:txBody>
      </p:sp>
      <p:sp>
        <p:nvSpPr>
          <p:cNvPr id="24" name="Text 20"/>
          <p:cNvSpPr/>
          <p:nvPr/>
        </p:nvSpPr>
        <p:spPr>
          <a:xfrm>
            <a:off x="4965192" y="3136392"/>
            <a:ext cx="3739896" cy="1609344"/>
          </a:xfrm>
          <a:prstGeom prst="rect">
            <a:avLst/>
          </a:prstGeom>
          <a:noFill/>
          <a:ln/>
        </p:spPr>
        <p:txBody>
          <a:bodyPr wrap="square" rtlCol="0" anchor="ctr"/>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Inserts 'fake quant' nodes during fine-tuning so model learns to tolerate quant error</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Requires access to training data and fine-tuning budget</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Typically recovers accuracy lost by aggressive quantization (INT4, W4A8)</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Used when PTQ accuracy drop exceeds SLA (usually &gt;1% top-1 for CNNs)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Standard approach for on-device LLM deployment (W4A8 mixed precision)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400800" y="-457200"/>
            <a:ext cx="3657600" cy="3657600"/>
          </a:xfrm>
          <a:prstGeom prst="ellipse">
            <a:avLst/>
          </a:prstGeom>
          <a:solidFill>
            <a:srgbClr val="6B46C1">
              <a:alpha val="8000"/>
            </a:srgbClr>
          </a:solidFill>
          <a:ln w="12700">
            <a:solidFill>
              <a:srgbClr val="6B46C1"/>
            </a:solidFill>
            <a:prstDash val="solid"/>
          </a:ln>
        </p:spPr>
      </p:sp>
      <p:sp>
        <p:nvSpPr>
          <p:cNvPr id="3" name="Text 1"/>
          <p:cNvSpPr/>
          <p:nvPr/>
        </p:nvSpPr>
        <p:spPr>
          <a:xfrm>
            <a:off x="640080" y="731520"/>
            <a:ext cx="2743200" cy="1097280"/>
          </a:xfrm>
          <a:prstGeom prst="rect">
            <a:avLst/>
          </a:prstGeom>
          <a:noFill/>
          <a:ln/>
        </p:spPr>
        <p:txBody>
          <a:bodyPr wrap="square" rtlCol="0" anchor="ctr"/>
          <a:lstStyle/>
          <a:p>
            <a:pPr indent="0" marL="0">
              <a:buNone/>
            </a:pPr>
            <a:r>
              <a:rPr lang="en-US" sz="8000" b="1" dirty="0">
                <a:solidFill>
                  <a:srgbClr val="6B46C1">
                    <a:alpha val="80000"/>
                  </a:srgbClr>
                </a:solidFill>
                <a:latin typeface="Calibri" pitchFamily="34" charset="0"/>
                <a:ea typeface="Calibri" pitchFamily="34" charset="-122"/>
                <a:cs typeface="Calibri" pitchFamily="34" charset="-120"/>
              </a:rPr>
              <a:t>02</a:t>
            </a:r>
            <a:endParaRPr lang="en-US" sz="8000" dirty="0"/>
          </a:p>
        </p:txBody>
      </p:sp>
      <p:sp>
        <p:nvSpPr>
          <p:cNvPr id="4" name="Text 2"/>
          <p:cNvSpPr/>
          <p:nvPr/>
        </p:nvSpPr>
        <p:spPr>
          <a:xfrm>
            <a:off x="640080" y="1645920"/>
            <a:ext cx="7863840" cy="77724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Pruning</a:t>
            </a:r>
            <a:endParaRPr lang="en-US" sz="4400" dirty="0"/>
          </a:p>
        </p:txBody>
      </p:sp>
      <p:sp>
        <p:nvSpPr>
          <p:cNvPr id="5" name="Text 3"/>
          <p:cNvSpPr/>
          <p:nvPr/>
        </p:nvSpPr>
        <p:spPr>
          <a:xfrm>
            <a:off x="640080" y="2450592"/>
            <a:ext cx="6858000" cy="411480"/>
          </a:xfrm>
          <a:prstGeom prst="rect">
            <a:avLst/>
          </a:prstGeom>
          <a:noFill/>
          <a:ln/>
        </p:spPr>
        <p:txBody>
          <a:bodyPr wrap="square" rtlCol="0" anchor="ctr"/>
          <a:lstStyle/>
          <a:p>
            <a:pPr indent="0" marL="0">
              <a:buNone/>
            </a:pPr>
            <a:r>
              <a:rPr lang="en-US" sz="1600" dirty="0">
                <a:solidFill>
                  <a:srgbClr val="A0AEC0"/>
                </a:solidFill>
                <a:latin typeface="Calibri" pitchFamily="34" charset="0"/>
                <a:ea typeface="Calibri" pitchFamily="34" charset="-122"/>
                <a:cs typeface="Calibri" pitchFamily="34" charset="-120"/>
              </a:rPr>
              <a:t>Removing weights, neurons, and channels that contribute least to the output</a:t>
            </a:r>
            <a:endParaRPr lang="en-US" sz="1600" dirty="0"/>
          </a:p>
        </p:txBody>
      </p:sp>
      <p:sp>
        <p:nvSpPr>
          <p:cNvPr id="6" name="Shape 4"/>
          <p:cNvSpPr/>
          <p:nvPr/>
        </p:nvSpPr>
        <p:spPr>
          <a:xfrm>
            <a:off x="640080" y="3246120"/>
            <a:ext cx="2514600" cy="1417320"/>
          </a:xfrm>
          <a:prstGeom prst="roundRect">
            <a:avLst>
              <a:gd name="adj" fmla="val 6452"/>
            </a:avLst>
          </a:prstGeom>
          <a:solidFill>
            <a:srgbClr val="1A2E45"/>
          </a:solidFill>
          <a:ln w="12700">
            <a:solidFill>
              <a:srgbClr val="263A54"/>
            </a:solidFill>
            <a:prstDash val="solid"/>
          </a:ln>
        </p:spPr>
      </p:sp>
      <p:sp>
        <p:nvSpPr>
          <p:cNvPr id="7" name="Text 5"/>
          <p:cNvSpPr/>
          <p:nvPr/>
        </p:nvSpPr>
        <p:spPr>
          <a:xfrm>
            <a:off x="640080" y="3429000"/>
            <a:ext cx="2514600" cy="594360"/>
          </a:xfrm>
          <a:prstGeom prst="rect">
            <a:avLst/>
          </a:prstGeom>
          <a:noFill/>
          <a:ln/>
        </p:spPr>
        <p:txBody>
          <a:bodyPr wrap="square" rtlCol="0" anchor="ctr"/>
          <a:lstStyle/>
          <a:p>
            <a:pPr algn="ctr" indent="0" marL="0">
              <a:buNone/>
            </a:pPr>
            <a:r>
              <a:rPr lang="en-US" sz="2600" b="1" dirty="0">
                <a:solidFill>
                  <a:srgbClr val="9F7AEA"/>
                </a:solidFill>
                <a:latin typeface="Calibri" pitchFamily="34" charset="0"/>
                <a:ea typeface="Calibri" pitchFamily="34" charset="-122"/>
                <a:cs typeface="Calibri" pitchFamily="34" charset="-120"/>
              </a:rPr>
              <a:t>50–90%</a:t>
            </a:r>
            <a:endParaRPr lang="en-US" sz="2600" dirty="0"/>
          </a:p>
        </p:txBody>
      </p:sp>
      <p:sp>
        <p:nvSpPr>
          <p:cNvPr id="8" name="Text 6"/>
          <p:cNvSpPr/>
          <p:nvPr/>
        </p:nvSpPr>
        <p:spPr>
          <a:xfrm>
            <a:off x="640080" y="4050792"/>
            <a:ext cx="2514600" cy="347472"/>
          </a:xfrm>
          <a:prstGeom prst="rect">
            <a:avLst/>
          </a:prstGeom>
          <a:noFill/>
          <a:ln/>
        </p:spPr>
        <p:txBody>
          <a:bodyPr wrap="square" rtlCol="0" anchor="ctr"/>
          <a:lstStyle/>
          <a:p>
            <a:pPr algn="ctr" indent="0" marL="0">
              <a:buNone/>
            </a:pPr>
            <a:r>
              <a:rPr lang="en-US" sz="1100" dirty="0">
                <a:solidFill>
                  <a:srgbClr val="A0AEC0"/>
                </a:solidFill>
                <a:latin typeface="Calibri" pitchFamily="34" charset="0"/>
                <a:ea typeface="Calibri" pitchFamily="34" charset="-122"/>
                <a:cs typeface="Calibri" pitchFamily="34" charset="-120"/>
              </a:rPr>
              <a:t>weights can be zeroed</a:t>
            </a:r>
            <a:endParaRPr lang="en-US" sz="1100" dirty="0"/>
          </a:p>
        </p:txBody>
      </p:sp>
      <p:sp>
        <p:nvSpPr>
          <p:cNvPr id="9" name="Shape 7"/>
          <p:cNvSpPr/>
          <p:nvPr/>
        </p:nvSpPr>
        <p:spPr>
          <a:xfrm>
            <a:off x="3474720" y="3246120"/>
            <a:ext cx="2514600" cy="1417320"/>
          </a:xfrm>
          <a:prstGeom prst="roundRect">
            <a:avLst>
              <a:gd name="adj" fmla="val 6452"/>
            </a:avLst>
          </a:prstGeom>
          <a:solidFill>
            <a:srgbClr val="1A2E45"/>
          </a:solidFill>
          <a:ln w="12700">
            <a:solidFill>
              <a:srgbClr val="263A54"/>
            </a:solidFill>
            <a:prstDash val="solid"/>
          </a:ln>
        </p:spPr>
      </p:sp>
      <p:sp>
        <p:nvSpPr>
          <p:cNvPr id="10" name="Text 8"/>
          <p:cNvSpPr/>
          <p:nvPr/>
        </p:nvSpPr>
        <p:spPr>
          <a:xfrm>
            <a:off x="3474720" y="3429000"/>
            <a:ext cx="2514600" cy="594360"/>
          </a:xfrm>
          <a:prstGeom prst="rect">
            <a:avLst/>
          </a:prstGeom>
          <a:noFill/>
          <a:ln/>
        </p:spPr>
        <p:txBody>
          <a:bodyPr wrap="square" rtlCol="0" anchor="ctr"/>
          <a:lstStyle/>
          <a:p>
            <a:pPr algn="ctr" indent="0" marL="0">
              <a:buNone/>
            </a:pPr>
            <a:r>
              <a:rPr lang="en-US" sz="2600" b="1" dirty="0">
                <a:solidFill>
                  <a:srgbClr val="9F7AEA"/>
                </a:solidFill>
                <a:latin typeface="Calibri" pitchFamily="34" charset="0"/>
                <a:ea typeface="Calibri" pitchFamily="34" charset="-122"/>
                <a:cs typeface="Calibri" pitchFamily="34" charset="-120"/>
              </a:rPr>
              <a:t>Structured</a:t>
            </a:r>
            <a:endParaRPr lang="en-US" sz="2600" dirty="0"/>
          </a:p>
        </p:txBody>
      </p:sp>
      <p:sp>
        <p:nvSpPr>
          <p:cNvPr id="11" name="Text 9"/>
          <p:cNvSpPr/>
          <p:nvPr/>
        </p:nvSpPr>
        <p:spPr>
          <a:xfrm>
            <a:off x="3474720" y="4050792"/>
            <a:ext cx="2514600" cy="347472"/>
          </a:xfrm>
          <a:prstGeom prst="rect">
            <a:avLst/>
          </a:prstGeom>
          <a:noFill/>
          <a:ln/>
        </p:spPr>
        <p:txBody>
          <a:bodyPr wrap="square" rtlCol="0" anchor="ctr"/>
          <a:lstStyle/>
          <a:p>
            <a:pPr algn="ctr" indent="0" marL="0">
              <a:buNone/>
            </a:pPr>
            <a:r>
              <a:rPr lang="en-US" sz="1100" dirty="0">
                <a:solidFill>
                  <a:srgbClr val="A0AEC0"/>
                </a:solidFill>
                <a:latin typeface="Calibri" pitchFamily="34" charset="0"/>
                <a:ea typeface="Calibri" pitchFamily="34" charset="-122"/>
                <a:cs typeface="Calibri" pitchFamily="34" charset="-120"/>
              </a:rPr>
              <a:t>actually speeds up GPU</a:t>
            </a:r>
            <a:endParaRPr lang="en-US" sz="1100" dirty="0"/>
          </a:p>
        </p:txBody>
      </p:sp>
      <p:sp>
        <p:nvSpPr>
          <p:cNvPr id="12" name="Shape 10"/>
          <p:cNvSpPr/>
          <p:nvPr/>
        </p:nvSpPr>
        <p:spPr>
          <a:xfrm>
            <a:off x="6309360" y="3246120"/>
            <a:ext cx="2514600" cy="1417320"/>
          </a:xfrm>
          <a:prstGeom prst="roundRect">
            <a:avLst>
              <a:gd name="adj" fmla="val 6452"/>
            </a:avLst>
          </a:prstGeom>
          <a:solidFill>
            <a:srgbClr val="1A2E45"/>
          </a:solidFill>
          <a:ln w="12700">
            <a:solidFill>
              <a:srgbClr val="263A54"/>
            </a:solidFill>
            <a:prstDash val="solid"/>
          </a:ln>
        </p:spPr>
      </p:sp>
      <p:sp>
        <p:nvSpPr>
          <p:cNvPr id="13" name="Text 11"/>
          <p:cNvSpPr/>
          <p:nvPr/>
        </p:nvSpPr>
        <p:spPr>
          <a:xfrm>
            <a:off x="6309360" y="3429000"/>
            <a:ext cx="2514600" cy="594360"/>
          </a:xfrm>
          <a:prstGeom prst="rect">
            <a:avLst/>
          </a:prstGeom>
          <a:noFill/>
          <a:ln/>
        </p:spPr>
        <p:txBody>
          <a:bodyPr wrap="square" rtlCol="0" anchor="ctr"/>
          <a:lstStyle/>
          <a:p>
            <a:pPr algn="ctr" indent="0" marL="0">
              <a:buNone/>
            </a:pPr>
            <a:r>
              <a:rPr lang="en-US" sz="2600" b="1" dirty="0">
                <a:solidFill>
                  <a:srgbClr val="9F7AEA"/>
                </a:solidFill>
                <a:latin typeface="Calibri" pitchFamily="34" charset="0"/>
                <a:ea typeface="Calibri" pitchFamily="34" charset="-122"/>
                <a:cs typeface="Calibri" pitchFamily="34" charset="-120"/>
              </a:rPr>
              <a:t>Fine-tune</a:t>
            </a:r>
            <a:endParaRPr lang="en-US" sz="2600" dirty="0"/>
          </a:p>
        </p:txBody>
      </p:sp>
      <p:sp>
        <p:nvSpPr>
          <p:cNvPr id="14" name="Text 12"/>
          <p:cNvSpPr/>
          <p:nvPr/>
        </p:nvSpPr>
        <p:spPr>
          <a:xfrm>
            <a:off x="6309360" y="4050792"/>
            <a:ext cx="2514600" cy="347472"/>
          </a:xfrm>
          <a:prstGeom prst="rect">
            <a:avLst/>
          </a:prstGeom>
          <a:noFill/>
          <a:ln/>
        </p:spPr>
        <p:txBody>
          <a:bodyPr wrap="square" rtlCol="0" anchor="ctr"/>
          <a:lstStyle/>
          <a:p>
            <a:pPr algn="ctr" indent="0" marL="0">
              <a:buNone/>
            </a:pPr>
            <a:r>
              <a:rPr lang="en-US" sz="1100" dirty="0">
                <a:solidFill>
                  <a:srgbClr val="A0AEC0"/>
                </a:solidFill>
                <a:latin typeface="Calibri" pitchFamily="34" charset="0"/>
                <a:ea typeface="Calibri" pitchFamily="34" charset="-122"/>
                <a:cs typeface="Calibri" pitchFamily="34" charset="-120"/>
              </a:rPr>
              <a:t>to recover accuracy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3000" b="1" dirty="0">
                <a:solidFill>
                  <a:srgbClr val="1C2B3A"/>
                </a:solidFill>
                <a:latin typeface="Calibri" pitchFamily="34" charset="0"/>
                <a:ea typeface="Calibri" pitchFamily="34" charset="-122"/>
                <a:cs typeface="Calibri" pitchFamily="34" charset="-120"/>
              </a:rPr>
              <a:t>Pruning: structured vs unstructured</a:t>
            </a:r>
            <a:endParaRPr lang="en-US" sz="3000" dirty="0"/>
          </a:p>
        </p:txBody>
      </p:sp>
      <p:sp>
        <p:nvSpPr>
          <p:cNvPr id="3" name="Text 1"/>
          <p:cNvSpPr/>
          <p:nvPr/>
        </p:nvSpPr>
        <p:spPr>
          <a:xfrm>
            <a:off x="411480" y="795528"/>
            <a:ext cx="8321040" cy="27432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The difference determines whether you actually get a latency speedup</a:t>
            </a:r>
            <a:endParaRPr lang="en-US" sz="1300" dirty="0"/>
          </a:p>
        </p:txBody>
      </p:sp>
      <p:sp>
        <p:nvSpPr>
          <p:cNvPr id="4" name="Shape 2"/>
          <p:cNvSpPr/>
          <p:nvPr/>
        </p:nvSpPr>
        <p:spPr>
          <a:xfrm>
            <a:off x="411480" y="987552"/>
            <a:ext cx="4069080" cy="3886200"/>
          </a:xfrm>
          <a:prstGeom prst="roundRect">
            <a:avLst>
              <a:gd name="adj" fmla="val 2824"/>
            </a:avLst>
          </a:prstGeom>
          <a:solidFill>
            <a:srgbClr val="FEF9F9"/>
          </a:solidFill>
          <a:ln w="12700">
            <a:solidFill>
              <a:srgbClr val="FEF9F9"/>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594360" y="1060704"/>
            <a:ext cx="3703320" cy="384048"/>
          </a:xfrm>
          <a:prstGeom prst="rect">
            <a:avLst/>
          </a:prstGeom>
          <a:noFill/>
          <a:ln/>
        </p:spPr>
        <p:txBody>
          <a:bodyPr wrap="square"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Unstructured pruning</a:t>
            </a:r>
            <a:endParaRPr lang="en-US" sz="1500" dirty="0"/>
          </a:p>
        </p:txBody>
      </p:sp>
      <p:sp>
        <p:nvSpPr>
          <p:cNvPr id="6" name="Shape 4"/>
          <p:cNvSpPr/>
          <p:nvPr/>
        </p:nvSpPr>
        <p:spPr>
          <a:xfrm>
            <a:off x="594360" y="1463040"/>
            <a:ext cx="3703320" cy="246888"/>
          </a:xfrm>
          <a:prstGeom prst="roundRect">
            <a:avLst>
              <a:gd name="adj" fmla="val 48148"/>
            </a:avLst>
          </a:prstGeom>
          <a:solidFill>
            <a:srgbClr val="E53E3E"/>
          </a:solidFill>
          <a:ln w="12700">
            <a:solidFill>
              <a:srgbClr val="E53E3E"/>
            </a:solidFill>
            <a:prstDash val="solid"/>
          </a:ln>
        </p:spPr>
      </p:sp>
      <p:sp>
        <p:nvSpPr>
          <p:cNvPr id="7" name="Text 5"/>
          <p:cNvSpPr/>
          <p:nvPr/>
        </p:nvSpPr>
        <p:spPr>
          <a:xfrm>
            <a:off x="594360" y="1463040"/>
            <a:ext cx="370332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Weight-level sparsity</a:t>
            </a:r>
            <a:endParaRPr lang="en-US" sz="1000" dirty="0"/>
          </a:p>
        </p:txBody>
      </p:sp>
      <p:sp>
        <p:nvSpPr>
          <p:cNvPr id="8" name="Text 6"/>
          <p:cNvSpPr/>
          <p:nvPr/>
        </p:nvSpPr>
        <p:spPr>
          <a:xfrm>
            <a:off x="594360" y="1792224"/>
            <a:ext cx="3703320" cy="2148840"/>
          </a:xfrm>
          <a:prstGeom prst="rect">
            <a:avLst/>
          </a:prstGeom>
          <a:noFill/>
          <a:ln/>
        </p:spPr>
        <p:txBody>
          <a:bodyPr wrap="square" rtlCol="0" anchor="ctr"/>
          <a:lstStyle/>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Zero out individual weights below a magnitude threshold</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Result: a sparse weight tensor (many zeros, irregular pattern)</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Dense GPU kernels process ALL elements — zeros cost the same as non-zeros</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Benefit: reduced file size ONLY after compression (e.g. gzip, huffman)</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Requires sparse-aware runtime (NVIDIA APEX, DeepSparse) to see real speedup</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Best for: storage-constrained deployment, not latency-constrained</a:t>
            </a:r>
            <a:endParaRPr lang="en-US" sz="1150" dirty="0"/>
          </a:p>
        </p:txBody>
      </p:sp>
      <p:sp>
        <p:nvSpPr>
          <p:cNvPr id="9" name="Text 7"/>
          <p:cNvSpPr/>
          <p:nvPr/>
        </p:nvSpPr>
        <p:spPr>
          <a:xfrm>
            <a:off x="594360" y="4389120"/>
            <a:ext cx="3703320" cy="274320"/>
          </a:xfrm>
          <a:prstGeom prst="rect">
            <a:avLst/>
          </a:prstGeom>
          <a:noFill/>
          <a:ln/>
        </p:spPr>
        <p:txBody>
          <a:bodyPr wrap="square" rtlCol="0" anchor="ctr"/>
          <a:lstStyle/>
          <a:p>
            <a:pPr indent="0" marL="0">
              <a:buNone/>
            </a:pPr>
            <a:r>
              <a:rPr lang="en-US" sz="1050" b="1" dirty="0">
                <a:solidFill>
                  <a:srgbClr val="E53E3E"/>
                </a:solidFill>
                <a:latin typeface="Calibri" pitchFamily="34" charset="0"/>
                <a:ea typeface="Calibri" pitchFamily="34" charset="-122"/>
                <a:cs typeface="Calibri" pitchFamily="34" charset="-120"/>
              </a:rPr>
              <a:t>⚠  Does NOT reduce latency on GPU by default</a:t>
            </a:r>
            <a:endParaRPr lang="en-US" sz="1050" dirty="0"/>
          </a:p>
        </p:txBody>
      </p:sp>
      <p:sp>
        <p:nvSpPr>
          <p:cNvPr id="10" name="Shape 8"/>
          <p:cNvSpPr/>
          <p:nvPr/>
        </p:nvSpPr>
        <p:spPr>
          <a:xfrm>
            <a:off x="4754880" y="987552"/>
            <a:ext cx="4069080" cy="3886200"/>
          </a:xfrm>
          <a:prstGeom prst="roundRect">
            <a:avLst>
              <a:gd name="adj" fmla="val 2824"/>
            </a:avLst>
          </a:prstGeom>
          <a:solidFill>
            <a:srgbClr val="F0FFF4"/>
          </a:solidFill>
          <a:ln w="12700">
            <a:solidFill>
              <a:srgbClr val="F0FFF4"/>
            </a:solidFill>
            <a:prstDash val="solid"/>
          </a:ln>
          <a:effectLst>
            <a:outerShdw sx="100000" sy="100000" kx="0" ky="0" algn="bl" rotWithShape="0" blurRad="101600" dist="25400" dir="8100000">
              <a:srgbClr val="000000">
                <a:alpha val="10000"/>
              </a:srgbClr>
            </a:outerShdw>
          </a:effectLst>
        </p:spPr>
      </p:sp>
      <p:sp>
        <p:nvSpPr>
          <p:cNvPr id="11" name="Text 9"/>
          <p:cNvSpPr/>
          <p:nvPr/>
        </p:nvSpPr>
        <p:spPr>
          <a:xfrm>
            <a:off x="4937760" y="1060704"/>
            <a:ext cx="3703320" cy="384048"/>
          </a:xfrm>
          <a:prstGeom prst="rect">
            <a:avLst/>
          </a:prstGeom>
          <a:noFill/>
          <a:ln/>
        </p:spPr>
        <p:txBody>
          <a:bodyPr wrap="square"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Structured pruning</a:t>
            </a:r>
            <a:endParaRPr lang="en-US" sz="1500" dirty="0"/>
          </a:p>
        </p:txBody>
      </p:sp>
      <p:sp>
        <p:nvSpPr>
          <p:cNvPr id="12" name="Shape 10"/>
          <p:cNvSpPr/>
          <p:nvPr/>
        </p:nvSpPr>
        <p:spPr>
          <a:xfrm>
            <a:off x="4937760" y="1463040"/>
            <a:ext cx="3703320" cy="246888"/>
          </a:xfrm>
          <a:prstGeom prst="roundRect">
            <a:avLst>
              <a:gd name="adj" fmla="val 48148"/>
            </a:avLst>
          </a:prstGeom>
          <a:solidFill>
            <a:srgbClr val="2F855A"/>
          </a:solidFill>
          <a:ln w="12700">
            <a:solidFill>
              <a:srgbClr val="2F855A"/>
            </a:solidFill>
            <a:prstDash val="solid"/>
          </a:ln>
        </p:spPr>
      </p:sp>
      <p:sp>
        <p:nvSpPr>
          <p:cNvPr id="13" name="Text 11"/>
          <p:cNvSpPr/>
          <p:nvPr/>
        </p:nvSpPr>
        <p:spPr>
          <a:xfrm>
            <a:off x="4937760" y="1463040"/>
            <a:ext cx="370332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Channel / filter removal</a:t>
            </a:r>
            <a:endParaRPr lang="en-US" sz="1000" dirty="0"/>
          </a:p>
        </p:txBody>
      </p:sp>
      <p:sp>
        <p:nvSpPr>
          <p:cNvPr id="14" name="Text 12"/>
          <p:cNvSpPr/>
          <p:nvPr/>
        </p:nvSpPr>
        <p:spPr>
          <a:xfrm>
            <a:off x="4937760" y="1792224"/>
            <a:ext cx="3703320" cy="2148840"/>
          </a:xfrm>
          <a:prstGeom prst="rect">
            <a:avLst/>
          </a:prstGeom>
          <a:noFill/>
          <a:ln/>
        </p:spPr>
        <p:txBody>
          <a:bodyPr wrap="square" rtlCol="0" anchor="ctr"/>
          <a:lstStyle/>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Remove entire filters (output channels) or attention heads from the network</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Result: a SMALLER dense model — fewer channels = smaller matmuls</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Dense GPU kernels immediately run faster on the smaller model</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No special sparse-aware hardware or runtime needed</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Accuracy recovery: fine-tune the pruned model for a few epochs</a:t>
            </a:r>
            <a:endParaRPr lang="en-US" sz="1150" dirty="0"/>
          </a:p>
          <a:p>
            <a:pPr marL="342900" indent="-342900">
              <a:buSzPct val="100000"/>
              <a:buChar char="•"/>
            </a:pPr>
            <a:r>
              <a:rPr lang="en-US" sz="1150" dirty="0">
                <a:solidFill>
                  <a:srgbClr val="4A5568"/>
                </a:solidFill>
                <a:latin typeface="Calibri" pitchFamily="34" charset="0"/>
                <a:ea typeface="Calibri" pitchFamily="34" charset="-122"/>
                <a:cs typeface="Calibri" pitchFamily="34" charset="-120"/>
              </a:rPr>
              <a:t>Best for: latency-critical deployment (real-time inference, edge devices)</a:t>
            </a:r>
            <a:endParaRPr lang="en-US" sz="1150" dirty="0"/>
          </a:p>
        </p:txBody>
      </p:sp>
      <p:sp>
        <p:nvSpPr>
          <p:cNvPr id="15" name="Text 13"/>
          <p:cNvSpPr/>
          <p:nvPr/>
        </p:nvSpPr>
        <p:spPr>
          <a:xfrm>
            <a:off x="4937760" y="4389120"/>
            <a:ext cx="3703320" cy="274320"/>
          </a:xfrm>
          <a:prstGeom prst="rect">
            <a:avLst/>
          </a:prstGeom>
          <a:noFill/>
          <a:ln/>
        </p:spPr>
        <p:txBody>
          <a:bodyPr wrap="square" rtlCol="0" anchor="ctr"/>
          <a:lstStyle/>
          <a:p>
            <a:pPr indent="0" marL="0">
              <a:buNone/>
            </a:pPr>
            <a:r>
              <a:rPr lang="en-US" sz="1050" b="1" dirty="0">
                <a:solidFill>
                  <a:srgbClr val="2F855A"/>
                </a:solidFill>
                <a:latin typeface="Calibri" pitchFamily="34" charset="0"/>
                <a:ea typeface="Calibri" pitchFamily="34" charset="-122"/>
                <a:cs typeface="Calibri" pitchFamily="34" charset="-120"/>
              </a:rPr>
              <a:t>✓  Directly reduces FLOPs and latency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400800" y="-457200"/>
            <a:ext cx="3657600" cy="3657600"/>
          </a:xfrm>
          <a:prstGeom prst="ellipse">
            <a:avLst/>
          </a:prstGeom>
          <a:solidFill>
            <a:srgbClr val="F59E0B">
              <a:alpha val="8000"/>
            </a:srgbClr>
          </a:solidFill>
          <a:ln w="12700">
            <a:solidFill>
              <a:srgbClr val="F59E0B"/>
            </a:solidFill>
            <a:prstDash val="solid"/>
          </a:ln>
        </p:spPr>
      </p:sp>
      <p:sp>
        <p:nvSpPr>
          <p:cNvPr id="3" name="Text 1"/>
          <p:cNvSpPr/>
          <p:nvPr/>
        </p:nvSpPr>
        <p:spPr>
          <a:xfrm>
            <a:off x="640080" y="731520"/>
            <a:ext cx="2743200" cy="1097280"/>
          </a:xfrm>
          <a:prstGeom prst="rect">
            <a:avLst/>
          </a:prstGeom>
          <a:noFill/>
          <a:ln/>
        </p:spPr>
        <p:txBody>
          <a:bodyPr wrap="square" rtlCol="0" anchor="ctr"/>
          <a:lstStyle/>
          <a:p>
            <a:pPr indent="0" marL="0">
              <a:buNone/>
            </a:pPr>
            <a:r>
              <a:rPr lang="en-US" sz="8000" b="1" dirty="0">
                <a:solidFill>
                  <a:srgbClr val="F59E0B">
                    <a:alpha val="80000"/>
                  </a:srgbClr>
                </a:solidFill>
                <a:latin typeface="Calibri" pitchFamily="34" charset="0"/>
                <a:ea typeface="Calibri" pitchFamily="34" charset="-122"/>
                <a:cs typeface="Calibri" pitchFamily="34" charset="-120"/>
              </a:rPr>
              <a:t>03</a:t>
            </a:r>
            <a:endParaRPr lang="en-US" sz="8000" dirty="0"/>
          </a:p>
        </p:txBody>
      </p:sp>
      <p:sp>
        <p:nvSpPr>
          <p:cNvPr id="4" name="Text 2"/>
          <p:cNvSpPr/>
          <p:nvPr/>
        </p:nvSpPr>
        <p:spPr>
          <a:xfrm>
            <a:off x="640080" y="1645920"/>
            <a:ext cx="7863840" cy="77724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Knowledge</a:t>
            </a:r>
            <a:endParaRPr lang="en-US" sz="4400" dirty="0"/>
          </a:p>
        </p:txBody>
      </p:sp>
      <p:sp>
        <p:nvSpPr>
          <p:cNvPr id="5" name="Text 3"/>
          <p:cNvSpPr/>
          <p:nvPr/>
        </p:nvSpPr>
        <p:spPr>
          <a:xfrm>
            <a:off x="640080" y="2331720"/>
            <a:ext cx="7863840" cy="777240"/>
          </a:xfrm>
          <a:prstGeom prst="rect">
            <a:avLst/>
          </a:prstGeom>
          <a:noFill/>
          <a:ln/>
        </p:spPr>
        <p:txBody>
          <a:bodyPr wrap="square" rtlCol="0" anchor="ctr"/>
          <a:lstStyle/>
          <a:p>
            <a:pPr indent="0" marL="0">
              <a:buNone/>
            </a:pPr>
            <a:r>
              <a:rPr lang="en-US" sz="4400" b="1" dirty="0">
                <a:solidFill>
                  <a:srgbClr val="F59E0B"/>
                </a:solidFill>
                <a:latin typeface="Calibri" pitchFamily="34" charset="0"/>
                <a:ea typeface="Calibri" pitchFamily="34" charset="-122"/>
                <a:cs typeface="Calibri" pitchFamily="34" charset="-120"/>
              </a:rPr>
              <a:t>Distillation</a:t>
            </a:r>
            <a:endParaRPr lang="en-US" sz="4400" dirty="0"/>
          </a:p>
        </p:txBody>
      </p:sp>
      <p:sp>
        <p:nvSpPr>
          <p:cNvPr id="6" name="Text 4"/>
          <p:cNvSpPr/>
          <p:nvPr/>
        </p:nvSpPr>
        <p:spPr>
          <a:xfrm>
            <a:off x="640080" y="3127248"/>
            <a:ext cx="6858000" cy="347472"/>
          </a:xfrm>
          <a:prstGeom prst="rect">
            <a:avLst/>
          </a:prstGeom>
          <a:noFill/>
          <a:ln/>
        </p:spPr>
        <p:txBody>
          <a:bodyPr wrap="square" rtlCol="0" anchor="ctr"/>
          <a:lstStyle/>
          <a:p>
            <a:pPr indent="0" marL="0">
              <a:buNone/>
            </a:pPr>
            <a:r>
              <a:rPr lang="en-US" sz="1500" dirty="0">
                <a:solidFill>
                  <a:srgbClr val="A0AEC0"/>
                </a:solidFill>
                <a:latin typeface="Calibri" pitchFamily="34" charset="0"/>
                <a:ea typeface="Calibri" pitchFamily="34" charset="-122"/>
                <a:cs typeface="Calibri" pitchFamily="34" charset="-120"/>
              </a:rPr>
              <a:t>Training a compact student model guided by a large, accurate teacher</a:t>
            </a:r>
            <a:endParaRPr lang="en-US" sz="1500" dirty="0"/>
          </a:p>
        </p:txBody>
      </p:sp>
      <p:sp>
        <p:nvSpPr>
          <p:cNvPr id="7" name="Text 5"/>
          <p:cNvSpPr/>
          <p:nvPr/>
        </p:nvSpPr>
        <p:spPr>
          <a:xfrm>
            <a:off x="640080" y="3511296"/>
            <a:ext cx="6858000" cy="274320"/>
          </a:xfrm>
          <a:prstGeom prst="rect">
            <a:avLst/>
          </a:prstGeom>
          <a:noFill/>
          <a:ln/>
        </p:spPr>
        <p:txBody>
          <a:bodyPr wrap="square" rtlCol="0" anchor="ctr"/>
          <a:lstStyle/>
          <a:p>
            <a:pPr indent="0" marL="0">
              <a:buNone/>
            </a:pPr>
            <a:r>
              <a:rPr lang="en-US" sz="1200" i="1" dirty="0">
                <a:solidFill>
                  <a:srgbClr val="4A5568"/>
                </a:solidFill>
                <a:latin typeface="Calibri" pitchFamily="34" charset="0"/>
                <a:ea typeface="Calibri" pitchFamily="34" charset="-122"/>
                <a:cs typeface="Calibri" pitchFamily="34" charset="-120"/>
              </a:rPr>
              <a:t>Hinton et al., 2015 · DeiT, 2021 · DistilBERT, 2019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3000" b="1" dirty="0">
                <a:solidFill>
                  <a:srgbClr val="1C2B3A"/>
                </a:solidFill>
                <a:latin typeface="Calibri" pitchFamily="34" charset="0"/>
                <a:ea typeface="Calibri" pitchFamily="34" charset="-122"/>
                <a:cs typeface="Calibri" pitchFamily="34" charset="-120"/>
              </a:rPr>
              <a:t>Knowledge Distillation: the framework</a:t>
            </a:r>
            <a:endParaRPr lang="en-US" sz="3000" dirty="0"/>
          </a:p>
        </p:txBody>
      </p:sp>
      <p:sp>
        <p:nvSpPr>
          <p:cNvPr id="3" name="Text 1"/>
          <p:cNvSpPr/>
          <p:nvPr/>
        </p:nvSpPr>
        <p:spPr>
          <a:xfrm>
            <a:off x="411480" y="795528"/>
            <a:ext cx="8321040" cy="27432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Student learns from teacher's soft probability outputs, not just hard labels</a:t>
            </a:r>
            <a:endParaRPr lang="en-US" sz="1300" dirty="0"/>
          </a:p>
        </p:txBody>
      </p:sp>
      <p:sp>
        <p:nvSpPr>
          <p:cNvPr id="4" name="Shape 2"/>
          <p:cNvSpPr/>
          <p:nvPr/>
        </p:nvSpPr>
        <p:spPr>
          <a:xfrm>
            <a:off x="411480" y="1005840"/>
            <a:ext cx="2560320" cy="3246120"/>
          </a:xfrm>
          <a:prstGeom prst="roundRect">
            <a:avLst>
              <a:gd name="adj" fmla="val 4286"/>
            </a:avLst>
          </a:prstGeom>
          <a:solidFill>
            <a:srgbClr val="EBF0FA"/>
          </a:solidFill>
          <a:ln w="12700">
            <a:solidFill>
              <a:srgbClr val="EBF0FA"/>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411480" y="1115568"/>
            <a:ext cx="2560320" cy="320040"/>
          </a:xfrm>
          <a:prstGeom prst="rect">
            <a:avLst/>
          </a:prstGeom>
          <a:noFill/>
          <a:ln/>
        </p:spPr>
        <p:txBody>
          <a:bodyPr wrap="square" rtlCol="0" anchor="ctr"/>
          <a:lstStyle/>
          <a:p>
            <a:pPr algn="ctr" indent="0" marL="0">
              <a:buNone/>
            </a:pPr>
            <a:r>
              <a:rPr lang="en-US" sz="1100" b="1" dirty="0">
                <a:solidFill>
                  <a:srgbClr val="2B4C7E"/>
                </a:solidFill>
                <a:latin typeface="Calibri" pitchFamily="34" charset="0"/>
                <a:ea typeface="Calibri" pitchFamily="34" charset="-122"/>
                <a:cs typeface="Calibri" pitchFamily="34" charset="-120"/>
              </a:rPr>
              <a:t>TEACHER</a:t>
            </a:r>
            <a:endParaRPr lang="en-US" sz="1100" dirty="0"/>
          </a:p>
        </p:txBody>
      </p:sp>
      <p:sp>
        <p:nvSpPr>
          <p:cNvPr id="6" name="Text 4"/>
          <p:cNvSpPr/>
          <p:nvPr/>
        </p:nvSpPr>
        <p:spPr>
          <a:xfrm>
            <a:off x="548640" y="1463040"/>
            <a:ext cx="2286000" cy="548640"/>
          </a:xfrm>
          <a:prstGeom prst="rect">
            <a:avLst/>
          </a:prstGeom>
          <a:noFill/>
          <a:ln/>
        </p:spPr>
        <p:txBody>
          <a:bodyPr wrap="square" rtlCol="0" anchor="ctr"/>
          <a:lstStyle/>
          <a:p>
            <a:pPr algn="ctr" indent="0" marL="0">
              <a:buNone/>
            </a:pPr>
            <a:r>
              <a:rPr lang="en-US" sz="1250" dirty="0">
                <a:solidFill>
                  <a:srgbClr val="1C2B3A"/>
                </a:solidFill>
                <a:latin typeface="Calibri" pitchFamily="34" charset="0"/>
                <a:ea typeface="Calibri" pitchFamily="34" charset="-122"/>
                <a:cs typeface="Calibri" pitchFamily="34" charset="-120"/>
              </a:rPr>
              <a:t>Large model</a:t>
            </a:r>
            <a:endParaRPr lang="en-US" sz="1250" dirty="0"/>
          </a:p>
          <a:p>
            <a:pPr algn="ctr" indent="0" marL="0">
              <a:buNone/>
            </a:pPr>
            <a:r>
              <a:rPr lang="en-US" sz="1250" dirty="0">
                <a:solidFill>
                  <a:srgbClr val="1C2B3A"/>
                </a:solidFill>
                <a:latin typeface="Calibri" pitchFamily="34" charset="0"/>
                <a:ea typeface="Calibri" pitchFamily="34" charset="-122"/>
                <a:cs typeface="Calibri" pitchFamily="34" charset="-120"/>
              </a:rPr>
              <a:t>(e.g. BERT-base)</a:t>
            </a:r>
            <a:endParaRPr lang="en-US" sz="1250" dirty="0"/>
          </a:p>
        </p:txBody>
      </p:sp>
      <p:sp>
        <p:nvSpPr>
          <p:cNvPr id="7" name="Text 5"/>
          <p:cNvSpPr/>
          <p:nvPr/>
        </p:nvSpPr>
        <p:spPr>
          <a:xfrm>
            <a:off x="548640" y="2057400"/>
            <a:ext cx="2286000" cy="502920"/>
          </a:xfrm>
          <a:prstGeom prst="rect">
            <a:avLst/>
          </a:prstGeom>
          <a:noFill/>
          <a:ln/>
        </p:spPr>
        <p:txBody>
          <a:bodyPr wrap="square" rtlCol="0" anchor="ctr"/>
          <a:lstStyle/>
          <a:p>
            <a:pPr algn="ctr" indent="0" marL="0">
              <a:buNone/>
            </a:pPr>
            <a:r>
              <a:rPr lang="en-US" sz="1150" i="1" dirty="0">
                <a:solidFill>
                  <a:srgbClr val="4A5568"/>
                </a:solidFill>
                <a:latin typeface="Calibri" pitchFamily="34" charset="0"/>
                <a:ea typeface="Calibri" pitchFamily="34" charset="-122"/>
                <a:cs typeface="Calibri" pitchFamily="34" charset="-120"/>
              </a:rPr>
              <a:t>High accuracy</a:t>
            </a:r>
            <a:endParaRPr lang="en-US" sz="1150" dirty="0"/>
          </a:p>
          <a:p>
            <a:pPr algn="ctr" indent="0" marL="0">
              <a:buNone/>
            </a:pPr>
            <a:r>
              <a:rPr lang="en-US" sz="1150" i="1" dirty="0">
                <a:solidFill>
                  <a:srgbClr val="4A5568"/>
                </a:solidFill>
                <a:latin typeface="Calibri" pitchFamily="34" charset="0"/>
                <a:ea typeface="Calibri" pitchFamily="34" charset="-122"/>
                <a:cs typeface="Calibri" pitchFamily="34" charset="-120"/>
              </a:rPr>
              <a:t>High cost</a:t>
            </a:r>
            <a:endParaRPr lang="en-US" sz="1150" dirty="0"/>
          </a:p>
        </p:txBody>
      </p:sp>
      <p:sp>
        <p:nvSpPr>
          <p:cNvPr id="8" name="Shape 6"/>
          <p:cNvSpPr/>
          <p:nvPr/>
        </p:nvSpPr>
        <p:spPr>
          <a:xfrm>
            <a:off x="640080" y="2697480"/>
            <a:ext cx="2103120" cy="1261872"/>
          </a:xfrm>
          <a:prstGeom prst="roundRect">
            <a:avLst>
              <a:gd name="adj" fmla="val 8696"/>
            </a:avLst>
          </a:prstGeom>
          <a:solidFill>
            <a:srgbClr val="2B4C7E"/>
          </a:solidFill>
          <a:ln w="12700">
            <a:solidFill>
              <a:srgbClr val="2B4C7E"/>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640080" y="2788920"/>
            <a:ext cx="210312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Soft labels (T=4)</a:t>
            </a:r>
            <a:endParaRPr lang="en-US" sz="1000" dirty="0"/>
          </a:p>
        </p:txBody>
      </p:sp>
      <p:sp>
        <p:nvSpPr>
          <p:cNvPr id="10" name="Text 8"/>
          <p:cNvSpPr/>
          <p:nvPr/>
        </p:nvSpPr>
        <p:spPr>
          <a:xfrm>
            <a:off x="640080" y="3090672"/>
            <a:ext cx="2103120" cy="594360"/>
          </a:xfrm>
          <a:prstGeom prst="rect">
            <a:avLst/>
          </a:prstGeom>
          <a:noFill/>
          <a:ln/>
        </p:spPr>
        <p:txBody>
          <a:bodyPr wrap="square" rtlCol="0" anchor="ctr"/>
          <a:lstStyle/>
          <a:p>
            <a:pPr algn="ctr" indent="0" marL="0">
              <a:buNone/>
            </a:pPr>
            <a:r>
              <a:rPr lang="en-US" sz="1000" dirty="0">
                <a:solidFill>
                  <a:srgbClr val="A0AEC0"/>
                </a:solidFill>
                <a:latin typeface="Calibri" pitchFamily="34" charset="0"/>
                <a:ea typeface="Calibri" pitchFamily="34" charset="-122"/>
                <a:cs typeface="Calibri" pitchFamily="34" charset="-120"/>
              </a:rPr>
              <a:t>Cat 72% · Dog 22%</a:t>
            </a:r>
            <a:endParaRPr lang="en-US" sz="1000" dirty="0"/>
          </a:p>
          <a:p>
            <a:pPr algn="ctr" indent="0" marL="0">
              <a:buNone/>
            </a:pPr>
            <a:r>
              <a:rPr lang="en-US" sz="1000" dirty="0">
                <a:solidFill>
                  <a:srgbClr val="A0AEC0"/>
                </a:solidFill>
                <a:latin typeface="Calibri" pitchFamily="34" charset="0"/>
                <a:ea typeface="Calibri" pitchFamily="34" charset="-122"/>
                <a:cs typeface="Calibri" pitchFamily="34" charset="-120"/>
              </a:rPr>
              <a:t>Bird 5% · Other 1%</a:t>
            </a:r>
            <a:endParaRPr lang="en-US" sz="1000" dirty="0"/>
          </a:p>
        </p:txBody>
      </p:sp>
      <p:pic>
        <p:nvPicPr>
          <p:cNvPr id="11" name="Image 0" descr="preencoded.png">    </p:cNvPr>
          <p:cNvPicPr>
            <a:picLocks noChangeAspect="1"/>
          </p:cNvPicPr>
          <p:nvPr/>
        </p:nvPicPr>
        <p:blipFill>
          <a:blip r:embed="rId1"/>
          <a:stretch>
            <a:fillRect/>
          </a:stretch>
        </p:blipFill>
        <p:spPr>
          <a:xfrm>
            <a:off x="3200400" y="2423160"/>
            <a:ext cx="548640" cy="548640"/>
          </a:xfrm>
          <a:prstGeom prst="rect">
            <a:avLst/>
          </a:prstGeom>
        </p:spPr>
      </p:pic>
      <p:sp>
        <p:nvSpPr>
          <p:cNvPr id="12" name="Text 9"/>
          <p:cNvSpPr/>
          <p:nvPr/>
        </p:nvSpPr>
        <p:spPr>
          <a:xfrm>
            <a:off x="3108960" y="3017520"/>
            <a:ext cx="731520" cy="256032"/>
          </a:xfrm>
          <a:prstGeom prst="rect">
            <a:avLst/>
          </a:prstGeom>
          <a:noFill/>
          <a:ln/>
        </p:spPr>
        <p:txBody>
          <a:bodyPr wrap="square" rtlCol="0" anchor="ctr"/>
          <a:lstStyle/>
          <a:p>
            <a:pPr algn="ctr" indent="0" marL="0">
              <a:buNone/>
            </a:pPr>
            <a:r>
              <a:rPr lang="en-US" sz="950" i="1" dirty="0">
                <a:solidFill>
                  <a:srgbClr val="00BFA5"/>
                </a:solidFill>
                <a:latin typeface="Calibri" pitchFamily="34" charset="0"/>
                <a:ea typeface="Calibri" pitchFamily="34" charset="-122"/>
                <a:cs typeface="Calibri" pitchFamily="34" charset="-120"/>
              </a:rPr>
              <a:t>distill</a:t>
            </a:r>
            <a:endParaRPr lang="en-US" sz="950" dirty="0"/>
          </a:p>
        </p:txBody>
      </p:sp>
      <p:sp>
        <p:nvSpPr>
          <p:cNvPr id="13" name="Shape 10"/>
          <p:cNvSpPr/>
          <p:nvPr/>
        </p:nvSpPr>
        <p:spPr>
          <a:xfrm>
            <a:off x="3886200" y="1005840"/>
            <a:ext cx="2560320" cy="3246120"/>
          </a:xfrm>
          <a:prstGeom prst="roundRect">
            <a:avLst>
              <a:gd name="adj" fmla="val 4286"/>
            </a:avLst>
          </a:prstGeom>
          <a:solidFill>
            <a:srgbClr val="FEF3DC"/>
          </a:solidFill>
          <a:ln w="12700">
            <a:solidFill>
              <a:srgbClr val="FEF3DC"/>
            </a:solidFill>
            <a:prstDash val="solid"/>
          </a:ln>
          <a:effectLst>
            <a:outerShdw sx="100000" sy="100000" kx="0" ky="0" algn="bl" rotWithShape="0" blurRad="101600" dist="25400" dir="8100000">
              <a:srgbClr val="000000">
                <a:alpha val="10000"/>
              </a:srgbClr>
            </a:outerShdw>
          </a:effectLst>
        </p:spPr>
      </p:sp>
      <p:sp>
        <p:nvSpPr>
          <p:cNvPr id="14" name="Text 11"/>
          <p:cNvSpPr/>
          <p:nvPr/>
        </p:nvSpPr>
        <p:spPr>
          <a:xfrm>
            <a:off x="3886200" y="1115568"/>
            <a:ext cx="2560320" cy="320040"/>
          </a:xfrm>
          <a:prstGeom prst="rect">
            <a:avLst/>
          </a:prstGeom>
          <a:noFill/>
          <a:ln/>
        </p:spPr>
        <p:txBody>
          <a:bodyPr wrap="square"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STUDENT</a:t>
            </a:r>
            <a:endParaRPr lang="en-US" sz="1100" dirty="0"/>
          </a:p>
        </p:txBody>
      </p:sp>
      <p:sp>
        <p:nvSpPr>
          <p:cNvPr id="15" name="Text 12"/>
          <p:cNvSpPr/>
          <p:nvPr/>
        </p:nvSpPr>
        <p:spPr>
          <a:xfrm>
            <a:off x="4023360" y="1463040"/>
            <a:ext cx="2286000" cy="548640"/>
          </a:xfrm>
          <a:prstGeom prst="rect">
            <a:avLst/>
          </a:prstGeom>
          <a:noFill/>
          <a:ln/>
        </p:spPr>
        <p:txBody>
          <a:bodyPr wrap="square" rtlCol="0" anchor="ctr"/>
          <a:lstStyle/>
          <a:p>
            <a:pPr algn="ctr" indent="0" marL="0">
              <a:buNone/>
            </a:pPr>
            <a:r>
              <a:rPr lang="en-US" sz="1250" dirty="0">
                <a:solidFill>
                  <a:srgbClr val="1C2B3A"/>
                </a:solidFill>
                <a:latin typeface="Calibri" pitchFamily="34" charset="0"/>
                <a:ea typeface="Calibri" pitchFamily="34" charset="-122"/>
                <a:cs typeface="Calibri" pitchFamily="34" charset="-120"/>
              </a:rPr>
              <a:t>Small model</a:t>
            </a:r>
            <a:endParaRPr lang="en-US" sz="1250" dirty="0"/>
          </a:p>
          <a:p>
            <a:pPr algn="ctr" indent="0" marL="0">
              <a:buNone/>
            </a:pPr>
            <a:r>
              <a:rPr lang="en-US" sz="1250" dirty="0">
                <a:solidFill>
                  <a:srgbClr val="1C2B3A"/>
                </a:solidFill>
                <a:latin typeface="Calibri" pitchFamily="34" charset="0"/>
                <a:ea typeface="Calibri" pitchFamily="34" charset="-122"/>
                <a:cs typeface="Calibri" pitchFamily="34" charset="-120"/>
              </a:rPr>
              <a:t>(e.g. DistilBERT)</a:t>
            </a:r>
            <a:endParaRPr lang="en-US" sz="1250" dirty="0"/>
          </a:p>
        </p:txBody>
      </p:sp>
      <p:sp>
        <p:nvSpPr>
          <p:cNvPr id="16" name="Text 13"/>
          <p:cNvSpPr/>
          <p:nvPr/>
        </p:nvSpPr>
        <p:spPr>
          <a:xfrm>
            <a:off x="4023360" y="2057400"/>
            <a:ext cx="2286000" cy="502920"/>
          </a:xfrm>
          <a:prstGeom prst="rect">
            <a:avLst/>
          </a:prstGeom>
          <a:noFill/>
          <a:ln/>
        </p:spPr>
        <p:txBody>
          <a:bodyPr wrap="square" rtlCol="0" anchor="ctr"/>
          <a:lstStyle/>
          <a:p>
            <a:pPr algn="ctr" indent="0" marL="0">
              <a:buNone/>
            </a:pPr>
            <a:r>
              <a:rPr lang="en-US" sz="1150" i="1" dirty="0">
                <a:solidFill>
                  <a:srgbClr val="4A5568"/>
                </a:solidFill>
                <a:latin typeface="Calibri" pitchFamily="34" charset="0"/>
                <a:ea typeface="Calibri" pitchFamily="34" charset="-122"/>
                <a:cs typeface="Calibri" pitchFamily="34" charset="-120"/>
              </a:rPr>
              <a:t>Target accuracy</a:t>
            </a:r>
            <a:endParaRPr lang="en-US" sz="1150" dirty="0"/>
          </a:p>
          <a:p>
            <a:pPr algn="ctr" indent="0" marL="0">
              <a:buNone/>
            </a:pPr>
            <a:r>
              <a:rPr lang="en-US" sz="1150" i="1" dirty="0">
                <a:solidFill>
                  <a:srgbClr val="4A5568"/>
                </a:solidFill>
                <a:latin typeface="Calibri" pitchFamily="34" charset="0"/>
                <a:ea typeface="Calibri" pitchFamily="34" charset="-122"/>
                <a:cs typeface="Calibri" pitchFamily="34" charset="-120"/>
              </a:rPr>
              <a:t>Low cost</a:t>
            </a:r>
            <a:endParaRPr lang="en-US" sz="1150" dirty="0"/>
          </a:p>
        </p:txBody>
      </p:sp>
      <p:sp>
        <p:nvSpPr>
          <p:cNvPr id="17" name="Shape 14"/>
          <p:cNvSpPr/>
          <p:nvPr/>
        </p:nvSpPr>
        <p:spPr>
          <a:xfrm>
            <a:off x="4114800" y="2697480"/>
            <a:ext cx="2103120" cy="1261872"/>
          </a:xfrm>
          <a:prstGeom prst="roundRect">
            <a:avLst>
              <a:gd name="adj" fmla="val 8696"/>
            </a:avLst>
          </a:prstGeom>
          <a:solidFill>
            <a:srgbClr val="B45309"/>
          </a:solidFill>
          <a:ln w="12700">
            <a:solidFill>
              <a:srgbClr val="B45309"/>
            </a:solidFill>
            <a:prstDash val="solid"/>
          </a:ln>
          <a:effectLst>
            <a:outerShdw sx="100000" sy="100000" kx="0" ky="0" algn="bl" rotWithShape="0" blurRad="101600" dist="25400" dir="8100000">
              <a:srgbClr val="000000">
                <a:alpha val="10000"/>
              </a:srgbClr>
            </a:outerShdw>
          </a:effectLst>
        </p:spPr>
      </p:sp>
      <p:sp>
        <p:nvSpPr>
          <p:cNvPr id="18" name="Text 15"/>
          <p:cNvSpPr/>
          <p:nvPr/>
        </p:nvSpPr>
        <p:spPr>
          <a:xfrm>
            <a:off x="4114800" y="2788920"/>
            <a:ext cx="210312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Loss = α·KD + β·CE</a:t>
            </a:r>
            <a:endParaRPr lang="en-US" sz="1000" dirty="0"/>
          </a:p>
        </p:txBody>
      </p:sp>
      <p:sp>
        <p:nvSpPr>
          <p:cNvPr id="19" name="Text 16"/>
          <p:cNvSpPr/>
          <p:nvPr/>
        </p:nvSpPr>
        <p:spPr>
          <a:xfrm>
            <a:off x="4114800" y="3090672"/>
            <a:ext cx="2103120" cy="594360"/>
          </a:xfrm>
          <a:prstGeom prst="rect">
            <a:avLst/>
          </a:prstGeom>
          <a:noFill/>
          <a:ln/>
        </p:spPr>
        <p:txBody>
          <a:bodyPr wrap="square" rtlCol="0" anchor="ctr"/>
          <a:lstStyle/>
          <a:p>
            <a:pPr algn="ctr" indent="0" marL="0">
              <a:buNone/>
            </a:pPr>
            <a:r>
              <a:rPr lang="en-US" sz="1000" dirty="0">
                <a:solidFill>
                  <a:srgbClr val="FEF3C7"/>
                </a:solidFill>
                <a:latin typeface="Calibri" pitchFamily="34" charset="0"/>
                <a:ea typeface="Calibri" pitchFamily="34" charset="-122"/>
                <a:cs typeface="Calibri" pitchFamily="34" charset="-120"/>
              </a:rPr>
              <a:t>KD: soft match teacher</a:t>
            </a:r>
            <a:endParaRPr lang="en-US" sz="1000" dirty="0"/>
          </a:p>
          <a:p>
            <a:pPr algn="ctr" indent="0" marL="0">
              <a:buNone/>
            </a:pPr>
            <a:r>
              <a:rPr lang="en-US" sz="1000" dirty="0">
                <a:solidFill>
                  <a:srgbClr val="FEF3C7"/>
                </a:solidFill>
                <a:latin typeface="Calibri" pitchFamily="34" charset="0"/>
                <a:ea typeface="Calibri" pitchFamily="34" charset="-122"/>
                <a:cs typeface="Calibri" pitchFamily="34" charset="-120"/>
              </a:rPr>
              <a:t>CE: hard label match</a:t>
            </a:r>
            <a:endParaRPr lang="en-US" sz="1000" dirty="0"/>
          </a:p>
        </p:txBody>
      </p:sp>
      <p:sp>
        <p:nvSpPr>
          <p:cNvPr id="20" name="Text 17"/>
          <p:cNvSpPr/>
          <p:nvPr/>
        </p:nvSpPr>
        <p:spPr>
          <a:xfrm>
            <a:off x="6720840" y="1024128"/>
            <a:ext cx="2103120" cy="320040"/>
          </a:xfrm>
          <a:prstGeom prst="rect">
            <a:avLst/>
          </a:prstGeom>
          <a:noFill/>
          <a:ln/>
        </p:spPr>
        <p:txBody>
          <a:bodyPr wrap="square" rtlCol="0" anchor="ctr"/>
          <a:lstStyle/>
          <a:p>
            <a:pPr indent="0" marL="0">
              <a:buNone/>
            </a:pPr>
            <a:r>
              <a:rPr lang="en-US" sz="1200" b="1" dirty="0">
                <a:solidFill>
                  <a:srgbClr val="1C2B3A"/>
                </a:solidFill>
                <a:latin typeface="Calibri" pitchFamily="34" charset="0"/>
                <a:ea typeface="Calibri" pitchFamily="34" charset="-122"/>
                <a:cs typeface="Calibri" pitchFamily="34" charset="-120"/>
              </a:rPr>
              <a:t>Types of distillation</a:t>
            </a:r>
            <a:endParaRPr lang="en-US" sz="1200" dirty="0"/>
          </a:p>
        </p:txBody>
      </p:sp>
      <p:sp>
        <p:nvSpPr>
          <p:cNvPr id="21" name="Shape 18"/>
          <p:cNvSpPr/>
          <p:nvPr/>
        </p:nvSpPr>
        <p:spPr>
          <a:xfrm>
            <a:off x="6720840" y="1463040"/>
            <a:ext cx="2103120" cy="804672"/>
          </a:xfrm>
          <a:prstGeom prst="roundRect">
            <a:avLst>
              <a:gd name="adj" fmla="val 13636"/>
            </a:avLst>
          </a:prstGeom>
          <a:solidFill>
            <a:srgbClr val="F8FAFD"/>
          </a:solidFill>
          <a:ln w="12700">
            <a:solidFill>
              <a:srgbClr val="F8FAFD"/>
            </a:solidFill>
            <a:prstDash val="solid"/>
          </a:ln>
        </p:spPr>
      </p:sp>
      <p:sp>
        <p:nvSpPr>
          <p:cNvPr id="22" name="Text 19"/>
          <p:cNvSpPr/>
          <p:nvPr/>
        </p:nvSpPr>
        <p:spPr>
          <a:xfrm>
            <a:off x="6858000" y="1517904"/>
            <a:ext cx="1920240" cy="292608"/>
          </a:xfrm>
          <a:prstGeom prst="rect">
            <a:avLst/>
          </a:prstGeom>
          <a:noFill/>
          <a:ln/>
        </p:spPr>
        <p:txBody>
          <a:bodyPr wrap="square" rtlCol="0" anchor="ctr"/>
          <a:lstStyle/>
          <a:p>
            <a:pPr indent="0" marL="0">
              <a:buNone/>
            </a:pPr>
            <a:r>
              <a:rPr lang="en-US" sz="1150" b="1" dirty="0">
                <a:solidFill>
                  <a:srgbClr val="2B4C7E"/>
                </a:solidFill>
                <a:latin typeface="Calibri" pitchFamily="34" charset="0"/>
                <a:ea typeface="Calibri" pitchFamily="34" charset="-122"/>
                <a:cs typeface="Calibri" pitchFamily="34" charset="-120"/>
              </a:rPr>
              <a:t>Response-based</a:t>
            </a:r>
            <a:endParaRPr lang="en-US" sz="1150" dirty="0"/>
          </a:p>
        </p:txBody>
      </p:sp>
      <p:sp>
        <p:nvSpPr>
          <p:cNvPr id="23" name="Text 20"/>
          <p:cNvSpPr/>
          <p:nvPr/>
        </p:nvSpPr>
        <p:spPr>
          <a:xfrm>
            <a:off x="6858000" y="1810512"/>
            <a:ext cx="1920240" cy="347472"/>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Match final output probabilities. Simple, always applicable.</a:t>
            </a:r>
            <a:endParaRPr lang="en-US" sz="1000" dirty="0"/>
          </a:p>
        </p:txBody>
      </p:sp>
      <p:sp>
        <p:nvSpPr>
          <p:cNvPr id="24" name="Shape 21"/>
          <p:cNvSpPr/>
          <p:nvPr/>
        </p:nvSpPr>
        <p:spPr>
          <a:xfrm>
            <a:off x="6720840" y="2395728"/>
            <a:ext cx="2103120" cy="804672"/>
          </a:xfrm>
          <a:prstGeom prst="roundRect">
            <a:avLst>
              <a:gd name="adj" fmla="val 13636"/>
            </a:avLst>
          </a:prstGeom>
          <a:solidFill>
            <a:srgbClr val="F8FAFD"/>
          </a:solidFill>
          <a:ln w="12700">
            <a:solidFill>
              <a:srgbClr val="F8FAFD"/>
            </a:solidFill>
            <a:prstDash val="solid"/>
          </a:ln>
        </p:spPr>
      </p:sp>
      <p:sp>
        <p:nvSpPr>
          <p:cNvPr id="25" name="Text 22"/>
          <p:cNvSpPr/>
          <p:nvPr/>
        </p:nvSpPr>
        <p:spPr>
          <a:xfrm>
            <a:off x="6858000" y="2450592"/>
            <a:ext cx="1920240" cy="292608"/>
          </a:xfrm>
          <a:prstGeom prst="rect">
            <a:avLst/>
          </a:prstGeom>
          <a:noFill/>
          <a:ln/>
        </p:spPr>
        <p:txBody>
          <a:bodyPr wrap="square" rtlCol="0" anchor="ctr"/>
          <a:lstStyle/>
          <a:p>
            <a:pPr indent="0" marL="0">
              <a:buNone/>
            </a:pPr>
            <a:r>
              <a:rPr lang="en-US" sz="1150" b="1" dirty="0">
                <a:solidFill>
                  <a:srgbClr val="6B46C1"/>
                </a:solidFill>
                <a:latin typeface="Calibri" pitchFamily="34" charset="0"/>
                <a:ea typeface="Calibri" pitchFamily="34" charset="-122"/>
                <a:cs typeface="Calibri" pitchFamily="34" charset="-120"/>
              </a:rPr>
              <a:t>Feature-based</a:t>
            </a:r>
            <a:endParaRPr lang="en-US" sz="1150" dirty="0"/>
          </a:p>
        </p:txBody>
      </p:sp>
      <p:sp>
        <p:nvSpPr>
          <p:cNvPr id="26" name="Text 23"/>
          <p:cNvSpPr/>
          <p:nvPr/>
        </p:nvSpPr>
        <p:spPr>
          <a:xfrm>
            <a:off x="6858000" y="2743200"/>
            <a:ext cx="1920240" cy="347472"/>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Match intermediate activations (FitNets). Better for vision.</a:t>
            </a:r>
            <a:endParaRPr lang="en-US" sz="1000" dirty="0"/>
          </a:p>
        </p:txBody>
      </p:sp>
      <p:sp>
        <p:nvSpPr>
          <p:cNvPr id="27" name="Shape 24"/>
          <p:cNvSpPr/>
          <p:nvPr/>
        </p:nvSpPr>
        <p:spPr>
          <a:xfrm>
            <a:off x="6720840" y="3328416"/>
            <a:ext cx="2103120" cy="804672"/>
          </a:xfrm>
          <a:prstGeom prst="roundRect">
            <a:avLst>
              <a:gd name="adj" fmla="val 13636"/>
            </a:avLst>
          </a:prstGeom>
          <a:solidFill>
            <a:srgbClr val="F8FAFD"/>
          </a:solidFill>
          <a:ln w="12700">
            <a:solidFill>
              <a:srgbClr val="F8FAFD"/>
            </a:solidFill>
            <a:prstDash val="solid"/>
          </a:ln>
        </p:spPr>
      </p:sp>
      <p:sp>
        <p:nvSpPr>
          <p:cNvPr id="28" name="Text 25"/>
          <p:cNvSpPr/>
          <p:nvPr/>
        </p:nvSpPr>
        <p:spPr>
          <a:xfrm>
            <a:off x="6858000" y="3383280"/>
            <a:ext cx="1920240" cy="292608"/>
          </a:xfrm>
          <a:prstGeom prst="rect">
            <a:avLst/>
          </a:prstGeom>
          <a:noFill/>
          <a:ln/>
        </p:spPr>
        <p:txBody>
          <a:bodyPr wrap="square" rtlCol="0" anchor="ctr"/>
          <a:lstStyle/>
          <a:p>
            <a:pPr indent="0" marL="0">
              <a:buNone/>
            </a:pPr>
            <a:r>
              <a:rPr lang="en-US" sz="1150" b="1" dirty="0">
                <a:solidFill>
                  <a:srgbClr val="2F855A"/>
                </a:solidFill>
                <a:latin typeface="Calibri" pitchFamily="34" charset="0"/>
                <a:ea typeface="Calibri" pitchFamily="34" charset="-122"/>
                <a:cs typeface="Calibri" pitchFamily="34" charset="-120"/>
              </a:rPr>
              <a:t>Self-distillation</a:t>
            </a:r>
            <a:endParaRPr lang="en-US" sz="1150" dirty="0"/>
          </a:p>
        </p:txBody>
      </p:sp>
      <p:sp>
        <p:nvSpPr>
          <p:cNvPr id="29" name="Text 26"/>
          <p:cNvSpPr/>
          <p:nvPr/>
        </p:nvSpPr>
        <p:spPr>
          <a:xfrm>
            <a:off x="6858000" y="3675888"/>
            <a:ext cx="1920240" cy="347472"/>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Student and teacher are same architecture. Free accuracy gain.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400800" y="-457200"/>
            <a:ext cx="3657600" cy="3657600"/>
          </a:xfrm>
          <a:prstGeom prst="ellipse">
            <a:avLst/>
          </a:prstGeom>
          <a:solidFill>
            <a:srgbClr val="2F855A">
              <a:alpha val="8000"/>
            </a:srgbClr>
          </a:solidFill>
          <a:ln w="12700">
            <a:solidFill>
              <a:srgbClr val="2F855A"/>
            </a:solidFill>
            <a:prstDash val="solid"/>
          </a:ln>
        </p:spPr>
      </p:sp>
      <p:sp>
        <p:nvSpPr>
          <p:cNvPr id="3" name="Text 1"/>
          <p:cNvSpPr/>
          <p:nvPr/>
        </p:nvSpPr>
        <p:spPr>
          <a:xfrm>
            <a:off x="640080" y="731520"/>
            <a:ext cx="2743200" cy="1097280"/>
          </a:xfrm>
          <a:prstGeom prst="rect">
            <a:avLst/>
          </a:prstGeom>
          <a:noFill/>
          <a:ln/>
        </p:spPr>
        <p:txBody>
          <a:bodyPr wrap="square" rtlCol="0" anchor="ctr"/>
          <a:lstStyle/>
          <a:p>
            <a:pPr indent="0" marL="0">
              <a:buNone/>
            </a:pPr>
            <a:r>
              <a:rPr lang="en-US" sz="8000" b="1" dirty="0">
                <a:solidFill>
                  <a:srgbClr val="2F855A">
                    <a:alpha val="80000"/>
                  </a:srgbClr>
                </a:solidFill>
                <a:latin typeface="Calibri" pitchFamily="34" charset="0"/>
                <a:ea typeface="Calibri" pitchFamily="34" charset="-122"/>
                <a:cs typeface="Calibri" pitchFamily="34" charset="-120"/>
              </a:rPr>
              <a:t>04</a:t>
            </a:r>
            <a:endParaRPr lang="en-US" sz="8000" dirty="0"/>
          </a:p>
        </p:txBody>
      </p:sp>
      <p:sp>
        <p:nvSpPr>
          <p:cNvPr id="4" name="Text 2"/>
          <p:cNvSpPr/>
          <p:nvPr/>
        </p:nvSpPr>
        <p:spPr>
          <a:xfrm>
            <a:off x="640080" y="1645920"/>
            <a:ext cx="7863840" cy="77724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Compilation</a:t>
            </a:r>
            <a:endParaRPr lang="en-US" sz="4400" dirty="0"/>
          </a:p>
        </p:txBody>
      </p:sp>
      <p:sp>
        <p:nvSpPr>
          <p:cNvPr id="5" name="Text 3"/>
          <p:cNvSpPr/>
          <p:nvPr/>
        </p:nvSpPr>
        <p:spPr>
          <a:xfrm>
            <a:off x="640080" y="2450592"/>
            <a:ext cx="6858000" cy="411480"/>
          </a:xfrm>
          <a:prstGeom prst="rect">
            <a:avLst/>
          </a:prstGeom>
          <a:noFill/>
          <a:ln/>
        </p:spPr>
        <p:txBody>
          <a:bodyPr wrap="square" rtlCol="0" anchor="ctr"/>
          <a:lstStyle/>
          <a:p>
            <a:pPr indent="0" marL="0">
              <a:buNone/>
            </a:pPr>
            <a:r>
              <a:rPr lang="en-US" sz="1600" dirty="0">
                <a:solidFill>
                  <a:srgbClr val="A0AEC0"/>
                </a:solidFill>
                <a:latin typeface="Calibri" pitchFamily="34" charset="0"/>
                <a:ea typeface="Calibri" pitchFamily="34" charset="-122"/>
                <a:cs typeface="Calibri" pitchFamily="34" charset="-120"/>
              </a:rPr>
              <a:t>Hardware-specific graph optimization: the last step before production deployment</a:t>
            </a:r>
            <a:endParaRPr lang="en-US" sz="1600" dirty="0"/>
          </a:p>
        </p:txBody>
      </p:sp>
      <p:sp>
        <p:nvSpPr>
          <p:cNvPr id="6" name="Text 4"/>
          <p:cNvSpPr/>
          <p:nvPr/>
        </p:nvSpPr>
        <p:spPr>
          <a:xfrm>
            <a:off x="640080" y="3154680"/>
            <a:ext cx="1828800" cy="320040"/>
          </a:xfrm>
          <a:prstGeom prst="rect">
            <a:avLst/>
          </a:prstGeom>
          <a:noFill/>
          <a:ln/>
        </p:spPr>
        <p:txBody>
          <a:bodyPr wrap="square" rtlCol="0" anchor="ctr"/>
          <a:lstStyle/>
          <a:p>
            <a:pPr indent="0" marL="0">
              <a:buNone/>
            </a:pPr>
            <a:r>
              <a:rPr lang="en-US" sz="1300" dirty="0">
                <a:solidFill>
                  <a:srgbClr val="718096"/>
                </a:solidFill>
                <a:latin typeface="Calibri" pitchFamily="34" charset="0"/>
                <a:ea typeface="Calibri" pitchFamily="34" charset="-122"/>
                <a:cs typeface="Calibri" pitchFamily="34" charset="-120"/>
              </a:rPr>
              <a:t>Key tools:</a:t>
            </a:r>
            <a:endParaRPr lang="en-US" sz="1300" dirty="0"/>
          </a:p>
        </p:txBody>
      </p:sp>
      <p:sp>
        <p:nvSpPr>
          <p:cNvPr id="7" name="Shape 5"/>
          <p:cNvSpPr/>
          <p:nvPr/>
        </p:nvSpPr>
        <p:spPr>
          <a:xfrm>
            <a:off x="640080" y="3547872"/>
            <a:ext cx="1554480" cy="246888"/>
          </a:xfrm>
          <a:prstGeom prst="roundRect">
            <a:avLst>
              <a:gd name="adj" fmla="val 48148"/>
            </a:avLst>
          </a:prstGeom>
          <a:solidFill>
            <a:srgbClr val="1A2E45"/>
          </a:solidFill>
          <a:ln w="12700">
            <a:solidFill>
              <a:srgbClr val="1A2E45"/>
            </a:solidFill>
            <a:prstDash val="solid"/>
          </a:ln>
        </p:spPr>
      </p:sp>
      <p:sp>
        <p:nvSpPr>
          <p:cNvPr id="8" name="Text 6"/>
          <p:cNvSpPr/>
          <p:nvPr/>
        </p:nvSpPr>
        <p:spPr>
          <a:xfrm>
            <a:off x="640080" y="3547872"/>
            <a:ext cx="1554480" cy="246888"/>
          </a:xfrm>
          <a:prstGeom prst="rect">
            <a:avLst/>
          </a:prstGeom>
          <a:noFill/>
          <a:ln/>
        </p:spPr>
        <p:txBody>
          <a:bodyPr wrap="square" lIns="0" tIns="0" rIns="0" bIns="0" rtlCol="0" anchor="ctr"/>
          <a:lstStyle/>
          <a:p>
            <a:pPr algn="ctr" indent="0" marL="0">
              <a:buNone/>
            </a:pPr>
            <a:r>
              <a:rPr lang="en-US" sz="1000" b="1" dirty="0">
                <a:solidFill>
                  <a:srgbClr val="2F855A"/>
                </a:solidFill>
                <a:latin typeface="Calibri" pitchFamily="34" charset="0"/>
                <a:ea typeface="Calibri" pitchFamily="34" charset="-122"/>
                <a:cs typeface="Calibri" pitchFamily="34" charset="-120"/>
              </a:rPr>
              <a:t>TensorRT (NVIDIA)</a:t>
            </a:r>
            <a:endParaRPr lang="en-US" sz="1000" dirty="0"/>
          </a:p>
        </p:txBody>
      </p:sp>
      <p:sp>
        <p:nvSpPr>
          <p:cNvPr id="9" name="Shape 7"/>
          <p:cNvSpPr/>
          <p:nvPr/>
        </p:nvSpPr>
        <p:spPr>
          <a:xfrm>
            <a:off x="2304288" y="3547872"/>
            <a:ext cx="1554480" cy="246888"/>
          </a:xfrm>
          <a:prstGeom prst="roundRect">
            <a:avLst>
              <a:gd name="adj" fmla="val 48148"/>
            </a:avLst>
          </a:prstGeom>
          <a:solidFill>
            <a:srgbClr val="1A2E45"/>
          </a:solidFill>
          <a:ln w="12700">
            <a:solidFill>
              <a:srgbClr val="1A2E45"/>
            </a:solidFill>
            <a:prstDash val="solid"/>
          </a:ln>
        </p:spPr>
      </p:sp>
      <p:sp>
        <p:nvSpPr>
          <p:cNvPr id="10" name="Text 8"/>
          <p:cNvSpPr/>
          <p:nvPr/>
        </p:nvSpPr>
        <p:spPr>
          <a:xfrm>
            <a:off x="2304288" y="3547872"/>
            <a:ext cx="1554480" cy="246888"/>
          </a:xfrm>
          <a:prstGeom prst="rect">
            <a:avLst/>
          </a:prstGeom>
          <a:noFill/>
          <a:ln/>
        </p:spPr>
        <p:txBody>
          <a:bodyPr wrap="square" lIns="0" tIns="0" rIns="0" bIns="0" rtlCol="0" anchor="ctr"/>
          <a:lstStyle/>
          <a:p>
            <a:pPr algn="ctr" indent="0" marL="0">
              <a:buNone/>
            </a:pPr>
            <a:r>
              <a:rPr lang="en-US" sz="1000" b="1" dirty="0">
                <a:solidFill>
                  <a:srgbClr val="2F855A"/>
                </a:solidFill>
                <a:latin typeface="Calibri" pitchFamily="34" charset="0"/>
                <a:ea typeface="Calibri" pitchFamily="34" charset="-122"/>
                <a:cs typeface="Calibri" pitchFamily="34" charset="-120"/>
              </a:rPr>
              <a:t>OpenVINO (Intel)</a:t>
            </a:r>
            <a:endParaRPr lang="en-US" sz="1000" dirty="0"/>
          </a:p>
        </p:txBody>
      </p:sp>
      <p:sp>
        <p:nvSpPr>
          <p:cNvPr id="11" name="Shape 9"/>
          <p:cNvSpPr/>
          <p:nvPr/>
        </p:nvSpPr>
        <p:spPr>
          <a:xfrm>
            <a:off x="3968496" y="3547872"/>
            <a:ext cx="1554480" cy="246888"/>
          </a:xfrm>
          <a:prstGeom prst="roundRect">
            <a:avLst>
              <a:gd name="adj" fmla="val 48148"/>
            </a:avLst>
          </a:prstGeom>
          <a:solidFill>
            <a:srgbClr val="1A2E45"/>
          </a:solidFill>
          <a:ln w="12700">
            <a:solidFill>
              <a:srgbClr val="1A2E45"/>
            </a:solidFill>
            <a:prstDash val="solid"/>
          </a:ln>
        </p:spPr>
      </p:sp>
      <p:sp>
        <p:nvSpPr>
          <p:cNvPr id="12" name="Text 10"/>
          <p:cNvSpPr/>
          <p:nvPr/>
        </p:nvSpPr>
        <p:spPr>
          <a:xfrm>
            <a:off x="3968496" y="3547872"/>
            <a:ext cx="1554480" cy="246888"/>
          </a:xfrm>
          <a:prstGeom prst="rect">
            <a:avLst/>
          </a:prstGeom>
          <a:noFill/>
          <a:ln/>
        </p:spPr>
        <p:txBody>
          <a:bodyPr wrap="square" lIns="0" tIns="0" rIns="0" bIns="0" rtlCol="0" anchor="ctr"/>
          <a:lstStyle/>
          <a:p>
            <a:pPr algn="ctr" indent="0" marL="0">
              <a:buNone/>
            </a:pPr>
            <a:r>
              <a:rPr lang="en-US" sz="1000" b="1" dirty="0">
                <a:solidFill>
                  <a:srgbClr val="2F855A"/>
                </a:solidFill>
                <a:latin typeface="Calibri" pitchFamily="34" charset="0"/>
                <a:ea typeface="Calibri" pitchFamily="34" charset="-122"/>
                <a:cs typeface="Calibri" pitchFamily="34" charset="-120"/>
              </a:rPr>
              <a:t>ONNX Runtime</a:t>
            </a:r>
            <a:endParaRPr lang="en-US" sz="1000" dirty="0"/>
          </a:p>
        </p:txBody>
      </p:sp>
      <p:sp>
        <p:nvSpPr>
          <p:cNvPr id="13" name="Shape 11"/>
          <p:cNvSpPr/>
          <p:nvPr/>
        </p:nvSpPr>
        <p:spPr>
          <a:xfrm>
            <a:off x="5632704" y="3547872"/>
            <a:ext cx="1554480" cy="246888"/>
          </a:xfrm>
          <a:prstGeom prst="roundRect">
            <a:avLst>
              <a:gd name="adj" fmla="val 48148"/>
            </a:avLst>
          </a:prstGeom>
          <a:solidFill>
            <a:srgbClr val="1A2E45"/>
          </a:solidFill>
          <a:ln w="12700">
            <a:solidFill>
              <a:srgbClr val="1A2E45"/>
            </a:solidFill>
            <a:prstDash val="solid"/>
          </a:ln>
        </p:spPr>
      </p:sp>
      <p:sp>
        <p:nvSpPr>
          <p:cNvPr id="14" name="Text 12"/>
          <p:cNvSpPr/>
          <p:nvPr/>
        </p:nvSpPr>
        <p:spPr>
          <a:xfrm>
            <a:off x="5632704" y="3547872"/>
            <a:ext cx="1554480" cy="246888"/>
          </a:xfrm>
          <a:prstGeom prst="rect">
            <a:avLst/>
          </a:prstGeom>
          <a:noFill/>
          <a:ln/>
        </p:spPr>
        <p:txBody>
          <a:bodyPr wrap="square" lIns="0" tIns="0" rIns="0" bIns="0" rtlCol="0" anchor="ctr"/>
          <a:lstStyle/>
          <a:p>
            <a:pPr algn="ctr" indent="0" marL="0">
              <a:buNone/>
            </a:pPr>
            <a:r>
              <a:rPr lang="en-US" sz="1000" b="1" dirty="0">
                <a:solidFill>
                  <a:srgbClr val="2F855A"/>
                </a:solidFill>
                <a:latin typeface="Calibri" pitchFamily="34" charset="0"/>
                <a:ea typeface="Calibri" pitchFamily="34" charset="-122"/>
                <a:cs typeface="Calibri" pitchFamily="34" charset="-120"/>
              </a:rPr>
              <a:t>Apache TVM</a:t>
            </a:r>
            <a:endParaRPr lang="en-US" sz="1000" dirty="0"/>
          </a:p>
        </p:txBody>
      </p:sp>
      <p:sp>
        <p:nvSpPr>
          <p:cNvPr id="15" name="Shape 13"/>
          <p:cNvSpPr/>
          <p:nvPr/>
        </p:nvSpPr>
        <p:spPr>
          <a:xfrm>
            <a:off x="7296912" y="3547872"/>
            <a:ext cx="1554480" cy="246888"/>
          </a:xfrm>
          <a:prstGeom prst="roundRect">
            <a:avLst>
              <a:gd name="adj" fmla="val 48148"/>
            </a:avLst>
          </a:prstGeom>
          <a:solidFill>
            <a:srgbClr val="1A2E45"/>
          </a:solidFill>
          <a:ln w="12700">
            <a:solidFill>
              <a:srgbClr val="1A2E45"/>
            </a:solidFill>
            <a:prstDash val="solid"/>
          </a:ln>
        </p:spPr>
      </p:sp>
      <p:sp>
        <p:nvSpPr>
          <p:cNvPr id="16" name="Text 14"/>
          <p:cNvSpPr/>
          <p:nvPr/>
        </p:nvSpPr>
        <p:spPr>
          <a:xfrm>
            <a:off x="7296912" y="3547872"/>
            <a:ext cx="1554480" cy="246888"/>
          </a:xfrm>
          <a:prstGeom prst="rect">
            <a:avLst/>
          </a:prstGeom>
          <a:noFill/>
          <a:ln/>
        </p:spPr>
        <p:txBody>
          <a:bodyPr wrap="square" lIns="0" tIns="0" rIns="0" bIns="0" rtlCol="0" anchor="ctr"/>
          <a:lstStyle/>
          <a:p>
            <a:pPr algn="ctr" indent="0" marL="0">
              <a:buNone/>
            </a:pPr>
            <a:r>
              <a:rPr lang="en-US" sz="1000" b="1" dirty="0">
                <a:solidFill>
                  <a:srgbClr val="2F855A"/>
                </a:solidFill>
                <a:latin typeface="Calibri" pitchFamily="34" charset="0"/>
                <a:ea typeface="Calibri" pitchFamily="34" charset="-122"/>
                <a:cs typeface="Calibri" pitchFamily="34" charset="-120"/>
              </a:rPr>
              <a:t>XLA (TPU)</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3000" b="1" dirty="0">
                <a:solidFill>
                  <a:srgbClr val="1C2B3A"/>
                </a:solidFill>
                <a:latin typeface="Calibri" pitchFamily="34" charset="0"/>
                <a:ea typeface="Calibri" pitchFamily="34" charset="-122"/>
                <a:cs typeface="Calibri" pitchFamily="34" charset="-120"/>
              </a:rPr>
              <a:t>Compilation: graph optimization for hardware</a:t>
            </a:r>
            <a:endParaRPr lang="en-US" sz="3000" dirty="0"/>
          </a:p>
        </p:txBody>
      </p:sp>
      <p:sp>
        <p:nvSpPr>
          <p:cNvPr id="3" name="Text 1"/>
          <p:cNvSpPr/>
          <p:nvPr/>
        </p:nvSpPr>
        <p:spPr>
          <a:xfrm>
            <a:off x="411480" y="795528"/>
            <a:ext cx="8321040" cy="27432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One ONNX graph → multiple hardware-specific execution engines</a:t>
            </a:r>
            <a:endParaRPr lang="en-US" sz="1300" dirty="0"/>
          </a:p>
        </p:txBody>
      </p:sp>
      <p:sp>
        <p:nvSpPr>
          <p:cNvPr id="4" name="Shape 2"/>
          <p:cNvSpPr/>
          <p:nvPr/>
        </p:nvSpPr>
        <p:spPr>
          <a:xfrm>
            <a:off x="3611880" y="1024128"/>
            <a:ext cx="1920240" cy="1051560"/>
          </a:xfrm>
          <a:prstGeom prst="roundRect">
            <a:avLst>
              <a:gd name="adj" fmla="val 10435"/>
            </a:avLst>
          </a:prstGeom>
          <a:solidFill>
            <a:srgbClr val="0D1B2A"/>
          </a:solidFill>
          <a:ln w="12700">
            <a:solidFill>
              <a:srgbClr val="0D1B2A"/>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3611880" y="1097280"/>
            <a:ext cx="19202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ONNX Graph</a:t>
            </a:r>
            <a:endParaRPr lang="en-US" sz="1200" dirty="0"/>
          </a:p>
        </p:txBody>
      </p:sp>
      <p:sp>
        <p:nvSpPr>
          <p:cNvPr id="6" name="Text 4"/>
          <p:cNvSpPr/>
          <p:nvPr/>
        </p:nvSpPr>
        <p:spPr>
          <a:xfrm>
            <a:off x="3611880" y="1426464"/>
            <a:ext cx="1920240" cy="274320"/>
          </a:xfrm>
          <a:prstGeom prst="rect">
            <a:avLst/>
          </a:prstGeom>
          <a:noFill/>
          <a:ln/>
        </p:spPr>
        <p:txBody>
          <a:bodyPr wrap="square" rtlCol="0" anchor="ctr"/>
          <a:lstStyle/>
          <a:p>
            <a:pPr algn="ctr" indent="0" marL="0">
              <a:buNone/>
            </a:pPr>
            <a:r>
              <a:rPr lang="en-US" sz="1000" dirty="0">
                <a:solidFill>
                  <a:srgbClr val="718096"/>
                </a:solidFill>
                <a:latin typeface="Calibri" pitchFamily="34" charset="0"/>
                <a:ea typeface="Calibri" pitchFamily="34" charset="-122"/>
                <a:cs typeface="Calibri" pitchFamily="34" charset="-120"/>
              </a:rPr>
              <a:t>(exported model)</a:t>
            </a:r>
            <a:endParaRPr lang="en-US" sz="1000" dirty="0"/>
          </a:p>
        </p:txBody>
      </p:sp>
      <p:sp>
        <p:nvSpPr>
          <p:cNvPr id="7" name="Shape 5"/>
          <p:cNvSpPr/>
          <p:nvPr/>
        </p:nvSpPr>
        <p:spPr>
          <a:xfrm>
            <a:off x="411480" y="1024128"/>
            <a:ext cx="2651760" cy="1600200"/>
          </a:xfrm>
          <a:prstGeom prst="roundRect">
            <a:avLst>
              <a:gd name="adj" fmla="val 6857"/>
            </a:avLst>
          </a:prstGeom>
          <a:solidFill>
            <a:srgbClr val="F0FFF4"/>
          </a:solidFill>
          <a:ln w="12700">
            <a:solidFill>
              <a:srgbClr val="F0FFF4"/>
            </a:solidFill>
            <a:prstDash val="solid"/>
          </a:ln>
          <a:effectLst>
            <a:outerShdw sx="100000" sy="100000" kx="0" ky="0" algn="bl" rotWithShape="0" blurRad="101600" dist="25400" dir="8100000">
              <a:srgbClr val="000000">
                <a:alpha val="10000"/>
              </a:srgbClr>
            </a:outerShdw>
          </a:effectLst>
        </p:spPr>
      </p:sp>
      <p:sp>
        <p:nvSpPr>
          <p:cNvPr id="8" name="Text 6"/>
          <p:cNvSpPr/>
          <p:nvPr/>
        </p:nvSpPr>
        <p:spPr>
          <a:xfrm>
            <a:off x="576072" y="1133856"/>
            <a:ext cx="2322576" cy="384048"/>
          </a:xfrm>
          <a:prstGeom prst="rect">
            <a:avLst/>
          </a:prstGeom>
          <a:noFill/>
          <a:ln/>
        </p:spPr>
        <p:txBody>
          <a:bodyPr wrap="square" rtlCol="0" anchor="ctr"/>
          <a:lstStyle/>
          <a:p>
            <a:pPr indent="0" marL="0">
              <a:buNone/>
            </a:pPr>
            <a:r>
              <a:rPr lang="en-US" sz="1400" b="1" dirty="0">
                <a:solidFill>
                  <a:srgbClr val="2F855A"/>
                </a:solidFill>
                <a:latin typeface="Calibri" pitchFamily="34" charset="0"/>
                <a:ea typeface="Calibri" pitchFamily="34" charset="-122"/>
                <a:cs typeface="Calibri" pitchFamily="34" charset="-120"/>
              </a:rPr>
              <a:t>TensorRT</a:t>
            </a:r>
            <a:endParaRPr lang="en-US" sz="1400" dirty="0"/>
          </a:p>
        </p:txBody>
      </p:sp>
      <p:sp>
        <p:nvSpPr>
          <p:cNvPr id="9" name="Text 7"/>
          <p:cNvSpPr/>
          <p:nvPr/>
        </p:nvSpPr>
        <p:spPr>
          <a:xfrm>
            <a:off x="576072" y="1499616"/>
            <a:ext cx="2322576" cy="256032"/>
          </a:xfrm>
          <a:prstGeom prst="rect">
            <a:avLst/>
          </a:prstGeom>
          <a:noFill/>
          <a:ln/>
        </p:spPr>
        <p:txBody>
          <a:bodyPr wrap="square"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NVIDIA GPU</a:t>
            </a:r>
            <a:endParaRPr lang="en-US" sz="1050" dirty="0"/>
          </a:p>
        </p:txBody>
      </p:sp>
      <p:sp>
        <p:nvSpPr>
          <p:cNvPr id="10" name="Text 8"/>
          <p:cNvSpPr/>
          <p:nvPr/>
        </p:nvSpPr>
        <p:spPr>
          <a:xfrm>
            <a:off x="576072" y="1773936"/>
            <a:ext cx="2322576" cy="621792"/>
          </a:xfrm>
          <a:prstGeom prst="rect">
            <a:avLst/>
          </a:prstGeom>
          <a:noFill/>
          <a:ln/>
        </p:spPr>
        <p:txBody>
          <a:bodyPr wrap="square" rtlCol="0" anchor="ctr"/>
          <a:lstStyle/>
          <a:p>
            <a:pPr indent="0" marL="0">
              <a:buNone/>
            </a:pPr>
            <a:r>
              <a:rPr lang="en-US" sz="1100" dirty="0">
                <a:solidFill>
                  <a:srgbClr val="1C2B3A"/>
                </a:solidFill>
                <a:latin typeface="Calibri" pitchFamily="34" charset="0"/>
                <a:ea typeface="Calibri" pitchFamily="34" charset="-122"/>
                <a:cs typeface="Calibri" pitchFamily="34" charset="-120"/>
              </a:rPr>
              <a:t>Kernel fusion,</a:t>
            </a:r>
            <a:endParaRPr lang="en-US" sz="1100" dirty="0"/>
          </a:p>
          <a:p>
            <a:pPr indent="0" marL="0">
              <a:buNone/>
            </a:pPr>
            <a:r>
              <a:rPr lang="en-US" sz="1100" dirty="0">
                <a:solidFill>
                  <a:srgbClr val="1C2B3A"/>
                </a:solidFill>
                <a:latin typeface="Calibri" pitchFamily="34" charset="0"/>
                <a:ea typeface="Calibri" pitchFamily="34" charset="-122"/>
                <a:cs typeface="Calibri" pitchFamily="34" charset="-120"/>
              </a:rPr>
              <a:t>FP16/INT8, cuDNN kernels</a:t>
            </a:r>
            <a:endParaRPr lang="en-US" sz="1100" dirty="0"/>
          </a:p>
        </p:txBody>
      </p:sp>
      <p:pic>
        <p:nvPicPr>
          <p:cNvPr id="11" name="Image 0" descr="preencoded.png">    </p:cNvPr>
          <p:cNvPicPr>
            <a:picLocks noChangeAspect="1"/>
          </p:cNvPicPr>
          <p:nvPr/>
        </p:nvPicPr>
        <p:blipFill>
          <a:blip r:embed="rId1"/>
          <a:stretch>
            <a:fillRect/>
          </a:stretch>
        </p:blipFill>
        <p:spPr>
          <a:xfrm>
            <a:off x="3200400" y="1618488"/>
            <a:ext cx="365760" cy="365760"/>
          </a:xfrm>
          <a:prstGeom prst="rect">
            <a:avLst/>
          </a:prstGeom>
        </p:spPr>
      </p:pic>
      <p:sp>
        <p:nvSpPr>
          <p:cNvPr id="12" name="Shape 9"/>
          <p:cNvSpPr/>
          <p:nvPr/>
        </p:nvSpPr>
        <p:spPr>
          <a:xfrm>
            <a:off x="411480" y="2852928"/>
            <a:ext cx="2651760" cy="1600200"/>
          </a:xfrm>
          <a:prstGeom prst="roundRect">
            <a:avLst>
              <a:gd name="adj" fmla="val 6857"/>
            </a:avLst>
          </a:prstGeom>
          <a:solidFill>
            <a:srgbClr val="EBF0FA"/>
          </a:solidFill>
          <a:ln w="12700">
            <a:solidFill>
              <a:srgbClr val="EBF0FA"/>
            </a:solidFill>
            <a:prstDash val="solid"/>
          </a:ln>
          <a:effectLst>
            <a:outerShdw sx="100000" sy="100000" kx="0" ky="0" algn="bl" rotWithShape="0" blurRad="101600" dist="25400" dir="8100000">
              <a:srgbClr val="000000">
                <a:alpha val="10000"/>
              </a:srgbClr>
            </a:outerShdw>
          </a:effectLst>
        </p:spPr>
      </p:sp>
      <p:sp>
        <p:nvSpPr>
          <p:cNvPr id="13" name="Text 10"/>
          <p:cNvSpPr/>
          <p:nvPr/>
        </p:nvSpPr>
        <p:spPr>
          <a:xfrm>
            <a:off x="576072" y="2962656"/>
            <a:ext cx="2322576" cy="384048"/>
          </a:xfrm>
          <a:prstGeom prst="rect">
            <a:avLst/>
          </a:prstGeom>
          <a:noFill/>
          <a:ln/>
        </p:spPr>
        <p:txBody>
          <a:bodyPr wrap="square" rtlCol="0" anchor="ctr"/>
          <a:lstStyle/>
          <a:p>
            <a:pPr indent="0" marL="0">
              <a:buNone/>
            </a:pPr>
            <a:r>
              <a:rPr lang="en-US" sz="1400" b="1" dirty="0">
                <a:solidFill>
                  <a:srgbClr val="2B4C7E"/>
                </a:solidFill>
                <a:latin typeface="Calibri" pitchFamily="34" charset="0"/>
                <a:ea typeface="Calibri" pitchFamily="34" charset="-122"/>
                <a:cs typeface="Calibri" pitchFamily="34" charset="-120"/>
              </a:rPr>
              <a:t>OpenVINO</a:t>
            </a:r>
            <a:endParaRPr lang="en-US" sz="1400" dirty="0"/>
          </a:p>
        </p:txBody>
      </p:sp>
      <p:sp>
        <p:nvSpPr>
          <p:cNvPr id="14" name="Text 11"/>
          <p:cNvSpPr/>
          <p:nvPr/>
        </p:nvSpPr>
        <p:spPr>
          <a:xfrm>
            <a:off x="576072" y="3328416"/>
            <a:ext cx="2322576" cy="256032"/>
          </a:xfrm>
          <a:prstGeom prst="rect">
            <a:avLst/>
          </a:prstGeom>
          <a:noFill/>
          <a:ln/>
        </p:spPr>
        <p:txBody>
          <a:bodyPr wrap="square"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Intel CPU/iGPU</a:t>
            </a:r>
            <a:endParaRPr lang="en-US" sz="1050" dirty="0"/>
          </a:p>
        </p:txBody>
      </p:sp>
      <p:sp>
        <p:nvSpPr>
          <p:cNvPr id="15" name="Text 12"/>
          <p:cNvSpPr/>
          <p:nvPr/>
        </p:nvSpPr>
        <p:spPr>
          <a:xfrm>
            <a:off x="576072" y="3602736"/>
            <a:ext cx="2322576" cy="621792"/>
          </a:xfrm>
          <a:prstGeom prst="rect">
            <a:avLst/>
          </a:prstGeom>
          <a:noFill/>
          <a:ln/>
        </p:spPr>
        <p:txBody>
          <a:bodyPr wrap="square" rtlCol="0" anchor="ctr"/>
          <a:lstStyle/>
          <a:p>
            <a:pPr indent="0" marL="0">
              <a:buNone/>
            </a:pPr>
            <a:r>
              <a:rPr lang="en-US" sz="1100" dirty="0">
                <a:solidFill>
                  <a:srgbClr val="1C2B3A"/>
                </a:solidFill>
                <a:latin typeface="Calibri" pitchFamily="34" charset="0"/>
                <a:ea typeface="Calibri" pitchFamily="34" charset="-122"/>
                <a:cs typeface="Calibri" pitchFamily="34" charset="-120"/>
              </a:rPr>
              <a:t>Intel MKL, graph</a:t>
            </a:r>
            <a:endParaRPr lang="en-US" sz="1100" dirty="0"/>
          </a:p>
          <a:p>
            <a:pPr indent="0" marL="0">
              <a:buNone/>
            </a:pPr>
            <a:r>
              <a:rPr lang="en-US" sz="1100" dirty="0">
                <a:solidFill>
                  <a:srgbClr val="1C2B3A"/>
                </a:solidFill>
                <a:latin typeface="Calibri" pitchFamily="34" charset="0"/>
                <a:ea typeface="Calibri" pitchFamily="34" charset="-122"/>
                <a:cs typeface="Calibri" pitchFamily="34" charset="-120"/>
              </a:rPr>
              <a:t>optimization, VPU</a:t>
            </a:r>
            <a:endParaRPr lang="en-US" sz="1100" dirty="0"/>
          </a:p>
        </p:txBody>
      </p:sp>
      <p:pic>
        <p:nvPicPr>
          <p:cNvPr id="16" name="Image 1" descr="preencoded.png">    </p:cNvPr>
          <p:cNvPicPr>
            <a:picLocks noChangeAspect="1"/>
          </p:cNvPicPr>
          <p:nvPr/>
        </p:nvPicPr>
        <p:blipFill>
          <a:blip r:embed="rId2"/>
          <a:stretch>
            <a:fillRect/>
          </a:stretch>
        </p:blipFill>
        <p:spPr>
          <a:xfrm>
            <a:off x="3200400" y="3447288"/>
            <a:ext cx="365760" cy="365760"/>
          </a:xfrm>
          <a:prstGeom prst="rect">
            <a:avLst/>
          </a:prstGeom>
        </p:spPr>
      </p:pic>
      <p:sp>
        <p:nvSpPr>
          <p:cNvPr id="17" name="Shape 13"/>
          <p:cNvSpPr/>
          <p:nvPr/>
        </p:nvSpPr>
        <p:spPr>
          <a:xfrm>
            <a:off x="6400800" y="1024128"/>
            <a:ext cx="2651760" cy="1600200"/>
          </a:xfrm>
          <a:prstGeom prst="roundRect">
            <a:avLst>
              <a:gd name="adj" fmla="val 6857"/>
            </a:avLst>
          </a:prstGeom>
          <a:solidFill>
            <a:srgbClr val="E6F7F5"/>
          </a:solidFill>
          <a:ln w="12700">
            <a:solidFill>
              <a:srgbClr val="E6F7F5"/>
            </a:solidFill>
            <a:prstDash val="solid"/>
          </a:ln>
          <a:effectLst>
            <a:outerShdw sx="100000" sy="100000" kx="0" ky="0" algn="bl" rotWithShape="0" blurRad="101600" dist="25400" dir="8100000">
              <a:srgbClr val="000000">
                <a:alpha val="10000"/>
              </a:srgbClr>
            </a:outerShdw>
          </a:effectLst>
        </p:spPr>
      </p:sp>
      <p:sp>
        <p:nvSpPr>
          <p:cNvPr id="18" name="Text 14"/>
          <p:cNvSpPr/>
          <p:nvPr/>
        </p:nvSpPr>
        <p:spPr>
          <a:xfrm>
            <a:off x="6565392" y="1133856"/>
            <a:ext cx="2322576" cy="384048"/>
          </a:xfrm>
          <a:prstGeom prst="rect">
            <a:avLst/>
          </a:prstGeom>
          <a:noFill/>
          <a:ln/>
        </p:spPr>
        <p:txBody>
          <a:bodyPr wrap="square" rtlCol="0" anchor="ctr"/>
          <a:lstStyle/>
          <a:p>
            <a:pPr indent="0" marL="0">
              <a:buNone/>
            </a:pPr>
            <a:r>
              <a:rPr lang="en-US" sz="1400" b="1" dirty="0">
                <a:solidFill>
                  <a:srgbClr val="007C6E"/>
                </a:solidFill>
                <a:latin typeface="Calibri" pitchFamily="34" charset="0"/>
                <a:ea typeface="Calibri" pitchFamily="34" charset="-122"/>
                <a:cs typeface="Calibri" pitchFamily="34" charset="-120"/>
              </a:rPr>
              <a:t>ORT CUDA EP</a:t>
            </a:r>
            <a:endParaRPr lang="en-US" sz="1400" dirty="0"/>
          </a:p>
        </p:txBody>
      </p:sp>
      <p:sp>
        <p:nvSpPr>
          <p:cNvPr id="19" name="Text 15"/>
          <p:cNvSpPr/>
          <p:nvPr/>
        </p:nvSpPr>
        <p:spPr>
          <a:xfrm>
            <a:off x="6565392" y="1499616"/>
            <a:ext cx="2322576" cy="256032"/>
          </a:xfrm>
          <a:prstGeom prst="rect">
            <a:avLst/>
          </a:prstGeom>
          <a:noFill/>
          <a:ln/>
        </p:spPr>
        <p:txBody>
          <a:bodyPr wrap="square"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Any GPU</a:t>
            </a:r>
            <a:endParaRPr lang="en-US" sz="1050" dirty="0"/>
          </a:p>
        </p:txBody>
      </p:sp>
      <p:sp>
        <p:nvSpPr>
          <p:cNvPr id="20" name="Text 16"/>
          <p:cNvSpPr/>
          <p:nvPr/>
        </p:nvSpPr>
        <p:spPr>
          <a:xfrm>
            <a:off x="6565392" y="1773936"/>
            <a:ext cx="2322576" cy="621792"/>
          </a:xfrm>
          <a:prstGeom prst="rect">
            <a:avLst/>
          </a:prstGeom>
          <a:noFill/>
          <a:ln/>
        </p:spPr>
        <p:txBody>
          <a:bodyPr wrap="square" rtlCol="0" anchor="ctr"/>
          <a:lstStyle/>
          <a:p>
            <a:pPr indent="0" marL="0">
              <a:buNone/>
            </a:pPr>
            <a:r>
              <a:rPr lang="en-US" sz="1100" dirty="0">
                <a:solidFill>
                  <a:srgbClr val="1C2B3A"/>
                </a:solidFill>
                <a:latin typeface="Calibri" pitchFamily="34" charset="0"/>
                <a:ea typeface="Calibri" pitchFamily="34" charset="-122"/>
                <a:cs typeface="Calibri" pitchFamily="34" charset="-120"/>
              </a:rPr>
              <a:t>cuDNN/cuBLAS,</a:t>
            </a:r>
            <a:endParaRPr lang="en-US" sz="1100" dirty="0"/>
          </a:p>
          <a:p>
            <a:pPr indent="0" marL="0">
              <a:buNone/>
            </a:pPr>
            <a:r>
              <a:rPr lang="en-US" sz="1100" dirty="0">
                <a:solidFill>
                  <a:srgbClr val="1C2B3A"/>
                </a:solidFill>
                <a:latin typeface="Calibri" pitchFamily="34" charset="0"/>
                <a:ea typeface="Calibri" pitchFamily="34" charset="-122"/>
                <a:cs typeface="Calibri" pitchFamily="34" charset="-120"/>
              </a:rPr>
              <a:t>easy cross-platform</a:t>
            </a:r>
            <a:endParaRPr lang="en-US" sz="1100" dirty="0"/>
          </a:p>
        </p:txBody>
      </p:sp>
      <p:pic>
        <p:nvPicPr>
          <p:cNvPr id="21" name="Image 2" descr="preencoded.png">    </p:cNvPr>
          <p:cNvPicPr>
            <a:picLocks noChangeAspect="1"/>
          </p:cNvPicPr>
          <p:nvPr/>
        </p:nvPicPr>
        <p:blipFill>
          <a:blip r:embed="rId3"/>
          <a:stretch>
            <a:fillRect/>
          </a:stretch>
        </p:blipFill>
        <p:spPr>
          <a:xfrm>
            <a:off x="5760720" y="1618488"/>
            <a:ext cx="365760" cy="365760"/>
          </a:xfrm>
          <a:prstGeom prst="rect">
            <a:avLst/>
          </a:prstGeom>
        </p:spPr>
      </p:pic>
      <p:sp>
        <p:nvSpPr>
          <p:cNvPr id="22" name="Shape 17"/>
          <p:cNvSpPr/>
          <p:nvPr/>
        </p:nvSpPr>
        <p:spPr>
          <a:xfrm>
            <a:off x="6400800" y="2852928"/>
            <a:ext cx="2651760" cy="1600200"/>
          </a:xfrm>
          <a:prstGeom prst="roundRect">
            <a:avLst>
              <a:gd name="adj" fmla="val 6857"/>
            </a:avLst>
          </a:prstGeom>
          <a:solidFill>
            <a:srgbClr val="EDE9FE"/>
          </a:solidFill>
          <a:ln w="12700">
            <a:solidFill>
              <a:srgbClr val="EDE9FE"/>
            </a:solidFill>
            <a:prstDash val="solid"/>
          </a:ln>
          <a:effectLst>
            <a:outerShdw sx="100000" sy="100000" kx="0" ky="0" algn="bl" rotWithShape="0" blurRad="101600" dist="25400" dir="8100000">
              <a:srgbClr val="000000">
                <a:alpha val="10000"/>
              </a:srgbClr>
            </a:outerShdw>
          </a:effectLst>
        </p:spPr>
      </p:sp>
      <p:sp>
        <p:nvSpPr>
          <p:cNvPr id="23" name="Text 18"/>
          <p:cNvSpPr/>
          <p:nvPr/>
        </p:nvSpPr>
        <p:spPr>
          <a:xfrm>
            <a:off x="6565392" y="2962656"/>
            <a:ext cx="2322576" cy="384048"/>
          </a:xfrm>
          <a:prstGeom prst="rect">
            <a:avLst/>
          </a:prstGeom>
          <a:noFill/>
          <a:ln/>
        </p:spPr>
        <p:txBody>
          <a:bodyPr wrap="square" rtlCol="0" anchor="ctr"/>
          <a:lstStyle/>
          <a:p>
            <a:pPr indent="0" marL="0">
              <a:buNone/>
            </a:pPr>
            <a:r>
              <a:rPr lang="en-US" sz="1400" b="1" dirty="0">
                <a:solidFill>
                  <a:srgbClr val="6B46C1"/>
                </a:solidFill>
                <a:latin typeface="Calibri" pitchFamily="34" charset="0"/>
                <a:ea typeface="Calibri" pitchFamily="34" charset="-122"/>
                <a:cs typeface="Calibri" pitchFamily="34" charset="-120"/>
              </a:rPr>
              <a:t>Apache TVM</a:t>
            </a:r>
            <a:endParaRPr lang="en-US" sz="1400" dirty="0"/>
          </a:p>
        </p:txBody>
      </p:sp>
      <p:sp>
        <p:nvSpPr>
          <p:cNvPr id="24" name="Text 19"/>
          <p:cNvSpPr/>
          <p:nvPr/>
        </p:nvSpPr>
        <p:spPr>
          <a:xfrm>
            <a:off x="6565392" y="3328416"/>
            <a:ext cx="2322576" cy="256032"/>
          </a:xfrm>
          <a:prstGeom prst="rect">
            <a:avLst/>
          </a:prstGeom>
          <a:noFill/>
          <a:ln/>
        </p:spPr>
        <p:txBody>
          <a:bodyPr wrap="square"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Any hardware</a:t>
            </a:r>
            <a:endParaRPr lang="en-US" sz="1050" dirty="0"/>
          </a:p>
        </p:txBody>
      </p:sp>
      <p:sp>
        <p:nvSpPr>
          <p:cNvPr id="25" name="Text 20"/>
          <p:cNvSpPr/>
          <p:nvPr/>
        </p:nvSpPr>
        <p:spPr>
          <a:xfrm>
            <a:off x="6565392" y="3602736"/>
            <a:ext cx="2322576" cy="621792"/>
          </a:xfrm>
          <a:prstGeom prst="rect">
            <a:avLst/>
          </a:prstGeom>
          <a:noFill/>
          <a:ln/>
        </p:spPr>
        <p:txBody>
          <a:bodyPr wrap="square" rtlCol="0" anchor="ctr"/>
          <a:lstStyle/>
          <a:p>
            <a:pPr indent="0" marL="0">
              <a:buNone/>
            </a:pPr>
            <a:r>
              <a:rPr lang="en-US" sz="1100" dirty="0">
                <a:solidFill>
                  <a:srgbClr val="1C2B3A"/>
                </a:solidFill>
                <a:latin typeface="Calibri" pitchFamily="34" charset="0"/>
                <a:ea typeface="Calibri" pitchFamily="34" charset="-122"/>
                <a:cs typeface="Calibri" pitchFamily="34" charset="-120"/>
              </a:rPr>
              <a:t>Auto-scheduler,</a:t>
            </a:r>
            <a:endParaRPr lang="en-US" sz="1100" dirty="0"/>
          </a:p>
          <a:p>
            <a:pPr indent="0" marL="0">
              <a:buNone/>
            </a:pPr>
            <a:r>
              <a:rPr lang="en-US" sz="1100" dirty="0">
                <a:solidFill>
                  <a:srgbClr val="1C2B3A"/>
                </a:solidFill>
                <a:latin typeface="Calibri" pitchFamily="34" charset="0"/>
                <a:ea typeface="Calibri" pitchFamily="34" charset="-122"/>
                <a:cs typeface="Calibri" pitchFamily="34" charset="-120"/>
              </a:rPr>
              <a:t>mobile/FPGA support</a:t>
            </a:r>
            <a:endParaRPr lang="en-US" sz="1100" dirty="0"/>
          </a:p>
        </p:txBody>
      </p:sp>
      <p:pic>
        <p:nvPicPr>
          <p:cNvPr id="26" name="Image 3" descr="preencoded.png">    </p:cNvPr>
          <p:cNvPicPr>
            <a:picLocks noChangeAspect="1"/>
          </p:cNvPicPr>
          <p:nvPr/>
        </p:nvPicPr>
        <p:blipFill>
          <a:blip r:embed="rId4"/>
          <a:stretch>
            <a:fillRect/>
          </a:stretch>
        </p:blipFill>
        <p:spPr>
          <a:xfrm>
            <a:off x="5760720" y="3447288"/>
            <a:ext cx="365760" cy="365760"/>
          </a:xfrm>
          <a:prstGeom prst="rect">
            <a:avLst/>
          </a:prstGeom>
        </p:spPr>
      </p:pic>
      <p:sp>
        <p:nvSpPr>
          <p:cNvPr id="27" name="Shape 21"/>
          <p:cNvSpPr/>
          <p:nvPr/>
        </p:nvSpPr>
        <p:spPr>
          <a:xfrm>
            <a:off x="411480" y="4224528"/>
            <a:ext cx="8321040" cy="658368"/>
          </a:xfrm>
          <a:prstGeom prst="roundRect">
            <a:avLst>
              <a:gd name="adj" fmla="val 16667"/>
            </a:avLst>
          </a:prstGeom>
          <a:solidFill>
            <a:srgbClr val="E6F7F5"/>
          </a:solidFill>
          <a:ln w="12700">
            <a:solidFill>
              <a:srgbClr val="E6F7F5"/>
            </a:solidFill>
            <a:prstDash val="solid"/>
          </a:ln>
        </p:spPr>
      </p:sp>
      <p:sp>
        <p:nvSpPr>
          <p:cNvPr id="28" name="Text 22"/>
          <p:cNvSpPr/>
          <p:nvPr/>
        </p:nvSpPr>
        <p:spPr>
          <a:xfrm>
            <a:off x="594360" y="4315968"/>
            <a:ext cx="7955280" cy="475488"/>
          </a:xfrm>
          <a:prstGeom prst="rect">
            <a:avLst/>
          </a:prstGeom>
          <a:noFill/>
          <a:ln/>
        </p:spPr>
        <p:txBody>
          <a:bodyPr wrap="square" rtlCol="0" anchor="ctr"/>
          <a:lstStyle/>
          <a:p>
            <a:pPr indent="0" marL="0">
              <a:buNone/>
            </a:pPr>
            <a:r>
              <a:rPr lang="en-US" sz="1150" dirty="0">
                <a:solidFill>
                  <a:srgbClr val="007C6E"/>
                </a:solidFill>
                <a:latin typeface="Calibri" pitchFamily="34" charset="0"/>
                <a:ea typeface="Calibri" pitchFamily="34" charset="-122"/>
                <a:cs typeface="Calibri" pitchFamily="34" charset="-120"/>
              </a:rPr>
              <a:t>What compilation buys: kernel fusion (fewer memory round-trips) · kernel auto-tuning (hardware-specific fastest algorithm) · precision assignment (auto FP16 where safe)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D"/>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3000" b="1" dirty="0">
                <a:solidFill>
                  <a:srgbClr val="1C2B3A"/>
                </a:solidFill>
                <a:latin typeface="Calibri" pitchFamily="34" charset="0"/>
                <a:ea typeface="Calibri" pitchFamily="34" charset="-122"/>
                <a:cs typeface="Calibri" pitchFamily="34" charset="-120"/>
              </a:rPr>
              <a:t>Combining techniques: the full pipeline</a:t>
            </a:r>
            <a:endParaRPr lang="en-US" sz="3000" dirty="0"/>
          </a:p>
        </p:txBody>
      </p:sp>
      <p:sp>
        <p:nvSpPr>
          <p:cNvPr id="3" name="Text 1"/>
          <p:cNvSpPr/>
          <p:nvPr/>
        </p:nvSpPr>
        <p:spPr>
          <a:xfrm>
            <a:off x="411480" y="795528"/>
            <a:ext cx="8321040" cy="27432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Applied in order — each step compounds the gains from the previous one</a:t>
            </a:r>
            <a:endParaRPr lang="en-US" sz="1300" dirty="0"/>
          </a:p>
        </p:txBody>
      </p:sp>
      <p:sp>
        <p:nvSpPr>
          <p:cNvPr id="4" name="Shape 2"/>
          <p:cNvSpPr/>
          <p:nvPr/>
        </p:nvSpPr>
        <p:spPr>
          <a:xfrm>
            <a:off x="411480" y="1325880"/>
            <a:ext cx="1234440" cy="2194560"/>
          </a:xfrm>
          <a:prstGeom prst="roundRect">
            <a:avLst>
              <a:gd name="adj" fmla="val 8889"/>
            </a:avLst>
          </a:prstGeom>
          <a:solidFill>
            <a:srgbClr val="0D1B2A"/>
          </a:solidFill>
          <a:ln w="12700">
            <a:solidFill>
              <a:srgbClr val="0D1B2A"/>
            </a:solidFill>
            <a:prstDash val="solid"/>
          </a:ln>
          <a:effectLst>
            <a:outerShdw sx="100000" sy="100000" kx="0" ky="0" algn="bl" rotWithShape="0" blurRad="101600" dist="25400" dir="8100000">
              <a:srgbClr val="000000">
                <a:alpha val="10000"/>
              </a:srgbClr>
            </a:outerShdw>
          </a:effectLst>
        </p:spPr>
      </p:sp>
      <p:sp>
        <p:nvSpPr>
          <p:cNvPr id="5" name="Shape 3"/>
          <p:cNvSpPr/>
          <p:nvPr/>
        </p:nvSpPr>
        <p:spPr>
          <a:xfrm>
            <a:off x="795528" y="1435608"/>
            <a:ext cx="457200" cy="457200"/>
          </a:xfrm>
          <a:prstGeom prst="ellipse">
            <a:avLst/>
          </a:prstGeom>
          <a:solidFill>
            <a:srgbClr val="263A54">
              <a:alpha val="85000"/>
            </a:srgbClr>
          </a:solidFill>
          <a:ln w="12700">
            <a:solidFill>
              <a:srgbClr val="263A54"/>
            </a:solidFill>
            <a:prstDash val="solid"/>
          </a:ln>
        </p:spPr>
      </p:sp>
      <p:sp>
        <p:nvSpPr>
          <p:cNvPr id="6" name="Text 4"/>
          <p:cNvSpPr/>
          <p:nvPr/>
        </p:nvSpPr>
        <p:spPr>
          <a:xfrm>
            <a:off x="795528"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411480" y="1984248"/>
            <a:ext cx="12344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Train</a:t>
            </a:r>
            <a:endParaRPr lang="en-US" sz="1300" dirty="0"/>
          </a:p>
        </p:txBody>
      </p:sp>
      <p:sp>
        <p:nvSpPr>
          <p:cNvPr id="8" name="Text 6"/>
          <p:cNvSpPr/>
          <p:nvPr/>
        </p:nvSpPr>
        <p:spPr>
          <a:xfrm>
            <a:off x="411480" y="2350008"/>
            <a:ext cx="1234440" cy="594360"/>
          </a:xfrm>
          <a:prstGeom prst="rect">
            <a:avLst/>
          </a:prstGeom>
          <a:noFill/>
          <a:ln/>
        </p:spPr>
        <p:txBody>
          <a:bodyPr wrap="square" rtlCol="0" anchor="ctr"/>
          <a:lstStyle/>
          <a:p>
            <a:pPr algn="ctr" indent="0" marL="0">
              <a:buNone/>
            </a:pPr>
            <a:r>
              <a:rPr lang="en-US" sz="1000" dirty="0">
                <a:solidFill>
                  <a:srgbClr val="A0AEC0"/>
                </a:solidFill>
                <a:latin typeface="Calibri" pitchFamily="34" charset="0"/>
                <a:ea typeface="Calibri" pitchFamily="34" charset="-122"/>
                <a:cs typeface="Calibri" pitchFamily="34" charset="-120"/>
              </a:rPr>
              <a:t>Full accuracy</a:t>
            </a:r>
            <a:endParaRPr lang="en-US" sz="1000" dirty="0"/>
          </a:p>
          <a:p>
            <a:pPr algn="ctr" indent="0" marL="0">
              <a:buNone/>
            </a:pPr>
            <a:r>
              <a:rPr lang="en-US" sz="1000" dirty="0">
                <a:solidFill>
                  <a:srgbClr val="A0AEC0"/>
                </a:solidFill>
                <a:latin typeface="Calibri" pitchFamily="34" charset="0"/>
                <a:ea typeface="Calibri" pitchFamily="34" charset="-122"/>
                <a:cs typeface="Calibri" pitchFamily="34" charset="-120"/>
              </a:rPr>
              <a:t>FP32 model</a:t>
            </a:r>
            <a:endParaRPr lang="en-US" sz="1000" dirty="0"/>
          </a:p>
        </p:txBody>
      </p:sp>
      <p:sp>
        <p:nvSpPr>
          <p:cNvPr id="9" name="Shape 7"/>
          <p:cNvSpPr/>
          <p:nvPr/>
        </p:nvSpPr>
        <p:spPr>
          <a:xfrm>
            <a:off x="457200" y="3081528"/>
            <a:ext cx="1143000" cy="246888"/>
          </a:xfrm>
          <a:prstGeom prst="roundRect">
            <a:avLst>
              <a:gd name="adj" fmla="val 48148"/>
            </a:avLst>
          </a:prstGeom>
          <a:solidFill>
            <a:srgbClr val="00BFA5"/>
          </a:solidFill>
          <a:ln w="12700">
            <a:solidFill>
              <a:srgbClr val="00BFA5"/>
            </a:solidFill>
            <a:prstDash val="solid"/>
          </a:ln>
        </p:spPr>
      </p:sp>
      <p:sp>
        <p:nvSpPr>
          <p:cNvPr id="10" name="Text 8"/>
          <p:cNvSpPr/>
          <p:nvPr/>
        </p:nvSpPr>
        <p:spPr>
          <a:xfrm>
            <a:off x="457200" y="3081528"/>
            <a:ext cx="114300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Baseline</a:t>
            </a:r>
            <a:endParaRPr lang="en-US" sz="900" dirty="0"/>
          </a:p>
        </p:txBody>
      </p:sp>
      <p:pic>
        <p:nvPicPr>
          <p:cNvPr id="11" name="Image 0" descr="preencoded.png">    </p:cNvPr>
          <p:cNvPicPr>
            <a:picLocks noChangeAspect="1"/>
          </p:cNvPicPr>
          <p:nvPr/>
        </p:nvPicPr>
        <p:blipFill>
          <a:blip r:embed="rId1"/>
          <a:stretch>
            <a:fillRect/>
          </a:stretch>
        </p:blipFill>
        <p:spPr>
          <a:xfrm>
            <a:off x="1664208" y="2286000"/>
            <a:ext cx="237744" cy="237744"/>
          </a:xfrm>
          <a:prstGeom prst="rect">
            <a:avLst/>
          </a:prstGeom>
        </p:spPr>
      </p:pic>
      <p:sp>
        <p:nvSpPr>
          <p:cNvPr id="12" name="Shape 9"/>
          <p:cNvSpPr/>
          <p:nvPr/>
        </p:nvSpPr>
        <p:spPr>
          <a:xfrm>
            <a:off x="1828800" y="1325880"/>
            <a:ext cx="1234440" cy="2194560"/>
          </a:xfrm>
          <a:prstGeom prst="roundRect">
            <a:avLst>
              <a:gd name="adj" fmla="val 8889"/>
            </a:avLst>
          </a:prstGeom>
          <a:solidFill>
            <a:srgbClr val="FEF3DC"/>
          </a:solidFill>
          <a:ln w="12700">
            <a:solidFill>
              <a:srgbClr val="FEF3DC"/>
            </a:solidFill>
            <a:prstDash val="solid"/>
          </a:ln>
          <a:effectLst>
            <a:outerShdw sx="100000" sy="100000" kx="0" ky="0" algn="bl" rotWithShape="0" blurRad="101600" dist="25400" dir="8100000">
              <a:srgbClr val="000000">
                <a:alpha val="10000"/>
              </a:srgbClr>
            </a:outerShdw>
          </a:effectLst>
        </p:spPr>
      </p:sp>
      <p:sp>
        <p:nvSpPr>
          <p:cNvPr id="13" name="Shape 10"/>
          <p:cNvSpPr/>
          <p:nvPr/>
        </p:nvSpPr>
        <p:spPr>
          <a:xfrm>
            <a:off x="2212848" y="1435608"/>
            <a:ext cx="457200" cy="457200"/>
          </a:xfrm>
          <a:prstGeom prst="ellipse">
            <a:avLst/>
          </a:prstGeom>
          <a:solidFill>
            <a:srgbClr val="92400E">
              <a:alpha val="85000"/>
            </a:srgbClr>
          </a:solidFill>
          <a:ln w="12700">
            <a:solidFill>
              <a:srgbClr val="92400E"/>
            </a:solidFill>
            <a:prstDash val="solid"/>
          </a:ln>
        </p:spPr>
      </p:sp>
      <p:sp>
        <p:nvSpPr>
          <p:cNvPr id="14" name="Text 11"/>
          <p:cNvSpPr/>
          <p:nvPr/>
        </p:nvSpPr>
        <p:spPr>
          <a:xfrm>
            <a:off x="2212848"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p:nvPr/>
        </p:nvSpPr>
        <p:spPr>
          <a:xfrm>
            <a:off x="1828800" y="1984248"/>
            <a:ext cx="1234440" cy="365760"/>
          </a:xfrm>
          <a:prstGeom prst="rect">
            <a:avLst/>
          </a:prstGeom>
          <a:noFill/>
          <a:ln/>
        </p:spPr>
        <p:txBody>
          <a:bodyPr wrap="square" rtlCol="0" anchor="ctr"/>
          <a:lstStyle/>
          <a:p>
            <a:pPr algn="ctr" indent="0" marL="0">
              <a:buNone/>
            </a:pPr>
            <a:r>
              <a:rPr lang="en-US" sz="1300" b="1" dirty="0">
                <a:solidFill>
                  <a:srgbClr val="92400E"/>
                </a:solidFill>
                <a:latin typeface="Calibri" pitchFamily="34" charset="0"/>
                <a:ea typeface="Calibri" pitchFamily="34" charset="-122"/>
                <a:cs typeface="Calibri" pitchFamily="34" charset="-120"/>
              </a:rPr>
              <a:t>Distil</a:t>
            </a:r>
            <a:endParaRPr lang="en-US" sz="1300" dirty="0"/>
          </a:p>
        </p:txBody>
      </p:sp>
      <p:sp>
        <p:nvSpPr>
          <p:cNvPr id="16" name="Text 13"/>
          <p:cNvSpPr/>
          <p:nvPr/>
        </p:nvSpPr>
        <p:spPr>
          <a:xfrm>
            <a:off x="1828800" y="2350008"/>
            <a:ext cx="1234440" cy="594360"/>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Smaller</a:t>
            </a:r>
            <a:endParaRPr lang="en-US" sz="1000" dirty="0"/>
          </a:p>
          <a:p>
            <a:pPr algn="ctr" indent="0" marL="0">
              <a:buNone/>
            </a:pPr>
            <a:r>
              <a:rPr lang="en-US" sz="1000" dirty="0">
                <a:solidFill>
                  <a:srgbClr val="4A5568"/>
                </a:solidFill>
                <a:latin typeface="Calibri" pitchFamily="34" charset="0"/>
                <a:ea typeface="Calibri" pitchFamily="34" charset="-122"/>
                <a:cs typeface="Calibri" pitchFamily="34" charset="-120"/>
              </a:rPr>
              <a:t>student model</a:t>
            </a:r>
            <a:endParaRPr lang="en-US" sz="1000" dirty="0"/>
          </a:p>
        </p:txBody>
      </p:sp>
      <p:sp>
        <p:nvSpPr>
          <p:cNvPr id="17" name="Shape 14"/>
          <p:cNvSpPr/>
          <p:nvPr/>
        </p:nvSpPr>
        <p:spPr>
          <a:xfrm>
            <a:off x="1874520" y="3081528"/>
            <a:ext cx="1143000" cy="246888"/>
          </a:xfrm>
          <a:prstGeom prst="roundRect">
            <a:avLst>
              <a:gd name="adj" fmla="val 48148"/>
            </a:avLst>
          </a:prstGeom>
          <a:solidFill>
            <a:srgbClr val="92400E"/>
          </a:solidFill>
          <a:ln w="12700">
            <a:solidFill>
              <a:srgbClr val="92400E"/>
            </a:solidFill>
            <a:prstDash val="solid"/>
          </a:ln>
        </p:spPr>
      </p:sp>
      <p:sp>
        <p:nvSpPr>
          <p:cNvPr id="18" name="Text 15"/>
          <p:cNvSpPr/>
          <p:nvPr/>
        </p:nvSpPr>
        <p:spPr>
          <a:xfrm>
            <a:off x="1874520" y="3081528"/>
            <a:ext cx="114300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2–5× fewer params</a:t>
            </a:r>
            <a:endParaRPr lang="en-US" sz="900" dirty="0"/>
          </a:p>
        </p:txBody>
      </p:sp>
      <p:pic>
        <p:nvPicPr>
          <p:cNvPr id="19" name="Image 1" descr="preencoded.png">    </p:cNvPr>
          <p:cNvPicPr>
            <a:picLocks noChangeAspect="1"/>
          </p:cNvPicPr>
          <p:nvPr/>
        </p:nvPicPr>
        <p:blipFill>
          <a:blip r:embed="rId2"/>
          <a:stretch>
            <a:fillRect/>
          </a:stretch>
        </p:blipFill>
        <p:spPr>
          <a:xfrm>
            <a:off x="3081528" y="2286000"/>
            <a:ext cx="237744" cy="237744"/>
          </a:xfrm>
          <a:prstGeom prst="rect">
            <a:avLst/>
          </a:prstGeom>
        </p:spPr>
      </p:pic>
      <p:sp>
        <p:nvSpPr>
          <p:cNvPr id="20" name="Shape 16"/>
          <p:cNvSpPr/>
          <p:nvPr/>
        </p:nvSpPr>
        <p:spPr>
          <a:xfrm>
            <a:off x="3246120" y="1325880"/>
            <a:ext cx="1234440" cy="2194560"/>
          </a:xfrm>
          <a:prstGeom prst="roundRect">
            <a:avLst>
              <a:gd name="adj" fmla="val 8889"/>
            </a:avLst>
          </a:prstGeom>
          <a:solidFill>
            <a:srgbClr val="E6F7F5"/>
          </a:solidFill>
          <a:ln w="12700">
            <a:solidFill>
              <a:srgbClr val="E6F7F5"/>
            </a:solidFill>
            <a:prstDash val="solid"/>
          </a:ln>
          <a:effectLst>
            <a:outerShdw sx="100000" sy="100000" kx="0" ky="0" algn="bl" rotWithShape="0" blurRad="101600" dist="25400" dir="8100000">
              <a:srgbClr val="000000">
                <a:alpha val="10000"/>
              </a:srgbClr>
            </a:outerShdw>
          </a:effectLst>
        </p:spPr>
      </p:sp>
      <p:sp>
        <p:nvSpPr>
          <p:cNvPr id="21" name="Shape 17"/>
          <p:cNvSpPr/>
          <p:nvPr/>
        </p:nvSpPr>
        <p:spPr>
          <a:xfrm>
            <a:off x="3630168" y="1435608"/>
            <a:ext cx="457200" cy="457200"/>
          </a:xfrm>
          <a:prstGeom prst="ellipse">
            <a:avLst/>
          </a:prstGeom>
          <a:solidFill>
            <a:srgbClr val="007C6E">
              <a:alpha val="85000"/>
            </a:srgbClr>
          </a:solidFill>
          <a:ln w="12700">
            <a:solidFill>
              <a:srgbClr val="007C6E"/>
            </a:solidFill>
            <a:prstDash val="solid"/>
          </a:ln>
        </p:spPr>
      </p:sp>
      <p:sp>
        <p:nvSpPr>
          <p:cNvPr id="22" name="Text 18"/>
          <p:cNvSpPr/>
          <p:nvPr/>
        </p:nvSpPr>
        <p:spPr>
          <a:xfrm>
            <a:off x="3630168"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19"/>
          <p:cNvSpPr/>
          <p:nvPr/>
        </p:nvSpPr>
        <p:spPr>
          <a:xfrm>
            <a:off x="3246120" y="1984248"/>
            <a:ext cx="1234440" cy="365760"/>
          </a:xfrm>
          <a:prstGeom prst="rect">
            <a:avLst/>
          </a:prstGeom>
          <a:noFill/>
          <a:ln/>
        </p:spPr>
        <p:txBody>
          <a:bodyPr wrap="square" rtlCol="0" anchor="ctr"/>
          <a:lstStyle/>
          <a:p>
            <a:pPr algn="ctr" indent="0" marL="0">
              <a:buNone/>
            </a:pPr>
            <a:r>
              <a:rPr lang="en-US" sz="1300" b="1" dirty="0">
                <a:solidFill>
                  <a:srgbClr val="007C6E"/>
                </a:solidFill>
                <a:latin typeface="Calibri" pitchFamily="34" charset="0"/>
                <a:ea typeface="Calibri" pitchFamily="34" charset="-122"/>
                <a:cs typeface="Calibri" pitchFamily="34" charset="-120"/>
              </a:rPr>
              <a:t>Quantize</a:t>
            </a:r>
            <a:endParaRPr lang="en-US" sz="1300" dirty="0"/>
          </a:p>
        </p:txBody>
      </p:sp>
      <p:sp>
        <p:nvSpPr>
          <p:cNvPr id="24" name="Text 20"/>
          <p:cNvSpPr/>
          <p:nvPr/>
        </p:nvSpPr>
        <p:spPr>
          <a:xfrm>
            <a:off x="3246120" y="2350008"/>
            <a:ext cx="1234440" cy="594360"/>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INT8 / FP16</a:t>
            </a:r>
            <a:endParaRPr lang="en-US" sz="1000" dirty="0"/>
          </a:p>
          <a:p>
            <a:pPr algn="ctr" indent="0" marL="0">
              <a:buNone/>
            </a:pPr>
            <a:r>
              <a:rPr lang="en-US" sz="1000" dirty="0">
                <a:solidFill>
                  <a:srgbClr val="4A5568"/>
                </a:solidFill>
                <a:latin typeface="Calibri" pitchFamily="34" charset="0"/>
                <a:ea typeface="Calibri" pitchFamily="34" charset="-122"/>
                <a:cs typeface="Calibri" pitchFamily="34" charset="-120"/>
              </a:rPr>
              <a:t>PTQ or QAT</a:t>
            </a:r>
            <a:endParaRPr lang="en-US" sz="1000" dirty="0"/>
          </a:p>
        </p:txBody>
      </p:sp>
      <p:sp>
        <p:nvSpPr>
          <p:cNvPr id="25" name="Shape 21"/>
          <p:cNvSpPr/>
          <p:nvPr/>
        </p:nvSpPr>
        <p:spPr>
          <a:xfrm>
            <a:off x="3291840" y="3081528"/>
            <a:ext cx="1143000" cy="246888"/>
          </a:xfrm>
          <a:prstGeom prst="roundRect">
            <a:avLst>
              <a:gd name="adj" fmla="val 48148"/>
            </a:avLst>
          </a:prstGeom>
          <a:solidFill>
            <a:srgbClr val="007C6E"/>
          </a:solidFill>
          <a:ln w="12700">
            <a:solidFill>
              <a:srgbClr val="007C6E"/>
            </a:solidFill>
            <a:prstDash val="solid"/>
          </a:ln>
        </p:spPr>
      </p:sp>
      <p:sp>
        <p:nvSpPr>
          <p:cNvPr id="26" name="Text 22"/>
          <p:cNvSpPr/>
          <p:nvPr/>
        </p:nvSpPr>
        <p:spPr>
          <a:xfrm>
            <a:off x="3291840" y="3081528"/>
            <a:ext cx="114300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2–4× size ↓</a:t>
            </a:r>
            <a:endParaRPr lang="en-US" sz="900" dirty="0"/>
          </a:p>
        </p:txBody>
      </p:sp>
      <p:pic>
        <p:nvPicPr>
          <p:cNvPr id="27" name="Image 2" descr="preencoded.png">    </p:cNvPr>
          <p:cNvPicPr>
            <a:picLocks noChangeAspect="1"/>
          </p:cNvPicPr>
          <p:nvPr/>
        </p:nvPicPr>
        <p:blipFill>
          <a:blip r:embed="rId3"/>
          <a:stretch>
            <a:fillRect/>
          </a:stretch>
        </p:blipFill>
        <p:spPr>
          <a:xfrm>
            <a:off x="4498848" y="2286000"/>
            <a:ext cx="237744" cy="237744"/>
          </a:xfrm>
          <a:prstGeom prst="rect">
            <a:avLst/>
          </a:prstGeom>
        </p:spPr>
      </p:pic>
      <p:sp>
        <p:nvSpPr>
          <p:cNvPr id="28" name="Shape 23"/>
          <p:cNvSpPr/>
          <p:nvPr/>
        </p:nvSpPr>
        <p:spPr>
          <a:xfrm>
            <a:off x="4663440" y="1325880"/>
            <a:ext cx="1234440" cy="2194560"/>
          </a:xfrm>
          <a:prstGeom prst="roundRect">
            <a:avLst>
              <a:gd name="adj" fmla="val 8889"/>
            </a:avLst>
          </a:prstGeom>
          <a:solidFill>
            <a:srgbClr val="EDE9FE"/>
          </a:solidFill>
          <a:ln w="12700">
            <a:solidFill>
              <a:srgbClr val="EDE9FE"/>
            </a:solidFill>
            <a:prstDash val="solid"/>
          </a:ln>
          <a:effectLst>
            <a:outerShdw sx="100000" sy="100000" kx="0" ky="0" algn="bl" rotWithShape="0" blurRad="101600" dist="25400" dir="8100000">
              <a:srgbClr val="000000">
                <a:alpha val="10000"/>
              </a:srgbClr>
            </a:outerShdw>
          </a:effectLst>
        </p:spPr>
      </p:sp>
      <p:sp>
        <p:nvSpPr>
          <p:cNvPr id="29" name="Shape 24"/>
          <p:cNvSpPr/>
          <p:nvPr/>
        </p:nvSpPr>
        <p:spPr>
          <a:xfrm>
            <a:off x="5047488" y="1435608"/>
            <a:ext cx="457200" cy="457200"/>
          </a:xfrm>
          <a:prstGeom prst="ellipse">
            <a:avLst/>
          </a:prstGeom>
          <a:solidFill>
            <a:srgbClr val="6B46C1">
              <a:alpha val="85000"/>
            </a:srgbClr>
          </a:solidFill>
          <a:ln w="12700">
            <a:solidFill>
              <a:srgbClr val="6B46C1"/>
            </a:solidFill>
            <a:prstDash val="solid"/>
          </a:ln>
        </p:spPr>
      </p:sp>
      <p:sp>
        <p:nvSpPr>
          <p:cNvPr id="30" name="Text 25"/>
          <p:cNvSpPr/>
          <p:nvPr/>
        </p:nvSpPr>
        <p:spPr>
          <a:xfrm>
            <a:off x="5047488"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1" name="Text 26"/>
          <p:cNvSpPr/>
          <p:nvPr/>
        </p:nvSpPr>
        <p:spPr>
          <a:xfrm>
            <a:off x="4663440" y="1984248"/>
            <a:ext cx="1234440" cy="365760"/>
          </a:xfrm>
          <a:prstGeom prst="rect">
            <a:avLst/>
          </a:prstGeom>
          <a:noFill/>
          <a:ln/>
        </p:spPr>
        <p:txBody>
          <a:bodyPr wrap="square" rtlCol="0" anchor="ctr"/>
          <a:lstStyle/>
          <a:p>
            <a:pPr algn="ctr" indent="0" marL="0">
              <a:buNone/>
            </a:pPr>
            <a:r>
              <a:rPr lang="en-US" sz="1300" b="1" dirty="0">
                <a:solidFill>
                  <a:srgbClr val="6B46C1"/>
                </a:solidFill>
                <a:latin typeface="Calibri" pitchFamily="34" charset="0"/>
                <a:ea typeface="Calibri" pitchFamily="34" charset="-122"/>
                <a:cs typeface="Calibri" pitchFamily="34" charset="-120"/>
              </a:rPr>
              <a:t>Prune</a:t>
            </a:r>
            <a:endParaRPr lang="en-US" sz="1300" dirty="0"/>
          </a:p>
        </p:txBody>
      </p:sp>
      <p:sp>
        <p:nvSpPr>
          <p:cNvPr id="32" name="Text 27"/>
          <p:cNvSpPr/>
          <p:nvPr/>
        </p:nvSpPr>
        <p:spPr>
          <a:xfrm>
            <a:off x="4663440" y="2350008"/>
            <a:ext cx="1234440" cy="594360"/>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Remove channels</a:t>
            </a:r>
            <a:endParaRPr lang="en-US" sz="1000" dirty="0"/>
          </a:p>
          <a:p>
            <a:pPr algn="ctr" indent="0" marL="0">
              <a:buNone/>
            </a:pPr>
            <a:r>
              <a:rPr lang="en-US" sz="1000" dirty="0">
                <a:solidFill>
                  <a:srgbClr val="4A5568"/>
                </a:solidFill>
                <a:latin typeface="Calibri" pitchFamily="34" charset="0"/>
                <a:ea typeface="Calibri" pitchFamily="34" charset="-122"/>
                <a:cs typeface="Calibri" pitchFamily="34" charset="-120"/>
              </a:rPr>
              <a:t>fine-tune</a:t>
            </a:r>
            <a:endParaRPr lang="en-US" sz="1000" dirty="0"/>
          </a:p>
        </p:txBody>
      </p:sp>
      <p:sp>
        <p:nvSpPr>
          <p:cNvPr id="33" name="Shape 28"/>
          <p:cNvSpPr/>
          <p:nvPr/>
        </p:nvSpPr>
        <p:spPr>
          <a:xfrm>
            <a:off x="4709160" y="3081528"/>
            <a:ext cx="1143000" cy="246888"/>
          </a:xfrm>
          <a:prstGeom prst="roundRect">
            <a:avLst>
              <a:gd name="adj" fmla="val 48148"/>
            </a:avLst>
          </a:prstGeom>
          <a:solidFill>
            <a:srgbClr val="6B46C1"/>
          </a:solidFill>
          <a:ln w="12700">
            <a:solidFill>
              <a:srgbClr val="6B46C1"/>
            </a:solidFill>
            <a:prstDash val="solid"/>
          </a:ln>
        </p:spPr>
      </p:sp>
      <p:sp>
        <p:nvSpPr>
          <p:cNvPr id="34" name="Text 29"/>
          <p:cNvSpPr/>
          <p:nvPr/>
        </p:nvSpPr>
        <p:spPr>
          <a:xfrm>
            <a:off x="4709160" y="3081528"/>
            <a:ext cx="114300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1.5–2× FLOP ↓</a:t>
            </a:r>
            <a:endParaRPr lang="en-US" sz="900" dirty="0"/>
          </a:p>
        </p:txBody>
      </p:sp>
      <p:pic>
        <p:nvPicPr>
          <p:cNvPr id="35" name="Image 3" descr="preencoded.png">    </p:cNvPr>
          <p:cNvPicPr>
            <a:picLocks noChangeAspect="1"/>
          </p:cNvPicPr>
          <p:nvPr/>
        </p:nvPicPr>
        <p:blipFill>
          <a:blip r:embed="rId4"/>
          <a:stretch>
            <a:fillRect/>
          </a:stretch>
        </p:blipFill>
        <p:spPr>
          <a:xfrm>
            <a:off x="5916168" y="2286000"/>
            <a:ext cx="237744" cy="237744"/>
          </a:xfrm>
          <a:prstGeom prst="rect">
            <a:avLst/>
          </a:prstGeom>
        </p:spPr>
      </p:pic>
      <p:sp>
        <p:nvSpPr>
          <p:cNvPr id="36" name="Shape 30"/>
          <p:cNvSpPr/>
          <p:nvPr/>
        </p:nvSpPr>
        <p:spPr>
          <a:xfrm>
            <a:off x="6080760" y="1325880"/>
            <a:ext cx="1234440" cy="2194560"/>
          </a:xfrm>
          <a:prstGeom prst="roundRect">
            <a:avLst>
              <a:gd name="adj" fmla="val 8889"/>
            </a:avLst>
          </a:prstGeom>
          <a:solidFill>
            <a:srgbClr val="F0FFF4"/>
          </a:solidFill>
          <a:ln w="12700">
            <a:solidFill>
              <a:srgbClr val="F0FFF4"/>
            </a:solidFill>
            <a:prstDash val="solid"/>
          </a:ln>
          <a:effectLst>
            <a:outerShdw sx="100000" sy="100000" kx="0" ky="0" algn="bl" rotWithShape="0" blurRad="101600" dist="25400" dir="8100000">
              <a:srgbClr val="000000">
                <a:alpha val="10000"/>
              </a:srgbClr>
            </a:outerShdw>
          </a:effectLst>
        </p:spPr>
      </p:sp>
      <p:sp>
        <p:nvSpPr>
          <p:cNvPr id="37" name="Shape 31"/>
          <p:cNvSpPr/>
          <p:nvPr/>
        </p:nvSpPr>
        <p:spPr>
          <a:xfrm>
            <a:off x="6464808" y="1435608"/>
            <a:ext cx="457200" cy="457200"/>
          </a:xfrm>
          <a:prstGeom prst="ellipse">
            <a:avLst/>
          </a:prstGeom>
          <a:solidFill>
            <a:srgbClr val="2F855A">
              <a:alpha val="85000"/>
            </a:srgbClr>
          </a:solidFill>
          <a:ln w="12700">
            <a:solidFill>
              <a:srgbClr val="2F855A"/>
            </a:solidFill>
            <a:prstDash val="solid"/>
          </a:ln>
        </p:spPr>
      </p:sp>
      <p:sp>
        <p:nvSpPr>
          <p:cNvPr id="38" name="Text 32"/>
          <p:cNvSpPr/>
          <p:nvPr/>
        </p:nvSpPr>
        <p:spPr>
          <a:xfrm>
            <a:off x="6464808"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9" name="Text 33"/>
          <p:cNvSpPr/>
          <p:nvPr/>
        </p:nvSpPr>
        <p:spPr>
          <a:xfrm>
            <a:off x="6080760" y="1984248"/>
            <a:ext cx="1234440" cy="365760"/>
          </a:xfrm>
          <a:prstGeom prst="rect">
            <a:avLst/>
          </a:prstGeom>
          <a:noFill/>
          <a:ln/>
        </p:spPr>
        <p:txBody>
          <a:bodyPr wrap="square" rtlCol="0" anchor="ctr"/>
          <a:lstStyle/>
          <a:p>
            <a:pPr algn="ctr" indent="0" marL="0">
              <a:buNone/>
            </a:pPr>
            <a:r>
              <a:rPr lang="en-US" sz="1300" b="1" dirty="0">
                <a:solidFill>
                  <a:srgbClr val="2F855A"/>
                </a:solidFill>
                <a:latin typeface="Calibri" pitchFamily="34" charset="0"/>
                <a:ea typeface="Calibri" pitchFamily="34" charset="-122"/>
                <a:cs typeface="Calibri" pitchFamily="34" charset="-120"/>
              </a:rPr>
              <a:t>Compile</a:t>
            </a:r>
            <a:endParaRPr lang="en-US" sz="1300" dirty="0"/>
          </a:p>
        </p:txBody>
      </p:sp>
      <p:sp>
        <p:nvSpPr>
          <p:cNvPr id="40" name="Text 34"/>
          <p:cNvSpPr/>
          <p:nvPr/>
        </p:nvSpPr>
        <p:spPr>
          <a:xfrm>
            <a:off x="6080760" y="2350008"/>
            <a:ext cx="1234440" cy="594360"/>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TensorRT /</a:t>
            </a:r>
            <a:endParaRPr lang="en-US" sz="1000" dirty="0"/>
          </a:p>
          <a:p>
            <a:pPr algn="ctr" indent="0" marL="0">
              <a:buNone/>
            </a:pPr>
            <a:r>
              <a:rPr lang="en-US" sz="1000" dirty="0">
                <a:solidFill>
                  <a:srgbClr val="4A5568"/>
                </a:solidFill>
                <a:latin typeface="Calibri" pitchFamily="34" charset="0"/>
                <a:ea typeface="Calibri" pitchFamily="34" charset="-122"/>
                <a:cs typeface="Calibri" pitchFamily="34" charset="-120"/>
              </a:rPr>
              <a:t>OpenVINO</a:t>
            </a:r>
            <a:endParaRPr lang="en-US" sz="1000" dirty="0"/>
          </a:p>
        </p:txBody>
      </p:sp>
      <p:sp>
        <p:nvSpPr>
          <p:cNvPr id="41" name="Shape 35"/>
          <p:cNvSpPr/>
          <p:nvPr/>
        </p:nvSpPr>
        <p:spPr>
          <a:xfrm>
            <a:off x="6126480" y="3081528"/>
            <a:ext cx="1143000" cy="246888"/>
          </a:xfrm>
          <a:prstGeom prst="roundRect">
            <a:avLst>
              <a:gd name="adj" fmla="val 48148"/>
            </a:avLst>
          </a:prstGeom>
          <a:solidFill>
            <a:srgbClr val="2F855A"/>
          </a:solidFill>
          <a:ln w="12700">
            <a:solidFill>
              <a:srgbClr val="2F855A"/>
            </a:solidFill>
            <a:prstDash val="solid"/>
          </a:ln>
        </p:spPr>
      </p:sp>
      <p:sp>
        <p:nvSpPr>
          <p:cNvPr id="42" name="Text 36"/>
          <p:cNvSpPr/>
          <p:nvPr/>
        </p:nvSpPr>
        <p:spPr>
          <a:xfrm>
            <a:off x="6126480" y="3081528"/>
            <a:ext cx="114300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1.5–3× latency ↓</a:t>
            </a:r>
            <a:endParaRPr lang="en-US" sz="900" dirty="0"/>
          </a:p>
        </p:txBody>
      </p:sp>
      <p:pic>
        <p:nvPicPr>
          <p:cNvPr id="43" name="Image 4" descr="preencoded.png">    </p:cNvPr>
          <p:cNvPicPr>
            <a:picLocks noChangeAspect="1"/>
          </p:cNvPicPr>
          <p:nvPr/>
        </p:nvPicPr>
        <p:blipFill>
          <a:blip r:embed="rId5"/>
          <a:stretch>
            <a:fillRect/>
          </a:stretch>
        </p:blipFill>
        <p:spPr>
          <a:xfrm>
            <a:off x="7333488" y="2286000"/>
            <a:ext cx="237744" cy="237744"/>
          </a:xfrm>
          <a:prstGeom prst="rect">
            <a:avLst/>
          </a:prstGeom>
        </p:spPr>
      </p:pic>
      <p:sp>
        <p:nvSpPr>
          <p:cNvPr id="44" name="Shape 37"/>
          <p:cNvSpPr/>
          <p:nvPr/>
        </p:nvSpPr>
        <p:spPr>
          <a:xfrm>
            <a:off x="7498080" y="1325880"/>
            <a:ext cx="1234440" cy="2194560"/>
          </a:xfrm>
          <a:prstGeom prst="roundRect">
            <a:avLst>
              <a:gd name="adj" fmla="val 8889"/>
            </a:avLst>
          </a:prstGeom>
          <a:solidFill>
            <a:srgbClr val="1C2B3A"/>
          </a:solidFill>
          <a:ln w="12700">
            <a:solidFill>
              <a:srgbClr val="1C2B3A"/>
            </a:solidFill>
            <a:prstDash val="solid"/>
          </a:ln>
          <a:effectLst>
            <a:outerShdw sx="100000" sy="100000" kx="0" ky="0" algn="bl" rotWithShape="0" blurRad="101600" dist="25400" dir="8100000">
              <a:srgbClr val="000000">
                <a:alpha val="10000"/>
              </a:srgbClr>
            </a:outerShdw>
          </a:effectLst>
        </p:spPr>
      </p:sp>
      <p:sp>
        <p:nvSpPr>
          <p:cNvPr id="45" name="Shape 38"/>
          <p:cNvSpPr/>
          <p:nvPr/>
        </p:nvSpPr>
        <p:spPr>
          <a:xfrm>
            <a:off x="7882128" y="1435608"/>
            <a:ext cx="457200" cy="457200"/>
          </a:xfrm>
          <a:prstGeom prst="ellipse">
            <a:avLst/>
          </a:prstGeom>
          <a:solidFill>
            <a:srgbClr val="263A54">
              <a:alpha val="85000"/>
            </a:srgbClr>
          </a:solidFill>
          <a:ln w="12700">
            <a:solidFill>
              <a:srgbClr val="263A54"/>
            </a:solidFill>
            <a:prstDash val="solid"/>
          </a:ln>
        </p:spPr>
      </p:sp>
      <p:sp>
        <p:nvSpPr>
          <p:cNvPr id="46" name="Text 39"/>
          <p:cNvSpPr/>
          <p:nvPr/>
        </p:nvSpPr>
        <p:spPr>
          <a:xfrm>
            <a:off x="7882128"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7" name="Text 40"/>
          <p:cNvSpPr/>
          <p:nvPr/>
        </p:nvSpPr>
        <p:spPr>
          <a:xfrm>
            <a:off x="7498080" y="1984248"/>
            <a:ext cx="123444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Deploy</a:t>
            </a:r>
            <a:endParaRPr lang="en-US" sz="1300" dirty="0"/>
          </a:p>
        </p:txBody>
      </p:sp>
      <p:sp>
        <p:nvSpPr>
          <p:cNvPr id="48" name="Text 41"/>
          <p:cNvSpPr/>
          <p:nvPr/>
        </p:nvSpPr>
        <p:spPr>
          <a:xfrm>
            <a:off x="7498080" y="2350008"/>
            <a:ext cx="1234440" cy="594360"/>
          </a:xfrm>
          <a:prstGeom prst="rect">
            <a:avLst/>
          </a:prstGeom>
          <a:noFill/>
          <a:ln/>
        </p:spPr>
        <p:txBody>
          <a:bodyPr wrap="square" rtlCol="0" anchor="ctr"/>
          <a:lstStyle/>
          <a:p>
            <a:pPr algn="ctr" indent="0" marL="0">
              <a:buNone/>
            </a:pPr>
            <a:r>
              <a:rPr lang="en-US" sz="1000" dirty="0">
                <a:solidFill>
                  <a:srgbClr val="A0AEC0"/>
                </a:solidFill>
                <a:latin typeface="Calibri" pitchFamily="34" charset="0"/>
                <a:ea typeface="Calibri" pitchFamily="34" charset="-122"/>
                <a:cs typeface="Calibri" pitchFamily="34" charset="-120"/>
              </a:rPr>
              <a:t>Triton / ORT</a:t>
            </a:r>
            <a:endParaRPr lang="en-US" sz="1000" dirty="0"/>
          </a:p>
          <a:p>
            <a:pPr algn="ctr" indent="0" marL="0">
              <a:buNone/>
            </a:pPr>
            <a:r>
              <a:rPr lang="en-US" sz="1000" dirty="0">
                <a:solidFill>
                  <a:srgbClr val="A0AEC0"/>
                </a:solidFill>
                <a:latin typeface="Calibri" pitchFamily="34" charset="0"/>
                <a:ea typeface="Calibri" pitchFamily="34" charset="-122"/>
                <a:cs typeface="Calibri" pitchFamily="34" charset="-120"/>
              </a:rPr>
              <a:t>REST API</a:t>
            </a:r>
            <a:endParaRPr lang="en-US" sz="1000" dirty="0"/>
          </a:p>
        </p:txBody>
      </p:sp>
      <p:sp>
        <p:nvSpPr>
          <p:cNvPr id="49" name="Shape 42"/>
          <p:cNvSpPr/>
          <p:nvPr/>
        </p:nvSpPr>
        <p:spPr>
          <a:xfrm>
            <a:off x="7543800" y="3081528"/>
            <a:ext cx="1143000" cy="246888"/>
          </a:xfrm>
          <a:prstGeom prst="roundRect">
            <a:avLst>
              <a:gd name="adj" fmla="val 48148"/>
            </a:avLst>
          </a:prstGeom>
          <a:solidFill>
            <a:srgbClr val="00BFA5"/>
          </a:solidFill>
          <a:ln w="12700">
            <a:solidFill>
              <a:srgbClr val="00BFA5"/>
            </a:solidFill>
            <a:prstDash val="solid"/>
          </a:ln>
        </p:spPr>
      </p:sp>
      <p:sp>
        <p:nvSpPr>
          <p:cNvPr id="50" name="Text 43"/>
          <p:cNvSpPr/>
          <p:nvPr/>
        </p:nvSpPr>
        <p:spPr>
          <a:xfrm>
            <a:off x="7543800" y="3081528"/>
            <a:ext cx="114300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Production ready</a:t>
            </a:r>
            <a:endParaRPr lang="en-US" sz="900" dirty="0"/>
          </a:p>
        </p:txBody>
      </p:sp>
      <p:sp>
        <p:nvSpPr>
          <p:cNvPr id="51" name="Shape 44"/>
          <p:cNvSpPr/>
          <p:nvPr/>
        </p:nvSpPr>
        <p:spPr>
          <a:xfrm>
            <a:off x="411480" y="3749040"/>
            <a:ext cx="8321040" cy="713232"/>
          </a:xfrm>
          <a:prstGeom prst="roundRect">
            <a:avLst>
              <a:gd name="adj" fmla="val 15385"/>
            </a:avLst>
          </a:prstGeom>
          <a:solidFill>
            <a:srgbClr val="0D1B2A"/>
          </a:solidFill>
          <a:ln w="12700">
            <a:solidFill>
              <a:srgbClr val="0D1B2A"/>
            </a:solidFill>
            <a:prstDash val="solid"/>
          </a:ln>
        </p:spPr>
      </p:sp>
      <p:sp>
        <p:nvSpPr>
          <p:cNvPr id="52" name="Text 45"/>
          <p:cNvSpPr/>
          <p:nvPr/>
        </p:nvSpPr>
        <p:spPr>
          <a:xfrm>
            <a:off x="594360" y="3822192"/>
            <a:ext cx="7955280" cy="347472"/>
          </a:xfrm>
          <a:prstGeom prst="rect">
            <a:avLst/>
          </a:prstGeom>
          <a:noFill/>
          <a:ln/>
        </p:spPr>
        <p:txBody>
          <a:bodyPr wrap="square" rtlCol="0" anchor="ctr"/>
          <a:lstStyle/>
          <a:p>
            <a:pPr indent="0" marL="0">
              <a:buNone/>
            </a:pPr>
            <a:r>
              <a:rPr lang="en-US" sz="1350" b="1" dirty="0">
                <a:solidFill>
                  <a:srgbClr val="00BFA5"/>
                </a:solidFill>
                <a:latin typeface="Calibri" pitchFamily="34" charset="0"/>
                <a:ea typeface="Calibri" pitchFamily="34" charset="-122"/>
                <a:cs typeface="Calibri" pitchFamily="34" charset="-120"/>
              </a:rPr>
              <a:t>Combined effect: 10–50× end-to-end latency reduction vs an unoptimized FP32 model is achievable in practice.</a:t>
            </a:r>
            <a:endParaRPr lang="en-US" sz="1350" dirty="0"/>
          </a:p>
        </p:txBody>
      </p:sp>
      <p:sp>
        <p:nvSpPr>
          <p:cNvPr id="53" name="Text 46"/>
          <p:cNvSpPr/>
          <p:nvPr/>
        </p:nvSpPr>
        <p:spPr>
          <a:xfrm>
            <a:off x="594360" y="4169664"/>
            <a:ext cx="7955280" cy="256032"/>
          </a:xfrm>
          <a:prstGeom prst="rect">
            <a:avLst/>
          </a:prstGeom>
          <a:noFill/>
          <a:ln/>
        </p:spPr>
        <p:txBody>
          <a:bodyPr wrap="square" rtlCol="0" anchor="ctr"/>
          <a:lstStyle/>
          <a:p>
            <a:pPr indent="0" marL="0">
              <a:buNone/>
            </a:pPr>
            <a:r>
              <a:rPr lang="en-US" sz="1050" dirty="0">
                <a:solidFill>
                  <a:srgbClr val="718096"/>
                </a:solidFill>
                <a:latin typeface="Calibri" pitchFamily="34" charset="0"/>
                <a:ea typeface="Calibri" pitchFamily="34" charset="-122"/>
                <a:cs typeface="Calibri" pitchFamily="34" charset="-120"/>
              </a:rPr>
              <a:t>Not every project needs all steps — distillation requires training data &amp; compute. Start with quantization + compilation, add others when needed.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3000" b="1" dirty="0">
                <a:solidFill>
                  <a:srgbClr val="1C2B3A"/>
                </a:solidFill>
                <a:latin typeface="Calibri" pitchFamily="34" charset="0"/>
                <a:ea typeface="Calibri" pitchFamily="34" charset="-122"/>
                <a:cs typeface="Calibri" pitchFamily="34" charset="-120"/>
              </a:rPr>
              <a:t>Trade-offs: accuracy vs latency</a:t>
            </a:r>
            <a:endParaRPr lang="en-US" sz="3000" dirty="0"/>
          </a:p>
        </p:txBody>
      </p:sp>
      <p:sp>
        <p:nvSpPr>
          <p:cNvPr id="3" name="Text 1"/>
          <p:cNvSpPr/>
          <p:nvPr/>
        </p:nvSpPr>
        <p:spPr>
          <a:xfrm>
            <a:off x="411480" y="795528"/>
            <a:ext cx="8321040" cy="27432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The Pareto frontier — no single model dominates all three axes simultaneously</a:t>
            </a:r>
            <a:endParaRPr lang="en-US" sz="1300" dirty="0"/>
          </a:p>
        </p:txBody>
      </p:sp>
      <p:graphicFrame>
        <p:nvGraphicFramePr>
          <p:cNvPr id="4" name="Chart 0" descr=""/>
          <p:cNvGraphicFramePr/>
          <p:nvPr/>
        </p:nvGraphicFramePr>
        <p:xfrm>
          <a:off x="411480" y="914400"/>
          <a:ext cx="502920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0" y="987552"/>
            <a:ext cx="3063240" cy="868680"/>
          </a:xfrm>
          <a:prstGeom prst="roundRect">
            <a:avLst>
              <a:gd name="adj" fmla="val 12632"/>
            </a:avLst>
          </a:prstGeom>
          <a:solidFill>
            <a:srgbClr val="EBF0FA"/>
          </a:solidFill>
          <a:ln w="12700">
            <a:solidFill>
              <a:srgbClr val="EBF0FA"/>
            </a:solidFill>
            <a:prstDash val="solid"/>
          </a:ln>
        </p:spPr>
      </p:sp>
      <p:sp>
        <p:nvSpPr>
          <p:cNvPr id="6" name="Text 3"/>
          <p:cNvSpPr/>
          <p:nvPr/>
        </p:nvSpPr>
        <p:spPr>
          <a:xfrm>
            <a:off x="5833872" y="1060704"/>
            <a:ext cx="2734056" cy="292608"/>
          </a:xfrm>
          <a:prstGeom prst="rect">
            <a:avLst/>
          </a:prstGeom>
          <a:noFill/>
          <a:ln/>
        </p:spPr>
        <p:txBody>
          <a:bodyPr wrap="square" rtlCol="0" anchor="ctr"/>
          <a:lstStyle/>
          <a:p>
            <a:pPr indent="0" marL="0">
              <a:buNone/>
            </a:pPr>
            <a:r>
              <a:rPr lang="en-US" sz="1200" b="1" dirty="0">
                <a:solidFill>
                  <a:srgbClr val="2B4C7E"/>
                </a:solidFill>
                <a:latin typeface="Calibri" pitchFamily="34" charset="0"/>
                <a:ea typeface="Calibri" pitchFamily="34" charset="-122"/>
                <a:cs typeface="Calibri" pitchFamily="34" charset="-120"/>
              </a:rPr>
              <a:t>Best accuracy</a:t>
            </a:r>
            <a:endParaRPr lang="en-US" sz="1200" dirty="0"/>
          </a:p>
        </p:txBody>
      </p:sp>
      <p:sp>
        <p:nvSpPr>
          <p:cNvPr id="7" name="Text 4"/>
          <p:cNvSpPr/>
          <p:nvPr/>
        </p:nvSpPr>
        <p:spPr>
          <a:xfrm>
            <a:off x="5833872" y="1371600"/>
            <a:ext cx="2734056" cy="38404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FP32 full — highest accuracy, highest cost. Baseline only.</a:t>
            </a:r>
            <a:endParaRPr lang="en-US" sz="1050" dirty="0"/>
          </a:p>
        </p:txBody>
      </p:sp>
      <p:sp>
        <p:nvSpPr>
          <p:cNvPr id="8" name="Shape 5"/>
          <p:cNvSpPr/>
          <p:nvPr/>
        </p:nvSpPr>
        <p:spPr>
          <a:xfrm>
            <a:off x="5669280" y="1993392"/>
            <a:ext cx="3063240" cy="868680"/>
          </a:xfrm>
          <a:prstGeom prst="roundRect">
            <a:avLst>
              <a:gd name="adj" fmla="val 12632"/>
            </a:avLst>
          </a:prstGeom>
          <a:solidFill>
            <a:srgbClr val="E6F7F5"/>
          </a:solidFill>
          <a:ln w="12700">
            <a:solidFill>
              <a:srgbClr val="E6F7F5"/>
            </a:solidFill>
            <a:prstDash val="solid"/>
          </a:ln>
        </p:spPr>
      </p:sp>
      <p:sp>
        <p:nvSpPr>
          <p:cNvPr id="9" name="Text 6"/>
          <p:cNvSpPr/>
          <p:nvPr/>
        </p:nvSpPr>
        <p:spPr>
          <a:xfrm>
            <a:off x="5833872" y="2066544"/>
            <a:ext cx="2734056" cy="292608"/>
          </a:xfrm>
          <a:prstGeom prst="rect">
            <a:avLst/>
          </a:prstGeom>
          <a:noFill/>
          <a:ln/>
        </p:spPr>
        <p:txBody>
          <a:bodyPr wrap="square" rtlCol="0" anchor="ctr"/>
          <a:lstStyle/>
          <a:p>
            <a:pPr indent="0" marL="0">
              <a:buNone/>
            </a:pPr>
            <a:r>
              <a:rPr lang="en-US" sz="1200" b="1" dirty="0">
                <a:solidFill>
                  <a:srgbClr val="007C6E"/>
                </a:solidFill>
                <a:latin typeface="Calibri" pitchFamily="34" charset="0"/>
                <a:ea typeface="Calibri" pitchFamily="34" charset="-122"/>
                <a:cs typeface="Calibri" pitchFamily="34" charset="-120"/>
              </a:rPr>
              <a:t>Best first choice</a:t>
            </a:r>
            <a:endParaRPr lang="en-US" sz="1200" dirty="0"/>
          </a:p>
        </p:txBody>
      </p:sp>
      <p:sp>
        <p:nvSpPr>
          <p:cNvPr id="10" name="Text 7"/>
          <p:cNvSpPr/>
          <p:nvPr/>
        </p:nvSpPr>
        <p:spPr>
          <a:xfrm>
            <a:off x="5833872" y="2377440"/>
            <a:ext cx="2734056" cy="38404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INT8 PTQ — 4× cheaper, &lt;1% accuracy loss. Try this first.</a:t>
            </a:r>
            <a:endParaRPr lang="en-US" sz="1050" dirty="0"/>
          </a:p>
        </p:txBody>
      </p:sp>
      <p:sp>
        <p:nvSpPr>
          <p:cNvPr id="11" name="Shape 8"/>
          <p:cNvSpPr/>
          <p:nvPr/>
        </p:nvSpPr>
        <p:spPr>
          <a:xfrm>
            <a:off x="5669280" y="2999232"/>
            <a:ext cx="3063240" cy="868680"/>
          </a:xfrm>
          <a:prstGeom prst="roundRect">
            <a:avLst>
              <a:gd name="adj" fmla="val 12632"/>
            </a:avLst>
          </a:prstGeom>
          <a:solidFill>
            <a:srgbClr val="FEF3DC"/>
          </a:solidFill>
          <a:ln w="12700">
            <a:solidFill>
              <a:srgbClr val="FEF3DC"/>
            </a:solidFill>
            <a:prstDash val="solid"/>
          </a:ln>
        </p:spPr>
      </p:sp>
      <p:sp>
        <p:nvSpPr>
          <p:cNvPr id="12" name="Text 9"/>
          <p:cNvSpPr/>
          <p:nvPr/>
        </p:nvSpPr>
        <p:spPr>
          <a:xfrm>
            <a:off x="5833872" y="3072384"/>
            <a:ext cx="2734056" cy="292608"/>
          </a:xfrm>
          <a:prstGeom prst="rect">
            <a:avLst/>
          </a:prstGeom>
          <a:noFill/>
          <a:ln/>
        </p:spPr>
        <p:txBody>
          <a:bodyPr wrap="square" rtlCol="0" anchor="ctr"/>
          <a:lstStyle/>
          <a:p>
            <a:pPr indent="0" marL="0">
              <a:buNone/>
            </a:pPr>
            <a:r>
              <a:rPr lang="en-US" sz="1200" b="1" dirty="0">
                <a:solidFill>
                  <a:srgbClr val="92400E"/>
                </a:solidFill>
                <a:latin typeface="Calibri" pitchFamily="34" charset="0"/>
                <a:ea typeface="Calibri" pitchFamily="34" charset="-122"/>
                <a:cs typeface="Calibri" pitchFamily="34" charset="-120"/>
              </a:rPr>
              <a:t>Best for edge</a:t>
            </a:r>
            <a:endParaRPr lang="en-US" sz="1200" dirty="0"/>
          </a:p>
        </p:txBody>
      </p:sp>
      <p:sp>
        <p:nvSpPr>
          <p:cNvPr id="13" name="Text 10"/>
          <p:cNvSpPr/>
          <p:nvPr/>
        </p:nvSpPr>
        <p:spPr>
          <a:xfrm>
            <a:off x="5833872" y="3383280"/>
            <a:ext cx="2734056" cy="38404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Distilled + INT8 — smallest footprint, custom size budget.</a:t>
            </a:r>
            <a:endParaRPr lang="en-US" sz="1050" dirty="0"/>
          </a:p>
        </p:txBody>
      </p:sp>
      <p:sp>
        <p:nvSpPr>
          <p:cNvPr id="14" name="Shape 11"/>
          <p:cNvSpPr/>
          <p:nvPr/>
        </p:nvSpPr>
        <p:spPr>
          <a:xfrm>
            <a:off x="5669280" y="4005072"/>
            <a:ext cx="3063240" cy="868680"/>
          </a:xfrm>
          <a:prstGeom prst="roundRect">
            <a:avLst>
              <a:gd name="adj" fmla="val 12632"/>
            </a:avLst>
          </a:prstGeom>
          <a:solidFill>
            <a:srgbClr val="F1F5F9"/>
          </a:solidFill>
          <a:ln w="12700">
            <a:solidFill>
              <a:srgbClr val="F1F5F9"/>
            </a:solidFill>
            <a:prstDash val="solid"/>
          </a:ln>
        </p:spPr>
      </p:sp>
      <p:sp>
        <p:nvSpPr>
          <p:cNvPr id="15" name="Text 12"/>
          <p:cNvSpPr/>
          <p:nvPr/>
        </p:nvSpPr>
        <p:spPr>
          <a:xfrm>
            <a:off x="5833872" y="4078224"/>
            <a:ext cx="2734056" cy="292608"/>
          </a:xfrm>
          <a:prstGeom prst="rect">
            <a:avLst/>
          </a:prstGeom>
          <a:noFill/>
          <a:ln/>
        </p:spPr>
        <p:txBody>
          <a:bodyPr wrap="square" rtlCol="0" anchor="ctr"/>
          <a:lstStyle/>
          <a:p>
            <a:pPr indent="0" marL="0">
              <a:buNone/>
            </a:pPr>
            <a:r>
              <a:rPr lang="en-US" sz="1200" b="1" dirty="0">
                <a:solidFill>
                  <a:srgbClr val="4A5568"/>
                </a:solidFill>
                <a:latin typeface="Calibri" pitchFamily="34" charset="0"/>
                <a:ea typeface="Calibri" pitchFamily="34" charset="-122"/>
                <a:cs typeface="Calibri" pitchFamily="34" charset="-120"/>
              </a:rPr>
              <a:t>The Pareto frontier</a:t>
            </a:r>
            <a:endParaRPr lang="en-US" sz="1200" dirty="0"/>
          </a:p>
        </p:txBody>
      </p:sp>
      <p:sp>
        <p:nvSpPr>
          <p:cNvPr id="16" name="Text 13"/>
          <p:cNvSpPr/>
          <p:nvPr/>
        </p:nvSpPr>
        <p:spPr>
          <a:xfrm>
            <a:off x="5833872" y="4389120"/>
            <a:ext cx="2734056" cy="384048"/>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Points on the frontier: you can't improve latency without losing accuracy.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D"/>
        </a:solidFill>
      </p:bgPr>
    </p:bg>
    <p:spTree>
      <p:nvGrpSpPr>
        <p:cNvPr id="1" name=""/>
        <p:cNvGrpSpPr/>
        <p:nvPr/>
      </p:nvGrpSpPr>
      <p:grpSpPr>
        <a:xfrm>
          <a:off x="0" y="0"/>
          <a:ext cx="0" cy="0"/>
          <a:chOff x="0" y="0"/>
          <a:chExt cx="0" cy="0"/>
        </a:xfrm>
      </p:grpSpPr>
      <p:sp>
        <p:nvSpPr>
          <p:cNvPr id="2" name="Text 0"/>
          <p:cNvSpPr/>
          <p:nvPr/>
        </p:nvSpPr>
        <p:spPr>
          <a:xfrm>
            <a:off x="411480" y="256032"/>
            <a:ext cx="8321040" cy="502920"/>
          </a:xfrm>
          <a:prstGeom prst="rect">
            <a:avLst/>
          </a:prstGeom>
          <a:noFill/>
          <a:ln/>
        </p:spPr>
        <p:txBody>
          <a:bodyPr wrap="square" rtlCol="0" anchor="ctr"/>
          <a:lstStyle/>
          <a:p>
            <a:pPr indent="0" marL="0">
              <a:buNone/>
            </a:pPr>
            <a:r>
              <a:rPr lang="en-US" sz="3000" b="1" dirty="0">
                <a:solidFill>
                  <a:srgbClr val="1C2B3A"/>
                </a:solidFill>
                <a:latin typeface="Calibri" pitchFamily="34" charset="0"/>
                <a:ea typeface="Calibri" pitchFamily="34" charset="-122"/>
                <a:cs typeface="Calibri" pitchFamily="34" charset="-120"/>
              </a:rPr>
              <a:t>The optimization toolchain</a:t>
            </a:r>
            <a:endParaRPr lang="en-US" sz="3000" dirty="0"/>
          </a:p>
        </p:txBody>
      </p:sp>
      <p:sp>
        <p:nvSpPr>
          <p:cNvPr id="3" name="Text 1"/>
          <p:cNvSpPr/>
          <p:nvPr/>
        </p:nvSpPr>
        <p:spPr>
          <a:xfrm>
            <a:off x="411480" y="795528"/>
            <a:ext cx="8321040" cy="27432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One pipeline, multiple specialized tools — each fitting a specific stage</a:t>
            </a:r>
            <a:endParaRPr lang="en-US" sz="1300" dirty="0"/>
          </a:p>
        </p:txBody>
      </p:sp>
      <p:sp>
        <p:nvSpPr>
          <p:cNvPr id="4" name="Shape 2"/>
          <p:cNvSpPr/>
          <p:nvPr/>
        </p:nvSpPr>
        <p:spPr>
          <a:xfrm>
            <a:off x="411480" y="1078992"/>
            <a:ext cx="1188720" cy="621792"/>
          </a:xfrm>
          <a:prstGeom prst="roundRect">
            <a:avLst>
              <a:gd name="adj" fmla="val 11765"/>
            </a:avLst>
          </a:prstGeom>
          <a:solidFill>
            <a:srgbClr val="0D1B2A"/>
          </a:solidFill>
          <a:ln w="12700">
            <a:solidFill>
              <a:srgbClr val="0D1B2A"/>
            </a:solidFill>
            <a:prstDash val="solid"/>
          </a:ln>
        </p:spPr>
      </p:sp>
      <p:sp>
        <p:nvSpPr>
          <p:cNvPr id="5" name="Text 3"/>
          <p:cNvSpPr/>
          <p:nvPr/>
        </p:nvSpPr>
        <p:spPr>
          <a:xfrm>
            <a:off x="411480" y="1078992"/>
            <a:ext cx="118872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Export</a:t>
            </a:r>
            <a:endParaRPr lang="en-US" sz="1100" dirty="0"/>
          </a:p>
        </p:txBody>
      </p:sp>
      <p:sp>
        <p:nvSpPr>
          <p:cNvPr id="6" name="Shape 4"/>
          <p:cNvSpPr/>
          <p:nvPr/>
        </p:nvSpPr>
        <p:spPr>
          <a:xfrm>
            <a:off x="1691640" y="1408176"/>
            <a:ext cx="256032" cy="0"/>
          </a:xfrm>
          <a:prstGeom prst="line">
            <a:avLst/>
          </a:prstGeom>
          <a:noFill/>
          <a:ln w="19050">
            <a:solidFill>
              <a:srgbClr val="00BFA5"/>
            </a:solidFill>
            <a:prstDash val="solid"/>
          </a:ln>
        </p:spPr>
      </p:sp>
      <p:sp>
        <p:nvSpPr>
          <p:cNvPr id="7" name="Shape 5"/>
          <p:cNvSpPr/>
          <p:nvPr/>
        </p:nvSpPr>
        <p:spPr>
          <a:xfrm>
            <a:off x="2029968" y="102412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8" name="Text 6"/>
          <p:cNvSpPr/>
          <p:nvPr/>
        </p:nvSpPr>
        <p:spPr>
          <a:xfrm>
            <a:off x="2121408" y="106070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torch.onnx.export</a:t>
            </a:r>
            <a:endParaRPr lang="en-US" sz="1000" dirty="0"/>
          </a:p>
        </p:txBody>
      </p:sp>
      <p:sp>
        <p:nvSpPr>
          <p:cNvPr id="9" name="Text 7"/>
          <p:cNvSpPr/>
          <p:nvPr/>
        </p:nvSpPr>
        <p:spPr>
          <a:xfrm>
            <a:off x="2121408" y="140817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PyTorch → ONNX</a:t>
            </a:r>
            <a:endParaRPr lang="en-US" sz="950" dirty="0"/>
          </a:p>
        </p:txBody>
      </p:sp>
      <p:sp>
        <p:nvSpPr>
          <p:cNvPr id="10" name="Shape 8"/>
          <p:cNvSpPr/>
          <p:nvPr/>
        </p:nvSpPr>
        <p:spPr>
          <a:xfrm>
            <a:off x="3749040" y="102412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1" name="Text 9"/>
          <p:cNvSpPr/>
          <p:nvPr/>
        </p:nvSpPr>
        <p:spPr>
          <a:xfrm>
            <a:off x="3840480" y="106070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TorchScript</a:t>
            </a:r>
            <a:endParaRPr lang="en-US" sz="1000" dirty="0"/>
          </a:p>
        </p:txBody>
      </p:sp>
      <p:sp>
        <p:nvSpPr>
          <p:cNvPr id="12" name="Text 10"/>
          <p:cNvSpPr/>
          <p:nvPr/>
        </p:nvSpPr>
        <p:spPr>
          <a:xfrm>
            <a:off x="3840480" y="140817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PyTorch → TorchScript graph</a:t>
            </a:r>
            <a:endParaRPr lang="en-US" sz="950" dirty="0"/>
          </a:p>
        </p:txBody>
      </p:sp>
      <p:sp>
        <p:nvSpPr>
          <p:cNvPr id="13" name="Shape 11"/>
          <p:cNvSpPr/>
          <p:nvPr/>
        </p:nvSpPr>
        <p:spPr>
          <a:xfrm>
            <a:off x="411480" y="1901952"/>
            <a:ext cx="1188720" cy="621792"/>
          </a:xfrm>
          <a:prstGeom prst="roundRect">
            <a:avLst>
              <a:gd name="adj" fmla="val 11765"/>
            </a:avLst>
          </a:prstGeom>
          <a:solidFill>
            <a:srgbClr val="007C6E"/>
          </a:solidFill>
          <a:ln w="12700">
            <a:solidFill>
              <a:srgbClr val="007C6E"/>
            </a:solidFill>
            <a:prstDash val="solid"/>
          </a:ln>
        </p:spPr>
      </p:sp>
      <p:sp>
        <p:nvSpPr>
          <p:cNvPr id="14" name="Text 12"/>
          <p:cNvSpPr/>
          <p:nvPr/>
        </p:nvSpPr>
        <p:spPr>
          <a:xfrm>
            <a:off x="411480" y="1901952"/>
            <a:ext cx="118872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Quantize</a:t>
            </a:r>
            <a:endParaRPr lang="en-US" sz="1100" dirty="0"/>
          </a:p>
        </p:txBody>
      </p:sp>
      <p:sp>
        <p:nvSpPr>
          <p:cNvPr id="15" name="Shape 13"/>
          <p:cNvSpPr/>
          <p:nvPr/>
        </p:nvSpPr>
        <p:spPr>
          <a:xfrm>
            <a:off x="1691640" y="2231136"/>
            <a:ext cx="256032" cy="0"/>
          </a:xfrm>
          <a:prstGeom prst="line">
            <a:avLst/>
          </a:prstGeom>
          <a:noFill/>
          <a:ln w="19050">
            <a:solidFill>
              <a:srgbClr val="00BFA5"/>
            </a:solidFill>
            <a:prstDash val="solid"/>
          </a:ln>
        </p:spPr>
      </p:sp>
      <p:sp>
        <p:nvSpPr>
          <p:cNvPr id="16" name="Shape 14"/>
          <p:cNvSpPr/>
          <p:nvPr/>
        </p:nvSpPr>
        <p:spPr>
          <a:xfrm>
            <a:off x="2029968" y="184708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17" name="Text 15"/>
          <p:cNvSpPr/>
          <p:nvPr/>
        </p:nvSpPr>
        <p:spPr>
          <a:xfrm>
            <a:off x="2121408" y="188366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ONNX Runtime QTools</a:t>
            </a:r>
            <a:endParaRPr lang="en-US" sz="1000" dirty="0"/>
          </a:p>
        </p:txBody>
      </p:sp>
      <p:sp>
        <p:nvSpPr>
          <p:cNvPr id="18" name="Text 16"/>
          <p:cNvSpPr/>
          <p:nvPr/>
        </p:nvSpPr>
        <p:spPr>
          <a:xfrm>
            <a:off x="2121408" y="223113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Static &amp; dynamic INT8</a:t>
            </a:r>
            <a:endParaRPr lang="en-US" sz="950" dirty="0"/>
          </a:p>
        </p:txBody>
      </p:sp>
      <p:sp>
        <p:nvSpPr>
          <p:cNvPr id="19" name="Shape 17"/>
          <p:cNvSpPr/>
          <p:nvPr/>
        </p:nvSpPr>
        <p:spPr>
          <a:xfrm>
            <a:off x="3749040" y="184708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0" name="Text 18"/>
          <p:cNvSpPr/>
          <p:nvPr/>
        </p:nvSpPr>
        <p:spPr>
          <a:xfrm>
            <a:off x="3840480" y="188366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Hugging Face Optimum</a:t>
            </a:r>
            <a:endParaRPr lang="en-US" sz="1000" dirty="0"/>
          </a:p>
        </p:txBody>
      </p:sp>
      <p:sp>
        <p:nvSpPr>
          <p:cNvPr id="21" name="Text 19"/>
          <p:cNvSpPr/>
          <p:nvPr/>
        </p:nvSpPr>
        <p:spPr>
          <a:xfrm>
            <a:off x="3840480" y="223113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Transformers quantization</a:t>
            </a:r>
            <a:endParaRPr lang="en-US" sz="950" dirty="0"/>
          </a:p>
        </p:txBody>
      </p:sp>
      <p:sp>
        <p:nvSpPr>
          <p:cNvPr id="22" name="Shape 20"/>
          <p:cNvSpPr/>
          <p:nvPr/>
        </p:nvSpPr>
        <p:spPr>
          <a:xfrm>
            <a:off x="5468112" y="184708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3" name="Text 21"/>
          <p:cNvSpPr/>
          <p:nvPr/>
        </p:nvSpPr>
        <p:spPr>
          <a:xfrm>
            <a:off x="5559552" y="188366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bitsandbytes</a:t>
            </a:r>
            <a:endParaRPr lang="en-US" sz="1000" dirty="0"/>
          </a:p>
        </p:txBody>
      </p:sp>
      <p:sp>
        <p:nvSpPr>
          <p:cNvPr id="24" name="Text 22"/>
          <p:cNvSpPr/>
          <p:nvPr/>
        </p:nvSpPr>
        <p:spPr>
          <a:xfrm>
            <a:off x="5559552" y="223113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INT8/INT4 LLMs</a:t>
            </a:r>
            <a:endParaRPr lang="en-US" sz="950" dirty="0"/>
          </a:p>
        </p:txBody>
      </p:sp>
      <p:sp>
        <p:nvSpPr>
          <p:cNvPr id="25" name="Shape 23"/>
          <p:cNvSpPr/>
          <p:nvPr/>
        </p:nvSpPr>
        <p:spPr>
          <a:xfrm>
            <a:off x="411480" y="2724912"/>
            <a:ext cx="1188720" cy="621792"/>
          </a:xfrm>
          <a:prstGeom prst="roundRect">
            <a:avLst>
              <a:gd name="adj" fmla="val 11765"/>
            </a:avLst>
          </a:prstGeom>
          <a:solidFill>
            <a:srgbClr val="6B46C1"/>
          </a:solidFill>
          <a:ln w="12700">
            <a:solidFill>
              <a:srgbClr val="6B46C1"/>
            </a:solidFill>
            <a:prstDash val="solid"/>
          </a:ln>
        </p:spPr>
      </p:sp>
      <p:sp>
        <p:nvSpPr>
          <p:cNvPr id="26" name="Text 24"/>
          <p:cNvSpPr/>
          <p:nvPr/>
        </p:nvSpPr>
        <p:spPr>
          <a:xfrm>
            <a:off x="411480" y="2724912"/>
            <a:ext cx="118872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Prune</a:t>
            </a:r>
            <a:endParaRPr lang="en-US" sz="1100" dirty="0"/>
          </a:p>
        </p:txBody>
      </p:sp>
      <p:sp>
        <p:nvSpPr>
          <p:cNvPr id="27" name="Shape 25"/>
          <p:cNvSpPr/>
          <p:nvPr/>
        </p:nvSpPr>
        <p:spPr>
          <a:xfrm>
            <a:off x="1691640" y="3054096"/>
            <a:ext cx="256032" cy="0"/>
          </a:xfrm>
          <a:prstGeom prst="line">
            <a:avLst/>
          </a:prstGeom>
          <a:noFill/>
          <a:ln w="19050">
            <a:solidFill>
              <a:srgbClr val="00BFA5"/>
            </a:solidFill>
            <a:prstDash val="solid"/>
          </a:ln>
        </p:spPr>
      </p:sp>
      <p:sp>
        <p:nvSpPr>
          <p:cNvPr id="28" name="Shape 26"/>
          <p:cNvSpPr/>
          <p:nvPr/>
        </p:nvSpPr>
        <p:spPr>
          <a:xfrm>
            <a:off x="2029968" y="267004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29" name="Text 27"/>
          <p:cNvSpPr/>
          <p:nvPr/>
        </p:nvSpPr>
        <p:spPr>
          <a:xfrm>
            <a:off x="2121408" y="270662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torch.nn.utils.prune</a:t>
            </a:r>
            <a:endParaRPr lang="en-US" sz="1000" dirty="0"/>
          </a:p>
        </p:txBody>
      </p:sp>
      <p:sp>
        <p:nvSpPr>
          <p:cNvPr id="30" name="Text 28"/>
          <p:cNvSpPr/>
          <p:nvPr/>
        </p:nvSpPr>
        <p:spPr>
          <a:xfrm>
            <a:off x="2121408" y="305409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PyTorch magnitude pruning</a:t>
            </a:r>
            <a:endParaRPr lang="en-US" sz="950" dirty="0"/>
          </a:p>
        </p:txBody>
      </p:sp>
      <p:sp>
        <p:nvSpPr>
          <p:cNvPr id="31" name="Shape 29"/>
          <p:cNvSpPr/>
          <p:nvPr/>
        </p:nvSpPr>
        <p:spPr>
          <a:xfrm>
            <a:off x="3749040" y="267004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32" name="Text 30"/>
          <p:cNvSpPr/>
          <p:nvPr/>
        </p:nvSpPr>
        <p:spPr>
          <a:xfrm>
            <a:off x="3840480" y="270662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SparseML (Neural Magic)</a:t>
            </a:r>
            <a:endParaRPr lang="en-US" sz="1000" dirty="0"/>
          </a:p>
        </p:txBody>
      </p:sp>
      <p:sp>
        <p:nvSpPr>
          <p:cNvPr id="33" name="Text 31"/>
          <p:cNvSpPr/>
          <p:nvPr/>
        </p:nvSpPr>
        <p:spPr>
          <a:xfrm>
            <a:off x="3840480" y="305409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Structured &amp; unstructured</a:t>
            </a:r>
            <a:endParaRPr lang="en-US" sz="950" dirty="0"/>
          </a:p>
        </p:txBody>
      </p:sp>
      <p:sp>
        <p:nvSpPr>
          <p:cNvPr id="34" name="Shape 32"/>
          <p:cNvSpPr/>
          <p:nvPr/>
        </p:nvSpPr>
        <p:spPr>
          <a:xfrm>
            <a:off x="411480" y="3547872"/>
            <a:ext cx="1188720" cy="621792"/>
          </a:xfrm>
          <a:prstGeom prst="roundRect">
            <a:avLst>
              <a:gd name="adj" fmla="val 11765"/>
            </a:avLst>
          </a:prstGeom>
          <a:solidFill>
            <a:srgbClr val="B45309"/>
          </a:solidFill>
          <a:ln w="12700">
            <a:solidFill>
              <a:srgbClr val="B45309"/>
            </a:solidFill>
            <a:prstDash val="solid"/>
          </a:ln>
        </p:spPr>
      </p:sp>
      <p:sp>
        <p:nvSpPr>
          <p:cNvPr id="35" name="Text 33"/>
          <p:cNvSpPr/>
          <p:nvPr/>
        </p:nvSpPr>
        <p:spPr>
          <a:xfrm>
            <a:off x="411480" y="3547872"/>
            <a:ext cx="118872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Distil</a:t>
            </a:r>
            <a:endParaRPr lang="en-US" sz="1100" dirty="0"/>
          </a:p>
        </p:txBody>
      </p:sp>
      <p:sp>
        <p:nvSpPr>
          <p:cNvPr id="36" name="Shape 34"/>
          <p:cNvSpPr/>
          <p:nvPr/>
        </p:nvSpPr>
        <p:spPr>
          <a:xfrm>
            <a:off x="1691640" y="3877056"/>
            <a:ext cx="256032" cy="0"/>
          </a:xfrm>
          <a:prstGeom prst="line">
            <a:avLst/>
          </a:prstGeom>
          <a:noFill/>
          <a:ln w="19050">
            <a:solidFill>
              <a:srgbClr val="00BFA5"/>
            </a:solidFill>
            <a:prstDash val="solid"/>
          </a:ln>
        </p:spPr>
      </p:sp>
      <p:sp>
        <p:nvSpPr>
          <p:cNvPr id="37" name="Shape 35"/>
          <p:cNvSpPr/>
          <p:nvPr/>
        </p:nvSpPr>
        <p:spPr>
          <a:xfrm>
            <a:off x="2029968" y="349300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38" name="Text 36"/>
          <p:cNvSpPr/>
          <p:nvPr/>
        </p:nvSpPr>
        <p:spPr>
          <a:xfrm>
            <a:off x="2121408" y="352958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Hugging Face Transformers</a:t>
            </a:r>
            <a:endParaRPr lang="en-US" sz="1000" dirty="0"/>
          </a:p>
        </p:txBody>
      </p:sp>
      <p:sp>
        <p:nvSpPr>
          <p:cNvPr id="39" name="Text 37"/>
          <p:cNvSpPr/>
          <p:nvPr/>
        </p:nvSpPr>
        <p:spPr>
          <a:xfrm>
            <a:off x="2121408" y="387705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DistilBERT, TinyBERT</a:t>
            </a:r>
            <a:endParaRPr lang="en-US" sz="950" dirty="0"/>
          </a:p>
        </p:txBody>
      </p:sp>
      <p:sp>
        <p:nvSpPr>
          <p:cNvPr id="40" name="Shape 38"/>
          <p:cNvSpPr/>
          <p:nvPr/>
        </p:nvSpPr>
        <p:spPr>
          <a:xfrm>
            <a:off x="3749040" y="349300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41" name="Text 39"/>
          <p:cNvSpPr/>
          <p:nvPr/>
        </p:nvSpPr>
        <p:spPr>
          <a:xfrm>
            <a:off x="3840480" y="352958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timm</a:t>
            </a:r>
            <a:endParaRPr lang="en-US" sz="1000" dirty="0"/>
          </a:p>
        </p:txBody>
      </p:sp>
      <p:sp>
        <p:nvSpPr>
          <p:cNvPr id="42" name="Text 40"/>
          <p:cNvSpPr/>
          <p:nvPr/>
        </p:nvSpPr>
        <p:spPr>
          <a:xfrm>
            <a:off x="3840480" y="387705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DeiT distillation token</a:t>
            </a:r>
            <a:endParaRPr lang="en-US" sz="950" dirty="0"/>
          </a:p>
        </p:txBody>
      </p:sp>
      <p:sp>
        <p:nvSpPr>
          <p:cNvPr id="43" name="Shape 41"/>
          <p:cNvSpPr/>
          <p:nvPr/>
        </p:nvSpPr>
        <p:spPr>
          <a:xfrm>
            <a:off x="411480" y="4370832"/>
            <a:ext cx="1188720" cy="621792"/>
          </a:xfrm>
          <a:prstGeom prst="roundRect">
            <a:avLst>
              <a:gd name="adj" fmla="val 11765"/>
            </a:avLst>
          </a:prstGeom>
          <a:solidFill>
            <a:srgbClr val="2F855A"/>
          </a:solidFill>
          <a:ln w="12700">
            <a:solidFill>
              <a:srgbClr val="2F855A"/>
            </a:solidFill>
            <a:prstDash val="solid"/>
          </a:ln>
        </p:spPr>
      </p:sp>
      <p:sp>
        <p:nvSpPr>
          <p:cNvPr id="44" name="Text 42"/>
          <p:cNvSpPr/>
          <p:nvPr/>
        </p:nvSpPr>
        <p:spPr>
          <a:xfrm>
            <a:off x="411480" y="4370832"/>
            <a:ext cx="118872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Compile &amp; Serve</a:t>
            </a:r>
            <a:endParaRPr lang="en-US" sz="1100" dirty="0"/>
          </a:p>
        </p:txBody>
      </p:sp>
      <p:sp>
        <p:nvSpPr>
          <p:cNvPr id="45" name="Shape 43"/>
          <p:cNvSpPr/>
          <p:nvPr/>
        </p:nvSpPr>
        <p:spPr>
          <a:xfrm>
            <a:off x="1691640" y="4700016"/>
            <a:ext cx="256032" cy="0"/>
          </a:xfrm>
          <a:prstGeom prst="line">
            <a:avLst/>
          </a:prstGeom>
          <a:noFill/>
          <a:ln w="19050">
            <a:solidFill>
              <a:srgbClr val="00BFA5"/>
            </a:solidFill>
            <a:prstDash val="solid"/>
          </a:ln>
        </p:spPr>
      </p:sp>
      <p:sp>
        <p:nvSpPr>
          <p:cNvPr id="46" name="Shape 44"/>
          <p:cNvSpPr/>
          <p:nvPr/>
        </p:nvSpPr>
        <p:spPr>
          <a:xfrm>
            <a:off x="2029968" y="431596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47" name="Text 45"/>
          <p:cNvSpPr/>
          <p:nvPr/>
        </p:nvSpPr>
        <p:spPr>
          <a:xfrm>
            <a:off x="2121408" y="435254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ONNX Runtime</a:t>
            </a:r>
            <a:endParaRPr lang="en-US" sz="1000" dirty="0"/>
          </a:p>
        </p:txBody>
      </p:sp>
      <p:sp>
        <p:nvSpPr>
          <p:cNvPr id="48" name="Text 46"/>
          <p:cNvSpPr/>
          <p:nvPr/>
        </p:nvSpPr>
        <p:spPr>
          <a:xfrm>
            <a:off x="2121408" y="470001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CUDA / CPU / OpenVINO EP</a:t>
            </a:r>
            <a:endParaRPr lang="en-US" sz="950" dirty="0"/>
          </a:p>
        </p:txBody>
      </p:sp>
      <p:sp>
        <p:nvSpPr>
          <p:cNvPr id="49" name="Shape 47"/>
          <p:cNvSpPr/>
          <p:nvPr/>
        </p:nvSpPr>
        <p:spPr>
          <a:xfrm>
            <a:off x="3749040" y="431596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50" name="Text 48"/>
          <p:cNvSpPr/>
          <p:nvPr/>
        </p:nvSpPr>
        <p:spPr>
          <a:xfrm>
            <a:off x="3840480" y="435254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TensorRT</a:t>
            </a:r>
            <a:endParaRPr lang="en-US" sz="1000" dirty="0"/>
          </a:p>
        </p:txBody>
      </p:sp>
      <p:sp>
        <p:nvSpPr>
          <p:cNvPr id="51" name="Text 49"/>
          <p:cNvSpPr/>
          <p:nvPr/>
        </p:nvSpPr>
        <p:spPr>
          <a:xfrm>
            <a:off x="3840480" y="470001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NVIDIA GPU engine</a:t>
            </a:r>
            <a:endParaRPr lang="en-US" sz="950" dirty="0"/>
          </a:p>
        </p:txBody>
      </p:sp>
      <p:sp>
        <p:nvSpPr>
          <p:cNvPr id="52" name="Shape 50"/>
          <p:cNvSpPr/>
          <p:nvPr/>
        </p:nvSpPr>
        <p:spPr>
          <a:xfrm>
            <a:off x="5468112" y="4315968"/>
            <a:ext cx="1536192" cy="731520"/>
          </a:xfrm>
          <a:prstGeom prst="roundRect">
            <a:avLst>
              <a:gd name="adj" fmla="val 15000"/>
            </a:avLst>
          </a:prstGeom>
          <a:solidFill>
            <a:srgbClr val="FFFFFF"/>
          </a:solidFill>
          <a:ln w="12700">
            <a:solidFill>
              <a:srgbClr val="E2E8F0"/>
            </a:solidFill>
            <a:prstDash val="solid"/>
          </a:ln>
          <a:effectLst>
            <a:outerShdw sx="100000" sy="100000" kx="0" ky="0" algn="bl" rotWithShape="0" blurRad="101600" dist="25400" dir="8100000">
              <a:srgbClr val="000000">
                <a:alpha val="10000"/>
              </a:srgbClr>
            </a:outerShdw>
          </a:effectLst>
        </p:spPr>
      </p:sp>
      <p:sp>
        <p:nvSpPr>
          <p:cNvPr id="53" name="Text 51"/>
          <p:cNvSpPr/>
          <p:nvPr/>
        </p:nvSpPr>
        <p:spPr>
          <a:xfrm>
            <a:off x="5559552" y="4352544"/>
            <a:ext cx="1353312" cy="347472"/>
          </a:xfrm>
          <a:prstGeom prst="rect">
            <a:avLst/>
          </a:prstGeom>
          <a:noFill/>
          <a:ln/>
        </p:spPr>
        <p:txBody>
          <a:bodyPr wrap="square" rtlCol="0" anchor="ctr"/>
          <a:lstStyle/>
          <a:p>
            <a:pPr indent="0" marL="0">
              <a:buNone/>
            </a:pPr>
            <a:r>
              <a:rPr lang="en-US" sz="1000" b="1" dirty="0">
                <a:solidFill>
                  <a:srgbClr val="1C2B3A"/>
                </a:solidFill>
                <a:latin typeface="Calibri" pitchFamily="34" charset="0"/>
                <a:ea typeface="Calibri" pitchFamily="34" charset="-122"/>
                <a:cs typeface="Calibri" pitchFamily="34" charset="-120"/>
              </a:rPr>
              <a:t>Triton Server</a:t>
            </a:r>
            <a:endParaRPr lang="en-US" sz="1000" dirty="0"/>
          </a:p>
        </p:txBody>
      </p:sp>
      <p:sp>
        <p:nvSpPr>
          <p:cNvPr id="54" name="Text 52"/>
          <p:cNvSpPr/>
          <p:nvPr/>
        </p:nvSpPr>
        <p:spPr>
          <a:xfrm>
            <a:off x="5559552" y="4700016"/>
            <a:ext cx="1353312" cy="256032"/>
          </a:xfrm>
          <a:prstGeom prst="rect">
            <a:avLst/>
          </a:prstGeom>
          <a:noFill/>
          <a:ln/>
        </p:spPr>
        <p:txBody>
          <a:bodyPr wrap="square" rtlCol="0" anchor="ctr"/>
          <a:lstStyle/>
          <a:p>
            <a:pPr indent="0" marL="0">
              <a:buNone/>
            </a:pPr>
            <a:r>
              <a:rPr lang="en-US" sz="950" dirty="0">
                <a:solidFill>
                  <a:srgbClr val="718096"/>
                </a:solidFill>
                <a:latin typeface="Calibri" pitchFamily="34" charset="0"/>
                <a:ea typeface="Calibri" pitchFamily="34" charset="-122"/>
                <a:cs typeface="Calibri" pitchFamily="34" charset="-120"/>
              </a:rPr>
              <a:t>Multi-model GPU serving</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217920" y="-457200"/>
            <a:ext cx="3657600" cy="3657600"/>
          </a:xfrm>
          <a:prstGeom prst="ellipse">
            <a:avLst/>
          </a:prstGeom>
          <a:solidFill>
            <a:srgbClr val="F59E0B">
              <a:alpha val="8000"/>
            </a:srgbClr>
          </a:solidFill>
          <a:ln w="12700">
            <a:solidFill>
              <a:srgbClr val="F59E0B"/>
            </a:solidFill>
            <a:prstDash val="solid"/>
          </a:ln>
        </p:spPr>
      </p:sp>
      <p:pic>
        <p:nvPicPr>
          <p:cNvPr id="3" name="Image 0" descr="preencoded.png">    </p:cNvPr>
          <p:cNvPicPr>
            <a:picLocks noChangeAspect="1"/>
          </p:cNvPicPr>
          <p:nvPr/>
        </p:nvPicPr>
        <p:blipFill>
          <a:blip r:embed="rId1"/>
          <a:stretch>
            <a:fillRect/>
          </a:stretch>
        </p:blipFill>
        <p:spPr>
          <a:xfrm>
            <a:off x="548640" y="502920"/>
            <a:ext cx="594360" cy="594360"/>
          </a:xfrm>
          <a:prstGeom prst="rect">
            <a:avLst/>
          </a:prstGeom>
        </p:spPr>
      </p:pic>
      <p:sp>
        <p:nvSpPr>
          <p:cNvPr id="4" name="Text 1"/>
          <p:cNvSpPr/>
          <p:nvPr/>
        </p:nvSpPr>
        <p:spPr>
          <a:xfrm>
            <a:off x="1261872" y="548640"/>
            <a:ext cx="6400800" cy="502920"/>
          </a:xfrm>
          <a:prstGeom prst="rect">
            <a:avLst/>
          </a:prstGeom>
          <a:noFill/>
          <a:ln/>
        </p:spPr>
        <p:txBody>
          <a:bodyPr wrap="square" rtlCol="0" anchor="ctr"/>
          <a:lstStyle/>
          <a:p>
            <a:pPr indent="0" marL="0">
              <a:buNone/>
            </a:pPr>
            <a:r>
              <a:rPr lang="en-US" sz="2200" dirty="0">
                <a:solidFill>
                  <a:srgbClr val="00BFA5"/>
                </a:solidFill>
                <a:latin typeface="Calibri" pitchFamily="34" charset="0"/>
                <a:ea typeface="Calibri" pitchFamily="34" charset="-122"/>
                <a:cs typeface="Calibri" pitchFamily="34" charset="-120"/>
              </a:rPr>
              <a:t>Hands-on lab</a:t>
            </a:r>
            <a:endParaRPr lang="en-US" sz="2200" dirty="0"/>
          </a:p>
        </p:txBody>
      </p:sp>
      <p:sp>
        <p:nvSpPr>
          <p:cNvPr id="5" name="Text 2"/>
          <p:cNvSpPr/>
          <p:nvPr/>
        </p:nvSpPr>
        <p:spPr>
          <a:xfrm>
            <a:off x="548640" y="1115568"/>
            <a:ext cx="8046720" cy="566928"/>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Extending the CV Engineering Colab Notebook</a:t>
            </a:r>
            <a:endParaRPr lang="en-US" sz="3600" dirty="0"/>
          </a:p>
        </p:txBody>
      </p:sp>
      <p:sp>
        <p:nvSpPr>
          <p:cNvPr id="6" name="Shape 3"/>
          <p:cNvSpPr/>
          <p:nvPr/>
        </p:nvSpPr>
        <p:spPr>
          <a:xfrm>
            <a:off x="548640" y="1874520"/>
            <a:ext cx="8229600" cy="493776"/>
          </a:xfrm>
          <a:prstGeom prst="roundRect">
            <a:avLst>
              <a:gd name="adj" fmla="val 14815"/>
            </a:avLst>
          </a:prstGeom>
          <a:solidFill>
            <a:srgbClr val="1A2E45"/>
          </a:solidFill>
          <a:ln w="12700">
            <a:solidFill>
              <a:srgbClr val="263A54"/>
            </a:solidFill>
            <a:prstDash val="solid"/>
          </a:ln>
        </p:spPr>
      </p:sp>
      <p:sp>
        <p:nvSpPr>
          <p:cNvPr id="7" name="Shape 4"/>
          <p:cNvSpPr/>
          <p:nvPr/>
        </p:nvSpPr>
        <p:spPr>
          <a:xfrm>
            <a:off x="685800" y="1965960"/>
            <a:ext cx="320040" cy="320040"/>
          </a:xfrm>
          <a:prstGeom prst="ellipse">
            <a:avLst/>
          </a:prstGeom>
          <a:solidFill>
            <a:srgbClr val="00BFA5">
              <a:alpha val="85000"/>
            </a:srgbClr>
          </a:solidFill>
          <a:ln w="12700">
            <a:solidFill>
              <a:srgbClr val="00BFA5"/>
            </a:solidFill>
            <a:prstDash val="solid"/>
          </a:ln>
        </p:spPr>
      </p:sp>
      <p:sp>
        <p:nvSpPr>
          <p:cNvPr id="8" name="Text 5"/>
          <p:cNvSpPr/>
          <p:nvPr/>
        </p:nvSpPr>
        <p:spPr>
          <a:xfrm>
            <a:off x="685800" y="196596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9" name="Text 6"/>
          <p:cNvSpPr/>
          <p:nvPr/>
        </p:nvSpPr>
        <p:spPr>
          <a:xfrm>
            <a:off x="1143000" y="1965960"/>
            <a:ext cx="384048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Export EfficientNet-B0 to ONNX</a:t>
            </a:r>
            <a:endParaRPr lang="en-US" sz="1200" dirty="0"/>
          </a:p>
        </p:txBody>
      </p:sp>
      <p:sp>
        <p:nvSpPr>
          <p:cNvPr id="10" name="Text 7"/>
          <p:cNvSpPr/>
          <p:nvPr/>
        </p:nvSpPr>
        <p:spPr>
          <a:xfrm>
            <a:off x="5074920" y="1965960"/>
            <a:ext cx="2926080" cy="310896"/>
          </a:xfrm>
          <a:prstGeom prst="rect">
            <a:avLst/>
          </a:prstGeom>
          <a:noFill/>
          <a:ln/>
        </p:spPr>
        <p:txBody>
          <a:bodyPr wrap="square" rtlCol="0" anchor="ctr"/>
          <a:lstStyle/>
          <a:p>
            <a:pPr indent="0" marL="0">
              <a:buNone/>
            </a:pPr>
            <a:r>
              <a:rPr lang="en-US" sz="1050" i="1" dirty="0">
                <a:solidFill>
                  <a:srgbClr val="718096"/>
                </a:solidFill>
                <a:latin typeface="Calibri" pitchFamily="34" charset="0"/>
                <a:ea typeface="Calibri" pitchFamily="34" charset="-122"/>
                <a:cs typeface="Calibri" pitchFamily="34" charset="-120"/>
              </a:rPr>
              <a:t>torch.onnx.export</a:t>
            </a:r>
            <a:endParaRPr lang="en-US" sz="1050" dirty="0"/>
          </a:p>
        </p:txBody>
      </p:sp>
      <p:sp>
        <p:nvSpPr>
          <p:cNvPr id="11" name="Text 8"/>
          <p:cNvSpPr/>
          <p:nvPr/>
        </p:nvSpPr>
        <p:spPr>
          <a:xfrm>
            <a:off x="7772400" y="1965960"/>
            <a:ext cx="868680" cy="310896"/>
          </a:xfrm>
          <a:prstGeom prst="rect">
            <a:avLst/>
          </a:prstGeom>
          <a:noFill/>
          <a:ln/>
        </p:spPr>
        <p:txBody>
          <a:bodyPr wrap="square" rtlCol="0" anchor="ctr"/>
          <a:lstStyle/>
          <a:p>
            <a:pPr algn="r" indent="0" marL="0">
              <a:buNone/>
            </a:pPr>
            <a:r>
              <a:rPr lang="en-US" sz="1050" dirty="0">
                <a:solidFill>
                  <a:srgbClr val="00BFA5"/>
                </a:solidFill>
                <a:latin typeface="Calibri" pitchFamily="34" charset="0"/>
                <a:ea typeface="Calibri" pitchFamily="34" charset="-122"/>
                <a:cs typeface="Calibri" pitchFamily="34" charset="-120"/>
              </a:rPr>
              <a:t>5 min</a:t>
            </a:r>
            <a:endParaRPr lang="en-US" sz="1050" dirty="0"/>
          </a:p>
        </p:txBody>
      </p:sp>
      <p:sp>
        <p:nvSpPr>
          <p:cNvPr id="12" name="Shape 9"/>
          <p:cNvSpPr/>
          <p:nvPr/>
        </p:nvSpPr>
        <p:spPr>
          <a:xfrm>
            <a:off x="548640" y="2441448"/>
            <a:ext cx="8229600" cy="493776"/>
          </a:xfrm>
          <a:prstGeom prst="roundRect">
            <a:avLst>
              <a:gd name="adj" fmla="val 14815"/>
            </a:avLst>
          </a:prstGeom>
          <a:solidFill>
            <a:srgbClr val="1A2E45"/>
          </a:solidFill>
          <a:ln w="12700">
            <a:solidFill>
              <a:srgbClr val="263A54"/>
            </a:solidFill>
            <a:prstDash val="solid"/>
          </a:ln>
        </p:spPr>
      </p:sp>
      <p:sp>
        <p:nvSpPr>
          <p:cNvPr id="13" name="Shape 10"/>
          <p:cNvSpPr/>
          <p:nvPr/>
        </p:nvSpPr>
        <p:spPr>
          <a:xfrm>
            <a:off x="685800" y="2532888"/>
            <a:ext cx="320040" cy="320040"/>
          </a:xfrm>
          <a:prstGeom prst="ellipse">
            <a:avLst/>
          </a:prstGeom>
          <a:solidFill>
            <a:srgbClr val="00BFA5">
              <a:alpha val="85000"/>
            </a:srgbClr>
          </a:solidFill>
          <a:ln w="12700">
            <a:solidFill>
              <a:srgbClr val="00BFA5"/>
            </a:solidFill>
            <a:prstDash val="solid"/>
          </a:ln>
        </p:spPr>
      </p:sp>
      <p:sp>
        <p:nvSpPr>
          <p:cNvPr id="14" name="Text 11"/>
          <p:cNvSpPr/>
          <p:nvPr/>
        </p:nvSpPr>
        <p:spPr>
          <a:xfrm>
            <a:off x="685800" y="253288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5" name="Text 12"/>
          <p:cNvSpPr/>
          <p:nvPr/>
        </p:nvSpPr>
        <p:spPr>
          <a:xfrm>
            <a:off x="1143000" y="2532888"/>
            <a:ext cx="384048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Apply dynamic INT8 quantization</a:t>
            </a:r>
            <a:endParaRPr lang="en-US" sz="1200" dirty="0"/>
          </a:p>
        </p:txBody>
      </p:sp>
      <p:sp>
        <p:nvSpPr>
          <p:cNvPr id="16" name="Text 13"/>
          <p:cNvSpPr/>
          <p:nvPr/>
        </p:nvSpPr>
        <p:spPr>
          <a:xfrm>
            <a:off x="5074920" y="2532888"/>
            <a:ext cx="2926080" cy="310896"/>
          </a:xfrm>
          <a:prstGeom prst="rect">
            <a:avLst/>
          </a:prstGeom>
          <a:noFill/>
          <a:ln/>
        </p:spPr>
        <p:txBody>
          <a:bodyPr wrap="square" rtlCol="0" anchor="ctr"/>
          <a:lstStyle/>
          <a:p>
            <a:pPr indent="0" marL="0">
              <a:buNone/>
            </a:pPr>
            <a:r>
              <a:rPr lang="en-US" sz="1050" i="1" dirty="0">
                <a:solidFill>
                  <a:srgbClr val="718096"/>
                </a:solidFill>
                <a:latin typeface="Calibri" pitchFamily="34" charset="0"/>
                <a:ea typeface="Calibri" pitchFamily="34" charset="-122"/>
                <a:cs typeface="Calibri" pitchFamily="34" charset="-120"/>
              </a:rPr>
              <a:t>onnxruntime quantize_dynamic</a:t>
            </a:r>
            <a:endParaRPr lang="en-US" sz="1050" dirty="0"/>
          </a:p>
        </p:txBody>
      </p:sp>
      <p:sp>
        <p:nvSpPr>
          <p:cNvPr id="17" name="Text 14"/>
          <p:cNvSpPr/>
          <p:nvPr/>
        </p:nvSpPr>
        <p:spPr>
          <a:xfrm>
            <a:off x="7772400" y="2532888"/>
            <a:ext cx="868680" cy="310896"/>
          </a:xfrm>
          <a:prstGeom prst="rect">
            <a:avLst/>
          </a:prstGeom>
          <a:noFill/>
          <a:ln/>
        </p:spPr>
        <p:txBody>
          <a:bodyPr wrap="square" rtlCol="0" anchor="ctr"/>
          <a:lstStyle/>
          <a:p>
            <a:pPr algn="r" indent="0" marL="0">
              <a:buNone/>
            </a:pPr>
            <a:r>
              <a:rPr lang="en-US" sz="1050" dirty="0">
                <a:solidFill>
                  <a:srgbClr val="00BFA5"/>
                </a:solidFill>
                <a:latin typeface="Calibri" pitchFamily="34" charset="0"/>
                <a:ea typeface="Calibri" pitchFamily="34" charset="-122"/>
                <a:cs typeface="Calibri" pitchFamily="34" charset="-120"/>
              </a:rPr>
              <a:t>5 min</a:t>
            </a:r>
            <a:endParaRPr lang="en-US" sz="1050" dirty="0"/>
          </a:p>
        </p:txBody>
      </p:sp>
      <p:sp>
        <p:nvSpPr>
          <p:cNvPr id="18" name="Shape 15"/>
          <p:cNvSpPr/>
          <p:nvPr/>
        </p:nvSpPr>
        <p:spPr>
          <a:xfrm>
            <a:off x="548640" y="3008376"/>
            <a:ext cx="8229600" cy="493776"/>
          </a:xfrm>
          <a:prstGeom prst="roundRect">
            <a:avLst>
              <a:gd name="adj" fmla="val 14815"/>
            </a:avLst>
          </a:prstGeom>
          <a:solidFill>
            <a:srgbClr val="1A2E45"/>
          </a:solidFill>
          <a:ln w="12700">
            <a:solidFill>
              <a:srgbClr val="263A54"/>
            </a:solidFill>
            <a:prstDash val="solid"/>
          </a:ln>
        </p:spPr>
      </p:sp>
      <p:sp>
        <p:nvSpPr>
          <p:cNvPr id="19" name="Shape 16"/>
          <p:cNvSpPr/>
          <p:nvPr/>
        </p:nvSpPr>
        <p:spPr>
          <a:xfrm>
            <a:off x="685800" y="3099816"/>
            <a:ext cx="320040" cy="320040"/>
          </a:xfrm>
          <a:prstGeom prst="ellipse">
            <a:avLst/>
          </a:prstGeom>
          <a:solidFill>
            <a:srgbClr val="00BFA5">
              <a:alpha val="85000"/>
            </a:srgbClr>
          </a:solidFill>
          <a:ln w="12700">
            <a:solidFill>
              <a:srgbClr val="00BFA5"/>
            </a:solidFill>
            <a:prstDash val="solid"/>
          </a:ln>
        </p:spPr>
      </p:sp>
      <p:sp>
        <p:nvSpPr>
          <p:cNvPr id="20" name="Text 17"/>
          <p:cNvSpPr/>
          <p:nvPr/>
        </p:nvSpPr>
        <p:spPr>
          <a:xfrm>
            <a:off x="685800" y="3099816"/>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1" name="Text 18"/>
          <p:cNvSpPr/>
          <p:nvPr/>
        </p:nvSpPr>
        <p:spPr>
          <a:xfrm>
            <a:off x="1143000" y="3099816"/>
            <a:ext cx="384048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Apply static INT8 with calibration</a:t>
            </a:r>
            <a:endParaRPr lang="en-US" sz="1200" dirty="0"/>
          </a:p>
        </p:txBody>
      </p:sp>
      <p:sp>
        <p:nvSpPr>
          <p:cNvPr id="22" name="Text 19"/>
          <p:cNvSpPr/>
          <p:nvPr/>
        </p:nvSpPr>
        <p:spPr>
          <a:xfrm>
            <a:off x="5074920" y="3099816"/>
            <a:ext cx="2926080" cy="310896"/>
          </a:xfrm>
          <a:prstGeom prst="rect">
            <a:avLst/>
          </a:prstGeom>
          <a:noFill/>
          <a:ln/>
        </p:spPr>
        <p:txBody>
          <a:bodyPr wrap="square" rtlCol="0" anchor="ctr"/>
          <a:lstStyle/>
          <a:p>
            <a:pPr indent="0" marL="0">
              <a:buNone/>
            </a:pPr>
            <a:r>
              <a:rPr lang="en-US" sz="1050" i="1" dirty="0">
                <a:solidFill>
                  <a:srgbClr val="718096"/>
                </a:solidFill>
                <a:latin typeface="Calibri" pitchFamily="34" charset="0"/>
                <a:ea typeface="Calibri" pitchFamily="34" charset="-122"/>
                <a:cs typeface="Calibri" pitchFamily="34" charset="-120"/>
              </a:rPr>
              <a:t>quantize_static + CalibDataReader</a:t>
            </a:r>
            <a:endParaRPr lang="en-US" sz="1050" dirty="0"/>
          </a:p>
        </p:txBody>
      </p:sp>
      <p:sp>
        <p:nvSpPr>
          <p:cNvPr id="23" name="Text 20"/>
          <p:cNvSpPr/>
          <p:nvPr/>
        </p:nvSpPr>
        <p:spPr>
          <a:xfrm>
            <a:off x="7772400" y="3099816"/>
            <a:ext cx="868680" cy="310896"/>
          </a:xfrm>
          <a:prstGeom prst="rect">
            <a:avLst/>
          </a:prstGeom>
          <a:noFill/>
          <a:ln/>
        </p:spPr>
        <p:txBody>
          <a:bodyPr wrap="square" rtlCol="0" anchor="ctr"/>
          <a:lstStyle/>
          <a:p>
            <a:pPr algn="r" indent="0" marL="0">
              <a:buNone/>
            </a:pPr>
            <a:r>
              <a:rPr lang="en-US" sz="1050" dirty="0">
                <a:solidFill>
                  <a:srgbClr val="00BFA5"/>
                </a:solidFill>
                <a:latin typeface="Calibri" pitchFamily="34" charset="0"/>
                <a:ea typeface="Calibri" pitchFamily="34" charset="-122"/>
                <a:cs typeface="Calibri" pitchFamily="34" charset="-120"/>
              </a:rPr>
              <a:t>8 min</a:t>
            </a:r>
            <a:endParaRPr lang="en-US" sz="1050" dirty="0"/>
          </a:p>
        </p:txBody>
      </p:sp>
      <p:sp>
        <p:nvSpPr>
          <p:cNvPr id="24" name="Shape 21"/>
          <p:cNvSpPr/>
          <p:nvPr/>
        </p:nvSpPr>
        <p:spPr>
          <a:xfrm>
            <a:off x="548640" y="3575304"/>
            <a:ext cx="8229600" cy="493776"/>
          </a:xfrm>
          <a:prstGeom prst="roundRect">
            <a:avLst>
              <a:gd name="adj" fmla="val 14815"/>
            </a:avLst>
          </a:prstGeom>
          <a:solidFill>
            <a:srgbClr val="1A2E45"/>
          </a:solidFill>
          <a:ln w="12700">
            <a:solidFill>
              <a:srgbClr val="263A54"/>
            </a:solidFill>
            <a:prstDash val="solid"/>
          </a:ln>
        </p:spPr>
      </p:sp>
      <p:sp>
        <p:nvSpPr>
          <p:cNvPr id="25" name="Shape 22"/>
          <p:cNvSpPr/>
          <p:nvPr/>
        </p:nvSpPr>
        <p:spPr>
          <a:xfrm>
            <a:off x="685800" y="3666744"/>
            <a:ext cx="320040" cy="320040"/>
          </a:xfrm>
          <a:prstGeom prst="ellipse">
            <a:avLst/>
          </a:prstGeom>
          <a:solidFill>
            <a:srgbClr val="00BFA5">
              <a:alpha val="85000"/>
            </a:srgbClr>
          </a:solidFill>
          <a:ln w="12700">
            <a:solidFill>
              <a:srgbClr val="00BFA5"/>
            </a:solidFill>
            <a:prstDash val="solid"/>
          </a:ln>
        </p:spPr>
      </p:sp>
      <p:sp>
        <p:nvSpPr>
          <p:cNvPr id="26" name="Text 23"/>
          <p:cNvSpPr/>
          <p:nvPr/>
        </p:nvSpPr>
        <p:spPr>
          <a:xfrm>
            <a:off x="685800" y="3666744"/>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7" name="Text 24"/>
          <p:cNvSpPr/>
          <p:nvPr/>
        </p:nvSpPr>
        <p:spPr>
          <a:xfrm>
            <a:off x="1143000" y="3666744"/>
            <a:ext cx="384048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Benchmark all three variants</a:t>
            </a:r>
            <a:endParaRPr lang="en-US" sz="1200" dirty="0"/>
          </a:p>
        </p:txBody>
      </p:sp>
      <p:sp>
        <p:nvSpPr>
          <p:cNvPr id="28" name="Text 25"/>
          <p:cNvSpPr/>
          <p:nvPr/>
        </p:nvSpPr>
        <p:spPr>
          <a:xfrm>
            <a:off x="5074920" y="3666744"/>
            <a:ext cx="2926080" cy="310896"/>
          </a:xfrm>
          <a:prstGeom prst="rect">
            <a:avLst/>
          </a:prstGeom>
          <a:noFill/>
          <a:ln/>
        </p:spPr>
        <p:txBody>
          <a:bodyPr wrap="square" rtlCol="0" anchor="ctr"/>
          <a:lstStyle/>
          <a:p>
            <a:pPr indent="0" marL="0">
              <a:buNone/>
            </a:pPr>
            <a:r>
              <a:rPr lang="en-US" sz="1050" i="1" dirty="0">
                <a:solidFill>
                  <a:srgbClr val="718096"/>
                </a:solidFill>
                <a:latin typeface="Calibri" pitchFamily="34" charset="0"/>
                <a:ea typeface="Calibri" pitchFamily="34" charset="-122"/>
                <a:cs typeface="Calibri" pitchFamily="34" charset="-120"/>
              </a:rPr>
              <a:t>custom harness (p50, p95, throughput)</a:t>
            </a:r>
            <a:endParaRPr lang="en-US" sz="1050" dirty="0"/>
          </a:p>
        </p:txBody>
      </p:sp>
      <p:sp>
        <p:nvSpPr>
          <p:cNvPr id="29" name="Text 26"/>
          <p:cNvSpPr/>
          <p:nvPr/>
        </p:nvSpPr>
        <p:spPr>
          <a:xfrm>
            <a:off x="7772400" y="3666744"/>
            <a:ext cx="868680" cy="310896"/>
          </a:xfrm>
          <a:prstGeom prst="rect">
            <a:avLst/>
          </a:prstGeom>
          <a:noFill/>
          <a:ln/>
        </p:spPr>
        <p:txBody>
          <a:bodyPr wrap="square" rtlCol="0" anchor="ctr"/>
          <a:lstStyle/>
          <a:p>
            <a:pPr algn="r" indent="0" marL="0">
              <a:buNone/>
            </a:pPr>
            <a:r>
              <a:rPr lang="en-US" sz="1050" dirty="0">
                <a:solidFill>
                  <a:srgbClr val="00BFA5"/>
                </a:solidFill>
                <a:latin typeface="Calibri" pitchFamily="34" charset="0"/>
                <a:ea typeface="Calibri" pitchFamily="34" charset="-122"/>
                <a:cs typeface="Calibri" pitchFamily="34" charset="-120"/>
              </a:rPr>
              <a:t>7 min</a:t>
            </a:r>
            <a:endParaRPr lang="en-US" sz="1050" dirty="0"/>
          </a:p>
        </p:txBody>
      </p:sp>
      <p:sp>
        <p:nvSpPr>
          <p:cNvPr id="30" name="Shape 27"/>
          <p:cNvSpPr/>
          <p:nvPr/>
        </p:nvSpPr>
        <p:spPr>
          <a:xfrm>
            <a:off x="548640" y="4142232"/>
            <a:ext cx="8229600" cy="493776"/>
          </a:xfrm>
          <a:prstGeom prst="roundRect">
            <a:avLst>
              <a:gd name="adj" fmla="val 14815"/>
            </a:avLst>
          </a:prstGeom>
          <a:solidFill>
            <a:srgbClr val="1A2E45"/>
          </a:solidFill>
          <a:ln w="12700">
            <a:solidFill>
              <a:srgbClr val="263A54"/>
            </a:solidFill>
            <a:prstDash val="solid"/>
          </a:ln>
        </p:spPr>
      </p:sp>
      <p:sp>
        <p:nvSpPr>
          <p:cNvPr id="31" name="Shape 28"/>
          <p:cNvSpPr/>
          <p:nvPr/>
        </p:nvSpPr>
        <p:spPr>
          <a:xfrm>
            <a:off x="685800" y="4233672"/>
            <a:ext cx="320040" cy="320040"/>
          </a:xfrm>
          <a:prstGeom prst="ellipse">
            <a:avLst/>
          </a:prstGeom>
          <a:solidFill>
            <a:srgbClr val="00BFA5">
              <a:alpha val="85000"/>
            </a:srgbClr>
          </a:solidFill>
          <a:ln w="12700">
            <a:solidFill>
              <a:srgbClr val="00BFA5"/>
            </a:solidFill>
            <a:prstDash val="solid"/>
          </a:ln>
        </p:spPr>
      </p:sp>
      <p:sp>
        <p:nvSpPr>
          <p:cNvPr id="32" name="Text 29"/>
          <p:cNvSpPr/>
          <p:nvPr/>
        </p:nvSpPr>
        <p:spPr>
          <a:xfrm>
            <a:off x="685800" y="423367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a:t>
            </a:r>
            <a:endParaRPr lang="en-US" sz="1200" dirty="0"/>
          </a:p>
        </p:txBody>
      </p:sp>
      <p:sp>
        <p:nvSpPr>
          <p:cNvPr id="33" name="Text 30"/>
          <p:cNvSpPr/>
          <p:nvPr/>
        </p:nvSpPr>
        <p:spPr>
          <a:xfrm>
            <a:off x="1143000" y="4233672"/>
            <a:ext cx="384048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Plot accuracy–latency Pareto curve</a:t>
            </a:r>
            <a:endParaRPr lang="en-US" sz="1200" dirty="0"/>
          </a:p>
        </p:txBody>
      </p:sp>
      <p:sp>
        <p:nvSpPr>
          <p:cNvPr id="34" name="Text 31"/>
          <p:cNvSpPr/>
          <p:nvPr/>
        </p:nvSpPr>
        <p:spPr>
          <a:xfrm>
            <a:off x="5074920" y="4233672"/>
            <a:ext cx="2926080" cy="310896"/>
          </a:xfrm>
          <a:prstGeom prst="rect">
            <a:avLst/>
          </a:prstGeom>
          <a:noFill/>
          <a:ln/>
        </p:spPr>
        <p:txBody>
          <a:bodyPr wrap="square" rtlCol="0" anchor="ctr"/>
          <a:lstStyle/>
          <a:p>
            <a:pPr indent="0" marL="0">
              <a:buNone/>
            </a:pPr>
            <a:r>
              <a:rPr lang="en-US" sz="1050" i="1" dirty="0">
                <a:solidFill>
                  <a:srgbClr val="718096"/>
                </a:solidFill>
                <a:latin typeface="Calibri" pitchFamily="34" charset="0"/>
                <a:ea typeface="Calibri" pitchFamily="34" charset="-122"/>
                <a:cs typeface="Calibri" pitchFamily="34" charset="-120"/>
              </a:rPr>
              <a:t>matplotlib</a:t>
            </a:r>
            <a:endParaRPr lang="en-US" sz="1050" dirty="0"/>
          </a:p>
        </p:txBody>
      </p:sp>
      <p:sp>
        <p:nvSpPr>
          <p:cNvPr id="35" name="Text 32"/>
          <p:cNvSpPr/>
          <p:nvPr/>
        </p:nvSpPr>
        <p:spPr>
          <a:xfrm>
            <a:off x="7772400" y="4233672"/>
            <a:ext cx="868680" cy="310896"/>
          </a:xfrm>
          <a:prstGeom prst="rect">
            <a:avLst/>
          </a:prstGeom>
          <a:noFill/>
          <a:ln/>
        </p:spPr>
        <p:txBody>
          <a:bodyPr wrap="square" rtlCol="0" anchor="ctr"/>
          <a:lstStyle/>
          <a:p>
            <a:pPr algn="r" indent="0" marL="0">
              <a:buNone/>
            </a:pPr>
            <a:r>
              <a:rPr lang="en-US" sz="1050" dirty="0">
                <a:solidFill>
                  <a:srgbClr val="00BFA5"/>
                </a:solidFill>
                <a:latin typeface="Calibri" pitchFamily="34" charset="0"/>
                <a:ea typeface="Calibri" pitchFamily="34" charset="-122"/>
                <a:cs typeface="Calibri" pitchFamily="34" charset="-120"/>
              </a:rPr>
              <a:t>5 min</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3200400"/>
            <a:ext cx="3657600" cy="3657600"/>
          </a:xfrm>
          <a:prstGeom prst="ellipse">
            <a:avLst/>
          </a:prstGeom>
          <a:solidFill>
            <a:srgbClr val="00BFA5">
              <a:alpha val="8000"/>
            </a:srgbClr>
          </a:solidFill>
          <a:ln w="12700">
            <a:solidFill>
              <a:srgbClr val="00BFA5"/>
            </a:solidFill>
            <a:prstDash val="solid"/>
          </a:ln>
        </p:spPr>
      </p:sp>
      <p:sp>
        <p:nvSpPr>
          <p:cNvPr id="3" name="Text 1"/>
          <p:cNvSpPr/>
          <p:nvPr/>
        </p:nvSpPr>
        <p:spPr>
          <a:xfrm>
            <a:off x="548640" y="292608"/>
            <a:ext cx="6400800" cy="384048"/>
          </a:xfrm>
          <a:prstGeom prst="rect">
            <a:avLst/>
          </a:prstGeom>
          <a:noFill/>
          <a:ln/>
        </p:spPr>
        <p:txBody>
          <a:bodyPr wrap="square" rtlCol="0" anchor="ctr"/>
          <a:lstStyle/>
          <a:p>
            <a:pPr indent="0" marL="0">
              <a:buNone/>
            </a:pPr>
            <a:r>
              <a:rPr lang="en-US" sz="1400" dirty="0">
                <a:solidFill>
                  <a:srgbClr val="00BFA5"/>
                </a:solidFill>
                <a:latin typeface="Calibri" pitchFamily="34" charset="0"/>
                <a:ea typeface="Calibri" pitchFamily="34" charset="-122"/>
                <a:cs typeface="Calibri" pitchFamily="34" charset="-120"/>
              </a:rPr>
              <a:t>Key takeaways</a:t>
            </a:r>
            <a:endParaRPr lang="en-US" sz="1400" dirty="0"/>
          </a:p>
        </p:txBody>
      </p:sp>
      <p:sp>
        <p:nvSpPr>
          <p:cNvPr id="4" name="Shape 2"/>
          <p:cNvSpPr/>
          <p:nvPr/>
        </p:nvSpPr>
        <p:spPr>
          <a:xfrm>
            <a:off x="548640" y="859536"/>
            <a:ext cx="411480" cy="411480"/>
          </a:xfrm>
          <a:prstGeom prst="ellipse">
            <a:avLst/>
          </a:prstGeom>
          <a:solidFill>
            <a:srgbClr val="00BFA5">
              <a:alpha val="80000"/>
            </a:srgbClr>
          </a:solidFill>
          <a:ln w="12700">
            <a:solidFill>
              <a:srgbClr val="00BFA5"/>
            </a:solidFill>
            <a:prstDash val="solid"/>
          </a:ln>
        </p:spPr>
      </p:sp>
      <p:sp>
        <p:nvSpPr>
          <p:cNvPr id="5" name="Text 3"/>
          <p:cNvSpPr/>
          <p:nvPr/>
        </p:nvSpPr>
        <p:spPr>
          <a:xfrm>
            <a:off x="548640" y="8595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15568" y="896112"/>
            <a:ext cx="5669280" cy="365760"/>
          </a:xfrm>
          <a:prstGeom prst="rect">
            <a:avLst/>
          </a:prstGeom>
          <a:noFill/>
          <a:ln/>
        </p:spPr>
        <p:txBody>
          <a:bodyPr wrap="square" rtlCol="0" anchor="ctr"/>
          <a:lstStyle/>
          <a:p>
            <a:pPr indent="0" marL="0">
              <a:buNone/>
            </a:pPr>
            <a:r>
              <a:rPr lang="en-US" sz="1250" dirty="0">
                <a:solidFill>
                  <a:srgbClr val="CBD5E0"/>
                </a:solidFill>
                <a:latin typeface="Calibri" pitchFamily="34" charset="0"/>
                <a:ea typeface="Calibri" pitchFamily="34" charset="-122"/>
                <a:cs typeface="Calibri" pitchFamily="34" charset="-120"/>
              </a:rPr>
              <a:t>Optimization ≠ retraining. It transforms a trained model into a cheaper one.</a:t>
            </a:r>
            <a:endParaRPr lang="en-US" sz="1250" dirty="0"/>
          </a:p>
        </p:txBody>
      </p:sp>
      <p:sp>
        <p:nvSpPr>
          <p:cNvPr id="7" name="Shape 5"/>
          <p:cNvSpPr/>
          <p:nvPr/>
        </p:nvSpPr>
        <p:spPr>
          <a:xfrm>
            <a:off x="548640" y="1481328"/>
            <a:ext cx="411480" cy="411480"/>
          </a:xfrm>
          <a:prstGeom prst="ellipse">
            <a:avLst/>
          </a:prstGeom>
          <a:solidFill>
            <a:srgbClr val="00BFA5">
              <a:alpha val="80000"/>
            </a:srgbClr>
          </a:solidFill>
          <a:ln w="12700">
            <a:solidFill>
              <a:srgbClr val="00BFA5"/>
            </a:solidFill>
            <a:prstDash val="solid"/>
          </a:ln>
        </p:spPr>
      </p:sp>
      <p:sp>
        <p:nvSpPr>
          <p:cNvPr id="8" name="Text 6"/>
          <p:cNvSpPr/>
          <p:nvPr/>
        </p:nvSpPr>
        <p:spPr>
          <a:xfrm>
            <a:off x="548640" y="14813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115568" y="1517904"/>
            <a:ext cx="5669280" cy="365760"/>
          </a:xfrm>
          <a:prstGeom prst="rect">
            <a:avLst/>
          </a:prstGeom>
          <a:noFill/>
          <a:ln/>
        </p:spPr>
        <p:txBody>
          <a:bodyPr wrap="square" rtlCol="0" anchor="ctr"/>
          <a:lstStyle/>
          <a:p>
            <a:pPr indent="0" marL="0">
              <a:buNone/>
            </a:pPr>
            <a:r>
              <a:rPr lang="en-US" sz="1250" dirty="0">
                <a:solidFill>
                  <a:srgbClr val="CBD5E0"/>
                </a:solidFill>
                <a:latin typeface="Calibri" pitchFamily="34" charset="0"/>
                <a:ea typeface="Calibri" pitchFamily="34" charset="-122"/>
                <a:cs typeface="Calibri" pitchFamily="34" charset="-120"/>
              </a:rPr>
              <a:t>Quantization first — the highest ROI technique. PTQ before QAT, INT8 before INT4.</a:t>
            </a:r>
            <a:endParaRPr lang="en-US" sz="1250" dirty="0"/>
          </a:p>
        </p:txBody>
      </p:sp>
      <p:sp>
        <p:nvSpPr>
          <p:cNvPr id="10" name="Shape 8"/>
          <p:cNvSpPr/>
          <p:nvPr/>
        </p:nvSpPr>
        <p:spPr>
          <a:xfrm>
            <a:off x="548640" y="2103120"/>
            <a:ext cx="411480" cy="411480"/>
          </a:xfrm>
          <a:prstGeom prst="ellipse">
            <a:avLst/>
          </a:prstGeom>
          <a:solidFill>
            <a:srgbClr val="00BFA5">
              <a:alpha val="80000"/>
            </a:srgbClr>
          </a:solidFill>
          <a:ln w="12700">
            <a:solidFill>
              <a:srgbClr val="00BFA5"/>
            </a:solidFill>
            <a:prstDash val="solid"/>
          </a:ln>
        </p:spPr>
      </p:sp>
      <p:sp>
        <p:nvSpPr>
          <p:cNvPr id="11" name="Text 9"/>
          <p:cNvSpPr/>
          <p:nvPr/>
        </p:nvSpPr>
        <p:spPr>
          <a:xfrm>
            <a:off x="548640" y="21031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115568" y="2139696"/>
            <a:ext cx="5669280" cy="365760"/>
          </a:xfrm>
          <a:prstGeom prst="rect">
            <a:avLst/>
          </a:prstGeom>
          <a:noFill/>
          <a:ln/>
        </p:spPr>
        <p:txBody>
          <a:bodyPr wrap="square" rtlCol="0" anchor="ctr"/>
          <a:lstStyle/>
          <a:p>
            <a:pPr indent="0" marL="0">
              <a:buNone/>
            </a:pPr>
            <a:r>
              <a:rPr lang="en-US" sz="1250" dirty="0">
                <a:solidFill>
                  <a:srgbClr val="CBD5E0"/>
                </a:solidFill>
                <a:latin typeface="Calibri" pitchFamily="34" charset="0"/>
                <a:ea typeface="Calibri" pitchFamily="34" charset="-122"/>
                <a:cs typeface="Calibri" pitchFamily="34" charset="-120"/>
              </a:rPr>
              <a:t>Pruning: structured = real latency speedup. Unstructured = size only.</a:t>
            </a:r>
            <a:endParaRPr lang="en-US" sz="1250" dirty="0"/>
          </a:p>
        </p:txBody>
      </p:sp>
      <p:sp>
        <p:nvSpPr>
          <p:cNvPr id="13" name="Shape 11"/>
          <p:cNvSpPr/>
          <p:nvPr/>
        </p:nvSpPr>
        <p:spPr>
          <a:xfrm>
            <a:off x="548640" y="2724912"/>
            <a:ext cx="411480" cy="411480"/>
          </a:xfrm>
          <a:prstGeom prst="ellipse">
            <a:avLst/>
          </a:prstGeom>
          <a:solidFill>
            <a:srgbClr val="00BFA5">
              <a:alpha val="80000"/>
            </a:srgbClr>
          </a:solidFill>
          <a:ln w="12700">
            <a:solidFill>
              <a:srgbClr val="00BFA5"/>
            </a:solidFill>
            <a:prstDash val="solid"/>
          </a:ln>
        </p:spPr>
      </p:sp>
      <p:sp>
        <p:nvSpPr>
          <p:cNvPr id="14" name="Text 12"/>
          <p:cNvSpPr/>
          <p:nvPr/>
        </p:nvSpPr>
        <p:spPr>
          <a:xfrm>
            <a:off x="548640" y="27249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115568" y="2761488"/>
            <a:ext cx="5669280" cy="365760"/>
          </a:xfrm>
          <a:prstGeom prst="rect">
            <a:avLst/>
          </a:prstGeom>
          <a:noFill/>
          <a:ln/>
        </p:spPr>
        <p:txBody>
          <a:bodyPr wrap="square" rtlCol="0" anchor="ctr"/>
          <a:lstStyle/>
          <a:p>
            <a:pPr indent="0" marL="0">
              <a:buNone/>
            </a:pPr>
            <a:r>
              <a:rPr lang="en-US" sz="1250" dirty="0">
                <a:solidFill>
                  <a:srgbClr val="CBD5E0"/>
                </a:solidFill>
                <a:latin typeface="Calibri" pitchFamily="34" charset="0"/>
                <a:ea typeface="Calibri" pitchFamily="34" charset="-122"/>
                <a:cs typeface="Calibri" pitchFamily="34" charset="-120"/>
              </a:rPr>
              <a:t>Distillation = the custom architecture option. Use when form factor matters most.</a:t>
            </a:r>
            <a:endParaRPr lang="en-US" sz="1250" dirty="0"/>
          </a:p>
        </p:txBody>
      </p:sp>
      <p:sp>
        <p:nvSpPr>
          <p:cNvPr id="16" name="Shape 14"/>
          <p:cNvSpPr/>
          <p:nvPr/>
        </p:nvSpPr>
        <p:spPr>
          <a:xfrm>
            <a:off x="548640" y="3346704"/>
            <a:ext cx="411480" cy="411480"/>
          </a:xfrm>
          <a:prstGeom prst="ellipse">
            <a:avLst/>
          </a:prstGeom>
          <a:solidFill>
            <a:srgbClr val="00BFA5">
              <a:alpha val="80000"/>
            </a:srgbClr>
          </a:solidFill>
          <a:ln w="12700">
            <a:solidFill>
              <a:srgbClr val="00BFA5"/>
            </a:solidFill>
            <a:prstDash val="solid"/>
          </a:ln>
        </p:spPr>
      </p:sp>
      <p:sp>
        <p:nvSpPr>
          <p:cNvPr id="17" name="Text 15"/>
          <p:cNvSpPr/>
          <p:nvPr/>
        </p:nvSpPr>
        <p:spPr>
          <a:xfrm>
            <a:off x="548640" y="334670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115568" y="3383280"/>
            <a:ext cx="5669280" cy="365760"/>
          </a:xfrm>
          <a:prstGeom prst="rect">
            <a:avLst/>
          </a:prstGeom>
          <a:noFill/>
          <a:ln/>
        </p:spPr>
        <p:txBody>
          <a:bodyPr wrap="square" rtlCol="0" anchor="ctr"/>
          <a:lstStyle/>
          <a:p>
            <a:pPr indent="0" marL="0">
              <a:buNone/>
            </a:pPr>
            <a:r>
              <a:rPr lang="en-US" sz="1250" dirty="0">
                <a:solidFill>
                  <a:srgbClr val="CBD5E0"/>
                </a:solidFill>
                <a:latin typeface="Calibri" pitchFamily="34" charset="0"/>
                <a:ea typeface="Calibri" pitchFamily="34" charset="-122"/>
                <a:cs typeface="Calibri" pitchFamily="34" charset="-120"/>
              </a:rPr>
              <a:t>Compilation is always last — hardware-specific, locks graph, multiplies all gains.</a:t>
            </a:r>
            <a:endParaRPr lang="en-US" sz="1250" dirty="0"/>
          </a:p>
        </p:txBody>
      </p:sp>
      <p:sp>
        <p:nvSpPr>
          <p:cNvPr id="19" name="Shape 17"/>
          <p:cNvSpPr/>
          <p:nvPr/>
        </p:nvSpPr>
        <p:spPr>
          <a:xfrm>
            <a:off x="548640" y="3968496"/>
            <a:ext cx="411480" cy="411480"/>
          </a:xfrm>
          <a:prstGeom prst="ellipse">
            <a:avLst/>
          </a:prstGeom>
          <a:solidFill>
            <a:srgbClr val="00BFA5">
              <a:alpha val="80000"/>
            </a:srgbClr>
          </a:solidFill>
          <a:ln w="12700">
            <a:solidFill>
              <a:srgbClr val="00BFA5"/>
            </a:solidFill>
            <a:prstDash val="solid"/>
          </a:ln>
        </p:spPr>
      </p:sp>
      <p:sp>
        <p:nvSpPr>
          <p:cNvPr id="20" name="Text 18"/>
          <p:cNvSpPr/>
          <p:nvPr/>
        </p:nvSpPr>
        <p:spPr>
          <a:xfrm>
            <a:off x="548640" y="39684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115568" y="4005072"/>
            <a:ext cx="5669280" cy="365760"/>
          </a:xfrm>
          <a:prstGeom prst="rect">
            <a:avLst/>
          </a:prstGeom>
          <a:noFill/>
          <a:ln/>
        </p:spPr>
        <p:txBody>
          <a:bodyPr wrap="square" rtlCol="0" anchor="ctr"/>
          <a:lstStyle/>
          <a:p>
            <a:pPr indent="0" marL="0">
              <a:buNone/>
            </a:pPr>
            <a:r>
              <a:rPr lang="en-US" sz="1250" dirty="0">
                <a:solidFill>
                  <a:srgbClr val="CBD5E0"/>
                </a:solidFill>
                <a:latin typeface="Calibri" pitchFamily="34" charset="0"/>
                <a:ea typeface="Calibri" pitchFamily="34" charset="-122"/>
                <a:cs typeface="Calibri" pitchFamily="34" charset="-120"/>
              </a:rPr>
              <a:t>Stack all four: 10–50× end-to-end improvement over unoptimized FP32 is realistic.</a:t>
            </a:r>
            <a:endParaRPr lang="en-US" sz="1250" dirty="0"/>
          </a:p>
        </p:txBody>
      </p:sp>
      <p:sp>
        <p:nvSpPr>
          <p:cNvPr id="22" name="Shape 20"/>
          <p:cNvSpPr/>
          <p:nvPr/>
        </p:nvSpPr>
        <p:spPr>
          <a:xfrm>
            <a:off x="548640" y="4572000"/>
            <a:ext cx="8092440" cy="320040"/>
          </a:xfrm>
          <a:prstGeom prst="roundRect">
            <a:avLst>
              <a:gd name="adj" fmla="val 17143"/>
            </a:avLst>
          </a:prstGeom>
          <a:solidFill>
            <a:srgbClr val="1A2E45"/>
          </a:solidFill>
          <a:ln w="12700">
            <a:solidFill>
              <a:srgbClr val="263A54"/>
            </a:solidFill>
            <a:prstDash val="solid"/>
          </a:ln>
        </p:spPr>
      </p:sp>
      <p:sp>
        <p:nvSpPr>
          <p:cNvPr id="23" name="Text 21"/>
          <p:cNvSpPr/>
          <p:nvPr/>
        </p:nvSpPr>
        <p:spPr>
          <a:xfrm>
            <a:off x="548640" y="4572000"/>
            <a:ext cx="8092440" cy="320040"/>
          </a:xfrm>
          <a:prstGeom prst="rect">
            <a:avLst/>
          </a:prstGeom>
          <a:noFill/>
          <a:ln/>
        </p:spPr>
        <p:txBody>
          <a:bodyPr wrap="square" lIns="0" tIns="0" rIns="0" bIns="0" rtlCol="0" anchor="ctr"/>
          <a:lstStyle/>
          <a:p>
            <a:pPr algn="ctr" indent="0" marL="0">
              <a:buNone/>
            </a:pPr>
            <a:r>
              <a:rPr lang="en-US" sz="1100" dirty="0">
                <a:solidFill>
                  <a:srgbClr val="718096"/>
                </a:solidFill>
                <a:latin typeface="Calibri" pitchFamily="34" charset="0"/>
                <a:ea typeface="Calibri" pitchFamily="34" charset="-122"/>
                <a:cs typeface="Calibri" pitchFamily="34" charset="-120"/>
              </a:rPr>
              <a:t>Next session: Triton Inference Server · Serving architectures · Edge vs cloud design patterns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Model Optimization Techniques</dc:title>
  <dc:subject>PptxGenJS Presentation</dc:subject>
  <dc:creator>NYP School of Information Technology</dc:creator>
  <cp:lastModifiedBy>NYP School of Information Technology</cp:lastModifiedBy>
  <cp:revision>1</cp:revision>
  <dcterms:created xsi:type="dcterms:W3CDTF">2026-07-01T12:39:48Z</dcterms:created>
  <dcterms:modified xsi:type="dcterms:W3CDTF">2026-07-01T12:39:48Z</dcterms:modified>
</cp:coreProperties>
</file>