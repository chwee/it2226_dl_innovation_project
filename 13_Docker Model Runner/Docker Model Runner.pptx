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36"/>
  </p:notesMasterIdLst>
  <p:handoutMasterIdLst>
    <p:handoutMasterId r:id="rId37"/>
  </p:handoutMasterIdLst>
  <p:sldIdLst>
    <p:sldId id="419" r:id="rId5"/>
    <p:sldId id="420" r:id="rId14"/>
    <p:sldId id="421" r:id="rId15"/>
    <p:sldId id="422" r:id="rId16"/>
    <p:sldId id="423" r:id="rId17"/>
    <p:sldId id="424" r:id="rId18"/>
    <p:sldId id="425" r:id="rId19"/>
    <p:sldId id="426" r:id="rId20"/>
    <p:sldId id="427" r:id="rId21"/>
    <p:sldId id="428" r:id="rId22"/>
    <p:sldId id="429" r:id="rId23"/>
    <p:sldId id="430" r:id="rId24"/>
    <p:sldId id="431" r:id="rId25"/>
    <p:sldId id="432" r:id="rId26"/>
    <p:sldId id="433" r:id="rId27"/>
    <p:sldId id="434" r:id="rId28"/>
    <p:sldId id="435" r:id="rId29"/>
    <p:sldId id="436" r:id="rId30"/>
    <p:sldId id="437" r:id="rId31"/>
    <p:sldId id="438" r:id="rId32"/>
    <p:sldId id="439" r:id="rId33"/>
    <p:sldId id="440" r:id="rId34"/>
    <p:sldId id="441" r:id="rId35"/>
    <p:sldId id="442" r:id="rId13"/>
    <p:sldId id="443" r:id="rId12"/>
    <p:sldId id="444" r:id="rId11"/>
    <p:sldId id="445" r:id="rId10"/>
    <p:sldId id="44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D7AA8-B633-43EA-B803-6478153F3BD7}" v="3" dt="2025-03-21T02:00:42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3" autoAdjust="0"/>
    <p:restoredTop sz="74308" autoAdjust="0"/>
  </p:normalViewPr>
  <p:slideViewPr>
    <p:cSldViewPr snapToGrid="0">
      <p:cViewPr varScale="1">
        <p:scale>
          <a:sx n="82" d="100"/>
          <a:sy n="82" d="100"/>
        </p:scale>
        <p:origin x="20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ng Kok MAR (NYP)" userId="62030f1a-a95b-4c33-86e6-478100d64ee1" providerId="ADAL" clId="{58ED7AA8-B633-43EA-B803-6478153F3BD7}"/>
    <pc:docChg chg="undo custSel addSld delSld modSld">
      <pc:chgData name="Kheng Kok MAR (NYP)" userId="62030f1a-a95b-4c33-86e6-478100d64ee1" providerId="ADAL" clId="{58ED7AA8-B633-43EA-B803-6478153F3BD7}" dt="2025-03-21T05:00:48.584" v="153" actId="5793"/>
      <pc:docMkLst>
        <pc:docMk/>
      </pc:docMkLst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2600293482" sldId="26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807024801" sldId="295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933152867" sldId="299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250412498" sldId="300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619976221" sldId="301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4234809244" sldId="30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070489917" sldId="303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766828700" sldId="320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880737323" sldId="321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392206436" sldId="322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132682470" sldId="323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3169862212" sldId="324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4009347987" sldId="325"/>
        </pc:sldMkLst>
      </pc:sldChg>
      <pc:sldChg chg="del">
        <pc:chgData name="Kheng Kok MAR (NYP)" userId="62030f1a-a95b-4c33-86e6-478100d64ee1" providerId="ADAL" clId="{58ED7AA8-B633-43EA-B803-6478153F3BD7}" dt="2025-03-21T05:00:10.423" v="138" actId="47"/>
        <pc:sldMkLst>
          <pc:docMk/>
          <pc:sldMk cId="1255300212" sldId="327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320550275" sldId="328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916683871" sldId="329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836926012" sldId="330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005339390" sldId="331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761206000" sldId="333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070237463" sldId="334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1769685483" sldId="335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781151514" sldId="336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4181970323" sldId="337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715183010" sldId="338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807812468" sldId="33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114733694" sldId="34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020918737" sldId="34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113745265" sldId="34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711056098" sldId="34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08210905" sldId="34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922411213" sldId="34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930374708" sldId="34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62503712" sldId="35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186340524" sldId="35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351436070" sldId="35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516845528" sldId="35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06275055" sldId="36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873997129" sldId="36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96573934" sldId="36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624530038" sldId="37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836799505" sldId="372"/>
        </pc:sldMkLst>
      </pc:sldChg>
      <pc:sldChg chg="del">
        <pc:chgData name="Kheng Kok MAR (NYP)" userId="62030f1a-a95b-4c33-86e6-478100d64ee1" providerId="ADAL" clId="{58ED7AA8-B633-43EA-B803-6478153F3BD7}" dt="2025-03-21T05:00:12.373" v="139" actId="47"/>
        <pc:sldMkLst>
          <pc:docMk/>
          <pc:sldMk cId="2712846146" sldId="37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931830914" sldId="37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799979536" sldId="375"/>
        </pc:sldMkLst>
      </pc:sldChg>
      <pc:sldChg chg="del">
        <pc:chgData name="Kheng Kok MAR (NYP)" userId="62030f1a-a95b-4c33-86e6-478100d64ee1" providerId="ADAL" clId="{58ED7AA8-B633-43EA-B803-6478153F3BD7}" dt="2025-03-21T05:00:10.423" v="138" actId="47"/>
        <pc:sldMkLst>
          <pc:docMk/>
          <pc:sldMk cId="2780781574" sldId="37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274829805" sldId="378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1802167371" sldId="379"/>
        </pc:sldMkLst>
      </pc:sldChg>
      <pc:sldChg chg="del">
        <pc:chgData name="Kheng Kok MAR (NYP)" userId="62030f1a-a95b-4c33-86e6-478100d64ee1" providerId="ADAL" clId="{58ED7AA8-B633-43EA-B803-6478153F3BD7}" dt="2025-03-21T04:59:46.679" v="135" actId="47"/>
        <pc:sldMkLst>
          <pc:docMk/>
          <pc:sldMk cId="2990305848" sldId="380"/>
        </pc:sldMkLst>
      </pc:sldChg>
      <pc:sldChg chg="del">
        <pc:chgData name="Kheng Kok MAR (NYP)" userId="62030f1a-a95b-4c33-86e6-478100d64ee1" providerId="ADAL" clId="{58ED7AA8-B633-43EA-B803-6478153F3BD7}" dt="2025-03-21T04:59:58.739" v="136" actId="47"/>
        <pc:sldMkLst>
          <pc:docMk/>
          <pc:sldMk cId="3422701620" sldId="38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80813618" sldId="38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875934704" sldId="38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619453085" sldId="38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041534699" sldId="38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434463523" sldId="38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273044271" sldId="38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594403404" sldId="38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584676501" sldId="39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4048104730" sldId="391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761234270" sldId="392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140442699" sldId="393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799622941" sldId="394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213993344" sldId="395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879657340" sldId="396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227410163" sldId="397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53696741" sldId="398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929622885" sldId="399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3406082339" sldId="400"/>
        </pc:sldMkLst>
      </pc:sldChg>
      <pc:sldChg chg="del">
        <pc:chgData name="Kheng Kok MAR (NYP)" userId="62030f1a-a95b-4c33-86e6-478100d64ee1" providerId="ADAL" clId="{58ED7AA8-B633-43EA-B803-6478153F3BD7}" dt="2025-03-21T05:00:06.595" v="137" actId="47"/>
        <pc:sldMkLst>
          <pc:docMk/>
          <pc:sldMk cId="1068316888" sldId="401"/>
        </pc:sldMkLst>
      </pc:sldChg>
      <pc:sldChg chg="modSp add mod">
        <pc:chgData name="Kheng Kok MAR (NYP)" userId="62030f1a-a95b-4c33-86e6-478100d64ee1" providerId="ADAL" clId="{58ED7AA8-B633-43EA-B803-6478153F3BD7}" dt="2025-03-21T04:59:24.160" v="134" actId="20577"/>
        <pc:sldMkLst>
          <pc:docMk/>
          <pc:sldMk cId="3155291161" sldId="402"/>
        </pc:sldMkLst>
        <pc:spChg chg="mod">
          <ac:chgData name="Kheng Kok MAR (NYP)" userId="62030f1a-a95b-4c33-86e6-478100d64ee1" providerId="ADAL" clId="{58ED7AA8-B633-43EA-B803-6478153F3BD7}" dt="2025-03-21T02:00:47.977" v="73" actId="20577"/>
          <ac:spMkLst>
            <pc:docMk/>
            <pc:sldMk cId="3155291161" sldId="402"/>
            <ac:spMk id="2" creationId="{A1D871B1-6C5D-3259-B42A-793ADF2CE90C}"/>
          </ac:spMkLst>
        </pc:spChg>
        <pc:spChg chg="mod">
          <ac:chgData name="Kheng Kok MAR (NYP)" userId="62030f1a-a95b-4c33-86e6-478100d64ee1" providerId="ADAL" clId="{58ED7AA8-B633-43EA-B803-6478153F3BD7}" dt="2025-03-21T04:59:24.160" v="134" actId="20577"/>
          <ac:spMkLst>
            <pc:docMk/>
            <pc:sldMk cId="3155291161" sldId="402"/>
            <ac:spMk id="3" creationId="{DD3B9174-B1BD-7F76-160C-AB73246A18B4}"/>
          </ac:spMkLst>
        </pc:spChg>
      </pc:sldChg>
      <pc:sldChg chg="modSp add del mod">
        <pc:chgData name="Kheng Kok MAR (NYP)" userId="62030f1a-a95b-4c33-86e6-478100d64ee1" providerId="ADAL" clId="{58ED7AA8-B633-43EA-B803-6478153F3BD7}" dt="2025-03-21T02:00:27.386" v="55"/>
        <pc:sldMkLst>
          <pc:docMk/>
          <pc:sldMk cId="3498333577" sldId="402"/>
        </pc:sldMkLst>
        <pc:spChg chg="mod">
          <ac:chgData name="Kheng Kok MAR (NYP)" userId="62030f1a-a95b-4c33-86e6-478100d64ee1" providerId="ADAL" clId="{58ED7AA8-B633-43EA-B803-6478153F3BD7}" dt="2025-03-21T02:00:26.988" v="54" actId="20577"/>
          <ac:spMkLst>
            <pc:docMk/>
            <pc:sldMk cId="3498333577" sldId="402"/>
            <ac:spMk id="2" creationId="{7E5DD8B0-3B00-B572-9211-A9127DBB9BE1}"/>
          </ac:spMkLst>
        </pc:spChg>
      </pc:sldChg>
      <pc:sldChg chg="modSp new mod">
        <pc:chgData name="Kheng Kok MAR (NYP)" userId="62030f1a-a95b-4c33-86e6-478100d64ee1" providerId="ADAL" clId="{58ED7AA8-B633-43EA-B803-6478153F3BD7}" dt="2025-03-21T05:00:48.584" v="153" actId="5793"/>
        <pc:sldMkLst>
          <pc:docMk/>
          <pc:sldMk cId="2767485149" sldId="403"/>
        </pc:sldMkLst>
        <pc:spChg chg="mod">
          <ac:chgData name="Kheng Kok MAR (NYP)" userId="62030f1a-a95b-4c33-86e6-478100d64ee1" providerId="ADAL" clId="{58ED7AA8-B633-43EA-B803-6478153F3BD7}" dt="2025-03-21T05:00:24.783" v="150" actId="20577"/>
          <ac:spMkLst>
            <pc:docMk/>
            <pc:sldMk cId="2767485149" sldId="403"/>
            <ac:spMk id="2" creationId="{B6D222A1-CAB4-531E-D2EE-955F64A570CC}"/>
          </ac:spMkLst>
        </pc:spChg>
        <pc:spChg chg="mod">
          <ac:chgData name="Kheng Kok MAR (NYP)" userId="62030f1a-a95b-4c33-86e6-478100d64ee1" providerId="ADAL" clId="{58ED7AA8-B633-43EA-B803-6478153F3BD7}" dt="2025-03-21T05:00:48.584" v="153" actId="5793"/>
          <ac:spMkLst>
            <pc:docMk/>
            <pc:sldMk cId="2767485149" sldId="403"/>
            <ac:spMk id="3" creationId="{C3D150AC-8FBE-FE32-73FC-FBBA80B56B9E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4A07A7-A8F7-B72E-4B74-261D7D3F95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72104-C5D7-9142-35F7-AC28827A37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3F652-CB33-4F60-88E9-6D8C7BBE5615}" type="datetimeFigureOut">
              <a:rPr lang="en-SG" smtClean="0"/>
              <a:t>9/11/2025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43AF6-21A3-F929-ED7C-7B438738C7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12D10-68BD-CCCD-9552-0B6E039E3D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006ED-B046-4917-A165-CAAD7C0FC90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877492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0027D-8C89-4D53-9D0A-8B13C461417F}" type="datetimeFigureOut">
              <a:rPr lang="en-SG" smtClean="0"/>
              <a:t>9/11/2025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0DD26-C564-4A3C-8398-FE9A3FA1B7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218849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Workshop: running AI models locally with Docker Model Runner. Two hands-on labs; make sure Docker Desktop 4.40+ or the Linux plugin is installed beforehand.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this is a workshop. By the end everyone should have a model running locally and answering an API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who has run a model locally and what broke. The 'models are not images' point is the one that motivates OCI artifacts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first, then the timeline: this is new but no longer experimental.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counter-intuitive bit: Docker ships it, but the engine is a host process. That is what keeps GPU performance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component to the previous diagram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verify RAM and Docker version now, so the lab does not stall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what hardware the room has; it decides how fast the lab feels.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row 4: OpenAI compatibility is what makes migration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settings panel live if you have Docker Desktop on the lecture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 path is the one that matters for lab machines and CI runners.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live. The first pull is the only slow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back to slide 3: this is the answer to 'models are not images'.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escape hatch: the Docker catalogue is small, Hugging Face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Unloading matters on a laptop — memory comes back when you stop asking.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Quantization is lossy compression of the weights. Demonstrate the size difference if bandwidth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migration story — this is the reason teams adopt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live against the model started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length is the most overlooked one — it costs memory on every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convinces a team: the model becomes part of the project definition, not a README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CI/CD is the most immediately useful of the three for most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Privacy is usually the argument that gets local inference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fair to the alternatives: Ollama has the more mature community and more customisation; NIM wins raw performance on NVIDIA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 symlink command ready; it is the failure most students will hit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Circulate. The two common failures are the missing plugin symlink and a stale Docker Desktop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is the one that makes quantization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last point: this is a workflow decision more than a performance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at the Docker documentation for the API reference — it is more complete than any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4572-F5E1-4A3A-A721-7EE4541A5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D856F-22DF-457F-9DA6-2BBBE7724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6B450-8F36-4CA9-BB8A-54BED55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1D93-7B44-402E-B68F-4A50DAAA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9746C-92A0-4CD8-BF8A-E4787E5D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351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E61EE-C429-4744-8D26-1FB9FBC3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0C32D-939C-4A87-B206-B13FE76F0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6BE5D-2F83-4AEF-8424-C597E22D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7BA20-D537-4D97-9120-03F8E812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2ACC6-7178-428F-8CCE-47D86AD0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89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0FF1-A312-4C8E-9EA2-3491BFAC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27663-4B68-4F0E-8160-1ADCE9DF4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5D66A-D9A4-4415-8D41-CC1D01E3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03ECE-F479-44BE-A832-5B02157A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826F4-E99A-40B3-8CA0-F3AA4B55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385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82B9-76EF-4801-9C08-4047A10F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9132F-3A32-4B41-90C7-EDF0D345A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6EA9C-159B-4ED1-92F1-09257F863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F40C3-72F4-404A-A9ED-41357771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A5256-D040-4A8E-9B0C-40E9F388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95349-5DEF-4070-9AE9-0301B436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812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E1B5-E354-4039-B5F3-B1498766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F4FBD-5344-4232-A05C-D05324029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0A864-D109-4C22-B06D-0894FCB2D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EBD65-DF66-42D8-B090-FD5F3BCAF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A9A2C-BFB2-48F9-9095-833362DB1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F60E8-DF8A-4529-9FA5-A28A2EA3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B79B9-A512-4CE4-A687-246A34A1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38109-A1A9-4998-B4A1-97ADDAB7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0165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3E35-5299-4B63-8B51-9F4A97C7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A6AC6-0659-4FAD-9E8F-76F401FB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29569-4516-499A-8373-AC26F376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E8AF0-0DB6-489E-ACEC-F21DC9B2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45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50201-F9A8-4138-A24F-AB852281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83975-FF84-487F-AFDC-02263F1E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4FDBD-62AB-401C-9199-F111ECB2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127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1716-B274-4466-9712-6CEDEBBD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32D5B-1F24-430E-80E2-D0E18441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FCB68-134D-45A9-A146-ECD542F0F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AA041-31C7-413C-8A76-152B59F3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C2EC0-A05A-4B3D-8A8A-BC1CA298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C253A-3A59-4B50-B64F-0AE1A358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892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7369-8207-4F07-BC27-4276545C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9A7276-13B9-4486-B413-88F6B8EE1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91697-F7DC-4A78-AF6E-6296B045D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1571A-A600-463A-87C9-E3DBFDD1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963BD-E48F-4045-918C-E9E660CC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3A05E-7512-44BA-BD0F-A86E1D35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0017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A04D-1F17-4E9B-A65E-2F1F803C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C65C5-F69C-413D-BA7E-583D32A40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91DEE-2925-47EE-8B32-4E17401F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0BC08-FF2F-45C0-A338-E6D2C802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DE448-78DC-4158-A0A8-43B71EE1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823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EAE97-62E2-4725-A10F-5240A0DCF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AE281-0364-46E3-A4EE-1A000C620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BE32D-4087-41E0-882F-E4A1DF21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DE89-DF6B-4C00-8B4D-5A201E15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3BC24-7B2B-46D2-A14D-E4B04FBC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3511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4897FD1-71BD-47A6-B797-CF76C131ADA2}"/>
              </a:ext>
            </a:extLst>
          </p:cNvPr>
          <p:cNvGrpSpPr/>
          <p:nvPr/>
        </p:nvGrpSpPr>
        <p:grpSpPr>
          <a:xfrm>
            <a:off x="0" y="1"/>
            <a:ext cx="12192000" cy="96761"/>
            <a:chOff x="0" y="1"/>
            <a:chExt cx="9144000" cy="501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48B507-1C7C-424E-A896-2B5D193F7988}"/>
                </a:ext>
              </a:extLst>
            </p:cNvPr>
            <p:cNvSpPr/>
            <p:nvPr userDrawn="1"/>
          </p:nvSpPr>
          <p:spPr>
            <a:xfrm>
              <a:off x="0" y="1"/>
              <a:ext cx="4572000" cy="50138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6A0A9C-1620-46A1-96D8-039E189461A1}"/>
                </a:ext>
              </a:extLst>
            </p:cNvPr>
            <p:cNvSpPr/>
            <p:nvPr userDrawn="1"/>
          </p:nvSpPr>
          <p:spPr>
            <a:xfrm>
              <a:off x="4572000" y="1"/>
              <a:ext cx="4572000" cy="50138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240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83DBF1-F186-4FF9-98D0-2D89BCCD7064}"/>
              </a:ext>
            </a:extLst>
          </p:cNvPr>
          <p:cNvCxnSpPr>
            <a:cxnSpLocks/>
          </p:cNvCxnSpPr>
          <p:nvPr/>
        </p:nvCxnSpPr>
        <p:spPr>
          <a:xfrm>
            <a:off x="279540" y="6530229"/>
            <a:ext cx="116329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le 8">
            <a:extLst>
              <a:ext uri="{FF2B5EF4-FFF2-40B4-BE49-F238E27FC236}">
                <a16:creationId xmlns:a16="http://schemas.microsoft.com/office/drawing/2014/main" id="{029F2E20-2684-46DF-9D11-02417258E7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95" y="278092"/>
            <a:ext cx="11042511" cy="1078875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SG"/>
              <a:t>Click to add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0D22AC7-14BF-4AF1-B561-7FA3FAB6CB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018" y="1562095"/>
            <a:ext cx="11042651" cy="4791607"/>
          </a:xfrm>
          <a:prstGeom prst="rect">
            <a:avLst/>
          </a:prstGeom>
        </p:spPr>
        <p:txBody>
          <a:bodyPr/>
          <a:lstStyle>
            <a:lvl1pPr marL="380990" indent="-38099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add bullets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0820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AFB620-18D1-4649-93A3-941BC5B43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Title 8">
            <a:extLst>
              <a:ext uri="{FF2B5EF4-FFF2-40B4-BE49-F238E27FC236}">
                <a16:creationId xmlns:a16="http://schemas.microsoft.com/office/drawing/2014/main" id="{83FD6784-19E4-4D70-8B3B-4D3959A58D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2270" y="317002"/>
            <a:ext cx="11042511" cy="1078875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SG"/>
              <a:t>Click to add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633B2C3-EE9C-4119-9F7F-EE2C6BE94F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2270" y="1562095"/>
            <a:ext cx="11042651" cy="4791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add body text</a:t>
            </a:r>
          </a:p>
        </p:txBody>
      </p:sp>
    </p:spTree>
    <p:extLst>
      <p:ext uri="{BB962C8B-B14F-4D97-AF65-F5344CB8AC3E}">
        <p14:creationId xmlns:p14="http://schemas.microsoft.com/office/powerpoint/2010/main" val="480725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2248000"/>
            <a:ext cx="12192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4"/>
          <p:cNvSpPr/>
          <p:nvPr/>
        </p:nvSpPr>
        <p:spPr>
          <a:xfrm>
            <a:off x="0" y="2248000"/>
            <a:ext cx="12192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629200" y="2558767"/>
            <a:ext cx="109628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9974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2248000"/>
            <a:ext cx="12192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26;p5"/>
          <p:cNvSpPr/>
          <p:nvPr/>
        </p:nvSpPr>
        <p:spPr>
          <a:xfrm>
            <a:off x="0" y="2248000"/>
            <a:ext cx="12192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629200" y="984967"/>
            <a:ext cx="109628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292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259000" y="2558767"/>
            <a:ext cx="53332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4141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4368800" y="33"/>
            <a:ext cx="78232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7"/>
          <p:cNvSpPr/>
          <p:nvPr/>
        </p:nvSpPr>
        <p:spPr>
          <a:xfrm rot="-5400000">
            <a:off x="1012200" y="3356600"/>
            <a:ext cx="6858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01437" y="477067"/>
            <a:ext cx="3744000" cy="12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19618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634000" y="1678033"/>
            <a:ext cx="10962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634000" y="4406167"/>
            <a:ext cx="10962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683194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653667" y="651000"/>
            <a:ext cx="8302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092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9"/>
          <p:cNvSpPr/>
          <p:nvPr/>
        </p:nvSpPr>
        <p:spPr>
          <a:xfrm rot="5400000">
            <a:off x="2595233" y="3357000"/>
            <a:ext cx="68572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705956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364721" y="62608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7145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/>
          <p:nvPr/>
        </p:nvSpPr>
        <p:spPr>
          <a:xfrm>
            <a:off x="10059311" y="877033"/>
            <a:ext cx="1732400" cy="5772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3" name="Google Shape;13;p57"/>
          <p:cNvGrpSpPr/>
          <p:nvPr/>
        </p:nvGrpSpPr>
        <p:grpSpPr>
          <a:xfrm>
            <a:off x="0" y="-9451"/>
            <a:ext cx="11548531" cy="6867451"/>
            <a:chOff x="0" y="-7088"/>
            <a:chExt cx="8661398" cy="5150588"/>
          </a:xfrm>
        </p:grpSpPr>
        <p:sp>
          <p:nvSpPr>
            <p:cNvPr id="14" name="Google Shape;14;p57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7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6" name="Google Shape;16;p57"/>
          <p:cNvGrpSpPr/>
          <p:nvPr/>
        </p:nvGrpSpPr>
        <p:grpSpPr>
          <a:xfrm rot="10800000" flipH="1">
            <a:off x="2" y="1454351"/>
            <a:ext cx="11796669" cy="3949300"/>
            <a:chOff x="-8178042" y="-4493254"/>
            <a:chExt cx="19483597" cy="6522736"/>
          </a:xfrm>
        </p:grpSpPr>
        <p:sp>
          <p:nvSpPr>
            <p:cNvPr id="17" name="Google Shape;17;p57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8" name="Google Shape;18;p57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9" name="Google Shape;19;p57"/>
          <p:cNvGrpSpPr/>
          <p:nvPr/>
        </p:nvGrpSpPr>
        <p:grpSpPr>
          <a:xfrm>
            <a:off x="4902981" y="5704465"/>
            <a:ext cx="7307771" cy="577328"/>
            <a:chOff x="5582265" y="4646738"/>
            <a:chExt cx="5480828" cy="432996"/>
          </a:xfrm>
        </p:grpSpPr>
        <p:sp>
          <p:nvSpPr>
            <p:cNvPr id="20" name="Google Shape;20;p57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1;p57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2" name="Google Shape;22;p57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57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" name="Google Shape;24;p57"/>
          <p:cNvSpPr txBox="1">
            <a:spLocks noGrp="1"/>
          </p:cNvSpPr>
          <p:nvPr>
            <p:ph type="ctrTitle"/>
          </p:nvPr>
        </p:nvSpPr>
        <p:spPr>
          <a:xfrm>
            <a:off x="643469" y="1454333"/>
            <a:ext cx="6984320" cy="3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3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5" name="Google Shape;25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70875" y="1454217"/>
            <a:ext cx="2268772" cy="2268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58796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90C6C-FDE3-C662-2486-197F1D3B3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C56D8D-12A6-4A5A-B92D-575EE1DEE3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6323" y="1528131"/>
            <a:ext cx="5337923" cy="1866872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6667" b="1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F1328D7-7673-4614-9EEB-F014CD4879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323" y="3549449"/>
            <a:ext cx="4813671" cy="999104"/>
          </a:xfrm>
          <a:prstGeom prst="rect">
            <a:avLst/>
          </a:prstGeom>
        </p:spPr>
        <p:txBody>
          <a:bodyPr/>
          <a:lstStyle>
            <a:lvl1pPr>
              <a:defRPr sz="1867" b="0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B0011CE1-EDBF-46B7-9599-4FD9FCE16C51}"/>
              </a:ext>
            </a:extLst>
          </p:cNvPr>
          <p:cNvSpPr/>
          <p:nvPr userDrawn="1"/>
        </p:nvSpPr>
        <p:spPr>
          <a:xfrm rot="2871830">
            <a:off x="6936865" y="138470"/>
            <a:ext cx="257671" cy="2397084"/>
          </a:xfrm>
          <a:custGeom>
            <a:avLst/>
            <a:gdLst>
              <a:gd name="connsiteX0" fmla="*/ 0 w 193253"/>
              <a:gd name="connsiteY0" fmla="*/ 0 h 1820147"/>
              <a:gd name="connsiteX1" fmla="*/ 193253 w 193253"/>
              <a:gd name="connsiteY1" fmla="*/ 0 h 1820147"/>
              <a:gd name="connsiteX2" fmla="*/ 193253 w 193253"/>
              <a:gd name="connsiteY2" fmla="*/ 1820147 h 1820147"/>
              <a:gd name="connsiteX3" fmla="*/ 0 w 193253"/>
              <a:gd name="connsiteY3" fmla="*/ 1820147 h 1820147"/>
              <a:gd name="connsiteX4" fmla="*/ 0 w 193253"/>
              <a:gd name="connsiteY4" fmla="*/ 0 h 1820147"/>
              <a:gd name="connsiteX0" fmla="*/ 0 w 197852"/>
              <a:gd name="connsiteY0" fmla="*/ 0 h 1820147"/>
              <a:gd name="connsiteX1" fmla="*/ 197852 w 197852"/>
              <a:gd name="connsiteY1" fmla="*/ 4378 h 1820147"/>
              <a:gd name="connsiteX2" fmla="*/ 193253 w 197852"/>
              <a:gd name="connsiteY2" fmla="*/ 1820147 h 1820147"/>
              <a:gd name="connsiteX3" fmla="*/ 0 w 197852"/>
              <a:gd name="connsiteY3" fmla="*/ 1820147 h 1820147"/>
              <a:gd name="connsiteX4" fmla="*/ 0 w 197852"/>
              <a:gd name="connsiteY4" fmla="*/ 0 h 1820147"/>
              <a:gd name="connsiteX0" fmla="*/ 5041 w 197852"/>
              <a:gd name="connsiteY0" fmla="*/ 17956 h 1815769"/>
              <a:gd name="connsiteX1" fmla="*/ 197852 w 197852"/>
              <a:gd name="connsiteY1" fmla="*/ 0 h 1815769"/>
              <a:gd name="connsiteX2" fmla="*/ 193253 w 197852"/>
              <a:gd name="connsiteY2" fmla="*/ 1815769 h 1815769"/>
              <a:gd name="connsiteX3" fmla="*/ 0 w 197852"/>
              <a:gd name="connsiteY3" fmla="*/ 1815769 h 1815769"/>
              <a:gd name="connsiteX4" fmla="*/ 5041 w 197852"/>
              <a:gd name="connsiteY4" fmla="*/ 17956 h 1815769"/>
              <a:gd name="connsiteX0" fmla="*/ 5041 w 193253"/>
              <a:gd name="connsiteY0" fmla="*/ 0 h 1797813"/>
              <a:gd name="connsiteX1" fmla="*/ 189316 w 193253"/>
              <a:gd name="connsiteY1" fmla="*/ 220 h 1797813"/>
              <a:gd name="connsiteX2" fmla="*/ 193253 w 193253"/>
              <a:gd name="connsiteY2" fmla="*/ 1797813 h 1797813"/>
              <a:gd name="connsiteX3" fmla="*/ 0 w 193253"/>
              <a:gd name="connsiteY3" fmla="*/ 1797813 h 1797813"/>
              <a:gd name="connsiteX4" fmla="*/ 5041 w 193253"/>
              <a:gd name="connsiteY4" fmla="*/ 0 h 179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253" h="1797813">
                <a:moveTo>
                  <a:pt x="5041" y="0"/>
                </a:moveTo>
                <a:lnTo>
                  <a:pt x="189316" y="220"/>
                </a:lnTo>
                <a:cubicBezTo>
                  <a:pt x="190628" y="599418"/>
                  <a:pt x="191941" y="1198615"/>
                  <a:pt x="193253" y="1797813"/>
                </a:cubicBezTo>
                <a:lnTo>
                  <a:pt x="0" y="1797813"/>
                </a:lnTo>
                <a:cubicBezTo>
                  <a:pt x="1680" y="1198542"/>
                  <a:pt x="3361" y="599271"/>
                  <a:pt x="5041" y="0"/>
                </a:cubicBezTo>
                <a:close/>
              </a:path>
            </a:pathLst>
          </a:cu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43153B-9164-4B7D-8967-9232760F77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547" y="393707"/>
            <a:ext cx="2822077" cy="584956"/>
          </a:xfrm>
          <a:prstGeom prst="rect">
            <a:avLst/>
          </a:prstGeom>
        </p:spPr>
      </p:pic>
      <p:sp>
        <p:nvSpPr>
          <p:cNvPr id="2" name="Isosceles Triangle 2">
            <a:extLst>
              <a:ext uri="{FF2B5EF4-FFF2-40B4-BE49-F238E27FC236}">
                <a16:creationId xmlns:a16="http://schemas.microsoft.com/office/drawing/2014/main" id="{A15BFF93-6482-1724-38DE-4828529F78E7}"/>
              </a:ext>
            </a:extLst>
          </p:cNvPr>
          <p:cNvSpPr/>
          <p:nvPr userDrawn="1"/>
        </p:nvSpPr>
        <p:spPr>
          <a:xfrm rot="16200000">
            <a:off x="10798933" y="5465604"/>
            <a:ext cx="1375097" cy="1413193"/>
          </a:xfrm>
          <a:custGeom>
            <a:avLst/>
            <a:gdLst>
              <a:gd name="connsiteX0" fmla="*/ 0 w 906866"/>
              <a:gd name="connsiteY0" fmla="*/ 754622 h 754622"/>
              <a:gd name="connsiteX1" fmla="*/ 453433 w 906866"/>
              <a:gd name="connsiteY1" fmla="*/ 0 h 754622"/>
              <a:gd name="connsiteX2" fmla="*/ 906866 w 906866"/>
              <a:gd name="connsiteY2" fmla="*/ 754622 h 754622"/>
              <a:gd name="connsiteX3" fmla="*/ 0 w 906866"/>
              <a:gd name="connsiteY3" fmla="*/ 754622 h 754622"/>
              <a:gd name="connsiteX0" fmla="*/ 0 w 1143086"/>
              <a:gd name="connsiteY0" fmla="*/ 754622 h 754622"/>
              <a:gd name="connsiteX1" fmla="*/ 453433 w 1143086"/>
              <a:gd name="connsiteY1" fmla="*/ 0 h 754622"/>
              <a:gd name="connsiteX2" fmla="*/ 1143086 w 1143086"/>
              <a:gd name="connsiteY2" fmla="*/ 747002 h 754622"/>
              <a:gd name="connsiteX3" fmla="*/ 0 w 1143086"/>
              <a:gd name="connsiteY3" fmla="*/ 754622 h 754622"/>
              <a:gd name="connsiteX0" fmla="*/ 0 w 1143086"/>
              <a:gd name="connsiteY0" fmla="*/ 1227062 h 1227062"/>
              <a:gd name="connsiteX1" fmla="*/ 3853 w 1143086"/>
              <a:gd name="connsiteY1" fmla="*/ 0 h 1227062"/>
              <a:gd name="connsiteX2" fmla="*/ 1143086 w 1143086"/>
              <a:gd name="connsiteY2" fmla="*/ 1219442 h 1227062"/>
              <a:gd name="connsiteX3" fmla="*/ 0 w 1143086"/>
              <a:gd name="connsiteY3" fmla="*/ 1227062 h 1227062"/>
              <a:gd name="connsiteX0" fmla="*/ 0 w 1143086"/>
              <a:gd name="connsiteY0" fmla="*/ 1219442 h 1219442"/>
              <a:gd name="connsiteX1" fmla="*/ 3853 w 1143086"/>
              <a:gd name="connsiteY1" fmla="*/ 0 h 1219442"/>
              <a:gd name="connsiteX2" fmla="*/ 1143086 w 1143086"/>
              <a:gd name="connsiteY2" fmla="*/ 1219442 h 1219442"/>
              <a:gd name="connsiteX3" fmla="*/ 0 w 1143086"/>
              <a:gd name="connsiteY3" fmla="*/ 1219442 h 1219442"/>
              <a:gd name="connsiteX0" fmla="*/ 0 w 1062123"/>
              <a:gd name="connsiteY0" fmla="*/ 1219442 h 1219442"/>
              <a:gd name="connsiteX1" fmla="*/ 3853 w 1062123"/>
              <a:gd name="connsiteY1" fmla="*/ 0 h 1219442"/>
              <a:gd name="connsiteX2" fmla="*/ 1062123 w 1062123"/>
              <a:gd name="connsiteY2" fmla="*/ 1131336 h 1219442"/>
              <a:gd name="connsiteX3" fmla="*/ 0 w 106212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31902 w 1058464"/>
              <a:gd name="connsiteY0" fmla="*/ 1131335 h 1132395"/>
              <a:gd name="connsiteX1" fmla="*/ 36 w 1058464"/>
              <a:gd name="connsiteY1" fmla="*/ 0 h 1132395"/>
              <a:gd name="connsiteX2" fmla="*/ 1058306 w 1058464"/>
              <a:gd name="connsiteY2" fmla="*/ 1131336 h 1132395"/>
              <a:gd name="connsiteX3" fmla="*/ 31902 w 1058464"/>
              <a:gd name="connsiteY3" fmla="*/ 1131335 h 1132395"/>
              <a:gd name="connsiteX0" fmla="*/ 5810 w 1032372"/>
              <a:gd name="connsiteY0" fmla="*/ 1074182 h 1075242"/>
              <a:gd name="connsiteX1" fmla="*/ 137 w 1032372"/>
              <a:gd name="connsiteY1" fmla="*/ 0 h 1075242"/>
              <a:gd name="connsiteX2" fmla="*/ 1032214 w 1032372"/>
              <a:gd name="connsiteY2" fmla="*/ 1074183 h 1075242"/>
              <a:gd name="connsiteX3" fmla="*/ 5810 w 1032372"/>
              <a:gd name="connsiteY3" fmla="*/ 1074182 h 1075242"/>
              <a:gd name="connsiteX0" fmla="*/ 1200 w 1032523"/>
              <a:gd name="connsiteY0" fmla="*/ 1078945 h 1078945"/>
              <a:gd name="connsiteX1" fmla="*/ 289 w 1032523"/>
              <a:gd name="connsiteY1" fmla="*/ 0 h 1078945"/>
              <a:gd name="connsiteX2" fmla="*/ 1032366 w 1032523"/>
              <a:gd name="connsiteY2" fmla="*/ 1074183 h 1078945"/>
              <a:gd name="connsiteX3" fmla="*/ 1200 w 1032523"/>
              <a:gd name="connsiteY3" fmla="*/ 1078945 h 1078945"/>
              <a:gd name="connsiteX0" fmla="*/ 0 w 1031323"/>
              <a:gd name="connsiteY0" fmla="*/ 1059895 h 1059895"/>
              <a:gd name="connsiteX1" fmla="*/ 1470 w 1031323"/>
              <a:gd name="connsiteY1" fmla="*/ 0 h 1059895"/>
              <a:gd name="connsiteX2" fmla="*/ 1031166 w 1031323"/>
              <a:gd name="connsiteY2" fmla="*/ 1055133 h 1059895"/>
              <a:gd name="connsiteX3" fmla="*/ 0 w 1031323"/>
              <a:gd name="connsiteY3" fmla="*/ 1059895 h 105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1323" h="1059895">
                <a:moveTo>
                  <a:pt x="0" y="1059895"/>
                </a:moveTo>
                <a:cubicBezTo>
                  <a:pt x="1284" y="650874"/>
                  <a:pt x="186" y="409021"/>
                  <a:pt x="1470" y="0"/>
                </a:cubicBezTo>
                <a:cubicBezTo>
                  <a:pt x="354227" y="377112"/>
                  <a:pt x="1042740" y="1051880"/>
                  <a:pt x="1031166" y="1055133"/>
                </a:cubicBezTo>
                <a:cubicBezTo>
                  <a:pt x="1043043" y="1057517"/>
                  <a:pt x="381029" y="1059895"/>
                  <a:pt x="0" y="1059895"/>
                </a:cubicBezTo>
                <a:close/>
              </a:path>
            </a:pathLst>
          </a:cu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51460D6-F294-9FEC-8A11-8E4DE73D906F}"/>
              </a:ext>
            </a:extLst>
          </p:cNvPr>
          <p:cNvSpPr/>
          <p:nvPr userDrawn="1"/>
        </p:nvSpPr>
        <p:spPr>
          <a:xfrm rot="13500000">
            <a:off x="11360201" y="5062314"/>
            <a:ext cx="311071" cy="2220841"/>
          </a:xfrm>
          <a:custGeom>
            <a:avLst/>
            <a:gdLst>
              <a:gd name="connsiteX0" fmla="*/ 0 w 185368"/>
              <a:gd name="connsiteY0" fmla="*/ 0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0 w 185368"/>
              <a:gd name="connsiteY4" fmla="*/ 0 h 1259721"/>
              <a:gd name="connsiteX0" fmla="*/ 11136 w 185368"/>
              <a:gd name="connsiteY0" fmla="*/ 134862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11136 w 185368"/>
              <a:gd name="connsiteY4" fmla="*/ 134862 h 1259721"/>
              <a:gd name="connsiteX0" fmla="*/ 11136 w 185368"/>
              <a:gd name="connsiteY0" fmla="*/ 221597 h 1346456"/>
              <a:gd name="connsiteX1" fmla="*/ 168470 w 185368"/>
              <a:gd name="connsiteY1" fmla="*/ 0 h 1346456"/>
              <a:gd name="connsiteX2" fmla="*/ 185368 w 185368"/>
              <a:gd name="connsiteY2" fmla="*/ 1346456 h 1346456"/>
              <a:gd name="connsiteX3" fmla="*/ 0 w 185368"/>
              <a:gd name="connsiteY3" fmla="*/ 1346456 h 1346456"/>
              <a:gd name="connsiteX4" fmla="*/ 11136 w 185368"/>
              <a:gd name="connsiteY4" fmla="*/ 221597 h 1346456"/>
              <a:gd name="connsiteX0" fmla="*/ 0 w 174232"/>
              <a:gd name="connsiteY0" fmla="*/ 221597 h 1368722"/>
              <a:gd name="connsiteX1" fmla="*/ 157334 w 174232"/>
              <a:gd name="connsiteY1" fmla="*/ 0 h 1368722"/>
              <a:gd name="connsiteX2" fmla="*/ 174232 w 174232"/>
              <a:gd name="connsiteY2" fmla="*/ 1346456 h 1368722"/>
              <a:gd name="connsiteX3" fmla="*/ 366 w 174232"/>
              <a:gd name="connsiteY3" fmla="*/ 1368722 h 1368722"/>
              <a:gd name="connsiteX4" fmla="*/ 0 w 174232"/>
              <a:gd name="connsiteY4" fmla="*/ 221597 h 1368722"/>
              <a:gd name="connsiteX0" fmla="*/ 28972 w 173866"/>
              <a:gd name="connsiteY0" fmla="*/ 283202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28972 w 173866"/>
              <a:gd name="connsiteY4" fmla="*/ 283202 h 1368722"/>
              <a:gd name="connsiteX0" fmla="*/ 13460 w 173866"/>
              <a:gd name="connsiteY0" fmla="*/ 267631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13460 w 173866"/>
              <a:gd name="connsiteY4" fmla="*/ 267631 h 1368722"/>
              <a:gd name="connsiteX0" fmla="*/ 13460 w 173866"/>
              <a:gd name="connsiteY0" fmla="*/ 257249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13460 w 173866"/>
              <a:gd name="connsiteY4" fmla="*/ 257249 h 1358340"/>
              <a:gd name="connsiteX0" fmla="*/ 32818 w 173866"/>
              <a:gd name="connsiteY0" fmla="*/ 279771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32818 w 173866"/>
              <a:gd name="connsiteY4" fmla="*/ 279771 h 1358340"/>
              <a:gd name="connsiteX0" fmla="*/ 32818 w 173866"/>
              <a:gd name="connsiteY0" fmla="*/ 269656 h 1348225"/>
              <a:gd name="connsiteX1" fmla="*/ 162520 w 173866"/>
              <a:gd name="connsiteY1" fmla="*/ -1 h 1348225"/>
              <a:gd name="connsiteX2" fmla="*/ 173866 w 173866"/>
              <a:gd name="connsiteY2" fmla="*/ 1325959 h 1348225"/>
              <a:gd name="connsiteX3" fmla="*/ 0 w 173866"/>
              <a:gd name="connsiteY3" fmla="*/ 1348225 h 1348225"/>
              <a:gd name="connsiteX4" fmla="*/ 32818 w 173866"/>
              <a:gd name="connsiteY4" fmla="*/ 269656 h 1348225"/>
              <a:gd name="connsiteX0" fmla="*/ 23240 w 164288"/>
              <a:gd name="connsiteY0" fmla="*/ 269657 h 1327995"/>
              <a:gd name="connsiteX1" fmla="*/ 152942 w 164288"/>
              <a:gd name="connsiteY1" fmla="*/ 0 h 1327995"/>
              <a:gd name="connsiteX2" fmla="*/ 164288 w 164288"/>
              <a:gd name="connsiteY2" fmla="*/ 1325960 h 1327995"/>
              <a:gd name="connsiteX3" fmla="*/ 0 w 164288"/>
              <a:gd name="connsiteY3" fmla="*/ 1327995 h 1327995"/>
              <a:gd name="connsiteX4" fmla="*/ 23240 w 164288"/>
              <a:gd name="connsiteY4" fmla="*/ 269657 h 1327995"/>
              <a:gd name="connsiteX0" fmla="*/ 23240 w 170070"/>
              <a:gd name="connsiteY0" fmla="*/ 261634 h 1319972"/>
              <a:gd name="connsiteX1" fmla="*/ 170070 w 170070"/>
              <a:gd name="connsiteY1" fmla="*/ 0 h 1319972"/>
              <a:gd name="connsiteX2" fmla="*/ 164288 w 170070"/>
              <a:gd name="connsiteY2" fmla="*/ 1317937 h 1319972"/>
              <a:gd name="connsiteX3" fmla="*/ 0 w 170070"/>
              <a:gd name="connsiteY3" fmla="*/ 1319972 h 1319972"/>
              <a:gd name="connsiteX4" fmla="*/ 23240 w 170070"/>
              <a:gd name="connsiteY4" fmla="*/ 261634 h 1319972"/>
              <a:gd name="connsiteX0" fmla="*/ 23240 w 170070"/>
              <a:gd name="connsiteY0" fmla="*/ 261634 h 1368726"/>
              <a:gd name="connsiteX1" fmla="*/ 170070 w 170070"/>
              <a:gd name="connsiteY1" fmla="*/ 0 h 1368726"/>
              <a:gd name="connsiteX2" fmla="*/ 167819 w 170070"/>
              <a:gd name="connsiteY2" fmla="*/ 1368726 h 1368726"/>
              <a:gd name="connsiteX3" fmla="*/ 0 w 170070"/>
              <a:gd name="connsiteY3" fmla="*/ 1319972 h 1368726"/>
              <a:gd name="connsiteX4" fmla="*/ 23240 w 170070"/>
              <a:gd name="connsiteY4" fmla="*/ 261634 h 1368726"/>
              <a:gd name="connsiteX0" fmla="*/ 23240 w 184789"/>
              <a:gd name="connsiteY0" fmla="*/ 26163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3240 w 184789"/>
              <a:gd name="connsiteY4" fmla="*/ 261634 h 1396262"/>
              <a:gd name="connsiteX0" fmla="*/ 14074 w 184789"/>
              <a:gd name="connsiteY0" fmla="*/ 296650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14074 w 184789"/>
              <a:gd name="connsiteY4" fmla="*/ 296650 h 1396262"/>
              <a:gd name="connsiteX0" fmla="*/ 22940 w 184789"/>
              <a:gd name="connsiteY0" fmla="*/ 281148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2940 w 184789"/>
              <a:gd name="connsiteY4" fmla="*/ 281148 h 1396262"/>
              <a:gd name="connsiteX0" fmla="*/ 27672 w 184789"/>
              <a:gd name="connsiteY0" fmla="*/ 25388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7672 w 184789"/>
              <a:gd name="connsiteY4" fmla="*/ 253884 h 1396262"/>
              <a:gd name="connsiteX0" fmla="*/ 0 w 190766"/>
              <a:gd name="connsiteY0" fmla="*/ 250212 h 1396262"/>
              <a:gd name="connsiteX1" fmla="*/ 176047 w 190766"/>
              <a:gd name="connsiteY1" fmla="*/ 0 h 1396262"/>
              <a:gd name="connsiteX2" fmla="*/ 190625 w 190766"/>
              <a:gd name="connsiteY2" fmla="*/ 1396262 h 1396262"/>
              <a:gd name="connsiteX3" fmla="*/ 5977 w 190766"/>
              <a:gd name="connsiteY3" fmla="*/ 1319972 h 1396262"/>
              <a:gd name="connsiteX4" fmla="*/ 0 w 190766"/>
              <a:gd name="connsiteY4" fmla="*/ 250212 h 1396262"/>
              <a:gd name="connsiteX0" fmla="*/ 0 w 197591"/>
              <a:gd name="connsiteY0" fmla="*/ 232644 h 1378694"/>
              <a:gd name="connsiteX1" fmla="*/ 197591 w 197591"/>
              <a:gd name="connsiteY1" fmla="*/ 0 h 1378694"/>
              <a:gd name="connsiteX2" fmla="*/ 190625 w 197591"/>
              <a:gd name="connsiteY2" fmla="*/ 1378694 h 1378694"/>
              <a:gd name="connsiteX3" fmla="*/ 5977 w 197591"/>
              <a:gd name="connsiteY3" fmla="*/ 1302404 h 1378694"/>
              <a:gd name="connsiteX4" fmla="*/ 0 w 197591"/>
              <a:gd name="connsiteY4" fmla="*/ 232644 h 1378694"/>
              <a:gd name="connsiteX0" fmla="*/ 24386 w 191715"/>
              <a:gd name="connsiteY0" fmla="*/ 197901 h 1378694"/>
              <a:gd name="connsiteX1" fmla="*/ 191715 w 191715"/>
              <a:gd name="connsiteY1" fmla="*/ 0 h 1378694"/>
              <a:gd name="connsiteX2" fmla="*/ 184749 w 191715"/>
              <a:gd name="connsiteY2" fmla="*/ 1378694 h 1378694"/>
              <a:gd name="connsiteX3" fmla="*/ 101 w 191715"/>
              <a:gd name="connsiteY3" fmla="*/ 1302404 h 1378694"/>
              <a:gd name="connsiteX4" fmla="*/ 24386 w 191715"/>
              <a:gd name="connsiteY4" fmla="*/ 197901 h 1378694"/>
              <a:gd name="connsiteX0" fmla="*/ 0 w 167329"/>
              <a:gd name="connsiteY0" fmla="*/ 197901 h 1378694"/>
              <a:gd name="connsiteX1" fmla="*/ 167329 w 167329"/>
              <a:gd name="connsiteY1" fmla="*/ 0 h 1378694"/>
              <a:gd name="connsiteX2" fmla="*/ 160363 w 167329"/>
              <a:gd name="connsiteY2" fmla="*/ 1378694 h 1378694"/>
              <a:gd name="connsiteX3" fmla="*/ 4847 w 167329"/>
              <a:gd name="connsiteY3" fmla="*/ 1254857 h 1378694"/>
              <a:gd name="connsiteX4" fmla="*/ 0 w 167329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19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20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0607 w 190194"/>
              <a:gd name="connsiteY0" fmla="*/ 172292 h 1378694"/>
              <a:gd name="connsiteX1" fmla="*/ 190194 w 190194"/>
              <a:gd name="connsiteY1" fmla="*/ 0 h 1378694"/>
              <a:gd name="connsiteX2" fmla="*/ 183229 w 190194"/>
              <a:gd name="connsiteY2" fmla="*/ 1378694 h 1378694"/>
              <a:gd name="connsiteX3" fmla="*/ 115 w 190194"/>
              <a:gd name="connsiteY3" fmla="*/ 1244237 h 1378694"/>
              <a:gd name="connsiteX4" fmla="*/ 20607 w 190194"/>
              <a:gd name="connsiteY4" fmla="*/ 172292 h 1378694"/>
              <a:gd name="connsiteX0" fmla="*/ 20607 w 195117"/>
              <a:gd name="connsiteY0" fmla="*/ 192045 h 1398447"/>
              <a:gd name="connsiteX1" fmla="*/ 195117 w 195117"/>
              <a:gd name="connsiteY1" fmla="*/ 0 h 1398447"/>
              <a:gd name="connsiteX2" fmla="*/ 183229 w 195117"/>
              <a:gd name="connsiteY2" fmla="*/ 1398447 h 1398447"/>
              <a:gd name="connsiteX3" fmla="*/ 115 w 195117"/>
              <a:gd name="connsiteY3" fmla="*/ 1263990 h 1398447"/>
              <a:gd name="connsiteX4" fmla="*/ 20607 w 195117"/>
              <a:gd name="connsiteY4" fmla="*/ 192045 h 1398447"/>
              <a:gd name="connsiteX0" fmla="*/ 14590 w 195152"/>
              <a:gd name="connsiteY0" fmla="*/ 198994 h 1398447"/>
              <a:gd name="connsiteX1" fmla="*/ 195152 w 195152"/>
              <a:gd name="connsiteY1" fmla="*/ 0 h 1398447"/>
              <a:gd name="connsiteX2" fmla="*/ 183264 w 195152"/>
              <a:gd name="connsiteY2" fmla="*/ 1398447 h 1398447"/>
              <a:gd name="connsiteX3" fmla="*/ 150 w 195152"/>
              <a:gd name="connsiteY3" fmla="*/ 1263990 h 1398447"/>
              <a:gd name="connsiteX4" fmla="*/ 14590 w 195152"/>
              <a:gd name="connsiteY4" fmla="*/ 198994 h 1398447"/>
              <a:gd name="connsiteX0" fmla="*/ 14590 w 183796"/>
              <a:gd name="connsiteY0" fmla="*/ 185097 h 1384550"/>
              <a:gd name="connsiteX1" fmla="*/ 183048 w 183796"/>
              <a:gd name="connsiteY1" fmla="*/ 0 h 1384550"/>
              <a:gd name="connsiteX2" fmla="*/ 183264 w 183796"/>
              <a:gd name="connsiteY2" fmla="*/ 1384550 h 1384550"/>
              <a:gd name="connsiteX3" fmla="*/ 150 w 183796"/>
              <a:gd name="connsiteY3" fmla="*/ 1250093 h 1384550"/>
              <a:gd name="connsiteX4" fmla="*/ 14590 w 183796"/>
              <a:gd name="connsiteY4" fmla="*/ 185097 h 1384550"/>
              <a:gd name="connsiteX0" fmla="*/ 14590 w 184829"/>
              <a:gd name="connsiteY0" fmla="*/ 185097 h 1397354"/>
              <a:gd name="connsiteX1" fmla="*/ 183048 w 184829"/>
              <a:gd name="connsiteY1" fmla="*/ 0 h 1397354"/>
              <a:gd name="connsiteX2" fmla="*/ 184393 w 184829"/>
              <a:gd name="connsiteY2" fmla="*/ 1397354 h 1397354"/>
              <a:gd name="connsiteX3" fmla="*/ 150 w 184829"/>
              <a:gd name="connsiteY3" fmla="*/ 1250093 h 1397354"/>
              <a:gd name="connsiteX4" fmla="*/ 14590 w 184829"/>
              <a:gd name="connsiteY4" fmla="*/ 185097 h 1397354"/>
              <a:gd name="connsiteX0" fmla="*/ 14590 w 184492"/>
              <a:gd name="connsiteY0" fmla="*/ 202666 h 1414923"/>
              <a:gd name="connsiteX1" fmla="*/ 161504 w 184492"/>
              <a:gd name="connsiteY1" fmla="*/ 0 h 1414923"/>
              <a:gd name="connsiteX2" fmla="*/ 184393 w 184492"/>
              <a:gd name="connsiteY2" fmla="*/ 1414923 h 1414923"/>
              <a:gd name="connsiteX3" fmla="*/ 150 w 184492"/>
              <a:gd name="connsiteY3" fmla="*/ 1267662 h 1414923"/>
              <a:gd name="connsiteX4" fmla="*/ 14590 w 184492"/>
              <a:gd name="connsiteY4" fmla="*/ 202666 h 1414923"/>
              <a:gd name="connsiteX0" fmla="*/ 14590 w 184526"/>
              <a:gd name="connsiteY0" fmla="*/ 196810 h 1409067"/>
              <a:gd name="connsiteX1" fmla="*/ 168685 w 184526"/>
              <a:gd name="connsiteY1" fmla="*/ 0 h 1409067"/>
              <a:gd name="connsiteX2" fmla="*/ 184393 w 184526"/>
              <a:gd name="connsiteY2" fmla="*/ 1409067 h 1409067"/>
              <a:gd name="connsiteX3" fmla="*/ 150 w 184526"/>
              <a:gd name="connsiteY3" fmla="*/ 1261806 h 1409067"/>
              <a:gd name="connsiteX4" fmla="*/ 14590 w 184526"/>
              <a:gd name="connsiteY4" fmla="*/ 196810 h 1409067"/>
              <a:gd name="connsiteX0" fmla="*/ 712 w 184933"/>
              <a:gd name="connsiteY0" fmla="*/ 197904 h 1409067"/>
              <a:gd name="connsiteX1" fmla="*/ 169092 w 184933"/>
              <a:gd name="connsiteY1" fmla="*/ 0 h 1409067"/>
              <a:gd name="connsiteX2" fmla="*/ 184800 w 184933"/>
              <a:gd name="connsiteY2" fmla="*/ 1409067 h 1409067"/>
              <a:gd name="connsiteX3" fmla="*/ 557 w 184933"/>
              <a:gd name="connsiteY3" fmla="*/ 1261806 h 1409067"/>
              <a:gd name="connsiteX4" fmla="*/ 712 w 184933"/>
              <a:gd name="connsiteY4" fmla="*/ 197904 h 1409067"/>
              <a:gd name="connsiteX0" fmla="*/ 712 w 185008"/>
              <a:gd name="connsiteY0" fmla="*/ 205826 h 1416989"/>
              <a:gd name="connsiteX1" fmla="*/ 176532 w 185008"/>
              <a:gd name="connsiteY1" fmla="*/ 0 h 1416989"/>
              <a:gd name="connsiteX2" fmla="*/ 184800 w 185008"/>
              <a:gd name="connsiteY2" fmla="*/ 1416989 h 1416989"/>
              <a:gd name="connsiteX3" fmla="*/ 557 w 185008"/>
              <a:gd name="connsiteY3" fmla="*/ 1269728 h 1416989"/>
              <a:gd name="connsiteX4" fmla="*/ 712 w 185008"/>
              <a:gd name="connsiteY4" fmla="*/ 205826 h 1416989"/>
              <a:gd name="connsiteX0" fmla="*/ 712 w 185170"/>
              <a:gd name="connsiteY0" fmla="*/ 187888 h 1399051"/>
              <a:gd name="connsiteX1" fmla="*/ 182334 w 185170"/>
              <a:gd name="connsiteY1" fmla="*/ 0 h 1399051"/>
              <a:gd name="connsiteX2" fmla="*/ 184800 w 185170"/>
              <a:gd name="connsiteY2" fmla="*/ 1399051 h 1399051"/>
              <a:gd name="connsiteX3" fmla="*/ 557 w 185170"/>
              <a:gd name="connsiteY3" fmla="*/ 1251790 h 1399051"/>
              <a:gd name="connsiteX4" fmla="*/ 712 w 185170"/>
              <a:gd name="connsiteY4" fmla="*/ 187888 h 1399051"/>
              <a:gd name="connsiteX0" fmla="*/ 712 w 191470"/>
              <a:gd name="connsiteY0" fmla="*/ 197235 h 1408398"/>
              <a:gd name="connsiteX1" fmla="*/ 191470 w 191470"/>
              <a:gd name="connsiteY1" fmla="*/ 0 h 1408398"/>
              <a:gd name="connsiteX2" fmla="*/ 184800 w 191470"/>
              <a:gd name="connsiteY2" fmla="*/ 1408398 h 1408398"/>
              <a:gd name="connsiteX3" fmla="*/ 557 w 191470"/>
              <a:gd name="connsiteY3" fmla="*/ 1261137 h 1408398"/>
              <a:gd name="connsiteX4" fmla="*/ 712 w 191470"/>
              <a:gd name="connsiteY4" fmla="*/ 197235 h 1408398"/>
              <a:gd name="connsiteX0" fmla="*/ 712 w 205141"/>
              <a:gd name="connsiteY0" fmla="*/ 197235 h 1416020"/>
              <a:gd name="connsiteX1" fmla="*/ 191470 w 205141"/>
              <a:gd name="connsiteY1" fmla="*/ 0 h 1416020"/>
              <a:gd name="connsiteX2" fmla="*/ 204992 w 205141"/>
              <a:gd name="connsiteY2" fmla="*/ 1416020 h 1416020"/>
              <a:gd name="connsiteX3" fmla="*/ 557 w 205141"/>
              <a:gd name="connsiteY3" fmla="*/ 1261137 h 1416020"/>
              <a:gd name="connsiteX4" fmla="*/ 712 w 205141"/>
              <a:gd name="connsiteY4" fmla="*/ 197235 h 1416020"/>
              <a:gd name="connsiteX0" fmla="*/ 712 w 205183"/>
              <a:gd name="connsiteY0" fmla="*/ 149617 h 1368402"/>
              <a:gd name="connsiteX1" fmla="*/ 195553 w 205183"/>
              <a:gd name="connsiteY1" fmla="*/ 0 h 1368402"/>
              <a:gd name="connsiteX2" fmla="*/ 204992 w 205183"/>
              <a:gd name="connsiteY2" fmla="*/ 1368402 h 1368402"/>
              <a:gd name="connsiteX3" fmla="*/ 557 w 205183"/>
              <a:gd name="connsiteY3" fmla="*/ 1213519 h 1368402"/>
              <a:gd name="connsiteX4" fmla="*/ 712 w 205183"/>
              <a:gd name="connsiteY4" fmla="*/ 149617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213519 h 1368402"/>
              <a:gd name="connsiteX4" fmla="*/ 0 w 207533"/>
              <a:gd name="connsiteY4" fmla="*/ 174342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175058 h 1368402"/>
              <a:gd name="connsiteX4" fmla="*/ 0 w 207533"/>
              <a:gd name="connsiteY4" fmla="*/ 174342 h 1368402"/>
              <a:gd name="connsiteX0" fmla="*/ 0 w 209045"/>
              <a:gd name="connsiteY0" fmla="*/ 174342 h 1358786"/>
              <a:gd name="connsiteX1" fmla="*/ 197903 w 209045"/>
              <a:gd name="connsiteY1" fmla="*/ 0 h 1358786"/>
              <a:gd name="connsiteX2" fmla="*/ 208872 w 209045"/>
              <a:gd name="connsiteY2" fmla="*/ 1358786 h 1358786"/>
              <a:gd name="connsiteX3" fmla="*/ 2907 w 209045"/>
              <a:gd name="connsiteY3" fmla="*/ 1175058 h 1358786"/>
              <a:gd name="connsiteX4" fmla="*/ 0 w 209045"/>
              <a:gd name="connsiteY4" fmla="*/ 174342 h 1358786"/>
              <a:gd name="connsiteX0" fmla="*/ 0 w 212106"/>
              <a:gd name="connsiteY0" fmla="*/ 185331 h 1358786"/>
              <a:gd name="connsiteX1" fmla="*/ 200964 w 212106"/>
              <a:gd name="connsiteY1" fmla="*/ 0 h 1358786"/>
              <a:gd name="connsiteX2" fmla="*/ 211933 w 212106"/>
              <a:gd name="connsiteY2" fmla="*/ 1358786 h 1358786"/>
              <a:gd name="connsiteX3" fmla="*/ 5968 w 212106"/>
              <a:gd name="connsiteY3" fmla="*/ 1175058 h 1358786"/>
              <a:gd name="connsiteX4" fmla="*/ 0 w 212106"/>
              <a:gd name="connsiteY4" fmla="*/ 185331 h 135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106" h="1358786">
                <a:moveTo>
                  <a:pt x="0" y="185331"/>
                </a:moveTo>
                <a:cubicBezTo>
                  <a:pt x="63586" y="119586"/>
                  <a:pt x="137378" y="65745"/>
                  <a:pt x="200964" y="0"/>
                </a:cubicBezTo>
                <a:cubicBezTo>
                  <a:pt x="199037" y="439312"/>
                  <a:pt x="213860" y="919474"/>
                  <a:pt x="211933" y="1358786"/>
                </a:cubicBezTo>
                <a:lnTo>
                  <a:pt x="5968" y="1175058"/>
                </a:lnTo>
                <a:cubicBezTo>
                  <a:pt x="3976" y="818471"/>
                  <a:pt x="1992" y="541918"/>
                  <a:pt x="0" y="185331"/>
                </a:cubicBezTo>
                <a:close/>
              </a:path>
            </a:pathLst>
          </a:custGeom>
          <a:solidFill>
            <a:srgbClr val="E306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00AA2F6-9E32-1951-916C-8943096E1C7C}"/>
              </a:ext>
            </a:extLst>
          </p:cNvPr>
          <p:cNvSpPr/>
          <p:nvPr userDrawn="1"/>
        </p:nvSpPr>
        <p:spPr>
          <a:xfrm>
            <a:off x="1058466" y="3902882"/>
            <a:ext cx="5774133" cy="2955801"/>
          </a:xfrm>
          <a:custGeom>
            <a:avLst/>
            <a:gdLst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13585 w 7242629"/>
              <a:gd name="connsiteY2" fmla="*/ 6858000 h 6858000"/>
              <a:gd name="connsiteX3" fmla="*/ 0 w 7242629"/>
              <a:gd name="connsiteY3" fmla="*/ 4667280 h 6858000"/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23185 w 7242629"/>
              <a:gd name="connsiteY2" fmla="*/ 6838800 h 6858000"/>
              <a:gd name="connsiteX3" fmla="*/ 0 w 7242629"/>
              <a:gd name="connsiteY3" fmla="*/ 4667280 h 6858000"/>
              <a:gd name="connsiteX4" fmla="*/ 0 w 7242629"/>
              <a:gd name="connsiteY4" fmla="*/ 0 h 6858000"/>
              <a:gd name="connsiteX0" fmla="*/ 0 w 7242629"/>
              <a:gd name="connsiteY0" fmla="*/ 0 h 6858000"/>
              <a:gd name="connsiteX1" fmla="*/ 3430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4881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26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841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937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632185 w 7242629"/>
              <a:gd name="connsiteY1" fmla="*/ 34272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427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89785 w 7204229"/>
              <a:gd name="connsiteY1" fmla="*/ 33984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609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857785 w 7204229"/>
              <a:gd name="connsiteY1" fmla="*/ 796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209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876985 w 7204229"/>
              <a:gd name="connsiteY1" fmla="*/ 13344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401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63385 w 7204229"/>
              <a:gd name="connsiteY1" fmla="*/ 892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72985 w 7204229"/>
              <a:gd name="connsiteY1" fmla="*/ 1104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30585 w 7204229"/>
              <a:gd name="connsiteY1" fmla="*/ 960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017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921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9600 w 7204229"/>
              <a:gd name="connsiteY0" fmla="*/ 739200 h 5888400"/>
              <a:gd name="connsiteX1" fmla="*/ 992185 w 7204229"/>
              <a:gd name="connsiteY1" fmla="*/ 0 h 5888400"/>
              <a:gd name="connsiteX2" fmla="*/ 3632185 w 7204229"/>
              <a:gd name="connsiteY2" fmla="*/ 2409600 h 5888400"/>
              <a:gd name="connsiteX3" fmla="*/ 7204229 w 7204229"/>
              <a:gd name="connsiteY3" fmla="*/ 5888400 h 5888400"/>
              <a:gd name="connsiteX4" fmla="*/ 2323185 w 7204229"/>
              <a:gd name="connsiteY4" fmla="*/ 5869200 h 5888400"/>
              <a:gd name="connsiteX5" fmla="*/ 0 w 7204229"/>
              <a:gd name="connsiteY5" fmla="*/ 3697680 h 5888400"/>
              <a:gd name="connsiteX6" fmla="*/ 9600 w 7204229"/>
              <a:gd name="connsiteY6" fmla="*/ 739200 h 5888400"/>
              <a:gd name="connsiteX0" fmla="*/ 0 w 7194629"/>
              <a:gd name="connsiteY0" fmla="*/ 739200 h 5888400"/>
              <a:gd name="connsiteX1" fmla="*/ 982585 w 7194629"/>
              <a:gd name="connsiteY1" fmla="*/ 0 h 5888400"/>
              <a:gd name="connsiteX2" fmla="*/ 3622585 w 7194629"/>
              <a:gd name="connsiteY2" fmla="*/ 2409600 h 5888400"/>
              <a:gd name="connsiteX3" fmla="*/ 7194629 w 7194629"/>
              <a:gd name="connsiteY3" fmla="*/ 5888400 h 5888400"/>
              <a:gd name="connsiteX4" fmla="*/ 2313585 w 7194629"/>
              <a:gd name="connsiteY4" fmla="*/ 5869200 h 5888400"/>
              <a:gd name="connsiteX5" fmla="*/ 777600 w 7194629"/>
              <a:gd name="connsiteY5" fmla="*/ 4456080 h 5888400"/>
              <a:gd name="connsiteX6" fmla="*/ 0 w 7194629"/>
              <a:gd name="connsiteY6" fmla="*/ 739200 h 5888400"/>
              <a:gd name="connsiteX0" fmla="*/ 0 w 7194629"/>
              <a:gd name="connsiteY0" fmla="*/ 0 h 5149200"/>
              <a:gd name="connsiteX1" fmla="*/ 2336185 w 7194629"/>
              <a:gd name="connsiteY1" fmla="*/ 2496000 h 5149200"/>
              <a:gd name="connsiteX2" fmla="*/ 3622585 w 7194629"/>
              <a:gd name="connsiteY2" fmla="*/ 1670400 h 5149200"/>
              <a:gd name="connsiteX3" fmla="*/ 7194629 w 7194629"/>
              <a:gd name="connsiteY3" fmla="*/ 5149200 h 5149200"/>
              <a:gd name="connsiteX4" fmla="*/ 2313585 w 7194629"/>
              <a:gd name="connsiteY4" fmla="*/ 5130000 h 5149200"/>
              <a:gd name="connsiteX5" fmla="*/ 777600 w 7194629"/>
              <a:gd name="connsiteY5" fmla="*/ 3716880 h 5149200"/>
              <a:gd name="connsiteX6" fmla="*/ 0 w 7194629"/>
              <a:gd name="connsiteY6" fmla="*/ 0 h 5149200"/>
              <a:gd name="connsiteX0" fmla="*/ 0 w 7194629"/>
              <a:gd name="connsiteY0" fmla="*/ 0 h 5149200"/>
              <a:gd name="connsiteX1" fmla="*/ 3622585 w 7194629"/>
              <a:gd name="connsiteY1" fmla="*/ 1670400 h 5149200"/>
              <a:gd name="connsiteX2" fmla="*/ 7194629 w 7194629"/>
              <a:gd name="connsiteY2" fmla="*/ 5149200 h 5149200"/>
              <a:gd name="connsiteX3" fmla="*/ 2313585 w 7194629"/>
              <a:gd name="connsiteY3" fmla="*/ 5130000 h 5149200"/>
              <a:gd name="connsiteX4" fmla="*/ 777600 w 7194629"/>
              <a:gd name="connsiteY4" fmla="*/ 3716880 h 5149200"/>
              <a:gd name="connsiteX5" fmla="*/ 0 w 7194629"/>
              <a:gd name="connsiteY5" fmla="*/ 0 h 5149200"/>
              <a:gd name="connsiteX0" fmla="*/ 1737600 w 6417029"/>
              <a:gd name="connsiteY0" fmla="*/ 79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737600 w 6417029"/>
              <a:gd name="connsiteY5" fmla="*/ 796800 h 3478800"/>
              <a:gd name="connsiteX0" fmla="*/ 1392000 w 6417029"/>
              <a:gd name="connsiteY0" fmla="*/ 103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392000 w 6417029"/>
              <a:gd name="connsiteY5" fmla="*/ 1036800 h 3478800"/>
              <a:gd name="connsiteX0" fmla="*/ 1369520 w 6394549"/>
              <a:gd name="connsiteY0" fmla="*/ 1036800 h 3478800"/>
              <a:gd name="connsiteX1" fmla="*/ 2822505 w 6394549"/>
              <a:gd name="connsiteY1" fmla="*/ 0 h 3478800"/>
              <a:gd name="connsiteX2" fmla="*/ 6394549 w 6394549"/>
              <a:gd name="connsiteY2" fmla="*/ 3478800 h 3478800"/>
              <a:gd name="connsiteX3" fmla="*/ 1513505 w 6394549"/>
              <a:gd name="connsiteY3" fmla="*/ 3459600 h 3478800"/>
              <a:gd name="connsiteX4" fmla="*/ 0 w 6394549"/>
              <a:gd name="connsiteY4" fmla="*/ 2001521 h 3478800"/>
              <a:gd name="connsiteX5" fmla="*/ 1369520 w 6394549"/>
              <a:gd name="connsiteY5" fmla="*/ 1036800 h 3478800"/>
              <a:gd name="connsiteX0" fmla="*/ 1369520 w 6394549"/>
              <a:gd name="connsiteY0" fmla="*/ 1036800 h 3482080"/>
              <a:gd name="connsiteX1" fmla="*/ 2822505 w 6394549"/>
              <a:gd name="connsiteY1" fmla="*/ 0 h 3482080"/>
              <a:gd name="connsiteX2" fmla="*/ 6394549 w 6394549"/>
              <a:gd name="connsiteY2" fmla="*/ 3478800 h 3482080"/>
              <a:gd name="connsiteX3" fmla="*/ 1513506 w 6394549"/>
              <a:gd name="connsiteY3" fmla="*/ 3482080 h 3482080"/>
              <a:gd name="connsiteX4" fmla="*/ 0 w 6394549"/>
              <a:gd name="connsiteY4" fmla="*/ 2001521 h 3482080"/>
              <a:gd name="connsiteX5" fmla="*/ 1369520 w 6394549"/>
              <a:gd name="connsiteY5" fmla="*/ 1036800 h 3482080"/>
              <a:gd name="connsiteX0" fmla="*/ 1369520 w 5826494"/>
              <a:gd name="connsiteY0" fmla="*/ 1036800 h 3482080"/>
              <a:gd name="connsiteX1" fmla="*/ 2822505 w 5826494"/>
              <a:gd name="connsiteY1" fmla="*/ 0 h 3482080"/>
              <a:gd name="connsiteX2" fmla="*/ 5826494 w 5826494"/>
              <a:gd name="connsiteY2" fmla="*/ 2934088 h 3482080"/>
              <a:gd name="connsiteX3" fmla="*/ 1513506 w 5826494"/>
              <a:gd name="connsiteY3" fmla="*/ 3482080 h 3482080"/>
              <a:gd name="connsiteX4" fmla="*/ 0 w 5826494"/>
              <a:gd name="connsiteY4" fmla="*/ 2001521 h 3482080"/>
              <a:gd name="connsiteX5" fmla="*/ 1369520 w 5826494"/>
              <a:gd name="connsiteY5" fmla="*/ 1036800 h 348208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1427908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961012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44581 h 2952931"/>
              <a:gd name="connsiteX1" fmla="*/ 2814724 w 5826494"/>
              <a:gd name="connsiteY1" fmla="*/ 0 h 2952931"/>
              <a:gd name="connsiteX2" fmla="*/ 5826494 w 5826494"/>
              <a:gd name="connsiteY2" fmla="*/ 2941869 h 2952931"/>
              <a:gd name="connsiteX3" fmla="*/ 961012 w 5826494"/>
              <a:gd name="connsiteY3" fmla="*/ 2952931 h 2952931"/>
              <a:gd name="connsiteX4" fmla="*/ 0 w 5826494"/>
              <a:gd name="connsiteY4" fmla="*/ 2009302 h 2952931"/>
              <a:gd name="connsiteX5" fmla="*/ 1369520 w 5826494"/>
              <a:gd name="connsiteY5" fmla="*/ 1044581 h 2952931"/>
              <a:gd name="connsiteX0" fmla="*/ 1369520 w 5849839"/>
              <a:gd name="connsiteY0" fmla="*/ 1044581 h 2952931"/>
              <a:gd name="connsiteX1" fmla="*/ 2814724 w 5849839"/>
              <a:gd name="connsiteY1" fmla="*/ 0 h 2952931"/>
              <a:gd name="connsiteX2" fmla="*/ 5849839 w 5849839"/>
              <a:gd name="connsiteY2" fmla="*/ 2941870 h 2952931"/>
              <a:gd name="connsiteX3" fmla="*/ 961012 w 5849839"/>
              <a:gd name="connsiteY3" fmla="*/ 2952931 h 2952931"/>
              <a:gd name="connsiteX4" fmla="*/ 0 w 5849839"/>
              <a:gd name="connsiteY4" fmla="*/ 2009302 h 2952931"/>
              <a:gd name="connsiteX5" fmla="*/ 1369520 w 5849839"/>
              <a:gd name="connsiteY5" fmla="*/ 1044581 h 2952931"/>
              <a:gd name="connsiteX0" fmla="*/ 1369520 w 5849839"/>
              <a:gd name="connsiteY0" fmla="*/ 1008453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69520 w 5849839"/>
              <a:gd name="connsiteY5" fmla="*/ 1008453 h 2916803"/>
              <a:gd name="connsiteX0" fmla="*/ 1355069 w 5849839"/>
              <a:gd name="connsiteY0" fmla="*/ 1066259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55069 w 5849839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29819 h 2916803"/>
              <a:gd name="connsiteX5" fmla="*/ 1340618 w 5835388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58723 h 2916803"/>
              <a:gd name="connsiteX5" fmla="*/ 1340618 w 5835388"/>
              <a:gd name="connsiteY5" fmla="*/ 1066259 h 2916803"/>
              <a:gd name="connsiteX0" fmla="*/ 1340618 w 5777582"/>
              <a:gd name="connsiteY0" fmla="*/ 1066259 h 2916803"/>
              <a:gd name="connsiteX1" fmla="*/ 2894208 w 5777582"/>
              <a:gd name="connsiteY1" fmla="*/ 0 h 2916803"/>
              <a:gd name="connsiteX2" fmla="*/ 5777582 w 5777582"/>
              <a:gd name="connsiteY2" fmla="*/ 2905742 h 2916803"/>
              <a:gd name="connsiteX3" fmla="*/ 946561 w 5777582"/>
              <a:gd name="connsiteY3" fmla="*/ 2916803 h 2916803"/>
              <a:gd name="connsiteX4" fmla="*/ 0 w 5777582"/>
              <a:gd name="connsiteY4" fmla="*/ 1958723 h 2916803"/>
              <a:gd name="connsiteX5" fmla="*/ 1340618 w 5777582"/>
              <a:gd name="connsiteY5" fmla="*/ 1066259 h 2916803"/>
              <a:gd name="connsiteX0" fmla="*/ 1340618 w 5828162"/>
              <a:gd name="connsiteY0" fmla="*/ 1066259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5" fmla="*/ 1340618 w 5828162"/>
              <a:gd name="connsiteY5" fmla="*/ 1066259 h 2916803"/>
              <a:gd name="connsiteX0" fmla="*/ 0 w 5828162"/>
              <a:gd name="connsiteY0" fmla="*/ 1958723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0" fmla="*/ 0 w 5828162"/>
              <a:gd name="connsiteY0" fmla="*/ 1938491 h 2896571"/>
              <a:gd name="connsiteX1" fmla="*/ 2904324 w 5828162"/>
              <a:gd name="connsiteY1" fmla="*/ 0 h 2896571"/>
              <a:gd name="connsiteX2" fmla="*/ 5828162 w 5828162"/>
              <a:gd name="connsiteY2" fmla="*/ 2892736 h 2896571"/>
              <a:gd name="connsiteX3" fmla="*/ 946561 w 5828162"/>
              <a:gd name="connsiteY3" fmla="*/ 2896571 h 2896571"/>
              <a:gd name="connsiteX4" fmla="*/ 0 w 5828162"/>
              <a:gd name="connsiteY4" fmla="*/ 1938491 h 2896571"/>
              <a:gd name="connsiteX0" fmla="*/ 0 w 5797814"/>
              <a:gd name="connsiteY0" fmla="*/ 1948607 h 2896571"/>
              <a:gd name="connsiteX1" fmla="*/ 2873976 w 5797814"/>
              <a:gd name="connsiteY1" fmla="*/ 0 h 2896571"/>
              <a:gd name="connsiteX2" fmla="*/ 5797814 w 5797814"/>
              <a:gd name="connsiteY2" fmla="*/ 2892736 h 2896571"/>
              <a:gd name="connsiteX3" fmla="*/ 916213 w 5797814"/>
              <a:gd name="connsiteY3" fmla="*/ 2896571 h 2896571"/>
              <a:gd name="connsiteX4" fmla="*/ 0 w 5797814"/>
              <a:gd name="connsiteY4" fmla="*/ 1948607 h 2896571"/>
              <a:gd name="connsiteX0" fmla="*/ 0 w 5797814"/>
              <a:gd name="connsiteY0" fmla="*/ 1948607 h 2937035"/>
              <a:gd name="connsiteX1" fmla="*/ 2873976 w 5797814"/>
              <a:gd name="connsiteY1" fmla="*/ 0 h 2937035"/>
              <a:gd name="connsiteX2" fmla="*/ 5797814 w 5797814"/>
              <a:gd name="connsiteY2" fmla="*/ 2892736 h 2937035"/>
              <a:gd name="connsiteX3" fmla="*/ 936446 w 5797814"/>
              <a:gd name="connsiteY3" fmla="*/ 2937035 h 2937035"/>
              <a:gd name="connsiteX4" fmla="*/ 0 w 5797814"/>
              <a:gd name="connsiteY4" fmla="*/ 1948607 h 2937035"/>
              <a:gd name="connsiteX0" fmla="*/ 0 w 5797814"/>
              <a:gd name="connsiteY0" fmla="*/ 1908143 h 2896571"/>
              <a:gd name="connsiteX1" fmla="*/ 2681771 w 5797814"/>
              <a:gd name="connsiteY1" fmla="*/ 0 h 2896571"/>
              <a:gd name="connsiteX2" fmla="*/ 5797814 w 5797814"/>
              <a:gd name="connsiteY2" fmla="*/ 2852272 h 2896571"/>
              <a:gd name="connsiteX3" fmla="*/ 936446 w 5797814"/>
              <a:gd name="connsiteY3" fmla="*/ 2896571 h 2896571"/>
              <a:gd name="connsiteX4" fmla="*/ 0 w 5797814"/>
              <a:gd name="connsiteY4" fmla="*/ 1908143 h 2896571"/>
              <a:gd name="connsiteX0" fmla="*/ 0 w 5605609"/>
              <a:gd name="connsiteY0" fmla="*/ 1908143 h 2896571"/>
              <a:gd name="connsiteX1" fmla="*/ 2681771 w 5605609"/>
              <a:gd name="connsiteY1" fmla="*/ 0 h 2896571"/>
              <a:gd name="connsiteX2" fmla="*/ 5605609 w 5605609"/>
              <a:gd name="connsiteY2" fmla="*/ 2791576 h 2896571"/>
              <a:gd name="connsiteX3" fmla="*/ 936446 w 5605609"/>
              <a:gd name="connsiteY3" fmla="*/ 2896571 h 2896571"/>
              <a:gd name="connsiteX4" fmla="*/ 0 w 5605609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21925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42157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42157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72505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16885"/>
              <a:gd name="connsiteY0" fmla="*/ 1908143 h 2896571"/>
              <a:gd name="connsiteX1" fmla="*/ 2681771 w 5716885"/>
              <a:gd name="connsiteY1" fmla="*/ 0 h 2896571"/>
              <a:gd name="connsiteX2" fmla="*/ 5716885 w 5716885"/>
              <a:gd name="connsiteY2" fmla="*/ 2852273 h 2896571"/>
              <a:gd name="connsiteX3" fmla="*/ 936446 w 5716885"/>
              <a:gd name="connsiteY3" fmla="*/ 2896571 h 2896571"/>
              <a:gd name="connsiteX4" fmla="*/ 0 w 5716885"/>
              <a:gd name="connsiteY4" fmla="*/ 1908143 h 2896571"/>
              <a:gd name="connsiteX0" fmla="*/ 0 w 5716885"/>
              <a:gd name="connsiteY0" fmla="*/ 1867679 h 2856107"/>
              <a:gd name="connsiteX1" fmla="*/ 2661539 w 5716885"/>
              <a:gd name="connsiteY1" fmla="*/ 0 h 2856107"/>
              <a:gd name="connsiteX2" fmla="*/ 5716885 w 5716885"/>
              <a:gd name="connsiteY2" fmla="*/ 2811809 h 2856107"/>
              <a:gd name="connsiteX3" fmla="*/ 936446 w 5716885"/>
              <a:gd name="connsiteY3" fmla="*/ 2856107 h 2856107"/>
              <a:gd name="connsiteX4" fmla="*/ 0 w 5716885"/>
              <a:gd name="connsiteY4" fmla="*/ 1867679 h 2856107"/>
              <a:gd name="connsiteX0" fmla="*/ 0 w 5716885"/>
              <a:gd name="connsiteY0" fmla="*/ 1898027 h 2886455"/>
              <a:gd name="connsiteX1" fmla="*/ 2681771 w 5716885"/>
              <a:gd name="connsiteY1" fmla="*/ 0 h 2886455"/>
              <a:gd name="connsiteX2" fmla="*/ 5716885 w 5716885"/>
              <a:gd name="connsiteY2" fmla="*/ 2842157 h 2886455"/>
              <a:gd name="connsiteX3" fmla="*/ 936446 w 5716885"/>
              <a:gd name="connsiteY3" fmla="*/ 2886455 h 2886455"/>
              <a:gd name="connsiteX4" fmla="*/ 0 w 5716885"/>
              <a:gd name="connsiteY4" fmla="*/ 1898027 h 2886455"/>
              <a:gd name="connsiteX0" fmla="*/ 0 w 5686537"/>
              <a:gd name="connsiteY0" fmla="*/ 1948607 h 2886455"/>
              <a:gd name="connsiteX1" fmla="*/ 2651423 w 5686537"/>
              <a:gd name="connsiteY1" fmla="*/ 0 h 2886455"/>
              <a:gd name="connsiteX2" fmla="*/ 5686537 w 5686537"/>
              <a:gd name="connsiteY2" fmla="*/ 2842157 h 2886455"/>
              <a:gd name="connsiteX3" fmla="*/ 906098 w 5686537"/>
              <a:gd name="connsiteY3" fmla="*/ 2886455 h 2886455"/>
              <a:gd name="connsiteX4" fmla="*/ 0 w 5686537"/>
              <a:gd name="connsiteY4" fmla="*/ 1948607 h 2886455"/>
              <a:gd name="connsiteX0" fmla="*/ 0 w 5565144"/>
              <a:gd name="connsiteY0" fmla="*/ 2059884 h 2886455"/>
              <a:gd name="connsiteX1" fmla="*/ 2530030 w 5565144"/>
              <a:gd name="connsiteY1" fmla="*/ 0 h 2886455"/>
              <a:gd name="connsiteX2" fmla="*/ 5565144 w 5565144"/>
              <a:gd name="connsiteY2" fmla="*/ 2842157 h 2886455"/>
              <a:gd name="connsiteX3" fmla="*/ 784705 w 5565144"/>
              <a:gd name="connsiteY3" fmla="*/ 2886455 h 2886455"/>
              <a:gd name="connsiteX4" fmla="*/ 0 w 5565144"/>
              <a:gd name="connsiteY4" fmla="*/ 2059884 h 2886455"/>
              <a:gd name="connsiteX0" fmla="*/ 0 w 5585376"/>
              <a:gd name="connsiteY0" fmla="*/ 2059884 h 2886455"/>
              <a:gd name="connsiteX1" fmla="*/ 2530030 w 5585376"/>
              <a:gd name="connsiteY1" fmla="*/ 0 h 2886455"/>
              <a:gd name="connsiteX2" fmla="*/ 5585376 w 5585376"/>
              <a:gd name="connsiteY2" fmla="*/ 2862389 h 2886455"/>
              <a:gd name="connsiteX3" fmla="*/ 784705 w 5585376"/>
              <a:gd name="connsiteY3" fmla="*/ 2886455 h 2886455"/>
              <a:gd name="connsiteX4" fmla="*/ 0 w 5585376"/>
              <a:gd name="connsiteY4" fmla="*/ 2059884 h 2886455"/>
              <a:gd name="connsiteX0" fmla="*/ 0 w 5635956"/>
              <a:gd name="connsiteY0" fmla="*/ 2059884 h 2886455"/>
              <a:gd name="connsiteX1" fmla="*/ 2530030 w 5635956"/>
              <a:gd name="connsiteY1" fmla="*/ 0 h 2886455"/>
              <a:gd name="connsiteX2" fmla="*/ 5635956 w 5635956"/>
              <a:gd name="connsiteY2" fmla="*/ 2872505 h 2886455"/>
              <a:gd name="connsiteX3" fmla="*/ 784705 w 5635956"/>
              <a:gd name="connsiteY3" fmla="*/ 2886455 h 2886455"/>
              <a:gd name="connsiteX4" fmla="*/ 0 w 5635956"/>
              <a:gd name="connsiteY4" fmla="*/ 2059884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9151"/>
              <a:gd name="connsiteY0" fmla="*/ 1919945 h 2886455"/>
              <a:gd name="connsiteX1" fmla="*/ 2663225 w 5769151"/>
              <a:gd name="connsiteY1" fmla="*/ 0 h 2886455"/>
              <a:gd name="connsiteX2" fmla="*/ 5769151 w 5769151"/>
              <a:gd name="connsiteY2" fmla="*/ 2872505 h 2886455"/>
              <a:gd name="connsiteX3" fmla="*/ 917900 w 5769151"/>
              <a:gd name="connsiteY3" fmla="*/ 2886455 h 2886455"/>
              <a:gd name="connsiteX4" fmla="*/ 0 w 5769151"/>
              <a:gd name="connsiteY4" fmla="*/ 1919945 h 2886455"/>
              <a:gd name="connsiteX0" fmla="*/ 0 w 5769151"/>
              <a:gd name="connsiteY0" fmla="*/ 1899713 h 2866223"/>
              <a:gd name="connsiteX1" fmla="*/ 2656482 w 5769151"/>
              <a:gd name="connsiteY1" fmla="*/ 0 h 2866223"/>
              <a:gd name="connsiteX2" fmla="*/ 5769151 w 5769151"/>
              <a:gd name="connsiteY2" fmla="*/ 2852273 h 2866223"/>
              <a:gd name="connsiteX3" fmla="*/ 917900 w 5769151"/>
              <a:gd name="connsiteY3" fmla="*/ 2866223 h 2866223"/>
              <a:gd name="connsiteX4" fmla="*/ 0 w 5769151"/>
              <a:gd name="connsiteY4" fmla="*/ 1899713 h 2866223"/>
              <a:gd name="connsiteX0" fmla="*/ 0 w 5769151"/>
              <a:gd name="connsiteY0" fmla="*/ 1899713 h 2872967"/>
              <a:gd name="connsiteX1" fmla="*/ 2656482 w 5769151"/>
              <a:gd name="connsiteY1" fmla="*/ 0 h 2872967"/>
              <a:gd name="connsiteX2" fmla="*/ 5769151 w 5769151"/>
              <a:gd name="connsiteY2" fmla="*/ 2852273 h 2872967"/>
              <a:gd name="connsiteX3" fmla="*/ 911157 w 5769151"/>
              <a:gd name="connsiteY3" fmla="*/ 2872967 h 2872967"/>
              <a:gd name="connsiteX4" fmla="*/ 0 w 5769151"/>
              <a:gd name="connsiteY4" fmla="*/ 1899713 h 2872967"/>
              <a:gd name="connsiteX0" fmla="*/ 0 w 5769151"/>
              <a:gd name="connsiteY0" fmla="*/ 1899713 h 2879711"/>
              <a:gd name="connsiteX1" fmla="*/ 2656482 w 5769151"/>
              <a:gd name="connsiteY1" fmla="*/ 0 h 2879711"/>
              <a:gd name="connsiteX2" fmla="*/ 5769151 w 5769151"/>
              <a:gd name="connsiteY2" fmla="*/ 2852273 h 2879711"/>
              <a:gd name="connsiteX3" fmla="*/ 911157 w 5769151"/>
              <a:gd name="connsiteY3" fmla="*/ 2879711 h 2879711"/>
              <a:gd name="connsiteX4" fmla="*/ 0 w 5769151"/>
              <a:gd name="connsiteY4" fmla="*/ 1899713 h 2879711"/>
              <a:gd name="connsiteX0" fmla="*/ 0 w 5769151"/>
              <a:gd name="connsiteY0" fmla="*/ 1988229 h 2968227"/>
              <a:gd name="connsiteX1" fmla="*/ 2669127 w 5769151"/>
              <a:gd name="connsiteY1" fmla="*/ 0 h 2968227"/>
              <a:gd name="connsiteX2" fmla="*/ 5769151 w 5769151"/>
              <a:gd name="connsiteY2" fmla="*/ 2940789 h 2968227"/>
              <a:gd name="connsiteX3" fmla="*/ 911157 w 5769151"/>
              <a:gd name="connsiteY3" fmla="*/ 2968227 h 2968227"/>
              <a:gd name="connsiteX4" fmla="*/ 0 w 5769151"/>
              <a:gd name="connsiteY4" fmla="*/ 1988229 h 2968227"/>
              <a:gd name="connsiteX0" fmla="*/ 0 w 5769151"/>
              <a:gd name="connsiteY0" fmla="*/ 196293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1962939 h 2942937"/>
              <a:gd name="connsiteX0" fmla="*/ 0 w 5769151"/>
              <a:gd name="connsiteY0" fmla="*/ 201351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2013519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860578 w 5503605"/>
              <a:gd name="connsiteY3" fmla="*/ 2942937 h 2942937"/>
              <a:gd name="connsiteX4" fmla="*/ 0 w 5503605"/>
              <a:gd name="connsiteY4" fmla="*/ 2317001 h 2942937"/>
              <a:gd name="connsiteX0" fmla="*/ 0 w 5364509"/>
              <a:gd name="connsiteY0" fmla="*/ 2215840 h 2942937"/>
              <a:gd name="connsiteX1" fmla="*/ 2289775 w 5364509"/>
              <a:gd name="connsiteY1" fmla="*/ 0 h 2942937"/>
              <a:gd name="connsiteX2" fmla="*/ 5364509 w 5364509"/>
              <a:gd name="connsiteY2" fmla="*/ 2915499 h 2942937"/>
              <a:gd name="connsiteX3" fmla="*/ 721482 w 5364509"/>
              <a:gd name="connsiteY3" fmla="*/ 2942937 h 2942937"/>
              <a:gd name="connsiteX4" fmla="*/ 0 w 5364509"/>
              <a:gd name="connsiteY4" fmla="*/ 2215840 h 2942937"/>
              <a:gd name="connsiteX0" fmla="*/ 0 w 5364509"/>
              <a:gd name="connsiteY0" fmla="*/ 2215840 h 2915499"/>
              <a:gd name="connsiteX1" fmla="*/ 2289775 w 5364509"/>
              <a:gd name="connsiteY1" fmla="*/ 0 h 2915499"/>
              <a:gd name="connsiteX2" fmla="*/ 5364509 w 5364509"/>
              <a:gd name="connsiteY2" fmla="*/ 2915499 h 2915499"/>
              <a:gd name="connsiteX3" fmla="*/ 0 w 5364509"/>
              <a:gd name="connsiteY3" fmla="*/ 2215840 h 2915499"/>
              <a:gd name="connsiteX0" fmla="*/ 0 w 5327774"/>
              <a:gd name="connsiteY0" fmla="*/ 2348085 h 2915499"/>
              <a:gd name="connsiteX1" fmla="*/ 2253040 w 5327774"/>
              <a:gd name="connsiteY1" fmla="*/ 0 h 2915499"/>
              <a:gd name="connsiteX2" fmla="*/ 5327774 w 5327774"/>
              <a:gd name="connsiteY2" fmla="*/ 2915499 h 2915499"/>
              <a:gd name="connsiteX3" fmla="*/ 0 w 5327774"/>
              <a:gd name="connsiteY3" fmla="*/ 2348085 h 2915499"/>
              <a:gd name="connsiteX0" fmla="*/ 0 w 4695932"/>
              <a:gd name="connsiteY0" fmla="*/ 2348085 h 2348085"/>
              <a:gd name="connsiteX1" fmla="*/ 2253040 w 4695932"/>
              <a:gd name="connsiteY1" fmla="*/ 0 h 2348085"/>
              <a:gd name="connsiteX2" fmla="*/ 4695932 w 4695932"/>
              <a:gd name="connsiteY2" fmla="*/ 2320392 h 2348085"/>
              <a:gd name="connsiteX3" fmla="*/ 0 w 4695932"/>
              <a:gd name="connsiteY3" fmla="*/ 2348085 h 2348085"/>
              <a:gd name="connsiteX0" fmla="*/ 0 w 4695932"/>
              <a:gd name="connsiteY0" fmla="*/ 2460076 h 2460076"/>
              <a:gd name="connsiteX1" fmla="*/ 2358807 w 4695932"/>
              <a:gd name="connsiteY1" fmla="*/ 0 h 2460076"/>
              <a:gd name="connsiteX2" fmla="*/ 4695932 w 4695932"/>
              <a:gd name="connsiteY2" fmla="*/ 2432383 h 2460076"/>
              <a:gd name="connsiteX3" fmla="*/ 0 w 4695932"/>
              <a:gd name="connsiteY3" fmla="*/ 2460076 h 2460076"/>
              <a:gd name="connsiteX0" fmla="*/ 0 w 4695932"/>
              <a:gd name="connsiteY0" fmla="*/ 2377949 h 2377949"/>
              <a:gd name="connsiteX1" fmla="*/ 2288296 w 4695932"/>
              <a:gd name="connsiteY1" fmla="*/ 0 h 2377949"/>
              <a:gd name="connsiteX2" fmla="*/ 4695932 w 4695932"/>
              <a:gd name="connsiteY2" fmla="*/ 2350256 h 2377949"/>
              <a:gd name="connsiteX3" fmla="*/ 0 w 4695932"/>
              <a:gd name="connsiteY3" fmla="*/ 2377949 h 2377949"/>
              <a:gd name="connsiteX0" fmla="*/ 0 w 4646574"/>
              <a:gd name="connsiteY0" fmla="*/ 2377949 h 2377949"/>
              <a:gd name="connsiteX1" fmla="*/ 2288296 w 4646574"/>
              <a:gd name="connsiteY1" fmla="*/ 0 h 2377949"/>
              <a:gd name="connsiteX2" fmla="*/ 4646574 w 4646574"/>
              <a:gd name="connsiteY2" fmla="*/ 2350256 h 2377949"/>
              <a:gd name="connsiteX3" fmla="*/ 0 w 4646574"/>
              <a:gd name="connsiteY3" fmla="*/ 2377949 h 2377949"/>
              <a:gd name="connsiteX0" fmla="*/ 0 w 5491143"/>
              <a:gd name="connsiteY0" fmla="*/ 2423575 h 2423575"/>
              <a:gd name="connsiteX1" fmla="*/ 3132865 w 5491143"/>
              <a:gd name="connsiteY1" fmla="*/ 0 h 2423575"/>
              <a:gd name="connsiteX2" fmla="*/ 5491143 w 5491143"/>
              <a:gd name="connsiteY2" fmla="*/ 2350256 h 2423575"/>
              <a:gd name="connsiteX3" fmla="*/ 0 w 5491143"/>
              <a:gd name="connsiteY3" fmla="*/ 2423575 h 2423575"/>
              <a:gd name="connsiteX0" fmla="*/ 0 w 5439435"/>
              <a:gd name="connsiteY0" fmla="*/ 2423575 h 2423575"/>
              <a:gd name="connsiteX1" fmla="*/ 3132865 w 5439435"/>
              <a:gd name="connsiteY1" fmla="*/ 0 h 2423575"/>
              <a:gd name="connsiteX2" fmla="*/ 5439435 w 5439435"/>
              <a:gd name="connsiteY2" fmla="*/ 2359381 h 2423575"/>
              <a:gd name="connsiteX3" fmla="*/ 0 w 5439435"/>
              <a:gd name="connsiteY3" fmla="*/ 2423575 h 2423575"/>
              <a:gd name="connsiteX0" fmla="*/ 0 w 5482525"/>
              <a:gd name="connsiteY0" fmla="*/ 2423575 h 2423575"/>
              <a:gd name="connsiteX1" fmla="*/ 3132865 w 5482525"/>
              <a:gd name="connsiteY1" fmla="*/ 0 h 2423575"/>
              <a:gd name="connsiteX2" fmla="*/ 5482525 w 5482525"/>
              <a:gd name="connsiteY2" fmla="*/ 2414133 h 2423575"/>
              <a:gd name="connsiteX3" fmla="*/ 0 w 5482525"/>
              <a:gd name="connsiteY3" fmla="*/ 2423575 h 2423575"/>
              <a:gd name="connsiteX0" fmla="*/ 0 w 5491143"/>
              <a:gd name="connsiteY0" fmla="*/ 2405325 h 2414133"/>
              <a:gd name="connsiteX1" fmla="*/ 3141483 w 5491143"/>
              <a:gd name="connsiteY1" fmla="*/ 0 h 2414133"/>
              <a:gd name="connsiteX2" fmla="*/ 5491143 w 5491143"/>
              <a:gd name="connsiteY2" fmla="*/ 2414133 h 2414133"/>
              <a:gd name="connsiteX3" fmla="*/ 0 w 5491143"/>
              <a:gd name="connsiteY3" fmla="*/ 2405325 h 2414133"/>
              <a:gd name="connsiteX0" fmla="*/ 0 w 5516997"/>
              <a:gd name="connsiteY0" fmla="*/ 2405325 h 2405325"/>
              <a:gd name="connsiteX1" fmla="*/ 3141483 w 5516997"/>
              <a:gd name="connsiteY1" fmla="*/ 0 h 2405325"/>
              <a:gd name="connsiteX2" fmla="*/ 5516997 w 5516997"/>
              <a:gd name="connsiteY2" fmla="*/ 2395882 h 2405325"/>
              <a:gd name="connsiteX3" fmla="*/ 0 w 5516997"/>
              <a:gd name="connsiteY3" fmla="*/ 2405325 h 2405325"/>
              <a:gd name="connsiteX0" fmla="*/ 0 w 5524753"/>
              <a:gd name="connsiteY0" fmla="*/ 2413538 h 2413538"/>
              <a:gd name="connsiteX1" fmla="*/ 3149239 w 5524753"/>
              <a:gd name="connsiteY1" fmla="*/ 0 h 2413538"/>
              <a:gd name="connsiteX2" fmla="*/ 5524753 w 5524753"/>
              <a:gd name="connsiteY2" fmla="*/ 2395882 h 2413538"/>
              <a:gd name="connsiteX3" fmla="*/ 0 w 5524753"/>
              <a:gd name="connsiteY3" fmla="*/ 2413538 h 2413538"/>
              <a:gd name="connsiteX0" fmla="*/ 0 w 5435258"/>
              <a:gd name="connsiteY0" fmla="*/ 2413538 h 2413538"/>
              <a:gd name="connsiteX1" fmla="*/ 3149239 w 5435258"/>
              <a:gd name="connsiteY1" fmla="*/ 0 h 2413538"/>
              <a:gd name="connsiteX2" fmla="*/ 5435258 w 5435258"/>
              <a:gd name="connsiteY2" fmla="*/ 2370611 h 2413538"/>
              <a:gd name="connsiteX3" fmla="*/ 0 w 5435258"/>
              <a:gd name="connsiteY3" fmla="*/ 2413538 h 2413538"/>
              <a:gd name="connsiteX0" fmla="*/ 0 w 5314114"/>
              <a:gd name="connsiteY0" fmla="*/ 2413538 h 2413538"/>
              <a:gd name="connsiteX1" fmla="*/ 3149239 w 5314114"/>
              <a:gd name="connsiteY1" fmla="*/ 0 h 2413538"/>
              <a:gd name="connsiteX2" fmla="*/ 5314114 w 5314114"/>
              <a:gd name="connsiteY2" fmla="*/ 2257604 h 2413538"/>
              <a:gd name="connsiteX3" fmla="*/ 0 w 5314114"/>
              <a:gd name="connsiteY3" fmla="*/ 2413538 h 2413538"/>
              <a:gd name="connsiteX0" fmla="*/ 0 w 5206430"/>
              <a:gd name="connsiteY0" fmla="*/ 2277929 h 2277929"/>
              <a:gd name="connsiteX1" fmla="*/ 3041555 w 5206430"/>
              <a:gd name="connsiteY1" fmla="*/ 0 h 2277929"/>
              <a:gd name="connsiteX2" fmla="*/ 5206430 w 5206430"/>
              <a:gd name="connsiteY2" fmla="*/ 2257604 h 2277929"/>
              <a:gd name="connsiteX3" fmla="*/ 0 w 5206430"/>
              <a:gd name="connsiteY3" fmla="*/ 2277929 h 2277929"/>
              <a:gd name="connsiteX0" fmla="*/ 0 w 5219891"/>
              <a:gd name="connsiteY0" fmla="*/ 2277929 h 2277929"/>
              <a:gd name="connsiteX1" fmla="*/ 3041555 w 5219891"/>
              <a:gd name="connsiteY1" fmla="*/ 0 h 2277929"/>
              <a:gd name="connsiteX2" fmla="*/ 5219891 w 5219891"/>
              <a:gd name="connsiteY2" fmla="*/ 2257604 h 2277929"/>
              <a:gd name="connsiteX3" fmla="*/ 0 w 5219891"/>
              <a:gd name="connsiteY3" fmla="*/ 2277929 h 2277929"/>
              <a:gd name="connsiteX0" fmla="*/ 0 w 5246811"/>
              <a:gd name="connsiteY0" fmla="*/ 2277929 h 2277929"/>
              <a:gd name="connsiteX1" fmla="*/ 3041555 w 5246811"/>
              <a:gd name="connsiteY1" fmla="*/ 0 h 2277929"/>
              <a:gd name="connsiteX2" fmla="*/ 5246811 w 5246811"/>
              <a:gd name="connsiteY2" fmla="*/ 2257604 h 2277929"/>
              <a:gd name="connsiteX3" fmla="*/ 0 w 5246811"/>
              <a:gd name="connsiteY3" fmla="*/ 2277929 h 2277929"/>
              <a:gd name="connsiteX0" fmla="*/ 0 w 5246811"/>
              <a:gd name="connsiteY0" fmla="*/ 2284743 h 2284743"/>
              <a:gd name="connsiteX1" fmla="*/ 3041555 w 5246811"/>
              <a:gd name="connsiteY1" fmla="*/ 0 h 2284743"/>
              <a:gd name="connsiteX2" fmla="*/ 5246811 w 5246811"/>
              <a:gd name="connsiteY2" fmla="*/ 2264418 h 2284743"/>
              <a:gd name="connsiteX3" fmla="*/ 0 w 5246811"/>
              <a:gd name="connsiteY3" fmla="*/ 2284743 h 2284743"/>
              <a:gd name="connsiteX0" fmla="*/ 0 w 5222463"/>
              <a:gd name="connsiteY0" fmla="*/ 2298370 h 2298370"/>
              <a:gd name="connsiteX1" fmla="*/ 3017207 w 5222463"/>
              <a:gd name="connsiteY1" fmla="*/ 0 h 2298370"/>
              <a:gd name="connsiteX2" fmla="*/ 5222463 w 5222463"/>
              <a:gd name="connsiteY2" fmla="*/ 2264418 h 2298370"/>
              <a:gd name="connsiteX3" fmla="*/ 0 w 5222463"/>
              <a:gd name="connsiteY3" fmla="*/ 2298370 h 2298370"/>
              <a:gd name="connsiteX0" fmla="*/ 0 w 5198115"/>
              <a:gd name="connsiteY0" fmla="*/ 2298370 h 2298370"/>
              <a:gd name="connsiteX1" fmla="*/ 3017207 w 5198115"/>
              <a:gd name="connsiteY1" fmla="*/ 0 h 2298370"/>
              <a:gd name="connsiteX2" fmla="*/ 5198115 w 5198115"/>
              <a:gd name="connsiteY2" fmla="*/ 2271232 h 2298370"/>
              <a:gd name="connsiteX3" fmla="*/ 0 w 5198115"/>
              <a:gd name="connsiteY3" fmla="*/ 2298370 h 2298370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66084 h 2293222"/>
              <a:gd name="connsiteX3" fmla="*/ 0 w 5198115"/>
              <a:gd name="connsiteY3" fmla="*/ 2293222 h 2293222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55788 h 2293222"/>
              <a:gd name="connsiteX3" fmla="*/ 0 w 5198115"/>
              <a:gd name="connsiteY3" fmla="*/ 2293222 h 2293222"/>
              <a:gd name="connsiteX0" fmla="*/ 0 w 5179719"/>
              <a:gd name="connsiteY0" fmla="*/ 2293222 h 2293222"/>
              <a:gd name="connsiteX1" fmla="*/ 2998811 w 5179719"/>
              <a:gd name="connsiteY1" fmla="*/ 0 h 2293222"/>
              <a:gd name="connsiteX2" fmla="*/ 5179719 w 5179719"/>
              <a:gd name="connsiteY2" fmla="*/ 2255788 h 2293222"/>
              <a:gd name="connsiteX3" fmla="*/ 0 w 5179719"/>
              <a:gd name="connsiteY3" fmla="*/ 2293222 h 2293222"/>
              <a:gd name="connsiteX0" fmla="*/ 0 w 5210379"/>
              <a:gd name="connsiteY0" fmla="*/ 2293222 h 2293222"/>
              <a:gd name="connsiteX1" fmla="*/ 2998811 w 5210379"/>
              <a:gd name="connsiteY1" fmla="*/ 0 h 2293222"/>
              <a:gd name="connsiteX2" fmla="*/ 5210379 w 5210379"/>
              <a:gd name="connsiteY2" fmla="*/ 2255788 h 2293222"/>
              <a:gd name="connsiteX3" fmla="*/ 0 w 5210379"/>
              <a:gd name="connsiteY3" fmla="*/ 2293222 h 2293222"/>
              <a:gd name="connsiteX0" fmla="*/ 0 w 5165070"/>
              <a:gd name="connsiteY0" fmla="*/ 2254611 h 2255788"/>
              <a:gd name="connsiteX1" fmla="*/ 2953502 w 5165070"/>
              <a:gd name="connsiteY1" fmla="*/ 0 h 2255788"/>
              <a:gd name="connsiteX2" fmla="*/ 5165070 w 5165070"/>
              <a:gd name="connsiteY2" fmla="*/ 2255788 h 2255788"/>
              <a:gd name="connsiteX3" fmla="*/ 0 w 5165070"/>
              <a:gd name="connsiteY3" fmla="*/ 2254611 h 2255788"/>
              <a:gd name="connsiteX0" fmla="*/ 0 w 5138640"/>
              <a:gd name="connsiteY0" fmla="*/ 2241741 h 2255788"/>
              <a:gd name="connsiteX1" fmla="*/ 2927072 w 5138640"/>
              <a:gd name="connsiteY1" fmla="*/ 0 h 2255788"/>
              <a:gd name="connsiteX2" fmla="*/ 5138640 w 5138640"/>
              <a:gd name="connsiteY2" fmla="*/ 2255788 h 2255788"/>
              <a:gd name="connsiteX3" fmla="*/ 0 w 5138640"/>
              <a:gd name="connsiteY3" fmla="*/ 2241741 h 2255788"/>
              <a:gd name="connsiteX0" fmla="*/ 0 w 5149967"/>
              <a:gd name="connsiteY0" fmla="*/ 2251394 h 2255788"/>
              <a:gd name="connsiteX1" fmla="*/ 2938399 w 5149967"/>
              <a:gd name="connsiteY1" fmla="*/ 0 h 2255788"/>
              <a:gd name="connsiteX2" fmla="*/ 5149967 w 5149967"/>
              <a:gd name="connsiteY2" fmla="*/ 2255788 h 2255788"/>
              <a:gd name="connsiteX3" fmla="*/ 0 w 5149967"/>
              <a:gd name="connsiteY3" fmla="*/ 2251394 h 2255788"/>
              <a:gd name="connsiteX0" fmla="*/ 0 w 5161294"/>
              <a:gd name="connsiteY0" fmla="*/ 2251394 h 2255788"/>
              <a:gd name="connsiteX1" fmla="*/ 2949726 w 5161294"/>
              <a:gd name="connsiteY1" fmla="*/ 0 h 2255788"/>
              <a:gd name="connsiteX2" fmla="*/ 5161294 w 5161294"/>
              <a:gd name="connsiteY2" fmla="*/ 2255788 h 2255788"/>
              <a:gd name="connsiteX3" fmla="*/ 0 w 5161294"/>
              <a:gd name="connsiteY3" fmla="*/ 2251394 h 2255788"/>
              <a:gd name="connsiteX0" fmla="*/ 0 w 5161294"/>
              <a:gd name="connsiteY0" fmla="*/ 2246568 h 2250962"/>
              <a:gd name="connsiteX1" fmla="*/ 2955391 w 5161294"/>
              <a:gd name="connsiteY1" fmla="*/ 0 h 2250962"/>
              <a:gd name="connsiteX2" fmla="*/ 5161294 w 5161294"/>
              <a:gd name="connsiteY2" fmla="*/ 2250962 h 2250962"/>
              <a:gd name="connsiteX3" fmla="*/ 0 w 5161294"/>
              <a:gd name="connsiteY3" fmla="*/ 2246568 h 2250962"/>
              <a:gd name="connsiteX0" fmla="*/ 0 w 5149967"/>
              <a:gd name="connsiteY0" fmla="*/ 2246568 h 2246568"/>
              <a:gd name="connsiteX1" fmla="*/ 2955391 w 5149967"/>
              <a:gd name="connsiteY1" fmla="*/ 0 h 2246568"/>
              <a:gd name="connsiteX2" fmla="*/ 5149967 w 5149967"/>
              <a:gd name="connsiteY2" fmla="*/ 2243722 h 2246568"/>
              <a:gd name="connsiteX3" fmla="*/ 0 w 5149967"/>
              <a:gd name="connsiteY3" fmla="*/ 2246568 h 22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9967" h="2246568">
                <a:moveTo>
                  <a:pt x="0" y="2246568"/>
                </a:moveTo>
                <a:lnTo>
                  <a:pt x="2955391" y="0"/>
                </a:lnTo>
                <a:lnTo>
                  <a:pt x="5149967" y="2243722"/>
                </a:lnTo>
                <a:lnTo>
                  <a:pt x="0" y="2246568"/>
                </a:lnTo>
                <a:close/>
              </a:path>
            </a:pathLst>
          </a:cu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D" sz="1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11982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4ADB08-1EB9-42B6-AEE5-D0C769541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07F2-5ECD-4C9C-95FE-E9CAF6A0E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8F24D-21B0-455E-80A1-1C8917BE1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74F77-5866-4BE4-909E-22CFEB520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ITI121 Generative AI - PDC in Generative AI &amp; Deep Learning</a:t>
            </a: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9B2-EA38-47FE-848F-FF32C8E84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7" name="MSIPCMContentMarking" descr="{&quot;HashCode&quot;:-2012720162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D9BD36F5-CDDD-89EC-1204-46A113C95B1B}"/>
              </a:ext>
            </a:extLst>
          </p:cNvPr>
          <p:cNvSpPr txBox="1"/>
          <p:nvPr userDrawn="1"/>
        </p:nvSpPr>
        <p:spPr>
          <a:xfrm>
            <a:off x="0" y="0"/>
            <a:ext cx="103337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</a:rPr>
              <a:t>Official (Open)</a:t>
            </a:r>
          </a:p>
        </p:txBody>
      </p:sp>
    </p:spTree>
    <p:extLst>
      <p:ext uri="{BB962C8B-B14F-4D97-AF65-F5344CB8AC3E}">
        <p14:creationId xmlns:p14="http://schemas.microsoft.com/office/powerpoint/2010/main" val="351684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1" r:id="rId12"/>
    <p:sldLayoutId id="2147483692" r:id="rId13"/>
    <p:sldLayoutId id="2147483693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www.datacamp.com/tutorial/docker-model-runner" TargetMode="External"/><Relationship Id="rId3" Type="http://schemas.openxmlformats.org/officeDocument/2006/relationships/hyperlink" Target="https://docs.docker.com/ai/model-runner/" TargetMode="External"/><Relationship Id="rId4" Type="http://schemas.openxmlformats.org/officeDocument/2006/relationships/hyperlink" Target="https://hub.docker.com/catalogs/models" TargetMode="External"/><Relationship Id="rId5" Type="http://schemas.openxmlformats.org/officeDocument/2006/relationships/hyperlink" Target="https://huggingface.co/models?library=gguf" TargetMode="External"/><Relationship Id="rId6" Type="http://schemas.openxmlformats.org/officeDocument/2006/relationships/hyperlink" Target="https://github.com/ggml-org/llama.cpp" TargetMode="External"/><Relationship Id="rId7" Type="http://schemas.openxmlformats.org/officeDocument/2006/relationships/hyperlink" Target="https://huggingface.co/HuggingFaceTB/SmolLM2-360M-Instruct" TargetMode="External"/><Relationship Id="rId8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785A33-1C05-0A99-DEA3-DBBDF06F24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7451" y="1963253"/>
            <a:ext cx="6198982" cy="161359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SG" sz="4800" dirty="0"/>
              <a:t>Docker Model Runner</a:t>
            </a:r>
          </a:p>
        </p:txBody>
      </p:sp>
    </p:spTree>
    <p:extLst>
      <p:ext uri="{BB962C8B-B14F-4D97-AF65-F5344CB8AC3E}">
        <p14:creationId xmlns:p14="http://schemas.microsoft.com/office/powerpoint/2010/main" val="349616815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Upon completion of this session, the learners should be able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908792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64194"/>
                </a:solidFill>
                <a:latin typeface="Calibri"/>
              </a:rPr>
              <a:t>•  </a:t>
            </a:r>
            <a:r>
              <a:rPr sz="1500" b="0">
                <a:solidFill>
                  <a:srgbClr val="262626"/>
                </a:solidFill>
                <a:latin typeface="Calibri"/>
              </a:rPr>
              <a:t>Explain what Docker Model Runner is and the problem it solves for local AI development.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64194"/>
                </a:solidFill>
                <a:latin typeface="Calibri"/>
              </a:rPr>
              <a:t>•  </a:t>
            </a:r>
            <a:r>
              <a:rPr sz="1500" b="0">
                <a:solidFill>
                  <a:srgbClr val="262626"/>
                </a:solidFill>
                <a:latin typeface="Calibri"/>
              </a:rPr>
              <a:t>Describe its hybrid architecture and the three components that make it work.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64194"/>
                </a:solidFill>
                <a:latin typeface="Calibri"/>
              </a:rPr>
              <a:t>•  </a:t>
            </a:r>
            <a:r>
              <a:rPr sz="1500" b="0">
                <a:solidFill>
                  <a:srgbClr val="262626"/>
                </a:solidFill>
                <a:latin typeface="Calibri"/>
              </a:rPr>
              <a:t>Install and configure Model Runner on macOS, Windows or Linux, with GPU acceleration where available.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64194"/>
                </a:solidFill>
                <a:latin typeface="Calibri"/>
              </a:rPr>
              <a:t>•  </a:t>
            </a:r>
            <a:r>
              <a:rPr sz="1500" b="0">
                <a:solidFill>
                  <a:srgbClr val="262626"/>
                </a:solidFill>
                <a:latin typeface="Calibri"/>
              </a:rPr>
              <a:t>Pull, run and manage models from Docker Hub and Hugging Face using the Docker CLI.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64194"/>
                </a:solidFill>
                <a:latin typeface="Calibri"/>
              </a:rPr>
              <a:t>•  </a:t>
            </a:r>
            <a:r>
              <a:rPr sz="1500" b="0">
                <a:solidFill>
                  <a:srgbClr val="262626"/>
                </a:solidFill>
                <a:latin typeface="Calibri"/>
              </a:rPr>
              <a:t>Choose an appropriate quantization level for a given task.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64194"/>
                </a:solidFill>
                <a:latin typeface="Calibri"/>
              </a:rPr>
              <a:t>•  </a:t>
            </a:r>
            <a:r>
              <a:rPr sz="1500" b="0">
                <a:solidFill>
                  <a:srgbClr val="262626"/>
                </a:solidFill>
                <a:latin typeface="Calibri"/>
              </a:rPr>
              <a:t>Call a local model through the OpenAI-compatible REST API and from Docker Compose.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64194"/>
                </a:solidFill>
                <a:latin typeface="Calibri"/>
              </a:rPr>
              <a:t>•  </a:t>
            </a:r>
            <a:r>
              <a:rPr sz="1500" b="0">
                <a:solidFill>
                  <a:srgbClr val="262626"/>
                </a:solidFill>
                <a:latin typeface="Calibri"/>
              </a:rPr>
              <a:t>Compare Docker Model Runner with Ollama and NVIDIA NIM, and troubleshoot common failures.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Local AI Is Harder Than It Should Be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Running models on your own machine still fights your normal development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2521458" cy="13030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Fragmented tooling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Every inference engine has its own installer, model format and command set — none of it looks like the rest of your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5857" y="1691640"/>
            <a:ext cx="2521458" cy="13030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Hardware headaches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GPU drivers, runtimes and acceleration libraries differ per vendor and per operating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691640"/>
            <a:ext cx="2521458" cy="13030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Models are not images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Model weights are mathematical data that does not compress. Baking them into a Docker image bloats storage and slows every pull.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7413" y="1691640"/>
            <a:ext cx="2521458" cy="13030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Two worlds to maintain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One set of tools for application containers, another for the models they 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50692"/>
            <a:ext cx="10908792" cy="713232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The consequence: </a:t>
            </a:r>
            <a:r>
              <a:rPr sz="1300" b="0">
                <a:solidFill>
                  <a:srgbClr val="262626"/>
                </a:solidFill>
                <a:latin typeface="Calibri"/>
              </a:rPr>
              <a:t>teams default to cloud APIs — and inherit per-token costs, latency, vendor lock-in and the obligation to send their data somewhere else.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38244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What local execution buys 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58284"/>
            <a:ext cx="3453384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B63"/>
                </a:solidFill>
                <a:latin typeface="Calibri"/>
              </a:rPr>
              <a:t>Data privacy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Requests never leave your infrastructure.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7784" y="4558284"/>
            <a:ext cx="3453384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B63"/>
                </a:solidFill>
                <a:latin typeface="Calibri"/>
              </a:rPr>
              <a:t>Cost control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 per-token billing while you experiment.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4558284"/>
            <a:ext cx="3453384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B63"/>
                </a:solidFill>
                <a:latin typeface="Calibri"/>
              </a:rPr>
              <a:t>Faster iteration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 network round-trip between edits.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Docker Model Runner?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58978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E2B63"/>
                </a:solidFill>
                <a:latin typeface="Calibri"/>
              </a:rPr>
              <a:t>A Docker-integrated tool that lets you run, manage and test AI models locally using familiar Docker commands and workflows.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Pull, run and distribute LLMs straight from Docker Hub as OCI artifacts.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Or pull GGUF models from Hugging Face — packaged as OCI artifacts on the fly.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Models become first-class citizens alongside your containers, not a parallel toolchain.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Exposes an OpenAI-compatible REST API, so existing client code works unchanged.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627632"/>
            <a:ext cx="4645152" cy="9601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4194"/>
                </a:solidFill>
                <a:latin typeface="Calibri"/>
              </a:rPr>
              <a:t>April 2025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Launched as a Docker Desktop beta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743200"/>
            <a:ext cx="4645152" cy="9601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4194"/>
                </a:solidFill>
                <a:latin typeface="Calibri"/>
              </a:rPr>
              <a:t>October 2025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Vulkan support — AMD, Intel and others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858768"/>
            <a:ext cx="4645152" cy="9601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4194"/>
                </a:solidFill>
                <a:latin typeface="Calibri"/>
              </a:rPr>
              <a:t>December 2025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Generally available on any platform with Docker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908792" cy="65836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Built with the ecosystem: </a:t>
            </a:r>
            <a:r>
              <a:rPr sz="1300" b="0">
                <a:solidFill>
                  <a:srgbClr val="262626"/>
                </a:solidFill>
                <a:latin typeface="Calibri"/>
              </a:rPr>
              <a:t>Docker partnered with Google, Continue, Dagger, Qualcomm Technologies, Hugging Face, Spring AI and VMware Tanzu AI Solutions.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A Deliberate Hybrid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The inference engine does not run inside a container — that is the whole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Docker CLI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docker model pull / run /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828800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Model CLI plugin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adds the model verb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828800"/>
            <a:ext cx="2514600" cy="91440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Model distribution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OCI artifacts, registries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828800"/>
            <a:ext cx="25420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Local model store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weights on disk, pulled once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99232" y="2286000"/>
            <a:ext cx="210312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05272" y="2286000"/>
            <a:ext cx="384048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77072" y="2286000"/>
            <a:ext cx="384048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46120" y="3337560"/>
            <a:ext cx="5303520" cy="1188720"/>
          </a:xfrm>
          <a:prstGeom prst="roundRect">
            <a:avLst>
              <a:gd name="adj" fmla="val 7000"/>
            </a:avLst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Inference server — llama.cpp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7F0"/>
                </a:solidFill>
                <a:latin typeface="Calibri"/>
              </a:rPr>
              <a:t>runs as a NATIVE HOST PROCESS, not in a container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3337560"/>
            <a:ext cx="2542032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GPU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Metal / CUDA / Vulkan — weights loaded here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77856" y="2788920"/>
            <a:ext cx="0" cy="512064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77072" y="3931920"/>
            <a:ext cx="384048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96912" y="2788920"/>
            <a:ext cx="0" cy="512064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3337560"/>
            <a:ext cx="23317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Your app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HTTP on localhost:12434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99232" y="3931920"/>
            <a:ext cx="210312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332720" y="28895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08080"/>
                </a:solidFill>
                <a:latin typeface="Calibri"/>
              </a:rPr>
              <a:t>on demand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09160"/>
            <a:ext cx="3453384" cy="1072591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B63"/>
                </a:solidFill>
                <a:latin typeface="Calibri"/>
              </a:rPr>
              <a:t>Why native?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Direct access to Apple's Metal API and other GPU stacks, without the overhead of virtualisation.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7784" y="4709160"/>
            <a:ext cx="3453384" cy="1072591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B63"/>
                </a:solidFill>
                <a:latin typeface="Calibri"/>
              </a:rPr>
              <a:t>Loaded on demand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Models are stored separately from images, loaded into memory only when requested, and unloaded after inactivity.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5488" y="4709160"/>
            <a:ext cx="3453384" cy="1072591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B63"/>
                </a:solidFill>
                <a:latin typeface="Calibri"/>
              </a:rPr>
              <a:t>Observable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A /metrics endpoint exposes performance, request statistics and resource usage for Prometheus.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09767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Modular Components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53384" cy="1146657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B63"/>
                </a:solidFill>
                <a:latin typeface="Calibri"/>
              </a:rPr>
              <a:t>1  The model runner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Hosts the inference engine (llama.cpp) as a native process, loads and unloads models, and serves requests over HTTP.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7784" y="1691640"/>
            <a:ext cx="3453384" cy="1146657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B63"/>
                </a:solidFill>
                <a:latin typeface="Calibri"/>
              </a:rPr>
              <a:t>2  The distribution tooling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Packages and moves models as OCI artifacts so any OCI-compatible registry can store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5488" y="1691640"/>
            <a:ext cx="3453384" cy="1146657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B63"/>
                </a:solidFill>
                <a:latin typeface="Calibri"/>
              </a:rPr>
              <a:t>3  The model CLI plugin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Adds the docker model verb, so the commands look and behave like the rest of Docker.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30905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What that modularity gives you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50945"/>
            <a:ext cx="3453384" cy="907084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B63"/>
                </a:solidFill>
                <a:latin typeface="Calibri"/>
              </a:rPr>
              <a:t>Swappable engine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llama.cpp today; other inference libraries are on the roadmap.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7784" y="3450945"/>
            <a:ext cx="3453384" cy="907084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B63"/>
                </a:solidFill>
                <a:latin typeface="Calibri"/>
              </a:rPr>
              <a:t>Any registry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Docker Hub, or your own private registry with the access controls you already 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3450945"/>
            <a:ext cx="3453384" cy="907084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B63"/>
                </a:solidFill>
                <a:latin typeface="Calibri"/>
              </a:rPr>
              <a:t>Familiar surface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Nothing new to learn if you already use Docker day to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14062"/>
            <a:ext cx="10908792" cy="56692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Observability: </a:t>
            </a:r>
            <a:r>
              <a:rPr sz="1300" b="0">
                <a:solidFill>
                  <a:srgbClr val="262626"/>
                </a:solidFill>
                <a:latin typeface="Calibri"/>
              </a:rPr>
              <a:t>the runner exposes /metrics for Prometheus or whatever monitoring stack you already have — treat a local model like any other service.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91640"/>
          <a:ext cx="10908791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00092"/>
                <a:gridCol w="3941832"/>
                <a:gridCol w="4766867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0E2B63"/>
                          </a:solidFill>
                          <a:latin typeface="Calibri"/>
                        </a:rPr>
                        <a:t>Operating system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macOS, Windows or Linux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All major platforms are supported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0E2B63"/>
                          </a:solidFill>
                          <a:latin typeface="Calibri"/>
                        </a:rPr>
                        <a:t>Docker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Docker Desktop 4.40+ or Docker Engine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Desktop on macOS/Windows, Engine on Linux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0E2B63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8 GB minimum, 16 GB+ recommended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Larger models need more memory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0E2B63"/>
                          </a:solidFill>
                          <a:latin typeface="Calibri"/>
                        </a:rPr>
                        <a:t>GPU (optional)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Apple Silicon, NVIDIA, ARM/Qualcomm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626"/>
                          </a:solidFill>
                          <a:latin typeface="Calibri"/>
                        </a:rPr>
                        <a:t>Gives roughly a 2–3× speed-up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800600"/>
            <a:ext cx="10908792" cy="64008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As of December 2025: </a:t>
            </a:r>
            <a:r>
              <a:rPr sz="1300" b="0">
                <a:solidFill>
                  <a:srgbClr val="262626"/>
                </a:solidFill>
                <a:latin typeface="Calibri"/>
              </a:rPr>
              <a:t>Docker Model Runner is compatible with any platform that supports Docker Engine — it is no longer a Docker Desktop–only feature.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Acceleration by Platform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521458" cy="111373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Apple Silicon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M1 / M2 / M3 / M4 use the Metal API. Configured automatically — nothing to install.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5857" y="1691640"/>
            <a:ext cx="2521458" cy="111373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NVIDIA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Requires the NVIDIA Container Runtime with CUDA support on the host.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91640"/>
            <a:ext cx="2521458" cy="111373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ARM / Qualcomm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Hardware acceleration on compatible devices, part of the Qualcomm partnership.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7413" y="1691640"/>
            <a:ext cx="2521458" cy="111373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Vulkan (Oct 2025)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Opens acceleration to AMD, Intel and other vendors; hardware is detected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1411"/>
            <a:ext cx="10908792" cy="64008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Expect roughly 2–3× faster inference with a supported GPU. </a:t>
            </a:r>
            <a:r>
              <a:rPr sz="1300" b="0">
                <a:solidFill>
                  <a:srgbClr val="262626"/>
                </a:solidFill>
                <a:latin typeface="Calibri"/>
              </a:rPr>
              <a:t>CPU-only still works — it is the slower default, not a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57523"/>
            <a:ext cx="10908792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30613"/>
                </a:solidFill>
                <a:latin typeface="Calibri"/>
              </a:rPr>
              <a:t>Known limitation: </a:t>
            </a:r>
            <a:r>
              <a:rPr sz="1250" b="0">
                <a:solidFill>
                  <a:srgbClr val="262626"/>
                </a:solidFill>
                <a:latin typeface="Calibri"/>
              </a:rPr>
              <a:t>some llama.cpp features may not be fully supported on 6xx series GPUs. Check before promising performance on that hardware.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53635"/>
            <a:ext cx="5120640" cy="816559"/>
          </a:xfrm>
          <a:prstGeom prst="roundRect">
            <a:avLst>
              <a:gd name="adj" fmla="val 4000"/>
            </a:avLst>
          </a:prstGeom>
          <a:solidFill>
            <a:srgbClr val="1E222A"/>
          </a:solidFill>
          <a:ln w="12700">
            <a:solidFill>
              <a:srgbClr val="1E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6869B"/>
                </a:solidFill>
                <a:latin typeface="Consolas"/>
              </a:rPr>
              <a:t># verify the GPU is visible to the host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DD8A8"/>
                </a:solidFill>
                <a:latin typeface="Consolas"/>
              </a:rPr>
              <a:t>$ </a:t>
            </a:r>
            <a:r>
              <a:rPr sz="1200" b="0">
                <a:solidFill>
                  <a:srgbClr val="F2F4F8"/>
                </a:solidFill>
                <a:latin typeface="Consolas"/>
              </a:rPr>
              <a:t>nvidia-smi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899355"/>
            <a:ext cx="54223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If nvidia-smi fails, the container runtime cannot see the GPU either — fix the driver first, then Docker's access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9821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45920"/>
          <a:ext cx="1090879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16797"/>
                <a:gridCol w="3941832"/>
                <a:gridCol w="3850161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Ideal for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E2B63"/>
                          </a:solidFill>
                          <a:latin typeface="Calibri"/>
                        </a:rPr>
                        <a:t>Open source and free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No licensing cost, full transparency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Experimentation, learning, production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E2B63"/>
                          </a:solidFill>
                          <a:latin typeface="Calibri"/>
                        </a:rPr>
                        <a:t>Docker CLI integration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Familiar docker model pull / run / list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Docker users avoiding yet another tool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E2B63"/>
                          </a:solidFill>
                          <a:latin typeface="Calibri"/>
                        </a:rPr>
                        <a:t>OCI-compliant packaging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Standard distribution through registries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Version control, access management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E2B63"/>
                          </a:solidFill>
                          <a:latin typeface="Calibri"/>
                        </a:rPr>
                        <a:t>OpenAI API compatibility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Drop-in replacement for cloud APIs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Migrating existing code from the cloud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E2B63"/>
                          </a:solidFill>
                          <a:latin typeface="Calibri"/>
                        </a:rPr>
                        <a:t>Sandboxed execution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Isolated, controlled environment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Enterprise and compliance requirements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0E2B63"/>
                          </a:solidFill>
                          <a:latin typeface="Calibri"/>
                        </a:rPr>
                        <a:t>GPU acceleration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Roughly 2–3× faster inference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626"/>
                          </a:solidFill>
                          <a:latin typeface="Calibri"/>
                        </a:rPr>
                        <a:t>Real-time and high-throughput use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367528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The differentiator is not raw speed — it is that models behave like the containers around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9864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Setup: macOS and Windows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Oval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91640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Download Docker Desktop 4.40 or later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Earlier versions do not include the model runner.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532888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Open Settings →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AI tab appears once the version supports it.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374136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Select Docker Model Runner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This enables the docker model command.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215384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Enable GPU-backed inference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Only offered when your hardware supports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91640"/>
            <a:ext cx="5239512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595959"/>
                </a:solidFill>
                <a:latin typeface="Calibri"/>
              </a:rPr>
              <a:t>Docker Desktop  ›  Settings  › 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64194"/>
                </a:solidFill>
                <a:latin typeface="Calibri"/>
              </a:rPr>
              <a:t>[✓]  </a:t>
            </a:r>
            <a:r>
              <a:rPr sz="1200" b="0">
                <a:solidFill>
                  <a:srgbClr val="262626"/>
                </a:solidFill>
                <a:latin typeface="Calibri"/>
              </a:rPr>
              <a:t>Enable Docker Model Runner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64194"/>
                </a:solidFill>
                <a:latin typeface="Calibri"/>
              </a:rPr>
              <a:t>[✓]  </a:t>
            </a:r>
            <a:r>
              <a:rPr sz="1200" b="0">
                <a:solidFill>
                  <a:srgbClr val="262626"/>
                </a:solidFill>
                <a:latin typeface="Calibri"/>
              </a:rPr>
              <a:t>Enable GPU-backed inference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64194"/>
                </a:solidFill>
                <a:latin typeface="Calibri"/>
              </a:rPr>
              <a:t>[✓]  </a:t>
            </a:r>
            <a:r>
              <a:rPr sz="1200" b="0">
                <a:solidFill>
                  <a:srgbClr val="262626"/>
                </a:solidFill>
                <a:latin typeface="Calibri"/>
              </a:rPr>
              <a:t>Enable host-side TCP support (port 12434)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[  ]  </a:t>
            </a:r>
            <a:r>
              <a:rPr sz="1200" b="0">
                <a:solidFill>
                  <a:srgbClr val="262626"/>
                </a:solidFill>
                <a:latin typeface="Calibri"/>
              </a:rPr>
              <a:t>Enable CORS for browser 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75887"/>
            <a:ext cx="5239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08080"/>
                </a:solidFill>
                <a:latin typeface="Calibri"/>
              </a:rPr>
              <a:t>Illustration of the settings panel — not a screenshot of the product.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83480"/>
            <a:ext cx="5120640" cy="816559"/>
          </a:xfrm>
          <a:prstGeom prst="roundRect">
            <a:avLst>
              <a:gd name="adj" fmla="val 4000"/>
            </a:avLst>
          </a:prstGeom>
          <a:solidFill>
            <a:srgbClr val="1E222A"/>
          </a:solidFill>
          <a:ln w="12700">
            <a:solidFill>
              <a:srgbClr val="1E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6869B"/>
                </a:solidFill>
                <a:latin typeface="Consolas"/>
              </a:rPr>
              <a:t># confirm the plugin is registered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DD8A8"/>
                </a:solidFill>
                <a:latin typeface="Consolas"/>
              </a:rPr>
              <a:t>$ </a:t>
            </a:r>
            <a:r>
              <a:rPr sz="1200" b="0">
                <a:solidFill>
                  <a:srgbClr val="F2F4F8"/>
                </a:solidFill>
                <a:latin typeface="Consolas"/>
              </a:rPr>
              <a:t>docker model version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160520"/>
            <a:ext cx="5239512" cy="14173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What those toggles change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Model Runner adds the docker model command to the CLI.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GPU-backed inference switches llama.cpp onto Metal, CUDA or Vulkan.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Host-side TCP opens port 12434 so your code can call the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28055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Setup: Linux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577840" cy="1736445"/>
          </a:xfrm>
          <a:prstGeom prst="roundRect">
            <a:avLst>
              <a:gd name="adj" fmla="val 4000"/>
            </a:avLst>
          </a:prstGeom>
          <a:solidFill>
            <a:srgbClr val="1E222A"/>
          </a:solidFill>
          <a:ln w="12700">
            <a:solidFill>
              <a:srgbClr val="1E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76869B"/>
                </a:solidFill>
                <a:latin typeface="Consolas"/>
              </a:rPr>
              <a:t># install the CLI plugin from Docker's repository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5DD8A8"/>
                </a:solidFill>
                <a:latin typeface="Consolas"/>
              </a:rPr>
              <a:t>$ </a:t>
            </a:r>
            <a:r>
              <a:rPr sz="1250" b="0">
                <a:solidFill>
                  <a:srgbClr val="F2F4F8"/>
                </a:solidFill>
                <a:latin typeface="Consolas"/>
              </a:rPr>
              <a:t>sudo apt-get update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5DD8A8"/>
                </a:solidFill>
                <a:latin typeface="Consolas"/>
              </a:rPr>
              <a:t>$ </a:t>
            </a:r>
            <a:r>
              <a:rPr sz="1250" b="0">
                <a:solidFill>
                  <a:srgbClr val="F2F4F8"/>
                </a:solidFill>
                <a:latin typeface="Consolas"/>
              </a:rPr>
              <a:t>sudo apt-get install docker-model-plugin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76869B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76869B"/>
                </a:solidFill>
                <a:latin typeface="Consolas"/>
              </a:rPr>
              <a:t># verify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5DD8A8"/>
                </a:solidFill>
                <a:latin typeface="Consolas"/>
              </a:rPr>
              <a:t>$ </a:t>
            </a:r>
            <a:r>
              <a:rPr sz="1250" b="0">
                <a:solidFill>
                  <a:srgbClr val="F2F4F8"/>
                </a:solidFill>
                <a:latin typeface="Consolas"/>
              </a:rPr>
              <a:t>docker model 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5010912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No Docker Desktop needed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Docker Engine plus the plugin is enough — this is why the December 2025 release matters for servers and 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09951"/>
            <a:ext cx="5010912" cy="71688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NVIDIA hosts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Install the NVIDIA Container Runtime so the engine can reach CUDA.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746296"/>
            <a:ext cx="5010912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Vulkan hosts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Detection is automatic; the runner applies the right acceleration for the hardware it finds.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5577840" cy="12344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What success looks like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docker model version prints a version string.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docker model list runs and returns an empty table.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The plugin survives a Docker restart.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10908792" cy="640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0613"/>
                </a:solidFill>
                <a:latin typeface="Calibri"/>
              </a:rPr>
              <a:t>If docker model is “not a docker command”, </a:t>
            </a:r>
            <a:r>
              <a:rPr sz="1300" b="0">
                <a:solidFill>
                  <a:srgbClr val="262626"/>
                </a:solidFill>
                <a:latin typeface="Calibri"/>
              </a:rPr>
              <a:t>the plugin is installed but not on Docker's CLI plugin path — see the troubleshooting slide for the symlink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43016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Model: Pull, Run, List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989320" cy="2638044"/>
          </a:xfrm>
          <a:prstGeom prst="roundRect">
            <a:avLst>
              <a:gd name="adj" fmla="val 4000"/>
            </a:avLst>
          </a:prstGeom>
          <a:solidFill>
            <a:srgbClr val="1E222A"/>
          </a:solidFill>
          <a:ln w="12700">
            <a:solidFill>
              <a:srgbClr val="1E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76869B"/>
                </a:solidFill>
                <a:latin typeface="Consolas"/>
              </a:rPr>
              <a:t># download the model once — it is cached locally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5DD8A8"/>
                </a:solidFill>
                <a:latin typeface="Consolas"/>
              </a:rPr>
              <a:t>$ </a:t>
            </a:r>
            <a:r>
              <a:rPr sz="1250" b="0">
                <a:solidFill>
                  <a:srgbClr val="F2F4F8"/>
                </a:solidFill>
                <a:latin typeface="Consolas"/>
              </a:rPr>
              <a:t>docker model pull ai/smollm2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76869B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76869B"/>
                </a:solidFill>
                <a:latin typeface="Consolas"/>
              </a:rPr>
              <a:t># start an interactive session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5DD8A8"/>
                </a:solidFill>
                <a:latin typeface="Consolas"/>
              </a:rPr>
              <a:t>$ </a:t>
            </a:r>
            <a:r>
              <a:rPr sz="1250" b="0">
                <a:solidFill>
                  <a:srgbClr val="F2F4F8"/>
                </a:solidFill>
                <a:latin typeface="Consolas"/>
              </a:rPr>
              <a:t>docker model run ai/smollm2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76869B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76869B"/>
                </a:solidFill>
                <a:latin typeface="Consolas"/>
              </a:rPr>
              <a:t># what do I have locally?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5DD8A8"/>
                </a:solidFill>
                <a:latin typeface="Consolas"/>
              </a:rPr>
              <a:t>$ </a:t>
            </a:r>
            <a:r>
              <a:rPr sz="1250" b="0">
                <a:solidFill>
                  <a:srgbClr val="F2F4F8"/>
                </a:solidFill>
                <a:latin typeface="Consolas"/>
              </a:rPr>
              <a:t>docker model list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A9B3C4"/>
                </a:solidFill>
                <a:latin typeface="Consolas"/>
              </a:rPr>
              <a:t>MODEL 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A9B3C4"/>
                </a:solidFill>
                <a:latin typeface="Consolas"/>
              </a:rPr>
              <a:t>ai/smollm2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45920"/>
            <a:ext cx="4599432" cy="105156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docker model </a:t>
            </a:r>
            <a:r>
              <a:rPr sz="1300" b="1">
                <a:solidFill>
                  <a:srgbClr val="0E2B63"/>
                </a:solidFill>
                <a:latin typeface="Calibri"/>
              </a:rPr>
              <a:t>pull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Fetches the OCI artifact from Docker Hub and stores the weights outside your images.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816352"/>
            <a:ext cx="4599432" cy="105156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docker model </a:t>
            </a:r>
            <a:r>
              <a:rPr sz="1300" b="1">
                <a:solidFill>
                  <a:srgbClr val="0E2B63"/>
                </a:solidFill>
                <a:latin typeface="Calibri"/>
              </a:rPr>
              <a:t>run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Loads the model into memory and opens a prompt. It unloads again after inactivity.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986784"/>
            <a:ext cx="4599432" cy="105156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docker model </a:t>
            </a:r>
            <a:r>
              <a:rPr sz="1300" b="1">
                <a:solidFill>
                  <a:srgbClr val="0E2B63"/>
                </a:solidFill>
                <a:latin typeface="Calibri"/>
              </a:rPr>
              <a:t>list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Shows what is cached locally — the same shape as docker image 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66944"/>
            <a:ext cx="10908792" cy="530352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Why SmolLM2 for teaching: </a:t>
            </a:r>
            <a:r>
              <a:rPr sz="1300" b="0">
                <a:solidFill>
                  <a:srgbClr val="262626"/>
                </a:solidFill>
                <a:latin typeface="Calibri"/>
              </a:rPr>
              <a:t>360 million parameters — it downloads in moments, runs on a laptop CPU, and is good enough for chat, extraction, rewriting and summarisation.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Distribution: Models as OCI Artifacts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37744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Docker Hub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or your private registry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874519"/>
            <a:ext cx="2514600" cy="9601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OCI artifact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weights + metadata, versioned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1874519"/>
            <a:ext cx="2377440" cy="9601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docker model pull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same auth, same policies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6024" y="1874519"/>
            <a:ext cx="2212848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Local store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loaded on demand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35808" y="2350008"/>
            <a:ext cx="237744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43016" y="2350008"/>
            <a:ext cx="512064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87384" y="2350008"/>
            <a:ext cx="512064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246120"/>
            <a:ext cx="3453384" cy="12344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Reuse what you already run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Models travel through the same registries, mirrors and CI credentials as your images — no second supply chain.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7784" y="3246120"/>
            <a:ext cx="3453384" cy="12344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Policy and access control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Docker Hub's Registry Access Management applies the same policy-based controls to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3246120"/>
            <a:ext cx="3453384" cy="12344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Versioned like software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Tags pin an exact build, so a deployment is reproducible months later.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10908792" cy="713232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Remember why this matters: </a:t>
            </a:r>
            <a:r>
              <a:rPr sz="1300" b="0">
                <a:solidFill>
                  <a:srgbClr val="262626"/>
                </a:solidFill>
                <a:latin typeface="Calibri"/>
              </a:rPr>
              <a:t>weights do not compress, so baking them into images is wasteful. Keeping them as separate artifacts keeps image pulls small and model updates independent.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Pulling Models from Hugging Face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6583680" cy="1899208"/>
          </a:xfrm>
          <a:prstGeom prst="roundRect">
            <a:avLst>
              <a:gd name="adj" fmla="val 4000"/>
            </a:avLst>
          </a:prstGeom>
          <a:solidFill>
            <a:srgbClr val="1E222A"/>
          </a:solidFill>
          <a:ln w="12700">
            <a:solidFill>
              <a:srgbClr val="1E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6869B"/>
                </a:solidFill>
                <a:latin typeface="Consolas"/>
              </a:rPr>
              <a:t># any GGUF model on Hugging Face, by its hf.co path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DD8A8"/>
                </a:solidFill>
                <a:latin typeface="Consolas"/>
              </a:rPr>
              <a:t>$ </a:t>
            </a:r>
            <a:r>
              <a:rPr sz="1200" b="0">
                <a:solidFill>
                  <a:srgbClr val="F2F4F8"/>
                </a:solidFill>
                <a:latin typeface="Consolas"/>
              </a:rPr>
              <a:t>docker model pull hf.co/bartowski/Llama-3.2-1B-Instruct-GGUF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6869B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DD8A8"/>
                </a:solidFill>
                <a:latin typeface="Consolas"/>
              </a:rPr>
              <a:t>$ </a:t>
            </a:r>
            <a:r>
              <a:rPr sz="1200" b="0">
                <a:solidFill>
                  <a:srgbClr val="F2F4F8"/>
                </a:solidFill>
                <a:latin typeface="Consolas"/>
              </a:rPr>
              <a:t>docker model list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MODEL 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ai/smollm2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hf.co/bartowski/Llama-3.2-1B-Instruct-GGUF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91640"/>
            <a:ext cx="4005072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GGUF in, OCI 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Docker packages the GGUF file as an OCI artifact on the fly — you never run a packaging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008376"/>
            <a:ext cx="4005072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Filtered catalogue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Hugging Face marks the models Docker Model Runner can serve, so you can filter before pulling.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325112"/>
            <a:ext cx="4005072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One 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Hub models and Hugging Face models are managed with exactly the same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6583680" cy="141732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What happens behind that one command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Docker fetches the GGUF file from Hugging Face.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It wraps the weights and metadata as an OCI artifact.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The artifact lands in your local model store, ready for docker model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Model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53384" cy="111373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Browse the catalogue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Docker Hub hosts a curated AI model catalogue; Hugging Face covers everything else in GGUF.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7784" y="1691640"/>
            <a:ext cx="3453384" cy="111373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SmolLM2 — 360M parameters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Chat assistant, text extraction, rewriting, summarisation. Small size and fast inference make it the natural teaching and testing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5488" y="1691640"/>
            <a:ext cx="3453384" cy="111373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Pull once, load on demand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A model is downloaded on first use, stored locally, loaded into memory only when a request arrives, and unloaded after inactivity.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9699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Model lifecycle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45459"/>
            <a:ext cx="1991563" cy="65836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B63"/>
                </a:solidFill>
                <a:latin typeface="Calibri"/>
              </a:rPr>
              <a:t>Pulled on first 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9075" y="3774643"/>
            <a:ext cx="182880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9387" y="3445459"/>
            <a:ext cx="1991563" cy="65836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B63"/>
                </a:solidFill>
                <a:latin typeface="Calibri"/>
              </a:rPr>
              <a:t>Stored locally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88382" y="3774643"/>
            <a:ext cx="182880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98694" y="3445459"/>
            <a:ext cx="1991563" cy="65836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B63"/>
                </a:solidFill>
                <a:latin typeface="Calibri"/>
              </a:rPr>
              <a:t>Loaded at request 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17689" y="3774643"/>
            <a:ext cx="182880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28001" y="3445459"/>
            <a:ext cx="1991563" cy="65836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B63"/>
                </a:solidFill>
                <a:latin typeface="Calibri"/>
              </a:rPr>
              <a:t>Serves inference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46996" y="3774643"/>
            <a:ext cx="182880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57308" y="3445459"/>
            <a:ext cx="1991563" cy="65836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2B63"/>
                </a:solidFill>
                <a:latin typeface="Calibri"/>
              </a:rPr>
              <a:t>Unloaded when idle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78147"/>
            <a:ext cx="10908792" cy="65836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Practical rule: </a:t>
            </a:r>
            <a:r>
              <a:rPr sz="1300" b="0">
                <a:solidFill>
                  <a:srgbClr val="262626"/>
                </a:solidFill>
                <a:latin typeface="Calibri"/>
              </a:rPr>
              <a:t>develop against the smallest model that exercises your code path, then swap the model name when you need real quality. Nothing else in your app changes.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Quantization Levels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The same model, traded between size, speed and quality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10908789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1716"/>
                <a:gridCol w="2750115"/>
                <a:gridCol w="1466728"/>
                <a:gridCol w="1741739"/>
                <a:gridCol w="3758491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File size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E2B63"/>
                          </a:solidFill>
                          <a:latin typeface="Calibri"/>
                        </a:rPr>
                        <a:t>Q8_0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8-bit quantization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Largest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Highest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Production, accuracy-critical tasks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E2B63"/>
                          </a:solidFill>
                          <a:latin typeface="Calibri"/>
                        </a:rPr>
                        <a:t>Q5_0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5-bit quantization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Good balance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General-purpose workloads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E2B63"/>
                          </a:solidFill>
                          <a:latin typeface="Calibri"/>
                        </a:rPr>
                        <a:t>Q4_0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4-bit quantization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Smallest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Acceptable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626"/>
                          </a:solidFill>
                          <a:latin typeface="Calibri"/>
                        </a:rPr>
                        <a:t>Development, testing, constrained machines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206240"/>
            <a:ext cx="5303520" cy="923544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Start high, then trim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Begin at Q8_0 for the best answers, then step down to Q5_0 or Q4_0 and measure whether quality still holds.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4206240"/>
            <a:ext cx="5303520" cy="923544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Pin the tag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Specify the quantization as a tag — for example Q4_0 or latest — so a deployment is reproducible.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67527"/>
            <a:ext cx="10908792" cy="502920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Rule of thumb: </a:t>
            </a:r>
            <a:r>
              <a:rPr sz="1300" b="0">
                <a:solidFill>
                  <a:srgbClr val="262626"/>
                </a:solidFill>
                <a:latin typeface="Calibri"/>
              </a:rPr>
              <a:t>quantization is the cheapest performance lever you have — cheaper than new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98463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OpenAI-Compatible API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Your existing client code points at localhost instead of the 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24688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Your application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Python, JS, curl — any HTTP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965960"/>
            <a:ext cx="2788920" cy="1051560"/>
          </a:xfrm>
          <a:prstGeom prst="roundRect">
            <a:avLst>
              <a:gd name="adj" fmla="val 7000"/>
            </a:avLst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localhost:12434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7F0"/>
                </a:solidFill>
                <a:latin typeface="Calibri"/>
              </a:rPr>
              <a:t>OpenAI-compatible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6016" y="1965960"/>
            <a:ext cx="2240280" cy="105156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Model Runner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routes to the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93224" y="1965960"/>
            <a:ext cx="1755648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llama.cpp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native host process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27248" y="2487168"/>
            <a:ext cx="237744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08776" y="2487168"/>
            <a:ext cx="740664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44584" y="2487168"/>
            <a:ext cx="512064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3429000"/>
            <a:ext cx="2521458" cy="13030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Enable host-side TCP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The port is opened by a setting, not by default — that is a security decision, not an oversight.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5857" y="3429000"/>
            <a:ext cx="2521458" cy="13030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Path shape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/engines/llama.cpp/v1/chat/completions — the v1 tail is the familiar OpenAI surface.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3429000"/>
            <a:ext cx="2521458" cy="13030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No SDK required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Standard HTTP means microservices, shell scripts and notebooks all work the same 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7413" y="3429000"/>
            <a:ext cx="2521458" cy="13030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Streaming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Set "stream": true to receive tokens as they are produced.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69764"/>
            <a:ext cx="10908792" cy="56692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Migration in one line: </a:t>
            </a:r>
            <a:r>
              <a:rPr sz="1300" b="0">
                <a:solidFill>
                  <a:srgbClr val="262626"/>
                </a:solidFill>
                <a:latin typeface="Calibri"/>
              </a:rPr>
              <a:t>point your OpenAI client's base_url at http://localhost:12434/engines/llama.cpp/v1 and the rest of the code is unchanged.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Calling the Model over REST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589520" cy="2042769"/>
          </a:xfrm>
          <a:prstGeom prst="roundRect">
            <a:avLst>
              <a:gd name="adj" fmla="val 4000"/>
            </a:avLst>
          </a:prstGeom>
          <a:solidFill>
            <a:srgbClr val="1E222A"/>
          </a:solidFill>
          <a:ln w="12700">
            <a:solidFill>
              <a:srgbClr val="1E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5DD8A8"/>
                </a:solidFill>
                <a:latin typeface="Consolas"/>
              </a:rPr>
              <a:t>$ </a:t>
            </a:r>
            <a:r>
              <a:rPr sz="1150" b="0">
                <a:solidFill>
                  <a:srgbClr val="F2F4F8"/>
                </a:solidFill>
                <a:latin typeface="Consolas"/>
              </a:rPr>
              <a:t>curl http://localhost:12434/engines/llama.cpp/v1/chat/completions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  -d '{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       "model": "ai/smollm2",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       "messages": [{"role": "user",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                     "content": "Explain containerization"}],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       "stream": false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F2F4F8"/>
                </a:solidFill>
                <a:latin typeface="Consolas"/>
              </a:rPr>
              <a:t>     }'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645920"/>
            <a:ext cx="2999232" cy="10058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The name you pulled — ai/smollm2, or a Hugging Face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779776"/>
            <a:ext cx="2999232" cy="10058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messages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The same role/content array the OpenAI API expects.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913632"/>
            <a:ext cx="2999232" cy="100584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stream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false returns one JSON response; true streams tokens as they arrive.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57216"/>
            <a:ext cx="10908792" cy="56692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Same call from Python: </a:t>
            </a:r>
            <a:r>
              <a:rPr sz="1300" b="0">
                <a:solidFill>
                  <a:srgbClr val="262626"/>
                </a:solidFill>
                <a:latin typeface="Calibri"/>
              </a:rPr>
              <a:t>use the openai package, set base_url to the endpoint above and any string as the API key — the server does not check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Optimisation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03520" cy="923544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1  Hardware acceleration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A supported GPU typically gives 2–3× the throughput of CPU-only inference. Check it is actually being used before optimising anything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91640"/>
            <a:ext cx="5303520" cy="923544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2  Quantization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Start at Q8_0, then move to Q5_0 or Q4_0. Smaller weights mean less memory traffic and faster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9504"/>
            <a:ext cx="5303520" cy="923544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3  Monitoring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Scrape /metrics with Prometheus — request counts, latency and resource use, in the stack you already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889504"/>
            <a:ext cx="5303520" cy="923544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4  Resource configuration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Set context length to what the application actually needs. If 2048 tokens is enough, do not configure 8192.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08792" cy="56692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Measure, then tune: </a:t>
            </a:r>
            <a:r>
              <a:rPr sz="1300" b="0">
                <a:solidFill>
                  <a:srgbClr val="262626"/>
                </a:solidFill>
                <a:latin typeface="Calibri"/>
              </a:rPr>
              <a:t>every one of these is observable through /metrics. Changing two things at once tells you nothing about either.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Compose Integration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760720" cy="3434486"/>
          </a:xfrm>
          <a:prstGeom prst="roundRect">
            <a:avLst>
              <a:gd name="adj" fmla="val 4000"/>
            </a:avLst>
          </a:prstGeom>
          <a:solidFill>
            <a:srgbClr val="1E222A"/>
          </a:solidFill>
          <a:ln w="12700">
            <a:solidFill>
              <a:srgbClr val="1E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76869B"/>
                </a:solidFill>
                <a:latin typeface="Consolas"/>
              </a:rPr>
              <a:t>YAML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76869B"/>
                </a:solidFill>
                <a:latin typeface="Consolas"/>
              </a:rPr>
              <a:t># compose.yaml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services: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  app: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    image: my-app:latest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    models: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      - llm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      - embedding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models: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  llm: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    model: ai/smollm2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  embedding: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A9B3C4"/>
                </a:solidFill>
                <a:latin typeface="Consolas"/>
              </a:rPr>
              <a:t>    model: ai/embeddinggemma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645920"/>
            <a:ext cx="4828032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Models are declared, not scripted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A top-level models block names the models; each service lists the ones it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962656"/>
            <a:ext cx="4828032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One command for the whole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docker compose up starts the app and makes its models available — the same file works on every teammate's machine.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279392"/>
            <a:ext cx="4828032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Several models at once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A chat model and an embedding model can be declared side by side and used by the same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the Laptop: CI/CD, Offload and Kubernetes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53384" cy="1138428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CI/CD automation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Spin a model up inside the pipeline, run integration tests against it, tear it down again — no external API key, no per-run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7784" y="1691640"/>
            <a:ext cx="3453384" cy="1138428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Docker Offload (beta)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Develop locally and push the heavy inference to the cloud when the job outgrows the machine, without changing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5488" y="1691640"/>
            <a:ext cx="3453384" cy="1138428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Kubernetes (experimental)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A Helm chart and static YAML exist for production-scale deployment: horizontal scaling, load balancing and high availability.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610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2B63"/>
                </a:solidFill>
                <a:latin typeface="Calibri"/>
              </a:rPr>
              <a:t>Docker Offload: the same workflow, a bigger machine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Laptop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develop and test locally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388620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Same commands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docker model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5664" y="3886200"/>
            <a:ext cx="2423160" cy="914400"/>
          </a:xfrm>
          <a:prstGeom prst="roundRect">
            <a:avLst>
              <a:gd name="adj" fmla="val 7000"/>
            </a:avLst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Offload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7F0"/>
                </a:solidFill>
                <a:latin typeface="Calibri"/>
              </a:rPr>
              <a:t>when local capacity runs 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3886200"/>
            <a:ext cx="23682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Cloud GPU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heavy inference, same 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73552" y="4343400"/>
            <a:ext cx="237744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81344" y="4343400"/>
            <a:ext cx="237744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06256" y="4343400"/>
            <a:ext cx="237744" cy="0"/>
          </a:xfrm>
          <a:prstGeom prst="line">
            <a:avLst/>
          </a:prstGeom>
          <a:ln w="22225">
            <a:solidFill>
              <a:srgbClr val="1641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5029200"/>
            <a:ext cx="10908792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0613"/>
                </a:solidFill>
                <a:latin typeface="Calibri"/>
              </a:rPr>
              <a:t>Read the maturity labels: </a:t>
            </a:r>
            <a:r>
              <a:rPr sz="1300" b="0">
                <a:solidFill>
                  <a:srgbClr val="262626"/>
                </a:solidFill>
                <a:latin typeface="Calibri"/>
              </a:rPr>
              <a:t>Offload is beta and the Kubernetes path is still experimental. Fine for evaluation and internal tooling; be careful before promising either in production.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Protection and Security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Sandboxed execution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The runner operates in an isolated, controlled environment. A model cannot reach system resources you have not explicitly granted.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91640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Nothing leaves your infrastructure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Inference requests stay on your machine or your network, which removes the data-exfiltration risk entirely.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46527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Regulatory fit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That property is what makes local inference workable under GDPR, HIPAA and similar regimes.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846527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Administrative control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Host-side TCP support and CORS are configurable, so you decide what may reach the endpoint.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01414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Compliance metadata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Model licensing information carried in the registry supports audit trails and licence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001414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4194"/>
                </a:solidFill>
                <a:latin typeface="Calibri"/>
              </a:rPr>
              <a:t>Ask in class: </a:t>
            </a:r>
            <a:r>
              <a:rPr sz="1200" b="0">
                <a:solidFill>
                  <a:srgbClr val="262626"/>
                </a:solidFill>
                <a:latin typeface="Calibri"/>
              </a:rPr>
              <a:t>which of your current AI features could move on-premise purely because the data never has to leave the building?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Model Runner vs Ollama vs NVIDIA NIM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27632"/>
          <a:ext cx="10908790" cy="35844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41739"/>
                <a:gridCol w="3300138"/>
                <a:gridCol w="3025127"/>
                <a:gridCol w="2841786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Docker Model Runner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Ollama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NVIDIA NIM</a:t>
                      </a:r>
                    </a:p>
                  </a:txBody>
                  <a:tcPr marL="118872" marR="118872" marT="45720" marB="45720" anchor="ctr">
                    <a:solidFill>
                      <a:srgbClr val="16419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E2B63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1.00–1.12× faster than Ollama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Highly optimised for NVIDIA GPUs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E2B63"/>
                          </a:solidFill>
                          <a:latin typeface="Calibri"/>
                        </a:rPr>
                        <a:t>Ecosystem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Native Docker workflow, OCI artifacts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Standalone tool, separate workflow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Containerised, NVIDIA-specific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E2B63"/>
                          </a:solidFill>
                          <a:latin typeface="Calibri"/>
                        </a:rPr>
                        <a:t>Customisation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Pre-packaged models from Docker Hub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Modelfiles, GGUF and Safetensors import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NVIDIA-optimised models only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E2B63"/>
                          </a:solidFill>
                          <a:latin typeface="Calibri"/>
                        </a:rPr>
                        <a:t>Platforms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macOS, Windows, Linux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macOS, Windows, Linux, Docker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Linux with NVIDIA GPUs only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E2B63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Any GPU (Metal, CUDA, Vulkan) or CPU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Any GPU or CPU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NVIDIA GPUs required</a:t>
                      </a:r>
                    </a:p>
                  </a:txBody>
                  <a:tcPr marL="118872" marR="118872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0E2B63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Teams already running Docker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Standalone projects, fast experimentation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Calibri"/>
                        </a:rPr>
                        <a:t>NVIDIA-focused production</a:t>
                      </a:r>
                    </a:p>
                  </a:txBody>
                  <a:tcPr marL="118872" marR="118872" marT="45720" marB="45720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449824"/>
            <a:ext cx="10908792" cy="56692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The differentiator is not speed. </a:t>
            </a:r>
            <a:r>
              <a:rPr sz="1300" b="0">
                <a:solidFill>
                  <a:srgbClr val="262626"/>
                </a:solidFill>
                <a:latin typeface="Calibri"/>
              </a:rPr>
              <a:t>Performance is within roughly 10% of Ollama. What Docker Model Runner adds is ecosystem integration — models treated as first-class citizens alongside containers.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44768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03520" cy="110550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“docker: 'model' is not a docker command”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Docker cannot find the plugin in its CLI plugin directory. Create a symbolic link to the executable in the expected path, then re-run docker model version.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91640"/>
            <a:ext cx="5303520" cy="110550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A digest does not resolve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Referring to a model by digest can fail today. Use the tag instead — for example model:v1. Proper digest support is being worked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71469"/>
            <a:ext cx="5303520" cy="110550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GPU acceleration is not kicking 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Check the host GPU drivers are current, that Docker has permission to use the GPU, and on Linux with NVIDIA that the NVIDIA Container Runtime is installed. Verify with nvidia-smi.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071469"/>
            <a:ext cx="5303520" cy="1105509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Something else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alibri"/>
              </a:rPr>
              <a:t>File an issue on the official GitHub repository. The community is active and edge cases often already have a workaround.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96435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Two of these four are version-dependent — check the release notes before assuming a bug.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— Set Up and Run Your First Model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Work in pairs · about 20 minutes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728216"/>
            <a:ext cx="347472" cy="347472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69164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Verify the environment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docker --version, then check you have at least 8 GB of RAM free.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386584"/>
            <a:ext cx="347472" cy="347472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350008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Enable Model Runner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Docker Desktop: Settings → AI. Linux: install docker-model-plugin.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44952"/>
            <a:ext cx="347472" cy="347472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008376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Confirm the plugin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docker model version must print a version, not an error.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03320"/>
            <a:ext cx="347472" cy="347472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666744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Pull a model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docker model pull ai/smollm2 — note how long the download takes.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361688"/>
            <a:ext cx="347472" cy="347472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325112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Run 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docker model run ai/smollm2, then ask it to summarise a paragraph.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020055"/>
            <a:ext cx="347472" cy="347472"/>
          </a:xfrm>
          <a:prstGeom prst="ellipse">
            <a:avLst/>
          </a:prstGeom>
          <a:solidFill>
            <a:srgbClr val="164194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82296" bIns="8229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983479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Inspect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docker model list, and watch memory rise while it is loaded and fall when idle.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691640"/>
            <a:ext cx="5303520" cy="1703527"/>
          </a:xfrm>
          <a:prstGeom prst="roundRect">
            <a:avLst>
              <a:gd name="adj" fmla="val 4000"/>
            </a:avLst>
          </a:prstGeom>
          <a:solidFill>
            <a:srgbClr val="1E222A"/>
          </a:solidFill>
          <a:ln w="12700">
            <a:solidFill>
              <a:srgbClr val="1E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76869B"/>
                </a:solidFill>
                <a:latin typeface="Consolas"/>
              </a:rPr>
              <a:t>Checkpoint commands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DD8A8"/>
                </a:solidFill>
                <a:latin typeface="Consolas"/>
              </a:rPr>
              <a:t>$ </a:t>
            </a:r>
            <a:r>
              <a:rPr sz="1200" b="0">
                <a:solidFill>
                  <a:srgbClr val="F2F4F8"/>
                </a:solidFill>
                <a:latin typeface="Consolas"/>
              </a:rPr>
              <a:t>docker --version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DD8A8"/>
                </a:solidFill>
                <a:latin typeface="Consolas"/>
              </a:rPr>
              <a:t>$ </a:t>
            </a:r>
            <a:r>
              <a:rPr sz="1200" b="0">
                <a:solidFill>
                  <a:srgbClr val="F2F4F8"/>
                </a:solidFill>
                <a:latin typeface="Consolas"/>
              </a:rPr>
              <a:t>docker model version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DD8A8"/>
                </a:solidFill>
                <a:latin typeface="Consolas"/>
              </a:rPr>
              <a:t>$ </a:t>
            </a:r>
            <a:r>
              <a:rPr sz="1200" b="0">
                <a:solidFill>
                  <a:srgbClr val="F2F4F8"/>
                </a:solidFill>
                <a:latin typeface="Consolas"/>
              </a:rPr>
              <a:t>docker model pull ai/smollm2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DD8A8"/>
                </a:solidFill>
                <a:latin typeface="Consolas"/>
              </a:rPr>
              <a:t>$ </a:t>
            </a:r>
            <a:r>
              <a:rPr sz="1200" b="0">
                <a:solidFill>
                  <a:srgbClr val="F2F4F8"/>
                </a:solidFill>
                <a:latin typeface="Consolas"/>
              </a:rPr>
              <a:t>docker model run ai/smollm2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DD8A8"/>
                </a:solidFill>
                <a:latin typeface="Consolas"/>
              </a:rPr>
              <a:t>$ </a:t>
            </a:r>
            <a:r>
              <a:rPr sz="1200" b="0">
                <a:solidFill>
                  <a:srgbClr val="F2F4F8"/>
                </a:solidFill>
                <a:latin typeface="Consolas"/>
              </a:rPr>
              <a:t>docker model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931920"/>
            <a:ext cx="530352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64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164194"/>
                </a:solidFill>
                <a:latin typeface="Calibri"/>
              </a:rPr>
              <a:t>You are done when…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docker model list shows ai/smollm2.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The model answers a question in the terminal.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You can explain where the weights are stored.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2 — Call the Model from Code and Compose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4194"/>
                </a:solidFill>
                <a:latin typeface="Calibri"/>
              </a:rPr>
              <a:t>Work in pairs · about 25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989320" cy="2168956"/>
          </a:xfrm>
          <a:prstGeom prst="roundRect">
            <a:avLst>
              <a:gd name="adj" fmla="val 4000"/>
            </a:avLst>
          </a:prstGeom>
          <a:solidFill>
            <a:srgbClr val="1E222A"/>
          </a:solidFill>
          <a:ln w="12700">
            <a:solidFill>
              <a:srgbClr val="1E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76869B"/>
                </a:solidFill>
                <a:latin typeface="Consolas"/>
              </a:rPr>
              <a:t># 1. enable host-side TCP, then call the endpoint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DD8A8"/>
                </a:solidFill>
                <a:latin typeface="Consolas"/>
              </a:rPr>
              <a:t>$ </a:t>
            </a:r>
            <a:r>
              <a:rPr sz="1100" b="0">
                <a:solidFill>
                  <a:srgbClr val="F2F4F8"/>
                </a:solidFill>
                <a:latin typeface="Consolas"/>
              </a:rPr>
              <a:t>URL=http://localhost:12434/engines/llama.cpp/v1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DD8A8"/>
                </a:solidFill>
                <a:latin typeface="Consolas"/>
              </a:rPr>
              <a:t>$ </a:t>
            </a:r>
            <a:r>
              <a:rPr sz="1100" b="0">
                <a:solidFill>
                  <a:srgbClr val="F2F4F8"/>
                </a:solidFill>
                <a:latin typeface="Consolas"/>
              </a:rPr>
              <a:t>curl $URL/chat/completions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2F4F8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2F4F8"/>
                </a:solidFill>
                <a:latin typeface="Consolas"/>
              </a:rPr>
              <a:t>  -d '{"model": "ai/smollm2",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2F4F8"/>
                </a:solidFill>
                <a:latin typeface="Consolas"/>
              </a:rPr>
              <a:t>       "messages": [{"role": "user",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2F4F8"/>
                </a:solidFill>
                <a:latin typeface="Consolas"/>
              </a:rPr>
              <a:t>                     "content": "Explain containers"}]}'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76869B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76869B"/>
                </a:solidFill>
                <a:latin typeface="Consolas"/>
              </a:rPr>
              <a:t># 2. then set "stream": true and compare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5989320" cy="1188720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2296" bIns="8229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Checkpoint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A JSON body comes back with a choices array.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With streaming on, the reply arrives in fragments.</a:t>
            </a:r>
          </a:p>
          <a:p>
            <a:pPr algn="l" marL="173736" indent="-173736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4194"/>
                </a:solidFill>
                <a:latin typeface="Calibri"/>
              </a:rPr>
              <a:t>•  </a:t>
            </a:r>
            <a:r>
              <a:rPr sz="1100" b="0">
                <a:solidFill>
                  <a:srgbClr val="262626"/>
                </a:solidFill>
                <a:latin typeface="Calibri"/>
              </a:rPr>
              <a:t>docker compose up starts app and model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691640"/>
            <a:ext cx="4828032" cy="726947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2B63"/>
                </a:solidFill>
                <a:latin typeface="Calibri"/>
              </a:rPr>
              <a:t>Task A — </a:t>
            </a:r>
            <a:r>
              <a:rPr sz="1150" b="0">
                <a:solidFill>
                  <a:srgbClr val="262626"/>
                </a:solidFill>
                <a:latin typeface="Calibri"/>
              </a:rPr>
              <a:t>Get a JSON response from the REST endpoint, then re-run with streaming enabled and describe the difference to your partner.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601468"/>
            <a:ext cx="4828032" cy="726947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2B63"/>
                </a:solidFill>
                <a:latin typeface="Calibri"/>
              </a:rPr>
              <a:t>Task B — </a:t>
            </a:r>
            <a:r>
              <a:rPr sz="1150" b="0">
                <a:solidFill>
                  <a:srgbClr val="262626"/>
                </a:solidFill>
                <a:latin typeface="Calibri"/>
              </a:rPr>
              <a:t>Write a compose.yaml with a models block for ai/smollm2 and a service that declares it. Start it with docker compose 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511296"/>
            <a:ext cx="4828032" cy="726947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2B63"/>
                </a:solidFill>
                <a:latin typeface="Calibri"/>
              </a:rPr>
              <a:t>Task C — </a:t>
            </a:r>
            <a:r>
              <a:rPr sz="1150" b="0">
                <a:solidFill>
                  <a:srgbClr val="262626"/>
                </a:solidFill>
                <a:latin typeface="Calibri"/>
              </a:rPr>
              <a:t>Pull a Q4_0 build of any model and compare download size and response speed against the default.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421124"/>
            <a:ext cx="4828032" cy="726947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2B63"/>
                </a:solidFill>
                <a:latin typeface="Calibri"/>
              </a:rPr>
              <a:t>Stretch — </a:t>
            </a:r>
            <a:r>
              <a:rPr sz="1150" b="0">
                <a:solidFill>
                  <a:srgbClr val="262626"/>
                </a:solidFill>
                <a:latin typeface="Calibri"/>
              </a:rPr>
              <a:t>Point an existing OpenAI client at localhost:12434 by changing only its base URL.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22392"/>
            <a:ext cx="10908792" cy="512064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Deliverable: </a:t>
            </a:r>
            <a:r>
              <a:rPr sz="1300" b="0">
                <a:solidFill>
                  <a:srgbClr val="262626"/>
                </a:solidFill>
                <a:latin typeface="Calibri"/>
              </a:rPr>
              <a:t>your compose.yaml plus one screenshot of a successful API response, submitted to the module folder before the next session.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6247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Models become Docker citizens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Same CLI, same registries, same access control as the containers you already 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91640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The engine is native, by design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llama.cpp runs as a host process so GPU access is direct — containerisation without the virtualisation tax.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46527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OpenAI compatibility is the on-ramp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Change a base URL and existing code runs against a local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846527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Privacy is the strongest argument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Requests never leave your infrastructure, which is often what makes the project approvable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01414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Know the limits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Offload is beta, Kubernetes support is experimental, digests are unreliable, and Ollama still offers more customisation.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4001414"/>
            <a:ext cx="5303520" cy="898855"/>
          </a:xfrm>
          <a:prstGeom prst="roundRect">
            <a:avLst>
              <a:gd name="adj" fmla="val 7000"/>
            </a:avLst>
          </a:prstGeom>
          <a:solidFill>
            <a:srgbClr val="E9EEF8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E2B63"/>
                </a:solidFill>
                <a:latin typeface="Calibri"/>
              </a:rPr>
              <a:t>Pick by ecosystem, not benchmarks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Performance is within ~10% of Ollama; the deciding factor is which workflow your team already lives 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08080"/>
                </a:solidFill>
                <a:latin typeface="Calibri"/>
              </a:rPr>
              <a:t>Source: DataCamp — “Docker Model Runner: A Guide With Practical Examples” (2025)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00EA-5608-25F7-9D16-8618AB8F13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42018" y="6492875"/>
            <a:ext cx="4114800" cy="365125"/>
          </a:xfrm>
        </p:spPr>
        <p:txBody>
          <a:bodyPr/>
          <a:lstStyle/>
          <a:p>
            <a:pPr algn="l"/>
            <a:r>
              <a:rPr lang="it-IT"/>
              <a:t>ITI121 Generative AI - PDC in Generative AI &amp; Deep Learning</a:t>
            </a:r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C0804-8576-3D7C-894B-CB09C4D338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10600" y="6492874"/>
            <a:ext cx="2743200" cy="365125"/>
          </a:xfrm>
        </p:spPr>
        <p:txBody>
          <a:bodyPr/>
          <a:lstStyle/>
          <a:p>
            <a:fld id="{CE19DD2C-80DA-488C-99A4-6C8CE83C9C30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0879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3736" indent="-173736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Abid Ali Awan (2025). Docker Model Runner: A Guide With Practical Examples. DataCamp. </a:t>
            </a:r>
            <a:r>
              <a:rPr sz="1300">
                <a:latin typeface="Calibri"/>
                <a:hlinkClick r:id="rId2"/>
              </a:rPr>
              <a:t>https://www.datacamp.com/tutorial/docker-model-runner</a:t>
            </a:r>
          </a:p>
          <a:p>
            <a:pPr algn="l" marL="173736" indent="-173736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Docker. Docker Model Runner documentation. </a:t>
            </a:r>
            <a:r>
              <a:rPr sz="1300">
                <a:latin typeface="Calibri"/>
                <a:hlinkClick r:id="rId3"/>
              </a:rPr>
              <a:t>https://docs.docker.com/ai/model-runner/</a:t>
            </a:r>
          </a:p>
          <a:p>
            <a:pPr algn="l" marL="173736" indent="-173736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Docker Hub. AI model catalogue. </a:t>
            </a:r>
            <a:r>
              <a:rPr sz="1300">
                <a:latin typeface="Calibri"/>
                <a:hlinkClick r:id="rId4"/>
              </a:rPr>
              <a:t>https://hub.docker.com/catalogs/models</a:t>
            </a:r>
          </a:p>
          <a:p>
            <a:pPr algn="l" marL="173736" indent="-173736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Hugging Face. GGUF models compatible with Docker Model Runner. </a:t>
            </a:r>
            <a:r>
              <a:rPr sz="1300">
                <a:latin typeface="Calibri"/>
                <a:hlinkClick r:id="rId5"/>
              </a:rPr>
              <a:t>https://huggingface.co/models?library=gguf</a:t>
            </a:r>
          </a:p>
          <a:p>
            <a:pPr algn="l" marL="173736" indent="-173736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ggml-org. llama.cpp — the inference engine behind Model Runner. </a:t>
            </a:r>
            <a:r>
              <a:rPr sz="1300">
                <a:latin typeface="Calibri"/>
                <a:hlinkClick r:id="rId6"/>
              </a:rPr>
              <a:t>https://github.com/ggml-org/llama.cpp</a:t>
            </a:r>
          </a:p>
          <a:p>
            <a:pPr algn="l" marL="173736" indent="-173736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164194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Hugging Face. SmolLM2. </a:t>
            </a:r>
            <a:r>
              <a:rPr sz="1300">
                <a:latin typeface="Calibri"/>
                <a:hlinkClick r:id="rId7"/>
              </a:rPr>
              <a:t>https://huggingface.co/HuggingFaceTB/SmolLM2-360M-Instruct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54880"/>
            <a:ext cx="10908792" cy="566928"/>
          </a:xfrm>
          <a:prstGeom prst="roundRect">
            <a:avLst>
              <a:gd name="adj" fmla="val 7000"/>
            </a:avLst>
          </a:prstGeom>
          <a:solidFill>
            <a:srgbClr val="F4F6FA"/>
          </a:solidFill>
          <a:ln w="12700">
            <a:solidFill>
              <a:srgbClr val="C3D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2296" bIns="8229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B63"/>
                </a:solidFill>
                <a:latin typeface="Calibri"/>
              </a:rPr>
              <a:t>Figures in this deck </a:t>
            </a:r>
            <a:r>
              <a:rPr sz="1300" b="0">
                <a:solidFill>
                  <a:srgbClr val="262626"/>
                </a:solidFill>
                <a:latin typeface="Calibri"/>
              </a:rPr>
              <a:t>are original diagrams drawn for the module; the terminal panels reproduce the commands and output published in the DataCamp tutorial.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EN 129(23) A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83bdb4-0a8f-43d2-a24f-e17275a3121b" xsi:nil="true"/>
    <SharedWithUsers xmlns="f64e7450-eb76-4305-9aaa-c7c2fda4733e">
      <UserInfo>
        <DisplayName/>
        <AccountId xsi:nil="true"/>
        <AccountType/>
      </UserInfo>
    </SharedWithUsers>
    <lcf76f155ced4ddcb4097134ff3c332f xmlns="f64e7450-eb76-4305-9aaa-c7c2fda4733e">
      <Terms xmlns="http://schemas.microsoft.com/office/infopath/2007/PartnerControls"/>
    </lcf76f155ced4ddcb4097134ff3c332f>
    <Owner xmlns="f64e7450-eb76-4305-9aaa-c7c2fda4733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6AFF6A4F3FF49931B55B041F99EFA" ma:contentTypeVersion="23" ma:contentTypeDescription="Create a new document." ma:contentTypeScope="" ma:versionID="61a0eef3450023d494e2ceffcbf7e3df">
  <xsd:schema xmlns:xsd="http://www.w3.org/2001/XMLSchema" xmlns:xs="http://www.w3.org/2001/XMLSchema" xmlns:p="http://schemas.microsoft.com/office/2006/metadata/properties" xmlns:ns2="f64e7450-eb76-4305-9aaa-c7c2fda4733e" xmlns:ns3="1483bdb4-0a8f-43d2-a24f-e17275a3121b" xmlns:ns4="cdc4170c-4545-48f7-871b-33920ecd5df3" targetNamespace="http://schemas.microsoft.com/office/2006/metadata/properties" ma:root="true" ma:fieldsID="dcf00dde415673dc76d9a86cc65b0522" ns2:_="" ns3:_="" ns4:_="">
    <xsd:import namespace="f64e7450-eb76-4305-9aaa-c7c2fda4733e"/>
    <xsd:import namespace="1483bdb4-0a8f-43d2-a24f-e17275a3121b"/>
    <xsd:import namespace="cdc4170c-4545-48f7-871b-33920ecd5d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SharedWithUsers" minOccurs="0"/>
                <xsd:element ref="ns2:Owner" minOccurs="0"/>
                <xsd:element ref="ns4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e7450-eb76-4305-9aaa-c7c2fda473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58e8660-d7f0-40dc-9355-39c17cfe3e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SharedWithUsers" ma:index="19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wner" ma:index="20" nillable="true" ma:displayName="Owner" ma:internalName="Owner" ma:readOnly="false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83bdb4-0a8f-43d2-a24f-e17275a3121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7bdc7dd-b19c-4daa-ac60-4cc2365c7a3f}" ma:internalName="TaxCatchAll" ma:showField="CatchAllData" ma:web="1483bdb4-0a8f-43d2-a24f-e17275a312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c4170c-4545-48f7-871b-33920ecd5df3" elementFormDefault="qualified">
    <xsd:import namespace="http://schemas.microsoft.com/office/2006/documentManagement/types"/>
    <xsd:import namespace="http://schemas.microsoft.com/office/infopath/2007/PartnerControls"/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4823A8-D13E-443D-AF76-75DA2E9EFDDD}">
  <ds:schemaRefs>
    <ds:schemaRef ds:uri="http://schemas.microsoft.com/office/2006/metadata/properties"/>
    <ds:schemaRef ds:uri="http://schemas.microsoft.com/office/infopath/2007/PartnerControls"/>
    <ds:schemaRef ds:uri="1483bdb4-0a8f-43d2-a24f-e17275a3121b"/>
    <ds:schemaRef ds:uri="f64e7450-eb76-4305-9aaa-c7c2fda4733e"/>
  </ds:schemaRefs>
</ds:datastoreItem>
</file>

<file path=customXml/itemProps2.xml><?xml version="1.0" encoding="utf-8"?>
<ds:datastoreItem xmlns:ds="http://schemas.openxmlformats.org/officeDocument/2006/customXml" ds:itemID="{BA923E17-E709-4E48-9BD1-C688FFB5E7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e7450-eb76-4305-9aaa-c7c2fda4733e"/>
    <ds:schemaRef ds:uri="1483bdb4-0a8f-43d2-a24f-e17275a3121b"/>
    <ds:schemaRef ds:uri="cdc4170c-4545-48f7-871b-33920ecd5d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0EE154-A736-456D-A3E2-2774536219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SEN 129(23) A19</Template>
  <TotalTime>9767</TotalTime>
  <Words>3360</Words>
  <Application>Microsoft Office PowerPoint</Application>
  <PresentationFormat>Widescreen</PresentationFormat>
  <Paragraphs>422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Arvo</vt:lpstr>
      <vt:lpstr>Avenir Book</vt:lpstr>
      <vt:lpstr>Aptos</vt:lpstr>
      <vt:lpstr>Arial</vt:lpstr>
      <vt:lpstr>Calibri</vt:lpstr>
      <vt:lpstr>Calibri Light</vt:lpstr>
      <vt:lpstr>Roboto</vt:lpstr>
      <vt:lpstr>SEN 129(23) A19</vt:lpstr>
      <vt:lpstr>PowerPoint Presentation</vt:lpstr>
      <vt:lpstr>Learning Outcomes</vt:lpstr>
      <vt:lpstr>What is an AI Voice Agent?</vt:lpstr>
      <vt:lpstr>Voice Agent Stack Components</vt:lpstr>
      <vt:lpstr>Examples Providers: TTS/LLM/STT Pipeline</vt:lpstr>
      <vt:lpstr>Examples Providers: TTS/LLM/STT Pipeline(real time)</vt:lpstr>
      <vt:lpstr>AI Voice Agent — Call Management</vt:lpstr>
      <vt:lpstr>Core Components of Call Management</vt:lpstr>
      <vt:lpstr>Call Flow Architecture</vt:lpstr>
      <vt:lpstr>Voice Activity Detection (VAD)</vt:lpstr>
      <vt:lpstr>Barge-In &amp; Turn-Taking Control</vt:lpstr>
      <vt:lpstr>Turn-Taking Management</vt:lpstr>
      <vt:lpstr>Call Session &amp; State Management</vt:lpstr>
      <vt:lpstr>Challenges in Implementing AI Voice Bots</vt:lpstr>
      <vt:lpstr>Challenges in Implementing AI Voice Bots</vt:lpstr>
      <vt:lpstr>Understanding Voice-to-Voice Latency</vt:lpstr>
      <vt:lpstr>Latency Lower Bounds</vt:lpstr>
      <vt:lpstr>Speech-to-Text (STT) Optimization</vt:lpstr>
      <vt:lpstr>Speech-to-Text (STT) Optimization</vt:lpstr>
      <vt:lpstr>LLM Optimization Strategies</vt:lpstr>
      <vt:lpstr>LLM Optimization Strategies</vt:lpstr>
      <vt:lpstr>LLM Optimization Strategies</vt:lpstr>
      <vt:lpstr>LLM Optimization Strategies</vt:lpstr>
      <vt:lpstr>Text-to-Speech (TTS) Optimization</vt:lpstr>
      <vt:lpstr>Text-to-Speech (TTS) Optimization</vt:lpstr>
      <vt:lpstr>Approach: Real Time Peer-to-Peer Communication</vt:lpstr>
      <vt:lpstr>Connection between Computers</vt:lpstr>
      <vt:lpstr>Web Protocols-WebSocket Vs WebRTC</vt:lpstr>
      <vt:lpstr>Importance in Voice Agent</vt:lpstr>
      <vt:lpstr>AI Voice Agent Use Cases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Kheng Kok Mar</dc:creator>
  <cp:lastModifiedBy>chee hong wee</cp:lastModifiedBy>
  <cp:revision>63</cp:revision>
  <dcterms:created xsi:type="dcterms:W3CDTF">2023-04-05T14:55:09Z</dcterms:created>
  <dcterms:modified xsi:type="dcterms:W3CDTF">2025-11-09T09:43:18Z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0x0101009FE6AFF6A4F3FF49931B55B041F99EFA</vt:lpwstr>
  </property>
  <property fmtid="{D5CDD505-2E9C-101B-9397-08002B2CF9AE}" pid="3" name="MSIP_Label_babe128f-e2ab-4b18-9c62-301caee5e80a_Enabled">
    <vt:lpwstr>true</vt:lpwstr>
  </property>
  <property fmtid="{D5CDD505-2E9C-101B-9397-08002B2CF9AE}" pid="4" name="MSIP_Label_babe128f-e2ab-4b18-9c62-301caee5e80a_SetDate">
    <vt:lpwstr>2023-05-30T04:02:35Z</vt:lpwstr>
  </property>
  <property fmtid="{D5CDD505-2E9C-101B-9397-08002B2CF9AE}" pid="5" name="MSIP_Label_babe128f-e2ab-4b18-9c62-301caee5e80a_Method">
    <vt:lpwstr>Privileged</vt:lpwstr>
  </property>
  <property fmtid="{D5CDD505-2E9C-101B-9397-08002B2CF9AE}" pid="6" name="MSIP_Label_babe128f-e2ab-4b18-9c62-301caee5e80a_Name">
    <vt:lpwstr>OFFICIAL [OPEN]</vt:lpwstr>
  </property>
  <property fmtid="{D5CDD505-2E9C-101B-9397-08002B2CF9AE}" pid="7" name="MSIP_Label_babe128f-e2ab-4b18-9c62-301caee5e80a_SiteId">
    <vt:lpwstr>243ebaed-00d0-4690-a7dc-75893b0d9f98</vt:lpwstr>
  </property>
  <property fmtid="{D5CDD505-2E9C-101B-9397-08002B2CF9AE}" pid="8" name="MSIP_Label_babe128f-e2ab-4b18-9c62-301caee5e80a_ActionId">
    <vt:lpwstr>3c58ffe5-4c8c-497d-b23e-0c1208da03ba</vt:lpwstr>
  </property>
  <property fmtid="{D5CDD505-2E9C-101B-9397-08002B2CF9AE}" pid="9" name="MSIP_Label_babe128f-e2ab-4b18-9c62-301caee5e80a_ContentBits">
    <vt:lpwstr>1</vt:lpwstr>
  </property>
  <property fmtid="{D5CDD505-2E9C-101B-9397-08002B2CF9AE}" pid="10" name="MediaServiceImageTags">
    <vt:lpwstr/>
  </property>
</Properties>
</file>