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6"/>
  </p:notesMasterIdLst>
  <p:handoutMasterIdLst>
    <p:handoutMasterId r:id="rId37"/>
  </p:handoutMasterIdLst>
  <p:sldIdLst>
    <p:sldId id="419" r:id="rId5"/>
    <p:sldId id="402" r:id="rId6"/>
    <p:sldId id="432" r:id="rId7"/>
    <p:sldId id="431" r:id="rId8"/>
    <p:sldId id="465" r:id="rId44"/>
    <p:sldId id="466" r:id="rId45"/>
    <p:sldId id="467" r:id="rId46"/>
    <p:sldId id="468" r:id="rId47"/>
    <p:sldId id="469" r:id="rId48"/>
    <p:sldId id="470" r:id="rId49"/>
    <p:sldId id="471" r:id="rId50"/>
    <p:sldId id="472" r:id="rId51"/>
    <p:sldId id="473" r:id="rId52"/>
    <p:sldId id="434" r:id="rId9"/>
    <p:sldId id="435" r:id="rId10"/>
    <p:sldId id="448" r:id="rId11"/>
    <p:sldId id="449" r:id="rId12"/>
    <p:sldId id="450" r:id="rId13"/>
    <p:sldId id="451" r:id="rId14"/>
    <p:sldId id="452" r:id="rId15"/>
    <p:sldId id="453" r:id="rId16"/>
    <p:sldId id="454" r:id="rId17"/>
    <p:sldId id="456" r:id="rId18"/>
    <p:sldId id="455" r:id="rId19"/>
    <p:sldId id="447" r:id="rId20"/>
    <p:sldId id="438" r:id="rId21"/>
    <p:sldId id="457" r:id="rId22"/>
    <p:sldId id="458" r:id="rId23"/>
    <p:sldId id="459" r:id="rId24"/>
    <p:sldId id="462" r:id="rId25"/>
    <p:sldId id="460" r:id="rId26"/>
    <p:sldId id="461" r:id="rId27"/>
    <p:sldId id="464" r:id="rId28"/>
    <p:sldId id="463" r:id="rId29"/>
    <p:sldId id="437" r:id="rId30"/>
    <p:sldId id="440" r:id="rId31"/>
    <p:sldId id="441" r:id="rId32"/>
    <p:sldId id="445" r:id="rId33"/>
    <p:sldId id="474" r:id="rId53"/>
    <p:sldId id="475" r:id="rId54"/>
    <p:sldId id="476" r:id="rId55"/>
    <p:sldId id="446" r:id="rId34"/>
    <p:sldId id="40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D7AA8-B633-43EA-B803-6478153F3BD7}" v="3" dt="2025-03-21T02:00:42.0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13" autoAdjust="0"/>
    <p:restoredTop sz="74308" autoAdjust="0"/>
  </p:normalViewPr>
  <p:slideViewPr>
    <p:cSldViewPr snapToGrid="0">
      <p:cViewPr varScale="1">
        <p:scale>
          <a:sx n="82" d="100"/>
          <a:sy n="82" d="100"/>
        </p:scale>
        <p:origin x="20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notesMaster" Target="notesMasters/notesMaster1.xml"/><Relationship Id="rId37" Type="http://schemas.openxmlformats.org/officeDocument/2006/relationships/handoutMaster" Target="handoutMasters/handout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microsoft.com/office/2016/11/relationships/changesInfo" Target="changesInfos/changesInfo1.xml"/><Relationship Id="rId43" Type="http://schemas.microsoft.com/office/2015/10/relationships/revisionInfo" Target="revisionInfo.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eng Kok MAR (NYP)" userId="62030f1a-a95b-4c33-86e6-478100d64ee1" providerId="ADAL" clId="{58ED7AA8-B633-43EA-B803-6478153F3BD7}"/>
    <pc:docChg chg="undo custSel addSld delSld modSld">
      <pc:chgData name="Kheng Kok MAR (NYP)" userId="62030f1a-a95b-4c33-86e6-478100d64ee1" providerId="ADAL" clId="{58ED7AA8-B633-43EA-B803-6478153F3BD7}" dt="2025-03-21T05:00:48.584" v="153" actId="5793"/>
      <pc:docMkLst>
        <pc:docMk/>
      </pc:docMkLst>
      <pc:sldChg chg="del">
        <pc:chgData name="Kheng Kok MAR (NYP)" userId="62030f1a-a95b-4c33-86e6-478100d64ee1" providerId="ADAL" clId="{58ED7AA8-B633-43EA-B803-6478153F3BD7}" dt="2025-03-21T04:59:58.739" v="136" actId="47"/>
        <pc:sldMkLst>
          <pc:docMk/>
          <pc:sldMk cId="2600293482" sldId="262"/>
        </pc:sldMkLst>
      </pc:sldChg>
      <pc:sldChg chg="del">
        <pc:chgData name="Kheng Kok MAR (NYP)" userId="62030f1a-a95b-4c33-86e6-478100d64ee1" providerId="ADAL" clId="{58ED7AA8-B633-43EA-B803-6478153F3BD7}" dt="2025-03-21T04:59:46.679" v="135" actId="47"/>
        <pc:sldMkLst>
          <pc:docMk/>
          <pc:sldMk cId="2807024801" sldId="295"/>
        </pc:sldMkLst>
      </pc:sldChg>
      <pc:sldChg chg="del">
        <pc:chgData name="Kheng Kok MAR (NYP)" userId="62030f1a-a95b-4c33-86e6-478100d64ee1" providerId="ADAL" clId="{58ED7AA8-B633-43EA-B803-6478153F3BD7}" dt="2025-03-21T04:59:46.679" v="135" actId="47"/>
        <pc:sldMkLst>
          <pc:docMk/>
          <pc:sldMk cId="2933152867" sldId="299"/>
        </pc:sldMkLst>
      </pc:sldChg>
      <pc:sldChg chg="del">
        <pc:chgData name="Kheng Kok MAR (NYP)" userId="62030f1a-a95b-4c33-86e6-478100d64ee1" providerId="ADAL" clId="{58ED7AA8-B633-43EA-B803-6478153F3BD7}" dt="2025-03-21T04:59:46.679" v="135" actId="47"/>
        <pc:sldMkLst>
          <pc:docMk/>
          <pc:sldMk cId="3250412498" sldId="300"/>
        </pc:sldMkLst>
      </pc:sldChg>
      <pc:sldChg chg="del">
        <pc:chgData name="Kheng Kok MAR (NYP)" userId="62030f1a-a95b-4c33-86e6-478100d64ee1" providerId="ADAL" clId="{58ED7AA8-B633-43EA-B803-6478153F3BD7}" dt="2025-03-21T04:59:46.679" v="135" actId="47"/>
        <pc:sldMkLst>
          <pc:docMk/>
          <pc:sldMk cId="1619976221" sldId="301"/>
        </pc:sldMkLst>
      </pc:sldChg>
      <pc:sldChg chg="del">
        <pc:chgData name="Kheng Kok MAR (NYP)" userId="62030f1a-a95b-4c33-86e6-478100d64ee1" providerId="ADAL" clId="{58ED7AA8-B633-43EA-B803-6478153F3BD7}" dt="2025-03-21T04:59:46.679" v="135" actId="47"/>
        <pc:sldMkLst>
          <pc:docMk/>
          <pc:sldMk cId="4234809244" sldId="302"/>
        </pc:sldMkLst>
      </pc:sldChg>
      <pc:sldChg chg="del">
        <pc:chgData name="Kheng Kok MAR (NYP)" userId="62030f1a-a95b-4c33-86e6-478100d64ee1" providerId="ADAL" clId="{58ED7AA8-B633-43EA-B803-6478153F3BD7}" dt="2025-03-21T04:59:46.679" v="135" actId="47"/>
        <pc:sldMkLst>
          <pc:docMk/>
          <pc:sldMk cId="2070489917" sldId="303"/>
        </pc:sldMkLst>
      </pc:sldChg>
      <pc:sldChg chg="del">
        <pc:chgData name="Kheng Kok MAR (NYP)" userId="62030f1a-a95b-4c33-86e6-478100d64ee1" providerId="ADAL" clId="{58ED7AA8-B633-43EA-B803-6478153F3BD7}" dt="2025-03-21T04:59:46.679" v="135" actId="47"/>
        <pc:sldMkLst>
          <pc:docMk/>
          <pc:sldMk cId="1766828700" sldId="320"/>
        </pc:sldMkLst>
      </pc:sldChg>
      <pc:sldChg chg="del">
        <pc:chgData name="Kheng Kok MAR (NYP)" userId="62030f1a-a95b-4c33-86e6-478100d64ee1" providerId="ADAL" clId="{58ED7AA8-B633-43EA-B803-6478153F3BD7}" dt="2025-03-21T04:59:46.679" v="135" actId="47"/>
        <pc:sldMkLst>
          <pc:docMk/>
          <pc:sldMk cId="3880737323" sldId="321"/>
        </pc:sldMkLst>
      </pc:sldChg>
      <pc:sldChg chg="del">
        <pc:chgData name="Kheng Kok MAR (NYP)" userId="62030f1a-a95b-4c33-86e6-478100d64ee1" providerId="ADAL" clId="{58ED7AA8-B633-43EA-B803-6478153F3BD7}" dt="2025-03-21T04:59:46.679" v="135" actId="47"/>
        <pc:sldMkLst>
          <pc:docMk/>
          <pc:sldMk cId="3392206436" sldId="322"/>
        </pc:sldMkLst>
      </pc:sldChg>
      <pc:sldChg chg="del">
        <pc:chgData name="Kheng Kok MAR (NYP)" userId="62030f1a-a95b-4c33-86e6-478100d64ee1" providerId="ADAL" clId="{58ED7AA8-B633-43EA-B803-6478153F3BD7}" dt="2025-03-21T04:59:46.679" v="135" actId="47"/>
        <pc:sldMkLst>
          <pc:docMk/>
          <pc:sldMk cId="3132682470" sldId="323"/>
        </pc:sldMkLst>
      </pc:sldChg>
      <pc:sldChg chg="del">
        <pc:chgData name="Kheng Kok MAR (NYP)" userId="62030f1a-a95b-4c33-86e6-478100d64ee1" providerId="ADAL" clId="{58ED7AA8-B633-43EA-B803-6478153F3BD7}" dt="2025-03-21T04:59:46.679" v="135" actId="47"/>
        <pc:sldMkLst>
          <pc:docMk/>
          <pc:sldMk cId="3169862212" sldId="324"/>
        </pc:sldMkLst>
      </pc:sldChg>
      <pc:sldChg chg="del">
        <pc:chgData name="Kheng Kok MAR (NYP)" userId="62030f1a-a95b-4c33-86e6-478100d64ee1" providerId="ADAL" clId="{58ED7AA8-B633-43EA-B803-6478153F3BD7}" dt="2025-03-21T04:59:46.679" v="135" actId="47"/>
        <pc:sldMkLst>
          <pc:docMk/>
          <pc:sldMk cId="4009347987" sldId="325"/>
        </pc:sldMkLst>
      </pc:sldChg>
      <pc:sldChg chg="del">
        <pc:chgData name="Kheng Kok MAR (NYP)" userId="62030f1a-a95b-4c33-86e6-478100d64ee1" providerId="ADAL" clId="{58ED7AA8-B633-43EA-B803-6478153F3BD7}" dt="2025-03-21T05:00:10.423" v="138" actId="47"/>
        <pc:sldMkLst>
          <pc:docMk/>
          <pc:sldMk cId="1255300212" sldId="327"/>
        </pc:sldMkLst>
      </pc:sldChg>
      <pc:sldChg chg="del">
        <pc:chgData name="Kheng Kok MAR (NYP)" userId="62030f1a-a95b-4c33-86e6-478100d64ee1" providerId="ADAL" clId="{58ED7AA8-B633-43EA-B803-6478153F3BD7}" dt="2025-03-21T04:59:58.739" v="136" actId="47"/>
        <pc:sldMkLst>
          <pc:docMk/>
          <pc:sldMk cId="1320550275" sldId="328"/>
        </pc:sldMkLst>
      </pc:sldChg>
      <pc:sldChg chg="del">
        <pc:chgData name="Kheng Kok MAR (NYP)" userId="62030f1a-a95b-4c33-86e6-478100d64ee1" providerId="ADAL" clId="{58ED7AA8-B633-43EA-B803-6478153F3BD7}" dt="2025-03-21T04:59:58.739" v="136" actId="47"/>
        <pc:sldMkLst>
          <pc:docMk/>
          <pc:sldMk cId="916683871" sldId="329"/>
        </pc:sldMkLst>
      </pc:sldChg>
      <pc:sldChg chg="del">
        <pc:chgData name="Kheng Kok MAR (NYP)" userId="62030f1a-a95b-4c33-86e6-478100d64ee1" providerId="ADAL" clId="{58ED7AA8-B633-43EA-B803-6478153F3BD7}" dt="2025-03-21T04:59:58.739" v="136" actId="47"/>
        <pc:sldMkLst>
          <pc:docMk/>
          <pc:sldMk cId="3836926012" sldId="330"/>
        </pc:sldMkLst>
      </pc:sldChg>
      <pc:sldChg chg="del">
        <pc:chgData name="Kheng Kok MAR (NYP)" userId="62030f1a-a95b-4c33-86e6-478100d64ee1" providerId="ADAL" clId="{58ED7AA8-B633-43EA-B803-6478153F3BD7}" dt="2025-03-21T04:59:58.739" v="136" actId="47"/>
        <pc:sldMkLst>
          <pc:docMk/>
          <pc:sldMk cId="1005339390" sldId="331"/>
        </pc:sldMkLst>
      </pc:sldChg>
      <pc:sldChg chg="del">
        <pc:chgData name="Kheng Kok MAR (NYP)" userId="62030f1a-a95b-4c33-86e6-478100d64ee1" providerId="ADAL" clId="{58ED7AA8-B633-43EA-B803-6478153F3BD7}" dt="2025-03-21T04:59:58.739" v="136" actId="47"/>
        <pc:sldMkLst>
          <pc:docMk/>
          <pc:sldMk cId="3761206000" sldId="333"/>
        </pc:sldMkLst>
      </pc:sldChg>
      <pc:sldChg chg="del">
        <pc:chgData name="Kheng Kok MAR (NYP)" userId="62030f1a-a95b-4c33-86e6-478100d64ee1" providerId="ADAL" clId="{58ED7AA8-B633-43EA-B803-6478153F3BD7}" dt="2025-03-21T04:59:58.739" v="136" actId="47"/>
        <pc:sldMkLst>
          <pc:docMk/>
          <pc:sldMk cId="1070237463" sldId="334"/>
        </pc:sldMkLst>
      </pc:sldChg>
      <pc:sldChg chg="del">
        <pc:chgData name="Kheng Kok MAR (NYP)" userId="62030f1a-a95b-4c33-86e6-478100d64ee1" providerId="ADAL" clId="{58ED7AA8-B633-43EA-B803-6478153F3BD7}" dt="2025-03-21T04:59:58.739" v="136" actId="47"/>
        <pc:sldMkLst>
          <pc:docMk/>
          <pc:sldMk cId="1769685483" sldId="335"/>
        </pc:sldMkLst>
      </pc:sldChg>
      <pc:sldChg chg="del">
        <pc:chgData name="Kheng Kok MAR (NYP)" userId="62030f1a-a95b-4c33-86e6-478100d64ee1" providerId="ADAL" clId="{58ED7AA8-B633-43EA-B803-6478153F3BD7}" dt="2025-03-21T04:59:58.739" v="136" actId="47"/>
        <pc:sldMkLst>
          <pc:docMk/>
          <pc:sldMk cId="781151514" sldId="336"/>
        </pc:sldMkLst>
      </pc:sldChg>
      <pc:sldChg chg="del">
        <pc:chgData name="Kheng Kok MAR (NYP)" userId="62030f1a-a95b-4c33-86e6-478100d64ee1" providerId="ADAL" clId="{58ED7AA8-B633-43EA-B803-6478153F3BD7}" dt="2025-03-21T04:59:58.739" v="136" actId="47"/>
        <pc:sldMkLst>
          <pc:docMk/>
          <pc:sldMk cId="4181970323" sldId="337"/>
        </pc:sldMkLst>
      </pc:sldChg>
      <pc:sldChg chg="del">
        <pc:chgData name="Kheng Kok MAR (NYP)" userId="62030f1a-a95b-4c33-86e6-478100d64ee1" providerId="ADAL" clId="{58ED7AA8-B633-43EA-B803-6478153F3BD7}" dt="2025-03-21T04:59:58.739" v="136" actId="47"/>
        <pc:sldMkLst>
          <pc:docMk/>
          <pc:sldMk cId="3715183010" sldId="338"/>
        </pc:sldMkLst>
      </pc:sldChg>
      <pc:sldChg chg="del">
        <pc:chgData name="Kheng Kok MAR (NYP)" userId="62030f1a-a95b-4c33-86e6-478100d64ee1" providerId="ADAL" clId="{58ED7AA8-B633-43EA-B803-6478153F3BD7}" dt="2025-03-21T04:59:58.739" v="136" actId="47"/>
        <pc:sldMkLst>
          <pc:docMk/>
          <pc:sldMk cId="807812468" sldId="339"/>
        </pc:sldMkLst>
      </pc:sldChg>
      <pc:sldChg chg="del">
        <pc:chgData name="Kheng Kok MAR (NYP)" userId="62030f1a-a95b-4c33-86e6-478100d64ee1" providerId="ADAL" clId="{58ED7AA8-B633-43EA-B803-6478153F3BD7}" dt="2025-03-21T05:00:06.595" v="137" actId="47"/>
        <pc:sldMkLst>
          <pc:docMk/>
          <pc:sldMk cId="3114733694" sldId="340"/>
        </pc:sldMkLst>
      </pc:sldChg>
      <pc:sldChg chg="del">
        <pc:chgData name="Kheng Kok MAR (NYP)" userId="62030f1a-a95b-4c33-86e6-478100d64ee1" providerId="ADAL" clId="{58ED7AA8-B633-43EA-B803-6478153F3BD7}" dt="2025-03-21T05:00:06.595" v="137" actId="47"/>
        <pc:sldMkLst>
          <pc:docMk/>
          <pc:sldMk cId="3020918737" sldId="341"/>
        </pc:sldMkLst>
      </pc:sldChg>
      <pc:sldChg chg="del">
        <pc:chgData name="Kheng Kok MAR (NYP)" userId="62030f1a-a95b-4c33-86e6-478100d64ee1" providerId="ADAL" clId="{58ED7AA8-B633-43EA-B803-6478153F3BD7}" dt="2025-03-21T05:00:06.595" v="137" actId="47"/>
        <pc:sldMkLst>
          <pc:docMk/>
          <pc:sldMk cId="4113745265" sldId="343"/>
        </pc:sldMkLst>
      </pc:sldChg>
      <pc:sldChg chg="del">
        <pc:chgData name="Kheng Kok MAR (NYP)" userId="62030f1a-a95b-4c33-86e6-478100d64ee1" providerId="ADAL" clId="{58ED7AA8-B633-43EA-B803-6478153F3BD7}" dt="2025-03-21T05:00:06.595" v="137" actId="47"/>
        <pc:sldMkLst>
          <pc:docMk/>
          <pc:sldMk cId="3711056098" sldId="345"/>
        </pc:sldMkLst>
      </pc:sldChg>
      <pc:sldChg chg="del">
        <pc:chgData name="Kheng Kok MAR (NYP)" userId="62030f1a-a95b-4c33-86e6-478100d64ee1" providerId="ADAL" clId="{58ED7AA8-B633-43EA-B803-6478153F3BD7}" dt="2025-03-21T05:00:06.595" v="137" actId="47"/>
        <pc:sldMkLst>
          <pc:docMk/>
          <pc:sldMk cId="1008210905" sldId="346"/>
        </pc:sldMkLst>
      </pc:sldChg>
      <pc:sldChg chg="del">
        <pc:chgData name="Kheng Kok MAR (NYP)" userId="62030f1a-a95b-4c33-86e6-478100d64ee1" providerId="ADAL" clId="{58ED7AA8-B633-43EA-B803-6478153F3BD7}" dt="2025-03-21T05:00:06.595" v="137" actId="47"/>
        <pc:sldMkLst>
          <pc:docMk/>
          <pc:sldMk cId="3922411213" sldId="347"/>
        </pc:sldMkLst>
      </pc:sldChg>
      <pc:sldChg chg="del">
        <pc:chgData name="Kheng Kok MAR (NYP)" userId="62030f1a-a95b-4c33-86e6-478100d64ee1" providerId="ADAL" clId="{58ED7AA8-B633-43EA-B803-6478153F3BD7}" dt="2025-03-21T05:00:06.595" v="137" actId="47"/>
        <pc:sldMkLst>
          <pc:docMk/>
          <pc:sldMk cId="2930374708" sldId="349"/>
        </pc:sldMkLst>
      </pc:sldChg>
      <pc:sldChg chg="del">
        <pc:chgData name="Kheng Kok MAR (NYP)" userId="62030f1a-a95b-4c33-86e6-478100d64ee1" providerId="ADAL" clId="{58ED7AA8-B633-43EA-B803-6478153F3BD7}" dt="2025-03-21T05:00:06.595" v="137" actId="47"/>
        <pc:sldMkLst>
          <pc:docMk/>
          <pc:sldMk cId="1062503712" sldId="353"/>
        </pc:sldMkLst>
      </pc:sldChg>
      <pc:sldChg chg="del">
        <pc:chgData name="Kheng Kok MAR (NYP)" userId="62030f1a-a95b-4c33-86e6-478100d64ee1" providerId="ADAL" clId="{58ED7AA8-B633-43EA-B803-6478153F3BD7}" dt="2025-03-21T05:00:06.595" v="137" actId="47"/>
        <pc:sldMkLst>
          <pc:docMk/>
          <pc:sldMk cId="2186340524" sldId="354"/>
        </pc:sldMkLst>
      </pc:sldChg>
      <pc:sldChg chg="del">
        <pc:chgData name="Kheng Kok MAR (NYP)" userId="62030f1a-a95b-4c33-86e6-478100d64ee1" providerId="ADAL" clId="{58ED7AA8-B633-43EA-B803-6478153F3BD7}" dt="2025-03-21T05:00:06.595" v="137" actId="47"/>
        <pc:sldMkLst>
          <pc:docMk/>
          <pc:sldMk cId="2351436070" sldId="358"/>
        </pc:sldMkLst>
      </pc:sldChg>
      <pc:sldChg chg="del">
        <pc:chgData name="Kheng Kok MAR (NYP)" userId="62030f1a-a95b-4c33-86e6-478100d64ee1" providerId="ADAL" clId="{58ED7AA8-B633-43EA-B803-6478153F3BD7}" dt="2025-03-21T05:00:06.595" v="137" actId="47"/>
        <pc:sldMkLst>
          <pc:docMk/>
          <pc:sldMk cId="3516845528" sldId="359"/>
        </pc:sldMkLst>
      </pc:sldChg>
      <pc:sldChg chg="del">
        <pc:chgData name="Kheng Kok MAR (NYP)" userId="62030f1a-a95b-4c33-86e6-478100d64ee1" providerId="ADAL" clId="{58ED7AA8-B633-43EA-B803-6478153F3BD7}" dt="2025-03-21T05:00:06.595" v="137" actId="47"/>
        <pc:sldMkLst>
          <pc:docMk/>
          <pc:sldMk cId="2606275055" sldId="366"/>
        </pc:sldMkLst>
      </pc:sldChg>
      <pc:sldChg chg="del">
        <pc:chgData name="Kheng Kok MAR (NYP)" userId="62030f1a-a95b-4c33-86e6-478100d64ee1" providerId="ADAL" clId="{58ED7AA8-B633-43EA-B803-6478153F3BD7}" dt="2025-03-21T05:00:06.595" v="137" actId="47"/>
        <pc:sldMkLst>
          <pc:docMk/>
          <pc:sldMk cId="3873997129" sldId="368"/>
        </pc:sldMkLst>
      </pc:sldChg>
      <pc:sldChg chg="del">
        <pc:chgData name="Kheng Kok MAR (NYP)" userId="62030f1a-a95b-4c33-86e6-478100d64ee1" providerId="ADAL" clId="{58ED7AA8-B633-43EA-B803-6478153F3BD7}" dt="2025-03-21T05:00:06.595" v="137" actId="47"/>
        <pc:sldMkLst>
          <pc:docMk/>
          <pc:sldMk cId="196573934" sldId="369"/>
        </pc:sldMkLst>
      </pc:sldChg>
      <pc:sldChg chg="del">
        <pc:chgData name="Kheng Kok MAR (NYP)" userId="62030f1a-a95b-4c33-86e6-478100d64ee1" providerId="ADAL" clId="{58ED7AA8-B633-43EA-B803-6478153F3BD7}" dt="2025-03-21T05:00:06.595" v="137" actId="47"/>
        <pc:sldMkLst>
          <pc:docMk/>
          <pc:sldMk cId="3624530038" sldId="370"/>
        </pc:sldMkLst>
      </pc:sldChg>
      <pc:sldChg chg="del">
        <pc:chgData name="Kheng Kok MAR (NYP)" userId="62030f1a-a95b-4c33-86e6-478100d64ee1" providerId="ADAL" clId="{58ED7AA8-B633-43EA-B803-6478153F3BD7}" dt="2025-03-21T05:00:06.595" v="137" actId="47"/>
        <pc:sldMkLst>
          <pc:docMk/>
          <pc:sldMk cId="2836799505" sldId="372"/>
        </pc:sldMkLst>
      </pc:sldChg>
      <pc:sldChg chg="del">
        <pc:chgData name="Kheng Kok MAR (NYP)" userId="62030f1a-a95b-4c33-86e6-478100d64ee1" providerId="ADAL" clId="{58ED7AA8-B633-43EA-B803-6478153F3BD7}" dt="2025-03-21T05:00:12.373" v="139" actId="47"/>
        <pc:sldMkLst>
          <pc:docMk/>
          <pc:sldMk cId="2712846146" sldId="373"/>
        </pc:sldMkLst>
      </pc:sldChg>
      <pc:sldChg chg="del">
        <pc:chgData name="Kheng Kok MAR (NYP)" userId="62030f1a-a95b-4c33-86e6-478100d64ee1" providerId="ADAL" clId="{58ED7AA8-B633-43EA-B803-6478153F3BD7}" dt="2025-03-21T05:00:06.595" v="137" actId="47"/>
        <pc:sldMkLst>
          <pc:docMk/>
          <pc:sldMk cId="2931830914" sldId="374"/>
        </pc:sldMkLst>
      </pc:sldChg>
      <pc:sldChg chg="del">
        <pc:chgData name="Kheng Kok MAR (NYP)" userId="62030f1a-a95b-4c33-86e6-478100d64ee1" providerId="ADAL" clId="{58ED7AA8-B633-43EA-B803-6478153F3BD7}" dt="2025-03-21T05:00:06.595" v="137" actId="47"/>
        <pc:sldMkLst>
          <pc:docMk/>
          <pc:sldMk cId="799979536" sldId="375"/>
        </pc:sldMkLst>
      </pc:sldChg>
      <pc:sldChg chg="del">
        <pc:chgData name="Kheng Kok MAR (NYP)" userId="62030f1a-a95b-4c33-86e6-478100d64ee1" providerId="ADAL" clId="{58ED7AA8-B633-43EA-B803-6478153F3BD7}" dt="2025-03-21T05:00:10.423" v="138" actId="47"/>
        <pc:sldMkLst>
          <pc:docMk/>
          <pc:sldMk cId="2780781574" sldId="377"/>
        </pc:sldMkLst>
      </pc:sldChg>
      <pc:sldChg chg="del">
        <pc:chgData name="Kheng Kok MAR (NYP)" userId="62030f1a-a95b-4c33-86e6-478100d64ee1" providerId="ADAL" clId="{58ED7AA8-B633-43EA-B803-6478153F3BD7}" dt="2025-03-21T05:00:06.595" v="137" actId="47"/>
        <pc:sldMkLst>
          <pc:docMk/>
          <pc:sldMk cId="1274829805" sldId="378"/>
        </pc:sldMkLst>
      </pc:sldChg>
      <pc:sldChg chg="del">
        <pc:chgData name="Kheng Kok MAR (NYP)" userId="62030f1a-a95b-4c33-86e6-478100d64ee1" providerId="ADAL" clId="{58ED7AA8-B633-43EA-B803-6478153F3BD7}" dt="2025-03-21T04:59:46.679" v="135" actId="47"/>
        <pc:sldMkLst>
          <pc:docMk/>
          <pc:sldMk cId="1802167371" sldId="379"/>
        </pc:sldMkLst>
      </pc:sldChg>
      <pc:sldChg chg="del">
        <pc:chgData name="Kheng Kok MAR (NYP)" userId="62030f1a-a95b-4c33-86e6-478100d64ee1" providerId="ADAL" clId="{58ED7AA8-B633-43EA-B803-6478153F3BD7}" dt="2025-03-21T04:59:46.679" v="135" actId="47"/>
        <pc:sldMkLst>
          <pc:docMk/>
          <pc:sldMk cId="2990305848" sldId="380"/>
        </pc:sldMkLst>
      </pc:sldChg>
      <pc:sldChg chg="del">
        <pc:chgData name="Kheng Kok MAR (NYP)" userId="62030f1a-a95b-4c33-86e6-478100d64ee1" providerId="ADAL" clId="{58ED7AA8-B633-43EA-B803-6478153F3BD7}" dt="2025-03-21T04:59:58.739" v="136" actId="47"/>
        <pc:sldMkLst>
          <pc:docMk/>
          <pc:sldMk cId="3422701620" sldId="381"/>
        </pc:sldMkLst>
      </pc:sldChg>
      <pc:sldChg chg="del">
        <pc:chgData name="Kheng Kok MAR (NYP)" userId="62030f1a-a95b-4c33-86e6-478100d64ee1" providerId="ADAL" clId="{58ED7AA8-B633-43EA-B803-6478153F3BD7}" dt="2025-03-21T05:00:06.595" v="137" actId="47"/>
        <pc:sldMkLst>
          <pc:docMk/>
          <pc:sldMk cId="2680813618" sldId="383"/>
        </pc:sldMkLst>
      </pc:sldChg>
      <pc:sldChg chg="del">
        <pc:chgData name="Kheng Kok MAR (NYP)" userId="62030f1a-a95b-4c33-86e6-478100d64ee1" providerId="ADAL" clId="{58ED7AA8-B633-43EA-B803-6478153F3BD7}" dt="2025-03-21T05:00:06.595" v="137" actId="47"/>
        <pc:sldMkLst>
          <pc:docMk/>
          <pc:sldMk cId="3875934704" sldId="384"/>
        </pc:sldMkLst>
      </pc:sldChg>
      <pc:sldChg chg="del">
        <pc:chgData name="Kheng Kok MAR (NYP)" userId="62030f1a-a95b-4c33-86e6-478100d64ee1" providerId="ADAL" clId="{58ED7AA8-B633-43EA-B803-6478153F3BD7}" dt="2025-03-21T05:00:06.595" v="137" actId="47"/>
        <pc:sldMkLst>
          <pc:docMk/>
          <pc:sldMk cId="2619453085" sldId="385"/>
        </pc:sldMkLst>
      </pc:sldChg>
      <pc:sldChg chg="del">
        <pc:chgData name="Kheng Kok MAR (NYP)" userId="62030f1a-a95b-4c33-86e6-478100d64ee1" providerId="ADAL" clId="{58ED7AA8-B633-43EA-B803-6478153F3BD7}" dt="2025-03-21T05:00:06.595" v="137" actId="47"/>
        <pc:sldMkLst>
          <pc:docMk/>
          <pc:sldMk cId="4041534699" sldId="386"/>
        </pc:sldMkLst>
      </pc:sldChg>
      <pc:sldChg chg="del">
        <pc:chgData name="Kheng Kok MAR (NYP)" userId="62030f1a-a95b-4c33-86e6-478100d64ee1" providerId="ADAL" clId="{58ED7AA8-B633-43EA-B803-6478153F3BD7}" dt="2025-03-21T05:00:06.595" v="137" actId="47"/>
        <pc:sldMkLst>
          <pc:docMk/>
          <pc:sldMk cId="3434463523" sldId="387"/>
        </pc:sldMkLst>
      </pc:sldChg>
      <pc:sldChg chg="del">
        <pc:chgData name="Kheng Kok MAR (NYP)" userId="62030f1a-a95b-4c33-86e6-478100d64ee1" providerId="ADAL" clId="{58ED7AA8-B633-43EA-B803-6478153F3BD7}" dt="2025-03-21T05:00:06.595" v="137" actId="47"/>
        <pc:sldMkLst>
          <pc:docMk/>
          <pc:sldMk cId="3273044271" sldId="388"/>
        </pc:sldMkLst>
      </pc:sldChg>
      <pc:sldChg chg="del">
        <pc:chgData name="Kheng Kok MAR (NYP)" userId="62030f1a-a95b-4c33-86e6-478100d64ee1" providerId="ADAL" clId="{58ED7AA8-B633-43EA-B803-6478153F3BD7}" dt="2025-03-21T05:00:06.595" v="137" actId="47"/>
        <pc:sldMkLst>
          <pc:docMk/>
          <pc:sldMk cId="2594403404" sldId="389"/>
        </pc:sldMkLst>
      </pc:sldChg>
      <pc:sldChg chg="del">
        <pc:chgData name="Kheng Kok MAR (NYP)" userId="62030f1a-a95b-4c33-86e6-478100d64ee1" providerId="ADAL" clId="{58ED7AA8-B633-43EA-B803-6478153F3BD7}" dt="2025-03-21T05:00:06.595" v="137" actId="47"/>
        <pc:sldMkLst>
          <pc:docMk/>
          <pc:sldMk cId="2584676501" sldId="390"/>
        </pc:sldMkLst>
      </pc:sldChg>
      <pc:sldChg chg="del">
        <pc:chgData name="Kheng Kok MAR (NYP)" userId="62030f1a-a95b-4c33-86e6-478100d64ee1" providerId="ADAL" clId="{58ED7AA8-B633-43EA-B803-6478153F3BD7}" dt="2025-03-21T05:00:06.595" v="137" actId="47"/>
        <pc:sldMkLst>
          <pc:docMk/>
          <pc:sldMk cId="4048104730" sldId="391"/>
        </pc:sldMkLst>
      </pc:sldChg>
      <pc:sldChg chg="del">
        <pc:chgData name="Kheng Kok MAR (NYP)" userId="62030f1a-a95b-4c33-86e6-478100d64ee1" providerId="ADAL" clId="{58ED7AA8-B633-43EA-B803-6478153F3BD7}" dt="2025-03-21T05:00:06.595" v="137" actId="47"/>
        <pc:sldMkLst>
          <pc:docMk/>
          <pc:sldMk cId="761234270" sldId="392"/>
        </pc:sldMkLst>
      </pc:sldChg>
      <pc:sldChg chg="del">
        <pc:chgData name="Kheng Kok MAR (NYP)" userId="62030f1a-a95b-4c33-86e6-478100d64ee1" providerId="ADAL" clId="{58ED7AA8-B633-43EA-B803-6478153F3BD7}" dt="2025-03-21T05:00:06.595" v="137" actId="47"/>
        <pc:sldMkLst>
          <pc:docMk/>
          <pc:sldMk cId="3140442699" sldId="393"/>
        </pc:sldMkLst>
      </pc:sldChg>
      <pc:sldChg chg="del">
        <pc:chgData name="Kheng Kok MAR (NYP)" userId="62030f1a-a95b-4c33-86e6-478100d64ee1" providerId="ADAL" clId="{58ED7AA8-B633-43EA-B803-6478153F3BD7}" dt="2025-03-21T05:00:06.595" v="137" actId="47"/>
        <pc:sldMkLst>
          <pc:docMk/>
          <pc:sldMk cId="2799622941" sldId="394"/>
        </pc:sldMkLst>
      </pc:sldChg>
      <pc:sldChg chg="del">
        <pc:chgData name="Kheng Kok MAR (NYP)" userId="62030f1a-a95b-4c33-86e6-478100d64ee1" providerId="ADAL" clId="{58ED7AA8-B633-43EA-B803-6478153F3BD7}" dt="2025-03-21T05:00:06.595" v="137" actId="47"/>
        <pc:sldMkLst>
          <pc:docMk/>
          <pc:sldMk cId="2213993344" sldId="395"/>
        </pc:sldMkLst>
      </pc:sldChg>
      <pc:sldChg chg="del">
        <pc:chgData name="Kheng Kok MAR (NYP)" userId="62030f1a-a95b-4c33-86e6-478100d64ee1" providerId="ADAL" clId="{58ED7AA8-B633-43EA-B803-6478153F3BD7}" dt="2025-03-21T05:00:06.595" v="137" actId="47"/>
        <pc:sldMkLst>
          <pc:docMk/>
          <pc:sldMk cId="1879657340" sldId="396"/>
        </pc:sldMkLst>
      </pc:sldChg>
      <pc:sldChg chg="del">
        <pc:chgData name="Kheng Kok MAR (NYP)" userId="62030f1a-a95b-4c33-86e6-478100d64ee1" providerId="ADAL" clId="{58ED7AA8-B633-43EA-B803-6478153F3BD7}" dt="2025-03-21T05:00:06.595" v="137" actId="47"/>
        <pc:sldMkLst>
          <pc:docMk/>
          <pc:sldMk cId="227410163" sldId="397"/>
        </pc:sldMkLst>
      </pc:sldChg>
      <pc:sldChg chg="del">
        <pc:chgData name="Kheng Kok MAR (NYP)" userId="62030f1a-a95b-4c33-86e6-478100d64ee1" providerId="ADAL" clId="{58ED7AA8-B633-43EA-B803-6478153F3BD7}" dt="2025-03-21T05:00:06.595" v="137" actId="47"/>
        <pc:sldMkLst>
          <pc:docMk/>
          <pc:sldMk cId="353696741" sldId="398"/>
        </pc:sldMkLst>
      </pc:sldChg>
      <pc:sldChg chg="del">
        <pc:chgData name="Kheng Kok MAR (NYP)" userId="62030f1a-a95b-4c33-86e6-478100d64ee1" providerId="ADAL" clId="{58ED7AA8-B633-43EA-B803-6478153F3BD7}" dt="2025-03-21T05:00:06.595" v="137" actId="47"/>
        <pc:sldMkLst>
          <pc:docMk/>
          <pc:sldMk cId="3929622885" sldId="399"/>
        </pc:sldMkLst>
      </pc:sldChg>
      <pc:sldChg chg="del">
        <pc:chgData name="Kheng Kok MAR (NYP)" userId="62030f1a-a95b-4c33-86e6-478100d64ee1" providerId="ADAL" clId="{58ED7AA8-B633-43EA-B803-6478153F3BD7}" dt="2025-03-21T05:00:06.595" v="137" actId="47"/>
        <pc:sldMkLst>
          <pc:docMk/>
          <pc:sldMk cId="3406082339" sldId="400"/>
        </pc:sldMkLst>
      </pc:sldChg>
      <pc:sldChg chg="del">
        <pc:chgData name="Kheng Kok MAR (NYP)" userId="62030f1a-a95b-4c33-86e6-478100d64ee1" providerId="ADAL" clId="{58ED7AA8-B633-43EA-B803-6478153F3BD7}" dt="2025-03-21T05:00:06.595" v="137" actId="47"/>
        <pc:sldMkLst>
          <pc:docMk/>
          <pc:sldMk cId="1068316888" sldId="401"/>
        </pc:sldMkLst>
      </pc:sldChg>
      <pc:sldChg chg="modSp add mod">
        <pc:chgData name="Kheng Kok MAR (NYP)" userId="62030f1a-a95b-4c33-86e6-478100d64ee1" providerId="ADAL" clId="{58ED7AA8-B633-43EA-B803-6478153F3BD7}" dt="2025-03-21T04:59:24.160" v="134" actId="20577"/>
        <pc:sldMkLst>
          <pc:docMk/>
          <pc:sldMk cId="3155291161" sldId="402"/>
        </pc:sldMkLst>
        <pc:spChg chg="mod">
          <ac:chgData name="Kheng Kok MAR (NYP)" userId="62030f1a-a95b-4c33-86e6-478100d64ee1" providerId="ADAL" clId="{58ED7AA8-B633-43EA-B803-6478153F3BD7}" dt="2025-03-21T02:00:47.977" v="73" actId="20577"/>
          <ac:spMkLst>
            <pc:docMk/>
            <pc:sldMk cId="3155291161" sldId="402"/>
            <ac:spMk id="2" creationId="{A1D871B1-6C5D-3259-B42A-793ADF2CE90C}"/>
          </ac:spMkLst>
        </pc:spChg>
        <pc:spChg chg="mod">
          <ac:chgData name="Kheng Kok MAR (NYP)" userId="62030f1a-a95b-4c33-86e6-478100d64ee1" providerId="ADAL" clId="{58ED7AA8-B633-43EA-B803-6478153F3BD7}" dt="2025-03-21T04:59:24.160" v="134" actId="20577"/>
          <ac:spMkLst>
            <pc:docMk/>
            <pc:sldMk cId="3155291161" sldId="402"/>
            <ac:spMk id="3" creationId="{DD3B9174-B1BD-7F76-160C-AB73246A18B4}"/>
          </ac:spMkLst>
        </pc:spChg>
      </pc:sldChg>
      <pc:sldChg chg="modSp add del mod">
        <pc:chgData name="Kheng Kok MAR (NYP)" userId="62030f1a-a95b-4c33-86e6-478100d64ee1" providerId="ADAL" clId="{58ED7AA8-B633-43EA-B803-6478153F3BD7}" dt="2025-03-21T02:00:27.386" v="55"/>
        <pc:sldMkLst>
          <pc:docMk/>
          <pc:sldMk cId="3498333577" sldId="402"/>
        </pc:sldMkLst>
        <pc:spChg chg="mod">
          <ac:chgData name="Kheng Kok MAR (NYP)" userId="62030f1a-a95b-4c33-86e6-478100d64ee1" providerId="ADAL" clId="{58ED7AA8-B633-43EA-B803-6478153F3BD7}" dt="2025-03-21T02:00:26.988" v="54" actId="20577"/>
          <ac:spMkLst>
            <pc:docMk/>
            <pc:sldMk cId="3498333577" sldId="402"/>
            <ac:spMk id="2" creationId="{7E5DD8B0-3B00-B572-9211-A9127DBB9BE1}"/>
          </ac:spMkLst>
        </pc:spChg>
      </pc:sldChg>
      <pc:sldChg chg="modSp new mod">
        <pc:chgData name="Kheng Kok MAR (NYP)" userId="62030f1a-a95b-4c33-86e6-478100d64ee1" providerId="ADAL" clId="{58ED7AA8-B633-43EA-B803-6478153F3BD7}" dt="2025-03-21T05:00:48.584" v="153" actId="5793"/>
        <pc:sldMkLst>
          <pc:docMk/>
          <pc:sldMk cId="2767485149" sldId="403"/>
        </pc:sldMkLst>
        <pc:spChg chg="mod">
          <ac:chgData name="Kheng Kok MAR (NYP)" userId="62030f1a-a95b-4c33-86e6-478100d64ee1" providerId="ADAL" clId="{58ED7AA8-B633-43EA-B803-6478153F3BD7}" dt="2025-03-21T05:00:24.783" v="150" actId="20577"/>
          <ac:spMkLst>
            <pc:docMk/>
            <pc:sldMk cId="2767485149" sldId="403"/>
            <ac:spMk id="2" creationId="{B6D222A1-CAB4-531E-D2EE-955F64A570CC}"/>
          </ac:spMkLst>
        </pc:spChg>
        <pc:spChg chg="mod">
          <ac:chgData name="Kheng Kok MAR (NYP)" userId="62030f1a-a95b-4c33-86e6-478100d64ee1" providerId="ADAL" clId="{58ED7AA8-B633-43EA-B803-6478153F3BD7}" dt="2025-03-21T05:00:48.584" v="153" actId="5793"/>
          <ac:spMkLst>
            <pc:docMk/>
            <pc:sldMk cId="2767485149" sldId="403"/>
            <ac:spMk id="3" creationId="{C3D150AC-8FBE-FE32-73FC-FBBA80B56B9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4A07A7-A8F7-B72E-4B74-261D7D3F956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57972104-C5D7-9142-35F7-AC28827A371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D3F652-CB33-4F60-88E9-6D8C7BBE5615}" type="datetimeFigureOut">
              <a:rPr lang="en-SG" smtClean="0"/>
              <a:t>9/11/2025</a:t>
            </a:fld>
            <a:endParaRPr lang="en-SG"/>
          </a:p>
        </p:txBody>
      </p:sp>
      <p:sp>
        <p:nvSpPr>
          <p:cNvPr id="4" name="Footer Placeholder 3">
            <a:extLst>
              <a:ext uri="{FF2B5EF4-FFF2-40B4-BE49-F238E27FC236}">
                <a16:creationId xmlns:a16="http://schemas.microsoft.com/office/drawing/2014/main" id="{82843AF6-21A3-F929-ED7C-7B438738C7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DAE12D10-68BD-CCCD-9552-0B6E039E3D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B006ED-B046-4917-A165-CAAD7C0FC909}" type="slidenum">
              <a:rPr lang="en-SG" smtClean="0"/>
              <a:t>‹#›</a:t>
            </a:fld>
            <a:endParaRPr lang="en-SG"/>
          </a:p>
        </p:txBody>
      </p:sp>
    </p:spTree>
    <p:extLst>
      <p:ext uri="{BB962C8B-B14F-4D97-AF65-F5344CB8AC3E}">
        <p14:creationId xmlns:p14="http://schemas.microsoft.com/office/powerpoint/2010/main" val="416877492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0027D-8C89-4D53-9D0A-8B13C461417F}" type="datetimeFigureOut">
              <a:rPr lang="en-SG" smtClean="0"/>
              <a:t>9/11/2025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0DD26-C564-4A3C-8398-FE9A3FA1B74B}" type="slidenum">
              <a:rPr lang="en-SG" smtClean="0"/>
              <a:t>‹#›</a:t>
            </a:fld>
            <a:endParaRPr lang="en-SG"/>
          </a:p>
        </p:txBody>
      </p:sp>
    </p:spTree>
    <p:extLst>
      <p:ext uri="{BB962C8B-B14F-4D97-AF65-F5344CB8AC3E}">
        <p14:creationId xmlns:p14="http://schemas.microsoft.com/office/powerpoint/2010/main" val="386218849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EA3C9-6A75-1ACC-B9DD-02E47A419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7233F7-84E0-CA0A-1620-DED80B3EE9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9403095-1979-EB07-19FD-93E4CD1C3DE9}"/>
              </a:ext>
            </a:extLst>
          </p:cNvPr>
          <p:cNvSpPr>
            <a:spLocks noGrp="1"/>
          </p:cNvSpPr>
          <p:nvPr>
            <p:ph type="body" idx="1"/>
          </p:nvPr>
        </p:nvSpPr>
        <p:spPr/>
        <p:txBody>
          <a:bodyPr/>
          <a:lstStyle/>
          <a:p>
            <a:endParaRPr lang="en-GB" dirty="0"/>
          </a:p>
        </p:txBody>
      </p:sp>
      <p:sp>
        <p:nvSpPr>
          <p:cNvPr id="4" name="Footer Placeholder 3">
            <a:extLst>
              <a:ext uri="{FF2B5EF4-FFF2-40B4-BE49-F238E27FC236}">
                <a16:creationId xmlns:a16="http://schemas.microsoft.com/office/drawing/2014/main" id="{D2CC96F3-C312-2C6E-327B-F0FB26E09927}"/>
              </a:ext>
            </a:extLst>
          </p:cNvPr>
          <p:cNvSpPr>
            <a:spLocks noGrp="1"/>
          </p:cNvSpPr>
          <p:nvPr>
            <p:ph type="ftr" sz="quarter" idx="4"/>
          </p:nvPr>
        </p:nvSpPr>
        <p:spPr/>
        <p:txBody>
          <a:bodyPr/>
          <a:lstStyle/>
          <a:p>
            <a:endParaRPr lang="en-SG"/>
          </a:p>
        </p:txBody>
      </p:sp>
    </p:spTree>
    <p:extLst>
      <p:ext uri="{BB962C8B-B14F-4D97-AF65-F5344CB8AC3E}">
        <p14:creationId xmlns:p14="http://schemas.microsoft.com/office/powerpoint/2010/main" val="40282769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1. Transcriber (Listen)</a:t>
            </a:r>
          </a:p>
          <a:p>
            <a:r>
              <a:rPr lang="en-US" sz="1200" b="0" i="0" u="none" strike="noStrike" kern="1200" dirty="0">
                <a:solidFill>
                  <a:schemeClr val="tx1"/>
                </a:solidFill>
                <a:effectLst/>
                <a:latin typeface="+mn-lt"/>
                <a:ea typeface="+mn-ea"/>
                <a:cs typeface="+mn-cs"/>
              </a:rPr>
              <a:t>The transcriber component converts raw audio input (human speech) into text. When a user speaks, their voice is captured as raw audio data and processed to produce accurate text transcription. This text then serves as the input for the language model.</a:t>
            </a:r>
          </a:p>
          <a:p>
            <a:r>
              <a:rPr lang="en-US" sz="1200" b="0" i="0" u="none" strike="noStrike" kern="1200" dirty="0">
                <a:solidFill>
                  <a:schemeClr val="tx1"/>
                </a:solidFill>
                <a:effectLst/>
                <a:latin typeface="+mn-lt"/>
                <a:ea typeface="+mn-ea"/>
                <a:cs typeface="+mn-cs"/>
              </a:rPr>
              <a:t>2. Model (Process)</a:t>
            </a:r>
          </a:p>
          <a:p>
            <a:r>
              <a:rPr lang="en-US" sz="1200" b="0" i="0" u="none" strike="noStrike" kern="1200" dirty="0">
                <a:solidFill>
                  <a:schemeClr val="tx1"/>
                </a:solidFill>
                <a:effectLst/>
                <a:latin typeface="+mn-lt"/>
                <a:ea typeface="+mn-ea"/>
                <a:cs typeface="+mn-cs"/>
              </a:rPr>
              <a:t>The language model (LLM) represents the "brain" of the system. It receives the transcribed text, processes it according to its training and the provided prompt, and generates an appropriate response. The model's capabilities determine how well it understands context, maintains conversation history, and produces relevant outputs.</a:t>
            </a:r>
          </a:p>
          <a:p>
            <a:r>
              <a:rPr lang="en-US" sz="1200" b="0" i="0" u="none" strike="noStrike" kern="1200" dirty="0">
                <a:solidFill>
                  <a:schemeClr val="tx1"/>
                </a:solidFill>
                <a:effectLst/>
                <a:latin typeface="+mn-lt"/>
                <a:ea typeface="+mn-ea"/>
                <a:cs typeface="+mn-cs"/>
              </a:rPr>
              <a:t>3. Voice (Speak)</a:t>
            </a:r>
          </a:p>
          <a:p>
            <a:r>
              <a:rPr lang="en-US" sz="1200" b="0" i="0" u="none" strike="noStrike" kern="1200" dirty="0">
                <a:solidFill>
                  <a:schemeClr val="tx1"/>
                </a:solidFill>
                <a:effectLst/>
                <a:latin typeface="+mn-lt"/>
                <a:ea typeface="+mn-ea"/>
                <a:cs typeface="+mn-cs"/>
              </a:rPr>
              <a:t>The voice component transforms the text generated by the model back into speech. This text-to-speech conversion creates the audible response that the user hears. The quality, naturalness, and characteristics of this synthetic voice significantly impact the user experience.</a:t>
            </a:r>
          </a:p>
          <a:p>
            <a:r>
              <a:rPr lang="en-US" sz="1200" b="0" i="0" u="none" strike="noStrike" kern="1200" dirty="0">
                <a:solidFill>
                  <a:schemeClr val="tx1"/>
                </a:solidFill>
                <a:effectLst/>
                <a:latin typeface="+mn-lt"/>
                <a:ea typeface="+mn-ea"/>
                <a:cs typeface="+mn-cs"/>
              </a:rPr>
              <a:t>What makes </a:t>
            </a:r>
            <a:r>
              <a:rPr lang="en-US" sz="1200" b="1" i="0" u="none" strike="noStrike" kern="1200" dirty="0">
                <a:solidFill>
                  <a:schemeClr val="tx1"/>
                </a:solidFill>
                <a:effectLst/>
                <a:latin typeface="+mn-lt"/>
                <a:ea typeface="+mn-ea"/>
                <a:cs typeface="+mn-cs"/>
              </a:rPr>
              <a:t>Vapi voice AI</a:t>
            </a:r>
            <a:r>
              <a:rPr lang="en-US" sz="1200" b="0" i="0" u="none" strike="noStrike" kern="1200" dirty="0">
                <a:solidFill>
                  <a:schemeClr val="tx1"/>
                </a:solidFill>
                <a:effectLst/>
                <a:latin typeface="+mn-lt"/>
                <a:ea typeface="+mn-ea"/>
                <a:cs typeface="+mn-cs"/>
              </a:rPr>
              <a:t> powerful is its ability to seamlessly integrate these three components while allowing developers to swap out providers for each component. You can use different services for transcription (like </a:t>
            </a:r>
            <a:r>
              <a:rPr lang="en-US" sz="1200" b="0" i="0" u="none" strike="noStrike" kern="1200" dirty="0" err="1">
                <a:solidFill>
                  <a:schemeClr val="tx1"/>
                </a:solidFill>
                <a:effectLst/>
                <a:latin typeface="+mn-lt"/>
                <a:ea typeface="+mn-ea"/>
                <a:cs typeface="+mn-cs"/>
              </a:rPr>
              <a:t>Deepgram</a:t>
            </a:r>
            <a:r>
              <a:rPr lang="en-US" sz="1200" b="0" i="0" u="none" strike="noStrike" kern="1200" dirty="0">
                <a:solidFill>
                  <a:schemeClr val="tx1"/>
                </a:solidFill>
                <a:effectLst/>
                <a:latin typeface="+mn-lt"/>
                <a:ea typeface="+mn-ea"/>
                <a:cs typeface="+mn-cs"/>
              </a:rPr>
              <a:t> or Talk Scribe), language models (OpenAI, Anthropic, etc.), and voice synthesis (</a:t>
            </a:r>
            <a:r>
              <a:rPr lang="en-US" sz="1200" b="0" i="0" u="none" strike="noStrike" kern="1200" dirty="0" err="1">
                <a:solidFill>
                  <a:schemeClr val="tx1"/>
                </a:solidFill>
                <a:effectLst/>
                <a:latin typeface="+mn-lt"/>
                <a:ea typeface="+mn-ea"/>
                <a:cs typeface="+mn-cs"/>
              </a:rPr>
              <a:t>ElevenLabs</a:t>
            </a:r>
            <a:r>
              <a:rPr lang="en-US" sz="1200" b="0" i="0" u="none" strike="noStrike" kern="1200" dirty="0">
                <a:solidFill>
                  <a:schemeClr val="tx1"/>
                </a:solidFill>
                <a:effectLst/>
                <a:latin typeface="+mn-lt"/>
                <a:ea typeface="+mn-ea"/>
                <a:cs typeface="+mn-cs"/>
              </a:rPr>
              <a:t>, Rhyme AI, Azure, etc.).</a:t>
            </a:r>
          </a:p>
          <a:p>
            <a:r>
              <a:rPr lang="en-US" sz="1200" b="0" i="0" u="none" strike="noStrike" kern="1200" dirty="0">
                <a:solidFill>
                  <a:schemeClr val="tx1"/>
                </a:solidFill>
                <a:effectLst/>
                <a:latin typeface="+mn-lt"/>
                <a:ea typeface="+mn-ea"/>
                <a:cs typeface="+mn-cs"/>
              </a:rPr>
              <a:t>Vapi handles the complex orchestration between these components, optimizes latency, manages scaling, and ensures smooth conversation flow. For performance optimization, understanding this architecture is crucial-it helps identify which component might be causing issues and where adjustments can yield the greatest improvements.</a:t>
            </a:r>
          </a:p>
          <a:p>
            <a:endParaRPr lang="en-US" dirty="0"/>
          </a:p>
        </p:txBody>
      </p:sp>
      <p:sp>
        <p:nvSpPr>
          <p:cNvPr id="4" name="Footer Placeholder 3"/>
          <p:cNvSpPr>
            <a:spLocks noGrp="1"/>
          </p:cNvSpPr>
          <p:nvPr>
            <p:ph type="ftr" sz="quarter" idx="4"/>
          </p:nvPr>
        </p:nvSpPr>
        <p:spPr/>
        <p:txBody>
          <a:bodyPr/>
          <a:lstStyle/>
          <a:p>
            <a:endParaRPr lang="en-SG"/>
          </a:p>
        </p:txBody>
      </p:sp>
      <p:sp>
        <p:nvSpPr>
          <p:cNvPr id="5" name="Slide Number Placeholder 4"/>
          <p:cNvSpPr>
            <a:spLocks noGrp="1"/>
          </p:cNvSpPr>
          <p:nvPr>
            <p:ph type="sldNum" sz="quarter" idx="5"/>
          </p:nvPr>
        </p:nvSpPr>
        <p:spPr/>
        <p:txBody>
          <a:bodyPr/>
          <a:lstStyle/>
          <a:p>
            <a:fld id="{0740DD26-C564-4A3C-8398-FE9A3FA1B74B}" type="slidenum">
              <a:rPr lang="en-SG" smtClean="0"/>
              <a:t>4</a:t>
            </a:fld>
            <a:endParaRPr lang="en-SG"/>
          </a:p>
        </p:txBody>
      </p:sp>
    </p:spTree>
    <p:extLst>
      <p:ext uri="{BB962C8B-B14F-4D97-AF65-F5344CB8AC3E}">
        <p14:creationId xmlns:p14="http://schemas.microsoft.com/office/powerpoint/2010/main" val="41538934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SG"/>
          </a:p>
        </p:txBody>
      </p:sp>
      <p:sp>
        <p:nvSpPr>
          <p:cNvPr id="5" name="Slide Number Placeholder 4"/>
          <p:cNvSpPr>
            <a:spLocks noGrp="1"/>
          </p:cNvSpPr>
          <p:nvPr>
            <p:ph type="sldNum" sz="quarter" idx="5"/>
          </p:nvPr>
        </p:nvSpPr>
        <p:spPr/>
        <p:txBody>
          <a:bodyPr/>
          <a:lstStyle/>
          <a:p>
            <a:fld id="{0740DD26-C564-4A3C-8398-FE9A3FA1B74B}" type="slidenum">
              <a:rPr lang="en-SG" smtClean="0"/>
              <a:t>8</a:t>
            </a:fld>
            <a:endParaRPr lang="en-SG"/>
          </a:p>
        </p:txBody>
      </p:sp>
    </p:spTree>
    <p:extLst>
      <p:ext uri="{BB962C8B-B14F-4D97-AF65-F5344CB8AC3E}">
        <p14:creationId xmlns:p14="http://schemas.microsoft.com/office/powerpoint/2010/main" val="1299607147"/>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one turn left to right, then the barge-in loop. Emphasise streaming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section: we have described what the stack is; now we open each box. Point forward to the latency slides.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 to digital, then FFT/MFCC to a spectrogram. Stress that the model never sees a waveform in most modern systems — it sees features.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spectrogram is three-dimensional: time, frequency, intensity. Ask the class to spot the pauses — that is what VAD keys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model → phonemes → language model → text. Then note the shift to end-to-end transformers, which is why accuracy jumped.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image of ASR. The vocoder is the piece students forget — it is what turns features back into sound.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generations. Self-supervised models such as Wave2Vec learn from unlabelled audio, which is why data stopped being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Perceive, reason, act — and the loop. Contrast with Siri/Alexa: single turns versus multi-step workflows.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Ties back to the WebRTC / WebSocket slides later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services, one pipeline: speech in, meaning out, speech back. Map them onto the provider names from the earlier slides.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an example: 10 words, 1 substitution and 1 deletion gives WER 0.2. Remind them WER alone says nothing about whether the agent was useful.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numbers do not capture whether people liked talking to it. MOS and task completion 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stages. The one students underestimate is storage — keeping raw audio 'just in case' is where most privacy incidents start.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4572-F5E1-4A3A-A721-7EE4541A53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2BCD856F-22DF-457F-9DA6-2BBBE7724C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E6A6B450-8F36-4CA9-BB8A-54BED551ADAD}"/>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CE71D93-7B44-402E-B68F-4A50DAAAFBF1}"/>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8209746C-92A0-4CD8-BF8A-E4787E5D565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6135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61EE-C429-4744-8D26-1FB9FBC3816A}"/>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7A90C32D-939C-4A87-B206-B13FE76F0A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1B6BE5D-2F83-4AEF-8424-C597E22D6765}"/>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0187BA20-D537-4D97-9120-03F8E8122AFE}"/>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5C92ACC6-7178-428F-8CCE-47D86AD0D720}"/>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081892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50FF1-A312-4C8E-9EA2-3491BFAC08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9F227663-4B68-4F0E-8160-1ADCE9DF4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15D66A-D9A4-4415-8D41-CC1D01E37949}"/>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9B303ECE-F479-44BE-A832-5B02157A2900}"/>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2BB826F4-E99A-40B3-8CA0-F3AA4B55B2D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533852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82B9-76EF-4801-9C08-4047A10F32D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ED69132F-3A32-4B41-90C7-EDF0D345A8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AD16EA9C-159B-4ED1-92F1-09257F8637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510F40C3-72F4-404A-A9ED-41357771E432}"/>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ABA5256-D040-4A8E-9B0C-40E9F38839F4}"/>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88295349-5DEF-4070-9AE9-0301B436652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008126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1B5-E354-4039-B5F3-B1498766FEE4}"/>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5DFF4FBD-5344-4232-A05C-D05324029F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80A864-D109-4C22-B06D-0894FCB2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6E1EBD65-DF66-42D8-B090-FD5F3BCAF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5A9A2C-BFB2-48F9-9095-833362DB1F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581F60E8-DF8A-4529-9FA5-A28A2EA33F28}"/>
              </a:ext>
            </a:extLst>
          </p:cNvPr>
          <p:cNvSpPr>
            <a:spLocks noGrp="1"/>
          </p:cNvSpPr>
          <p:nvPr>
            <p:ph type="dt" sz="half" idx="10"/>
          </p:nvPr>
        </p:nvSpPr>
        <p:spPr/>
        <p:txBody>
          <a:bodyPr/>
          <a:lstStyle/>
          <a:p>
            <a:endParaRPr lang="en-SG"/>
          </a:p>
        </p:txBody>
      </p:sp>
      <p:sp>
        <p:nvSpPr>
          <p:cNvPr id="8" name="Footer Placeholder 7">
            <a:extLst>
              <a:ext uri="{FF2B5EF4-FFF2-40B4-BE49-F238E27FC236}">
                <a16:creationId xmlns:a16="http://schemas.microsoft.com/office/drawing/2014/main" id="{63BB79B9-A512-4CE4-A687-246A34A13EF5}"/>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9" name="Slide Number Placeholder 8">
            <a:extLst>
              <a:ext uri="{FF2B5EF4-FFF2-40B4-BE49-F238E27FC236}">
                <a16:creationId xmlns:a16="http://schemas.microsoft.com/office/drawing/2014/main" id="{BA338109-A1A9-4998-B4A1-97ADDAB7E8B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65016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3E35-5299-4B63-8B51-9F4A97C71962}"/>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9CFA6AC6-0659-4FAD-9E8F-76F401FBC584}"/>
              </a:ext>
            </a:extLst>
          </p:cNvPr>
          <p:cNvSpPr>
            <a:spLocks noGrp="1"/>
          </p:cNvSpPr>
          <p:nvPr>
            <p:ph type="dt" sz="half" idx="10"/>
          </p:nvPr>
        </p:nvSpPr>
        <p:spPr/>
        <p:txBody>
          <a:bodyPr/>
          <a:lstStyle/>
          <a:p>
            <a:endParaRPr lang="en-SG"/>
          </a:p>
        </p:txBody>
      </p:sp>
      <p:sp>
        <p:nvSpPr>
          <p:cNvPr id="4" name="Footer Placeholder 3">
            <a:extLst>
              <a:ext uri="{FF2B5EF4-FFF2-40B4-BE49-F238E27FC236}">
                <a16:creationId xmlns:a16="http://schemas.microsoft.com/office/drawing/2014/main" id="{BC529569-4516-499A-8373-AC26F3760B4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5" name="Slide Number Placeholder 4">
            <a:extLst>
              <a:ext uri="{FF2B5EF4-FFF2-40B4-BE49-F238E27FC236}">
                <a16:creationId xmlns:a16="http://schemas.microsoft.com/office/drawing/2014/main" id="{1F6E8AF0-0DB6-489E-ACEC-F21DC9B23B8E}"/>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8445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E50201-F9A8-4138-A24F-AB852281EC8F}"/>
              </a:ext>
            </a:extLst>
          </p:cNvPr>
          <p:cNvSpPr>
            <a:spLocks noGrp="1"/>
          </p:cNvSpPr>
          <p:nvPr>
            <p:ph type="dt" sz="half" idx="10"/>
          </p:nvPr>
        </p:nvSpPr>
        <p:spPr/>
        <p:txBody>
          <a:bodyPr/>
          <a:lstStyle/>
          <a:p>
            <a:endParaRPr lang="en-SG"/>
          </a:p>
        </p:txBody>
      </p:sp>
      <p:sp>
        <p:nvSpPr>
          <p:cNvPr id="3" name="Footer Placeholder 2">
            <a:extLst>
              <a:ext uri="{FF2B5EF4-FFF2-40B4-BE49-F238E27FC236}">
                <a16:creationId xmlns:a16="http://schemas.microsoft.com/office/drawing/2014/main" id="{C1F83975-FF84-487F-AFDC-02263F1E3EF2}"/>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4" name="Slide Number Placeholder 3">
            <a:extLst>
              <a:ext uri="{FF2B5EF4-FFF2-40B4-BE49-F238E27FC236}">
                <a16:creationId xmlns:a16="http://schemas.microsoft.com/office/drawing/2014/main" id="{CA34FDBD-62AB-401C-9199-F111ECB26663}"/>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271278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1716-B274-4466-9712-6CEDEBBDAD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6332D5B-1F24-430E-80E2-D0E184410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3CFFCB68-134D-45A9-A146-ECD542F0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AA041-31C7-413C-8A76-152B59F3AF6F}"/>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CC3C2EC0-A05A-4B3D-8A8A-BC1CA298DC0D}"/>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A57C253A-3A59-4B50-B64F-0AE1A3580EA1}"/>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948922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F7369-8207-4F07-BC27-4276545C5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669A7276-13B9-4486-B413-88F6B8EE1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a:extLst>
              <a:ext uri="{FF2B5EF4-FFF2-40B4-BE49-F238E27FC236}">
                <a16:creationId xmlns:a16="http://schemas.microsoft.com/office/drawing/2014/main" id="{36591697-F7DC-4A78-AF6E-6296B045DD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1571A-A600-463A-87C9-E3DBFDD13CE1}"/>
              </a:ext>
            </a:extLst>
          </p:cNvPr>
          <p:cNvSpPr>
            <a:spLocks noGrp="1"/>
          </p:cNvSpPr>
          <p:nvPr>
            <p:ph type="dt" sz="half" idx="10"/>
          </p:nvPr>
        </p:nvSpPr>
        <p:spPr/>
        <p:txBody>
          <a:bodyPr/>
          <a:lstStyle/>
          <a:p>
            <a:endParaRPr lang="en-SG"/>
          </a:p>
        </p:txBody>
      </p:sp>
      <p:sp>
        <p:nvSpPr>
          <p:cNvPr id="6" name="Footer Placeholder 5">
            <a:extLst>
              <a:ext uri="{FF2B5EF4-FFF2-40B4-BE49-F238E27FC236}">
                <a16:creationId xmlns:a16="http://schemas.microsoft.com/office/drawing/2014/main" id="{149963BD-E48F-4045-918C-E9E660CC4039}"/>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7" name="Slide Number Placeholder 6">
            <a:extLst>
              <a:ext uri="{FF2B5EF4-FFF2-40B4-BE49-F238E27FC236}">
                <a16:creationId xmlns:a16="http://schemas.microsoft.com/office/drawing/2014/main" id="{3E93A05E-7512-44BA-BD0F-A86E1D35F085}"/>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375001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DA04D-1F17-4E9B-A65E-2F1F803CB12B}"/>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AB6C65C5-F69C-413D-BA7E-583D32A40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9B91DEE-2925-47EE-8B32-4E17401F96C1}"/>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5AD0BC08-FF2F-45C0-A338-E6D2C802CC68}"/>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23DE448-78DC-4158-A0A8-43B71EE1CFE4}"/>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244823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0EAE97-62E2-4725-A10F-5240A0DCF42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91AE281-0364-46E3-A4EE-1A000C6202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AD6BE32D-4087-41E0-882F-E4A1DF219E68}"/>
              </a:ext>
            </a:extLst>
          </p:cNvPr>
          <p:cNvSpPr>
            <a:spLocks noGrp="1"/>
          </p:cNvSpPr>
          <p:nvPr>
            <p:ph type="dt" sz="half" idx="10"/>
          </p:nvPr>
        </p:nvSpPr>
        <p:spPr/>
        <p:txBody>
          <a:bodyPr/>
          <a:lstStyle/>
          <a:p>
            <a:endParaRPr lang="en-SG"/>
          </a:p>
        </p:txBody>
      </p:sp>
      <p:sp>
        <p:nvSpPr>
          <p:cNvPr id="5" name="Footer Placeholder 4">
            <a:extLst>
              <a:ext uri="{FF2B5EF4-FFF2-40B4-BE49-F238E27FC236}">
                <a16:creationId xmlns:a16="http://schemas.microsoft.com/office/drawing/2014/main" id="{84C6DE89-DF6B-4C00-8B4D-5A201E1544F6}"/>
              </a:ext>
            </a:extLst>
          </p:cNvPr>
          <p:cNvSpPr>
            <a:spLocks noGrp="1"/>
          </p:cNvSpPr>
          <p:nvPr>
            <p:ph type="ftr" sz="quarter" idx="11"/>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C033BC24-7B2B-46D2-A14D-E4B04FBC026A}"/>
              </a:ext>
            </a:extLst>
          </p:cNvPr>
          <p:cNvSpPr>
            <a:spLocks noGrp="1"/>
          </p:cNvSpPr>
          <p:nvPr>
            <p:ph type="sldNum" sz="quarter" idx="12"/>
          </p:nvPr>
        </p:nvSpPr>
        <p:spPr/>
        <p:txBody>
          <a:bodyPr/>
          <a:lstStyle/>
          <a:p>
            <a:fld id="{CE19DD2C-80DA-488C-99A4-6C8CE83C9C30}" type="slidenum">
              <a:rPr lang="en-SG" smtClean="0"/>
              <a:t>‹#›</a:t>
            </a:fld>
            <a:endParaRPr lang="en-SG"/>
          </a:p>
        </p:txBody>
      </p:sp>
    </p:spTree>
    <p:extLst>
      <p:ext uri="{BB962C8B-B14F-4D97-AF65-F5344CB8AC3E}">
        <p14:creationId xmlns:p14="http://schemas.microsoft.com/office/powerpoint/2010/main" val="130351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ulle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4897FD1-71BD-47A6-B797-CF76C131ADA2}"/>
              </a:ext>
            </a:extLst>
          </p:cNvPr>
          <p:cNvGrpSpPr/>
          <p:nvPr/>
        </p:nvGrpSpPr>
        <p:grpSpPr>
          <a:xfrm>
            <a:off x="0" y="1"/>
            <a:ext cx="12192000" cy="96761"/>
            <a:chOff x="0" y="1"/>
            <a:chExt cx="9144000" cy="50138"/>
          </a:xfrm>
        </p:grpSpPr>
        <p:sp>
          <p:nvSpPr>
            <p:cNvPr id="10" name="Rectangle 9">
              <a:extLst>
                <a:ext uri="{FF2B5EF4-FFF2-40B4-BE49-F238E27FC236}">
                  <a16:creationId xmlns:a16="http://schemas.microsoft.com/office/drawing/2014/main" id="{8448B507-1C7C-424E-A896-2B5D193F7988}"/>
                </a:ext>
              </a:extLst>
            </p:cNvPr>
            <p:cNvSpPr/>
            <p:nvPr userDrawn="1"/>
          </p:nvSpPr>
          <p:spPr>
            <a:xfrm>
              <a:off x="0" y="1"/>
              <a:ext cx="4572000" cy="50138"/>
            </a:xfrm>
            <a:prstGeom prst="rect">
              <a:avLst/>
            </a:pr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11" name="Rectangle 10">
              <a:extLst>
                <a:ext uri="{FF2B5EF4-FFF2-40B4-BE49-F238E27FC236}">
                  <a16:creationId xmlns:a16="http://schemas.microsoft.com/office/drawing/2014/main" id="{966A0A9C-1620-46A1-96D8-039E189461A1}"/>
                </a:ext>
              </a:extLst>
            </p:cNvPr>
            <p:cNvSpPr/>
            <p:nvPr userDrawn="1"/>
          </p:nvSpPr>
          <p:spPr>
            <a:xfrm>
              <a:off x="4572000" y="1"/>
              <a:ext cx="4572000" cy="50138"/>
            </a:xfrm>
            <a:prstGeom prst="rect">
              <a:avLst/>
            </a:pr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grpSp>
      <p:cxnSp>
        <p:nvCxnSpPr>
          <p:cNvPr id="12" name="Straight Connector 11">
            <a:extLst>
              <a:ext uri="{FF2B5EF4-FFF2-40B4-BE49-F238E27FC236}">
                <a16:creationId xmlns:a16="http://schemas.microsoft.com/office/drawing/2014/main" id="{6F83DBF1-F186-4FF9-98D0-2D89BCCD7064}"/>
              </a:ext>
            </a:extLst>
          </p:cNvPr>
          <p:cNvCxnSpPr>
            <a:cxnSpLocks/>
          </p:cNvCxnSpPr>
          <p:nvPr/>
        </p:nvCxnSpPr>
        <p:spPr>
          <a:xfrm>
            <a:off x="279540" y="6530229"/>
            <a:ext cx="11632920" cy="0"/>
          </a:xfrm>
          <a:prstGeom prst="line">
            <a:avLst/>
          </a:prstGeom>
        </p:spPr>
        <p:style>
          <a:lnRef idx="1">
            <a:schemeClr val="dk1"/>
          </a:lnRef>
          <a:fillRef idx="0">
            <a:schemeClr val="dk1"/>
          </a:fillRef>
          <a:effectRef idx="0">
            <a:schemeClr val="dk1"/>
          </a:effectRef>
          <a:fontRef idx="minor">
            <a:schemeClr val="tx1"/>
          </a:fontRef>
        </p:style>
      </p:cxnSp>
      <p:sp>
        <p:nvSpPr>
          <p:cNvPr id="16" name="Title 8">
            <a:extLst>
              <a:ext uri="{FF2B5EF4-FFF2-40B4-BE49-F238E27FC236}">
                <a16:creationId xmlns:a16="http://schemas.microsoft.com/office/drawing/2014/main" id="{029F2E20-2684-46DF-9D11-02417258E794}"/>
              </a:ext>
            </a:extLst>
          </p:cNvPr>
          <p:cNvSpPr>
            <a:spLocks noGrp="1"/>
          </p:cNvSpPr>
          <p:nvPr>
            <p:ph type="title" hasCustomPrompt="1"/>
          </p:nvPr>
        </p:nvSpPr>
        <p:spPr>
          <a:xfrm>
            <a:off x="551395" y="278092"/>
            <a:ext cx="11042511" cy="1078875"/>
          </a:xfrm>
          <a:prstGeom prst="rect">
            <a:avLst/>
          </a:prstGeom>
        </p:spPr>
        <p:txBody>
          <a:bodyPr/>
          <a:lstStyle>
            <a:lvl1pPr algn="l">
              <a:defRPr sz="3200" b="1">
                <a:solidFill>
                  <a:schemeClr val="tx1"/>
                </a:solidFill>
                <a:latin typeface="+mn-lt"/>
              </a:defRPr>
            </a:lvl1pPr>
          </a:lstStyle>
          <a:p>
            <a:r>
              <a:rPr lang="en-SG"/>
              <a:t>Click to add title</a:t>
            </a:r>
          </a:p>
        </p:txBody>
      </p:sp>
      <p:sp>
        <p:nvSpPr>
          <p:cNvPr id="13" name="Text Placeholder 4">
            <a:extLst>
              <a:ext uri="{FF2B5EF4-FFF2-40B4-BE49-F238E27FC236}">
                <a16:creationId xmlns:a16="http://schemas.microsoft.com/office/drawing/2014/main" id="{40D22AC7-14BF-4AF1-B561-7FA3FAB6CB9D}"/>
              </a:ext>
            </a:extLst>
          </p:cNvPr>
          <p:cNvSpPr>
            <a:spLocks noGrp="1"/>
          </p:cNvSpPr>
          <p:nvPr>
            <p:ph type="body" sz="quarter" idx="11" hasCustomPrompt="1"/>
          </p:nvPr>
        </p:nvSpPr>
        <p:spPr>
          <a:xfrm>
            <a:off x="542018" y="1562095"/>
            <a:ext cx="11042651" cy="4791607"/>
          </a:xfrm>
          <a:prstGeom prst="rect">
            <a:avLst/>
          </a:prstGeom>
        </p:spPr>
        <p:txBody>
          <a:bodyPr/>
          <a:lstStyle>
            <a:lvl1pPr marL="380990" indent="-380990">
              <a:lnSpc>
                <a:spcPct val="100000"/>
              </a:lnSpc>
              <a:buFont typeface="Arial" panose="020B0604020202020204" pitchFamily="34" charset="0"/>
              <a:buChar char="•"/>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add bullets</a:t>
            </a:r>
          </a:p>
        </p:txBody>
      </p:sp>
      <p:sp>
        <p:nvSpPr>
          <p:cNvPr id="6" name="Footer Placeholder 5">
            <a:extLst>
              <a:ext uri="{FF2B5EF4-FFF2-40B4-BE49-F238E27FC236}">
                <a16:creationId xmlns:a16="http://schemas.microsoft.com/office/drawing/2014/main" id="{9BE200EA-5608-25F7-9D16-8618AB8F1329}"/>
              </a:ext>
            </a:extLst>
          </p:cNvPr>
          <p:cNvSpPr>
            <a:spLocks noGrp="1"/>
          </p:cNvSpPr>
          <p:nvPr>
            <p:ph type="ftr" sz="quarter" idx="13"/>
          </p:nvPr>
        </p:nvSpPr>
        <p:spPr>
          <a:xfrm>
            <a:off x="542018" y="6492875"/>
            <a:ext cx="4114800" cy="365125"/>
          </a:xfrm>
        </p:spPr>
        <p:txBody>
          <a:bodyPr/>
          <a:lstStyle/>
          <a:p>
            <a:pPr algn="l"/>
            <a:r>
              <a:rPr lang="it-IT"/>
              <a:t>ITI121 Generative AI - PDC in Generative AI &amp; Deep Learning</a:t>
            </a:r>
            <a:endParaRPr lang="en-SG" dirty="0"/>
          </a:p>
        </p:txBody>
      </p:sp>
      <p:sp>
        <p:nvSpPr>
          <p:cNvPr id="7" name="Slide Number Placeholder 6">
            <a:extLst>
              <a:ext uri="{FF2B5EF4-FFF2-40B4-BE49-F238E27FC236}">
                <a16:creationId xmlns:a16="http://schemas.microsoft.com/office/drawing/2014/main" id="{934C0804-8576-3D7C-894B-CB09C4D33808}"/>
              </a:ext>
            </a:extLst>
          </p:cNvPr>
          <p:cNvSpPr>
            <a:spLocks noGrp="1"/>
          </p:cNvSpPr>
          <p:nvPr>
            <p:ph type="sldNum" sz="quarter" idx="14"/>
          </p:nvPr>
        </p:nvSpPr>
        <p:spPr>
          <a:xfrm>
            <a:off x="8610600" y="6492874"/>
            <a:ext cx="2743200" cy="365125"/>
          </a:xfrm>
        </p:spPr>
        <p:txBody>
          <a:bodyPr/>
          <a:lstStyle/>
          <a:p>
            <a:fld id="{CE19DD2C-80DA-488C-99A4-6C8CE83C9C30}" type="slidenum">
              <a:rPr lang="en-SG" smtClean="0"/>
              <a:t>‹#›</a:t>
            </a:fld>
            <a:endParaRPr lang="en-SG"/>
          </a:p>
        </p:txBody>
      </p:sp>
    </p:spTree>
    <p:custDataLst>
      <p:tags r:id="rId1"/>
    </p:custDataLst>
    <p:extLst>
      <p:ext uri="{BB962C8B-B14F-4D97-AF65-F5344CB8AC3E}">
        <p14:creationId xmlns:p14="http://schemas.microsoft.com/office/powerpoint/2010/main" val="2580820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Plain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AFB620-18D1-4649-93A3-941BC5B438AF}"/>
              </a:ext>
            </a:extLst>
          </p:cNvPr>
          <p:cNvSpPr>
            <a:spLocks noGrp="1"/>
          </p:cNvSpPr>
          <p:nvPr>
            <p:ph type="sldNum" sz="quarter" idx="11"/>
          </p:nvPr>
        </p:nvSpPr>
        <p:spPr/>
        <p:txBody>
          <a:bodyPr/>
          <a:lstStyle/>
          <a:p>
            <a:fld id="{CE19DD2C-80DA-488C-99A4-6C8CE83C9C30}" type="slidenum">
              <a:rPr lang="en-SG" smtClean="0"/>
              <a:t>‹#›</a:t>
            </a:fld>
            <a:endParaRPr lang="en-SG"/>
          </a:p>
        </p:txBody>
      </p:sp>
      <p:sp>
        <p:nvSpPr>
          <p:cNvPr id="12" name="Title 8">
            <a:extLst>
              <a:ext uri="{FF2B5EF4-FFF2-40B4-BE49-F238E27FC236}">
                <a16:creationId xmlns:a16="http://schemas.microsoft.com/office/drawing/2014/main" id="{83FD6784-19E4-4D70-8B3B-4D3959A58D8D}"/>
              </a:ext>
            </a:extLst>
          </p:cNvPr>
          <p:cNvSpPr>
            <a:spLocks noGrp="1"/>
          </p:cNvSpPr>
          <p:nvPr>
            <p:ph type="title" hasCustomPrompt="1"/>
          </p:nvPr>
        </p:nvSpPr>
        <p:spPr>
          <a:xfrm>
            <a:off x="552270" y="317002"/>
            <a:ext cx="11042511" cy="1078875"/>
          </a:xfrm>
          <a:prstGeom prst="rect">
            <a:avLst/>
          </a:prstGeom>
        </p:spPr>
        <p:txBody>
          <a:bodyPr/>
          <a:lstStyle>
            <a:lvl1pPr algn="l">
              <a:defRPr sz="3200" b="1">
                <a:solidFill>
                  <a:schemeClr val="tx1"/>
                </a:solidFill>
                <a:latin typeface="+mj-lt"/>
              </a:defRPr>
            </a:lvl1pPr>
          </a:lstStyle>
          <a:p>
            <a:r>
              <a:rPr lang="en-SG"/>
              <a:t>Click to add title</a:t>
            </a:r>
          </a:p>
        </p:txBody>
      </p:sp>
      <p:sp>
        <p:nvSpPr>
          <p:cNvPr id="18" name="Text Placeholder 4">
            <a:extLst>
              <a:ext uri="{FF2B5EF4-FFF2-40B4-BE49-F238E27FC236}">
                <a16:creationId xmlns:a16="http://schemas.microsoft.com/office/drawing/2014/main" id="{1633B2C3-EE9C-4119-9F7F-EE2C6BE94FE3}"/>
              </a:ext>
            </a:extLst>
          </p:cNvPr>
          <p:cNvSpPr>
            <a:spLocks noGrp="1"/>
          </p:cNvSpPr>
          <p:nvPr>
            <p:ph type="body" sz="quarter" idx="12" hasCustomPrompt="1"/>
          </p:nvPr>
        </p:nvSpPr>
        <p:spPr>
          <a:xfrm>
            <a:off x="552270" y="1562095"/>
            <a:ext cx="11042651" cy="4791607"/>
          </a:xfrm>
          <a:prstGeom prst="rect">
            <a:avLst/>
          </a:prstGeom>
        </p:spPr>
        <p:txBody>
          <a:bodyPr/>
          <a:lstStyle>
            <a:lvl1pPr marL="0" indent="0">
              <a:lnSpc>
                <a:spcPct val="150000"/>
              </a:lnSpc>
              <a:buFont typeface="Arial" panose="020B0604020202020204" pitchFamily="34" charset="0"/>
              <a:buNone/>
              <a:defRPr>
                <a:solidFill>
                  <a:schemeClr val="tx1"/>
                </a:solidFill>
                <a:latin typeface="+mn-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add body text</a:t>
            </a:r>
          </a:p>
        </p:txBody>
      </p:sp>
    </p:spTree>
    <p:extLst>
      <p:ext uri="{BB962C8B-B14F-4D97-AF65-F5344CB8AC3E}">
        <p14:creationId xmlns:p14="http://schemas.microsoft.com/office/powerpoint/2010/main" val="4807256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4"/>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629200" y="2558767"/>
            <a:ext cx="10962800" cy="36136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799743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4"/>
        <p:cNvGrpSpPr/>
        <p:nvPr/>
      </p:nvGrpSpPr>
      <p:grpSpPr>
        <a:xfrm>
          <a:off x="0" y="0"/>
          <a:ext cx="0" cy="0"/>
          <a:chOff x="0" y="0"/>
          <a:chExt cx="0" cy="0"/>
        </a:xfrm>
      </p:grpSpPr>
      <p:sp>
        <p:nvSpPr>
          <p:cNvPr id="25" name="Google Shape;25;p5"/>
          <p:cNvSpPr/>
          <p:nvPr/>
        </p:nvSpPr>
        <p:spPr>
          <a:xfrm rot="10800000" flipH="1">
            <a:off x="0" y="2248000"/>
            <a:ext cx="12192000" cy="4610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5"/>
          <p:cNvSpPr/>
          <p:nvPr/>
        </p:nvSpPr>
        <p:spPr>
          <a:xfrm>
            <a:off x="0" y="2248000"/>
            <a:ext cx="12192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5"/>
          <p:cNvSpPr txBox="1">
            <a:spLocks noGrp="1"/>
          </p:cNvSpPr>
          <p:nvPr>
            <p:ph type="title"/>
          </p:nvPr>
        </p:nvSpPr>
        <p:spPr>
          <a:xfrm>
            <a:off x="629200" y="984967"/>
            <a:ext cx="10962800" cy="10236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6292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29" name="Google Shape;29;p5"/>
          <p:cNvSpPr txBox="1">
            <a:spLocks noGrp="1"/>
          </p:cNvSpPr>
          <p:nvPr>
            <p:ph type="body" idx="2"/>
          </p:nvPr>
        </p:nvSpPr>
        <p:spPr>
          <a:xfrm>
            <a:off x="6259000" y="2558767"/>
            <a:ext cx="5333200" cy="36136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SzPts val="1400"/>
              <a:buChar char="●"/>
              <a:defRPr sz="1867"/>
            </a:lvl1pPr>
            <a:lvl2pPr marL="1219170" lvl="1" indent="-406390">
              <a:spcBef>
                <a:spcPts val="2133"/>
              </a:spcBef>
              <a:spcAft>
                <a:spcPts val="0"/>
              </a:spcAft>
              <a:buSzPts val="1200"/>
              <a:buChar char="○"/>
              <a:defRPr sz="1600"/>
            </a:lvl2pPr>
            <a:lvl3pPr marL="1828754" lvl="2" indent="-406390">
              <a:spcBef>
                <a:spcPts val="2133"/>
              </a:spcBef>
              <a:spcAft>
                <a:spcPts val="0"/>
              </a:spcAft>
              <a:buSzPts val="1200"/>
              <a:buChar char="■"/>
              <a:defRPr sz="1600"/>
            </a:lvl3pPr>
            <a:lvl4pPr marL="2438339" lvl="3" indent="-406390">
              <a:spcBef>
                <a:spcPts val="2133"/>
              </a:spcBef>
              <a:spcAft>
                <a:spcPts val="0"/>
              </a:spcAft>
              <a:buSzPts val="1200"/>
              <a:buChar char="●"/>
              <a:defRPr sz="1600"/>
            </a:lvl4pPr>
            <a:lvl5pPr marL="3047924" lvl="4" indent="-406390">
              <a:spcBef>
                <a:spcPts val="2133"/>
              </a:spcBef>
              <a:spcAft>
                <a:spcPts val="0"/>
              </a:spcAft>
              <a:buSzPts val="1200"/>
              <a:buChar char="○"/>
              <a:defRPr sz="1600"/>
            </a:lvl5pPr>
            <a:lvl6pPr marL="3657509" lvl="5" indent="-406390">
              <a:spcBef>
                <a:spcPts val="2133"/>
              </a:spcBef>
              <a:spcAft>
                <a:spcPts val="0"/>
              </a:spcAft>
              <a:buSzPts val="1200"/>
              <a:buChar char="■"/>
              <a:defRPr sz="1600"/>
            </a:lvl6pPr>
            <a:lvl7pPr marL="4267093" lvl="6" indent="-406390">
              <a:spcBef>
                <a:spcPts val="2133"/>
              </a:spcBef>
              <a:spcAft>
                <a:spcPts val="0"/>
              </a:spcAft>
              <a:buSzPts val="1200"/>
              <a:buChar char="●"/>
              <a:defRPr sz="1600"/>
            </a:lvl7pPr>
            <a:lvl8pPr marL="4876678" lvl="7" indent="-406390">
              <a:spcBef>
                <a:spcPts val="2133"/>
              </a:spcBef>
              <a:spcAft>
                <a:spcPts val="0"/>
              </a:spcAft>
              <a:buSzPts val="1200"/>
              <a:buChar char="○"/>
              <a:defRPr sz="1600"/>
            </a:lvl8pPr>
            <a:lvl9pPr marL="5486263" lvl="8" indent="-406390">
              <a:spcBef>
                <a:spcPts val="2133"/>
              </a:spcBef>
              <a:spcAft>
                <a:spcPts val="2133"/>
              </a:spcAft>
              <a:buSzPts val="1200"/>
              <a:buChar char="■"/>
              <a:defRPr sz="1600"/>
            </a:lvl9pPr>
          </a:lstStyle>
          <a:p>
            <a:endParaRPr/>
          </a:p>
        </p:txBody>
      </p:sp>
      <p:sp>
        <p:nvSpPr>
          <p:cNvPr id="30" name="Google Shape;30;p5"/>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4141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p:nvPr/>
        </p:nvSpPr>
        <p:spPr>
          <a:xfrm rot="10800000" flipH="1">
            <a:off x="4368800" y="33"/>
            <a:ext cx="78232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7"/>
          <p:cNvSpPr/>
          <p:nvPr/>
        </p:nvSpPr>
        <p:spPr>
          <a:xfrm rot="-5400000">
            <a:off x="1012200" y="3356600"/>
            <a:ext cx="68580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7"/>
          <p:cNvSpPr txBox="1">
            <a:spLocks noGrp="1"/>
          </p:cNvSpPr>
          <p:nvPr>
            <p:ph type="title"/>
          </p:nvPr>
        </p:nvSpPr>
        <p:spPr>
          <a:xfrm>
            <a:off x="301437" y="477067"/>
            <a:ext cx="3744000" cy="12712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40" name="Google Shape;40;p7"/>
          <p:cNvSpPr txBox="1">
            <a:spLocks noGrp="1"/>
          </p:cNvSpPr>
          <p:nvPr>
            <p:ph type="body" idx="1"/>
          </p:nvPr>
        </p:nvSpPr>
        <p:spPr>
          <a:xfrm>
            <a:off x="301433" y="1954400"/>
            <a:ext cx="3744000" cy="4218000"/>
          </a:xfrm>
          <a:prstGeom prst="rect">
            <a:avLst/>
          </a:prstGeom>
        </p:spPr>
        <p:txBody>
          <a:bodyPr spcFirstLastPara="1" wrap="square" lIns="91425" tIns="91425" rIns="91425" bIns="91425" anchor="t" anchorCtr="0">
            <a:noAutofit/>
          </a:bodyPr>
          <a:lstStyle>
            <a:lvl1pPr marL="609585" lvl="0" indent="-406390">
              <a:spcBef>
                <a:spcPts val="0"/>
              </a:spcBef>
              <a:spcAft>
                <a:spcPts val="0"/>
              </a:spcAft>
              <a:buClr>
                <a:schemeClr val="lt1"/>
              </a:buClr>
              <a:buSzPts val="1200"/>
              <a:buChar char="●"/>
              <a:defRPr sz="1600">
                <a:solidFill>
                  <a:schemeClr val="lt1"/>
                </a:solidFill>
              </a:defRPr>
            </a:lvl1pPr>
            <a:lvl2pPr marL="1219170" lvl="1" indent="-406390">
              <a:spcBef>
                <a:spcPts val="2133"/>
              </a:spcBef>
              <a:spcAft>
                <a:spcPts val="0"/>
              </a:spcAft>
              <a:buClr>
                <a:schemeClr val="lt1"/>
              </a:buClr>
              <a:buSzPts val="1200"/>
              <a:buChar char="○"/>
              <a:defRPr sz="1600">
                <a:solidFill>
                  <a:schemeClr val="lt1"/>
                </a:solidFill>
              </a:defRPr>
            </a:lvl2pPr>
            <a:lvl3pPr marL="1828754" lvl="2" indent="-406390">
              <a:spcBef>
                <a:spcPts val="2133"/>
              </a:spcBef>
              <a:spcAft>
                <a:spcPts val="0"/>
              </a:spcAft>
              <a:buClr>
                <a:schemeClr val="lt1"/>
              </a:buClr>
              <a:buSzPts val="1200"/>
              <a:buChar char="■"/>
              <a:defRPr sz="1600">
                <a:solidFill>
                  <a:schemeClr val="lt1"/>
                </a:solidFill>
              </a:defRPr>
            </a:lvl3pPr>
            <a:lvl4pPr marL="2438339" lvl="3" indent="-406390">
              <a:spcBef>
                <a:spcPts val="2133"/>
              </a:spcBef>
              <a:spcAft>
                <a:spcPts val="0"/>
              </a:spcAft>
              <a:buClr>
                <a:schemeClr val="lt1"/>
              </a:buClr>
              <a:buSzPts val="1200"/>
              <a:buChar char="●"/>
              <a:defRPr sz="1600">
                <a:solidFill>
                  <a:schemeClr val="lt1"/>
                </a:solidFill>
              </a:defRPr>
            </a:lvl4pPr>
            <a:lvl5pPr marL="3047924" lvl="4" indent="-406390">
              <a:spcBef>
                <a:spcPts val="2133"/>
              </a:spcBef>
              <a:spcAft>
                <a:spcPts val="0"/>
              </a:spcAft>
              <a:buClr>
                <a:schemeClr val="lt1"/>
              </a:buClr>
              <a:buSzPts val="1200"/>
              <a:buChar char="○"/>
              <a:defRPr sz="1600">
                <a:solidFill>
                  <a:schemeClr val="lt1"/>
                </a:solidFill>
              </a:defRPr>
            </a:lvl5pPr>
            <a:lvl6pPr marL="3657509" lvl="5" indent="-406390">
              <a:spcBef>
                <a:spcPts val="2133"/>
              </a:spcBef>
              <a:spcAft>
                <a:spcPts val="0"/>
              </a:spcAft>
              <a:buClr>
                <a:schemeClr val="lt1"/>
              </a:buClr>
              <a:buSzPts val="1200"/>
              <a:buChar char="■"/>
              <a:defRPr sz="1600">
                <a:solidFill>
                  <a:schemeClr val="lt1"/>
                </a:solidFill>
              </a:defRPr>
            </a:lvl6pPr>
            <a:lvl7pPr marL="4267093" lvl="6" indent="-406390">
              <a:spcBef>
                <a:spcPts val="2133"/>
              </a:spcBef>
              <a:spcAft>
                <a:spcPts val="0"/>
              </a:spcAft>
              <a:buClr>
                <a:schemeClr val="lt1"/>
              </a:buClr>
              <a:buSzPts val="1200"/>
              <a:buChar char="●"/>
              <a:defRPr sz="1600">
                <a:solidFill>
                  <a:schemeClr val="lt1"/>
                </a:solidFill>
              </a:defRPr>
            </a:lvl7pPr>
            <a:lvl8pPr marL="4876678" lvl="7" indent="-406390">
              <a:spcBef>
                <a:spcPts val="2133"/>
              </a:spcBef>
              <a:spcAft>
                <a:spcPts val="0"/>
              </a:spcAft>
              <a:buClr>
                <a:schemeClr val="lt1"/>
              </a:buClr>
              <a:buSzPts val="1200"/>
              <a:buChar char="○"/>
              <a:defRPr sz="1600">
                <a:solidFill>
                  <a:schemeClr val="lt1"/>
                </a:solidFill>
              </a:defRPr>
            </a:lvl8pPr>
            <a:lvl9pPr marL="5486263" lvl="8" indent="-406390">
              <a:spcBef>
                <a:spcPts val="2133"/>
              </a:spcBef>
              <a:spcAft>
                <a:spcPts val="2133"/>
              </a:spcAft>
              <a:buClr>
                <a:schemeClr val="lt1"/>
              </a:buClr>
              <a:buSzPts val="1200"/>
              <a:buChar char="■"/>
              <a:defRPr sz="1600">
                <a:solidFill>
                  <a:schemeClr val="lt1"/>
                </a:solidFill>
              </a:defRPr>
            </a:lvl9pPr>
          </a:lstStyle>
          <a:p>
            <a:endParaRPr/>
          </a:p>
        </p:txBody>
      </p:sp>
      <p:sp>
        <p:nvSpPr>
          <p:cNvPr id="41" name="Google Shape;41;p7"/>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96184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634000" y="1678033"/>
            <a:ext cx="10962800" cy="26180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6000">
                <a:solidFill>
                  <a:schemeClr val="dk2"/>
                </a:solidFill>
              </a:defRPr>
            </a:lvl1pPr>
            <a:lvl2pPr lvl="1" algn="ctr">
              <a:spcBef>
                <a:spcPts val="0"/>
              </a:spcBef>
              <a:spcAft>
                <a:spcPts val="0"/>
              </a:spcAft>
              <a:buClr>
                <a:schemeClr val="dk2"/>
              </a:buClr>
              <a:buSzPts val="12000"/>
              <a:buNone/>
              <a:defRPr sz="16000">
                <a:solidFill>
                  <a:schemeClr val="dk2"/>
                </a:solidFill>
              </a:defRPr>
            </a:lvl2pPr>
            <a:lvl3pPr lvl="2" algn="ctr">
              <a:spcBef>
                <a:spcPts val="0"/>
              </a:spcBef>
              <a:spcAft>
                <a:spcPts val="0"/>
              </a:spcAft>
              <a:buClr>
                <a:schemeClr val="dk2"/>
              </a:buClr>
              <a:buSzPts val="12000"/>
              <a:buNone/>
              <a:defRPr sz="16000">
                <a:solidFill>
                  <a:schemeClr val="dk2"/>
                </a:solidFill>
              </a:defRPr>
            </a:lvl3pPr>
            <a:lvl4pPr lvl="3" algn="ctr">
              <a:spcBef>
                <a:spcPts val="0"/>
              </a:spcBef>
              <a:spcAft>
                <a:spcPts val="0"/>
              </a:spcAft>
              <a:buClr>
                <a:schemeClr val="dk2"/>
              </a:buClr>
              <a:buSzPts val="12000"/>
              <a:buNone/>
              <a:defRPr sz="16000">
                <a:solidFill>
                  <a:schemeClr val="dk2"/>
                </a:solidFill>
              </a:defRPr>
            </a:lvl4pPr>
            <a:lvl5pPr lvl="4" algn="ctr">
              <a:spcBef>
                <a:spcPts val="0"/>
              </a:spcBef>
              <a:spcAft>
                <a:spcPts val="0"/>
              </a:spcAft>
              <a:buClr>
                <a:schemeClr val="dk2"/>
              </a:buClr>
              <a:buSzPts val="12000"/>
              <a:buNone/>
              <a:defRPr sz="16000">
                <a:solidFill>
                  <a:schemeClr val="dk2"/>
                </a:solidFill>
              </a:defRPr>
            </a:lvl5pPr>
            <a:lvl6pPr lvl="5" algn="ctr">
              <a:spcBef>
                <a:spcPts val="0"/>
              </a:spcBef>
              <a:spcAft>
                <a:spcPts val="0"/>
              </a:spcAft>
              <a:buClr>
                <a:schemeClr val="dk2"/>
              </a:buClr>
              <a:buSzPts val="12000"/>
              <a:buNone/>
              <a:defRPr sz="16000">
                <a:solidFill>
                  <a:schemeClr val="dk2"/>
                </a:solidFill>
              </a:defRPr>
            </a:lvl6pPr>
            <a:lvl7pPr lvl="6" algn="ctr">
              <a:spcBef>
                <a:spcPts val="0"/>
              </a:spcBef>
              <a:spcAft>
                <a:spcPts val="0"/>
              </a:spcAft>
              <a:buClr>
                <a:schemeClr val="dk2"/>
              </a:buClr>
              <a:buSzPts val="12000"/>
              <a:buNone/>
              <a:defRPr sz="16000">
                <a:solidFill>
                  <a:schemeClr val="dk2"/>
                </a:solidFill>
              </a:defRPr>
            </a:lvl7pPr>
            <a:lvl8pPr lvl="7" algn="ctr">
              <a:spcBef>
                <a:spcPts val="0"/>
              </a:spcBef>
              <a:spcAft>
                <a:spcPts val="0"/>
              </a:spcAft>
              <a:buClr>
                <a:schemeClr val="dk2"/>
              </a:buClr>
              <a:buSzPts val="12000"/>
              <a:buNone/>
              <a:defRPr sz="16000">
                <a:solidFill>
                  <a:schemeClr val="dk2"/>
                </a:solidFill>
              </a:defRPr>
            </a:lvl8pPr>
            <a:lvl9pPr lvl="8" algn="ctr">
              <a:spcBef>
                <a:spcPts val="0"/>
              </a:spcBef>
              <a:spcAft>
                <a:spcPts val="0"/>
              </a:spcAft>
              <a:buClr>
                <a:schemeClr val="dk2"/>
              </a:buClr>
              <a:buSzPts val="12000"/>
              <a:buNone/>
              <a:defRPr sz="16000">
                <a:solidFill>
                  <a:schemeClr val="dk2"/>
                </a:solidFill>
              </a:defRPr>
            </a:lvl9pPr>
          </a:lstStyle>
          <a:p>
            <a:r>
              <a:t>xx%</a:t>
            </a:r>
          </a:p>
        </p:txBody>
      </p:sp>
      <p:sp>
        <p:nvSpPr>
          <p:cNvPr id="59" name="Google Shape;59;p11"/>
          <p:cNvSpPr txBox="1">
            <a:spLocks noGrp="1"/>
          </p:cNvSpPr>
          <p:nvPr>
            <p:ph type="body" idx="1"/>
          </p:nvPr>
        </p:nvSpPr>
        <p:spPr>
          <a:xfrm>
            <a:off x="634000" y="4406167"/>
            <a:ext cx="10962800" cy="17344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60" name="Google Shape;60;p11"/>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868319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651000"/>
            <a:ext cx="8302800" cy="54544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8000"/>
            </a:lvl1pPr>
            <a:lvl2pPr lvl="1">
              <a:spcBef>
                <a:spcPts val="0"/>
              </a:spcBef>
              <a:spcAft>
                <a:spcPts val="0"/>
              </a:spcAft>
              <a:buSzPts val="6000"/>
              <a:buNone/>
              <a:defRPr sz="8000"/>
            </a:lvl2pPr>
            <a:lvl3pPr lvl="2">
              <a:spcBef>
                <a:spcPts val="0"/>
              </a:spcBef>
              <a:spcAft>
                <a:spcPts val="0"/>
              </a:spcAft>
              <a:buSzPts val="6000"/>
              <a:buNone/>
              <a:defRPr sz="8000"/>
            </a:lvl3pPr>
            <a:lvl4pPr lvl="3">
              <a:spcBef>
                <a:spcPts val="0"/>
              </a:spcBef>
              <a:spcAft>
                <a:spcPts val="0"/>
              </a:spcAft>
              <a:buSzPts val="6000"/>
              <a:buNone/>
              <a:defRPr sz="8000"/>
            </a:lvl4pPr>
            <a:lvl5pPr lvl="4">
              <a:spcBef>
                <a:spcPts val="0"/>
              </a:spcBef>
              <a:spcAft>
                <a:spcPts val="0"/>
              </a:spcAft>
              <a:buSzPts val="6000"/>
              <a:buNone/>
              <a:defRPr sz="8000"/>
            </a:lvl5pPr>
            <a:lvl6pPr lvl="5">
              <a:spcBef>
                <a:spcPts val="0"/>
              </a:spcBef>
              <a:spcAft>
                <a:spcPts val="0"/>
              </a:spcAft>
              <a:buSzPts val="6000"/>
              <a:buNone/>
              <a:defRPr sz="8000"/>
            </a:lvl6pPr>
            <a:lvl7pPr lvl="6">
              <a:spcBef>
                <a:spcPts val="0"/>
              </a:spcBef>
              <a:spcAft>
                <a:spcPts val="0"/>
              </a:spcAft>
              <a:buSzPts val="6000"/>
              <a:buNone/>
              <a:defRPr sz="8000"/>
            </a:lvl7pPr>
            <a:lvl8pPr lvl="7">
              <a:spcBef>
                <a:spcPts val="0"/>
              </a:spcBef>
              <a:spcAft>
                <a:spcPts val="0"/>
              </a:spcAft>
              <a:buSzPts val="6000"/>
              <a:buNone/>
              <a:defRPr sz="8000"/>
            </a:lvl8pPr>
            <a:lvl9pPr lvl="8">
              <a:spcBef>
                <a:spcPts val="0"/>
              </a:spcBef>
              <a:spcAft>
                <a:spcPts val="0"/>
              </a:spcAft>
              <a:buSzPts val="6000"/>
              <a:buNone/>
              <a:defRPr sz="8000"/>
            </a:lvl9pPr>
          </a:lstStyle>
          <a:p>
            <a:endParaRPr/>
          </a:p>
        </p:txBody>
      </p:sp>
      <p:sp>
        <p:nvSpPr>
          <p:cNvPr id="44" name="Google Shape;44;p8"/>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50921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flipH="1">
            <a:off x="0" y="0"/>
            <a:ext cx="6096000" cy="68580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7" name="Google Shape;47;p9"/>
          <p:cNvSpPr/>
          <p:nvPr/>
        </p:nvSpPr>
        <p:spPr>
          <a:xfrm rot="5400000">
            <a:off x="2595233" y="3357000"/>
            <a:ext cx="6857200" cy="1448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8" name="Google Shape;48;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5600">
                <a:solidFill>
                  <a:schemeClr val="dk2"/>
                </a:solidFill>
              </a:defRPr>
            </a:lvl1pPr>
            <a:lvl2pPr lvl="1" algn="ctr">
              <a:spcBef>
                <a:spcPts val="0"/>
              </a:spcBef>
              <a:spcAft>
                <a:spcPts val="0"/>
              </a:spcAft>
              <a:buClr>
                <a:schemeClr val="dk2"/>
              </a:buClr>
              <a:buSzPts val="4200"/>
              <a:buNone/>
              <a:defRPr sz="5600">
                <a:solidFill>
                  <a:schemeClr val="dk2"/>
                </a:solidFill>
              </a:defRPr>
            </a:lvl2pPr>
            <a:lvl3pPr lvl="2" algn="ctr">
              <a:spcBef>
                <a:spcPts val="0"/>
              </a:spcBef>
              <a:spcAft>
                <a:spcPts val="0"/>
              </a:spcAft>
              <a:buClr>
                <a:schemeClr val="dk2"/>
              </a:buClr>
              <a:buSzPts val="4200"/>
              <a:buNone/>
              <a:defRPr sz="5600">
                <a:solidFill>
                  <a:schemeClr val="dk2"/>
                </a:solidFill>
              </a:defRPr>
            </a:lvl3pPr>
            <a:lvl4pPr lvl="3" algn="ctr">
              <a:spcBef>
                <a:spcPts val="0"/>
              </a:spcBef>
              <a:spcAft>
                <a:spcPts val="0"/>
              </a:spcAft>
              <a:buClr>
                <a:schemeClr val="dk2"/>
              </a:buClr>
              <a:buSzPts val="4200"/>
              <a:buNone/>
              <a:defRPr sz="5600">
                <a:solidFill>
                  <a:schemeClr val="dk2"/>
                </a:solidFill>
              </a:defRPr>
            </a:lvl4pPr>
            <a:lvl5pPr lvl="4" algn="ctr">
              <a:spcBef>
                <a:spcPts val="0"/>
              </a:spcBef>
              <a:spcAft>
                <a:spcPts val="0"/>
              </a:spcAft>
              <a:buClr>
                <a:schemeClr val="dk2"/>
              </a:buClr>
              <a:buSzPts val="4200"/>
              <a:buNone/>
              <a:defRPr sz="5600">
                <a:solidFill>
                  <a:schemeClr val="dk2"/>
                </a:solidFill>
              </a:defRPr>
            </a:lvl5pPr>
            <a:lvl6pPr lvl="5" algn="ctr">
              <a:spcBef>
                <a:spcPts val="0"/>
              </a:spcBef>
              <a:spcAft>
                <a:spcPts val="0"/>
              </a:spcAft>
              <a:buClr>
                <a:schemeClr val="dk2"/>
              </a:buClr>
              <a:buSzPts val="4200"/>
              <a:buNone/>
              <a:defRPr sz="5600">
                <a:solidFill>
                  <a:schemeClr val="dk2"/>
                </a:solidFill>
              </a:defRPr>
            </a:lvl6pPr>
            <a:lvl7pPr lvl="6" algn="ctr">
              <a:spcBef>
                <a:spcPts val="0"/>
              </a:spcBef>
              <a:spcAft>
                <a:spcPts val="0"/>
              </a:spcAft>
              <a:buClr>
                <a:schemeClr val="dk2"/>
              </a:buClr>
              <a:buSzPts val="4200"/>
              <a:buNone/>
              <a:defRPr sz="5600">
                <a:solidFill>
                  <a:schemeClr val="dk2"/>
                </a:solidFill>
              </a:defRPr>
            </a:lvl7pPr>
            <a:lvl8pPr lvl="7" algn="ctr">
              <a:spcBef>
                <a:spcPts val="0"/>
              </a:spcBef>
              <a:spcAft>
                <a:spcPts val="0"/>
              </a:spcAft>
              <a:buClr>
                <a:schemeClr val="dk2"/>
              </a:buClr>
              <a:buSzPts val="4200"/>
              <a:buNone/>
              <a:defRPr sz="5600">
                <a:solidFill>
                  <a:schemeClr val="dk2"/>
                </a:solidFill>
              </a:defRPr>
            </a:lvl8pPr>
            <a:lvl9pPr lvl="8" algn="ctr">
              <a:spcBef>
                <a:spcPts val="0"/>
              </a:spcBef>
              <a:spcAft>
                <a:spcPts val="0"/>
              </a:spcAft>
              <a:buClr>
                <a:schemeClr val="dk2"/>
              </a:buClr>
              <a:buSzPts val="4200"/>
              <a:buNone/>
              <a:defRPr sz="5600">
                <a:solidFill>
                  <a:schemeClr val="dk2"/>
                </a:solidFill>
              </a:defRPr>
            </a:lvl9pPr>
          </a:lstStyle>
          <a:p>
            <a:endParaRPr/>
          </a:p>
        </p:txBody>
      </p:sp>
      <p:sp>
        <p:nvSpPr>
          <p:cNvPr id="49" name="Google Shape;49;p9"/>
          <p:cNvSpPr txBox="1">
            <a:spLocks noGrp="1"/>
          </p:cNvSpPr>
          <p:nvPr>
            <p:ph type="subTitle" idx="1"/>
          </p:nvPr>
        </p:nvSpPr>
        <p:spPr>
          <a:xfrm>
            <a:off x="354000" y="3705956"/>
            <a:ext cx="5393600" cy="164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11364721" y="6260831"/>
            <a:ext cx="731600" cy="5248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7145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1"/>
        <p:cNvGrpSpPr/>
        <p:nvPr/>
      </p:nvGrpSpPr>
      <p:grpSpPr>
        <a:xfrm>
          <a:off x="0" y="0"/>
          <a:ext cx="0" cy="0"/>
          <a:chOff x="0" y="0"/>
          <a:chExt cx="0" cy="0"/>
        </a:xfrm>
      </p:grpSpPr>
      <p:sp>
        <p:nvSpPr>
          <p:cNvPr id="12" name="Google Shape;12;p57"/>
          <p:cNvSpPr/>
          <p:nvPr/>
        </p:nvSpPr>
        <p:spPr>
          <a:xfrm>
            <a:off x="10059311" y="877033"/>
            <a:ext cx="1732400" cy="577200"/>
          </a:xfrm>
          <a:prstGeom prst="triangle">
            <a:avLst>
              <a:gd name="adj" fmla="val 32425"/>
            </a:avLst>
          </a:prstGeom>
          <a:solidFill>
            <a:srgbClr val="263248"/>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nvGrpSpPr>
          <p:cNvPr id="13" name="Google Shape;13;p57"/>
          <p:cNvGrpSpPr/>
          <p:nvPr/>
        </p:nvGrpSpPr>
        <p:grpSpPr>
          <a:xfrm>
            <a:off x="0" y="-9451"/>
            <a:ext cx="11548531" cy="6867451"/>
            <a:chOff x="0" y="-7088"/>
            <a:chExt cx="8661398" cy="5150588"/>
          </a:xfrm>
        </p:grpSpPr>
        <p:sp>
          <p:nvSpPr>
            <p:cNvPr id="14" name="Google Shape;14;p57"/>
            <p:cNvSpPr/>
            <p:nvPr/>
          </p:nvSpPr>
          <p:spPr>
            <a:xfrm>
              <a:off x="0" y="0"/>
              <a:ext cx="3525000" cy="5143500"/>
            </a:xfrm>
            <a:prstGeom prst="rect">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dirty="0">
                <a:solidFill>
                  <a:srgbClr val="000000"/>
                </a:solidFill>
                <a:latin typeface="Arial"/>
                <a:ea typeface="Arial"/>
                <a:cs typeface="Arial"/>
                <a:sym typeface="Arial"/>
              </a:endParaRPr>
            </a:p>
          </p:txBody>
        </p:sp>
        <p:sp>
          <p:nvSpPr>
            <p:cNvPr id="15" name="Google Shape;15;p57"/>
            <p:cNvSpPr/>
            <p:nvPr/>
          </p:nvSpPr>
          <p:spPr>
            <a:xfrm rot="10800000" flipH="1">
              <a:off x="3517898" y="-7088"/>
              <a:ext cx="5143500" cy="5143500"/>
            </a:xfrm>
            <a:prstGeom prst="rtTriangle">
              <a:avLst/>
            </a:prstGeom>
            <a:solidFill>
              <a:srgbClr val="C7D3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6" name="Google Shape;16;p57"/>
          <p:cNvGrpSpPr/>
          <p:nvPr/>
        </p:nvGrpSpPr>
        <p:grpSpPr>
          <a:xfrm rot="10800000" flipH="1">
            <a:off x="2" y="1454351"/>
            <a:ext cx="11796669" cy="3949300"/>
            <a:chOff x="-8178042" y="-4493254"/>
            <a:chExt cx="19483597" cy="6522736"/>
          </a:xfrm>
        </p:grpSpPr>
        <p:sp>
          <p:nvSpPr>
            <p:cNvPr id="17" name="Google Shape;17;p57"/>
            <p:cNvSpPr/>
            <p:nvPr/>
          </p:nvSpPr>
          <p:spPr>
            <a:xfrm>
              <a:off x="-8178042" y="-4493118"/>
              <a:ext cx="12968400" cy="6522600"/>
            </a:xfrm>
            <a:prstGeom prst="rect">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sp>
          <p:nvSpPr>
            <p:cNvPr id="18" name="Google Shape;18;p57"/>
            <p:cNvSpPr/>
            <p:nvPr/>
          </p:nvSpPr>
          <p:spPr>
            <a:xfrm>
              <a:off x="4782955" y="-4493254"/>
              <a:ext cx="6522600" cy="6522600"/>
            </a:xfrm>
            <a:prstGeom prst="rtTriangle">
              <a:avLst/>
            </a:prstGeom>
            <a:solidFill>
              <a:srgbClr val="3F537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vo"/>
                <a:ea typeface="Arvo"/>
                <a:cs typeface="Arvo"/>
                <a:sym typeface="Arvo"/>
              </a:endParaRPr>
            </a:p>
          </p:txBody>
        </p:sp>
      </p:grpSp>
      <p:grpSp>
        <p:nvGrpSpPr>
          <p:cNvPr id="19" name="Google Shape;19;p57"/>
          <p:cNvGrpSpPr/>
          <p:nvPr/>
        </p:nvGrpSpPr>
        <p:grpSpPr>
          <a:xfrm>
            <a:off x="4902981" y="5704465"/>
            <a:ext cx="7307771" cy="577328"/>
            <a:chOff x="5582265" y="4646738"/>
            <a:chExt cx="5480828" cy="432996"/>
          </a:xfrm>
        </p:grpSpPr>
        <p:sp>
          <p:nvSpPr>
            <p:cNvPr id="20" name="Google Shape;20;p57"/>
            <p:cNvSpPr/>
            <p:nvPr/>
          </p:nvSpPr>
          <p:spPr>
            <a:xfrm rot="10800000">
              <a:off x="5582265"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21" name="Google Shape;21;p57"/>
            <p:cNvGrpSpPr/>
            <p:nvPr/>
          </p:nvGrpSpPr>
          <p:grpSpPr>
            <a:xfrm flipH="1">
              <a:off x="5585232" y="4646738"/>
              <a:ext cx="5477861" cy="304551"/>
              <a:chOff x="-24158748" y="330075"/>
              <a:chExt cx="30568423" cy="1699506"/>
            </a:xfrm>
          </p:grpSpPr>
          <p:sp>
            <p:nvSpPr>
              <p:cNvPr id="22" name="Google Shape;22;p57"/>
              <p:cNvSpPr/>
              <p:nvPr/>
            </p:nvSpPr>
            <p:spPr>
              <a:xfrm>
                <a:off x="-24158748" y="330081"/>
                <a:ext cx="28908000" cy="1699500"/>
              </a:xfrm>
              <a:prstGeom prst="rect">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3" name="Google Shape;23;p57"/>
              <p:cNvSpPr/>
              <p:nvPr/>
            </p:nvSpPr>
            <p:spPr>
              <a:xfrm>
                <a:off x="4710175"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grpSp>
      <p:sp>
        <p:nvSpPr>
          <p:cNvPr id="24" name="Google Shape;24;p57"/>
          <p:cNvSpPr txBox="1">
            <a:spLocks noGrp="1"/>
          </p:cNvSpPr>
          <p:nvPr>
            <p:ph type="ctrTitle"/>
          </p:nvPr>
        </p:nvSpPr>
        <p:spPr>
          <a:xfrm>
            <a:off x="643469" y="1454333"/>
            <a:ext cx="6984320" cy="3949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5333"/>
            </a:lvl1pPr>
            <a:lvl2pPr lvl="1" algn="ctr">
              <a:lnSpc>
                <a:spcPct val="100000"/>
              </a:lnSpc>
              <a:spcBef>
                <a:spcPts val="0"/>
              </a:spcBef>
              <a:spcAft>
                <a:spcPts val="0"/>
              </a:spcAft>
              <a:buSzPts val="4800"/>
              <a:buNone/>
              <a:defRPr sz="6400"/>
            </a:lvl2pPr>
            <a:lvl3pPr lvl="2" algn="ctr">
              <a:lnSpc>
                <a:spcPct val="100000"/>
              </a:lnSpc>
              <a:spcBef>
                <a:spcPts val="0"/>
              </a:spcBef>
              <a:spcAft>
                <a:spcPts val="0"/>
              </a:spcAft>
              <a:buSzPts val="4800"/>
              <a:buNone/>
              <a:defRPr sz="6400"/>
            </a:lvl3pPr>
            <a:lvl4pPr lvl="3" algn="ctr">
              <a:lnSpc>
                <a:spcPct val="100000"/>
              </a:lnSpc>
              <a:spcBef>
                <a:spcPts val="0"/>
              </a:spcBef>
              <a:spcAft>
                <a:spcPts val="0"/>
              </a:spcAft>
              <a:buSzPts val="4800"/>
              <a:buNone/>
              <a:defRPr sz="6400"/>
            </a:lvl4pPr>
            <a:lvl5pPr lvl="4" algn="ctr">
              <a:lnSpc>
                <a:spcPct val="100000"/>
              </a:lnSpc>
              <a:spcBef>
                <a:spcPts val="0"/>
              </a:spcBef>
              <a:spcAft>
                <a:spcPts val="0"/>
              </a:spcAft>
              <a:buSzPts val="4800"/>
              <a:buNone/>
              <a:defRPr sz="6400"/>
            </a:lvl5pPr>
            <a:lvl6pPr lvl="5" algn="ctr">
              <a:lnSpc>
                <a:spcPct val="100000"/>
              </a:lnSpc>
              <a:spcBef>
                <a:spcPts val="0"/>
              </a:spcBef>
              <a:spcAft>
                <a:spcPts val="0"/>
              </a:spcAft>
              <a:buSzPts val="4800"/>
              <a:buNone/>
              <a:defRPr sz="6400"/>
            </a:lvl6pPr>
            <a:lvl7pPr lvl="6" algn="ctr">
              <a:lnSpc>
                <a:spcPct val="100000"/>
              </a:lnSpc>
              <a:spcBef>
                <a:spcPts val="0"/>
              </a:spcBef>
              <a:spcAft>
                <a:spcPts val="0"/>
              </a:spcAft>
              <a:buSzPts val="4800"/>
              <a:buNone/>
              <a:defRPr sz="6400"/>
            </a:lvl7pPr>
            <a:lvl8pPr lvl="7" algn="ctr">
              <a:lnSpc>
                <a:spcPct val="100000"/>
              </a:lnSpc>
              <a:spcBef>
                <a:spcPts val="0"/>
              </a:spcBef>
              <a:spcAft>
                <a:spcPts val="0"/>
              </a:spcAft>
              <a:buSzPts val="4800"/>
              <a:buNone/>
              <a:defRPr sz="6400"/>
            </a:lvl8pPr>
            <a:lvl9pPr lvl="8" algn="ctr">
              <a:lnSpc>
                <a:spcPct val="100000"/>
              </a:lnSpc>
              <a:spcBef>
                <a:spcPts val="0"/>
              </a:spcBef>
              <a:spcAft>
                <a:spcPts val="0"/>
              </a:spcAft>
              <a:buSzPts val="4800"/>
              <a:buNone/>
              <a:defRPr sz="6400"/>
            </a:lvl9pPr>
          </a:lstStyle>
          <a:p>
            <a:r>
              <a:rPr lang="en-US"/>
              <a:t>Click to edit Master title style</a:t>
            </a:r>
            <a:endParaRPr/>
          </a:p>
        </p:txBody>
      </p:sp>
      <p:pic>
        <p:nvPicPr>
          <p:cNvPr id="25" name="Google Shape;25;p57"/>
          <p:cNvPicPr preferRelativeResize="0"/>
          <p:nvPr/>
        </p:nvPicPr>
        <p:blipFill rotWithShape="1">
          <a:blip r:embed="rId2">
            <a:alphaModFix/>
          </a:blip>
          <a:srcRect/>
          <a:stretch/>
        </p:blipFill>
        <p:spPr>
          <a:xfrm>
            <a:off x="7570875" y="1454217"/>
            <a:ext cx="2268772" cy="2268772"/>
          </a:xfrm>
          <a:prstGeom prst="rect">
            <a:avLst/>
          </a:prstGeom>
          <a:noFill/>
          <a:ln>
            <a:noFill/>
          </a:ln>
        </p:spPr>
      </p:pic>
    </p:spTree>
    <p:extLst>
      <p:ext uri="{BB962C8B-B14F-4D97-AF65-F5344CB8AC3E}">
        <p14:creationId xmlns:p14="http://schemas.microsoft.com/office/powerpoint/2010/main" val="13758796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E90C6C-FDE3-C662-2486-197F1D3B3A34}"/>
              </a:ext>
            </a:extLst>
          </p:cNvPr>
          <p:cNvPicPr>
            <a:picLocks noChangeAspect="1"/>
          </p:cNvPicPr>
          <p:nvPr userDrawn="1"/>
        </p:nvPicPr>
        <p:blipFill>
          <a:blip r:embed="rId2"/>
          <a:srcRect/>
          <a:stretch/>
        </p:blipFill>
        <p:spPr>
          <a:xfrm>
            <a:off x="0" y="0"/>
            <a:ext cx="12192000" cy="6858000"/>
          </a:xfrm>
          <a:prstGeom prst="rect">
            <a:avLst/>
          </a:prstGeom>
        </p:spPr>
      </p:pic>
      <p:sp>
        <p:nvSpPr>
          <p:cNvPr id="13" name="Text Placeholder 3">
            <a:extLst>
              <a:ext uri="{FF2B5EF4-FFF2-40B4-BE49-F238E27FC236}">
                <a16:creationId xmlns:a16="http://schemas.microsoft.com/office/drawing/2014/main" id="{DFC56D8D-12A6-4A5A-B92D-575EE1DEE392}"/>
              </a:ext>
            </a:extLst>
          </p:cNvPr>
          <p:cNvSpPr>
            <a:spLocks noGrp="1"/>
          </p:cNvSpPr>
          <p:nvPr>
            <p:ph type="body" sz="quarter" idx="12"/>
          </p:nvPr>
        </p:nvSpPr>
        <p:spPr>
          <a:xfrm>
            <a:off x="356323" y="1528131"/>
            <a:ext cx="5337923" cy="1866872"/>
          </a:xfrm>
          <a:prstGeom prst="rect">
            <a:avLst/>
          </a:prstGeom>
        </p:spPr>
        <p:txBody>
          <a:bodyPr/>
          <a:lstStyle>
            <a:lvl1pPr>
              <a:lnSpc>
                <a:spcPct val="80000"/>
              </a:lnSpc>
              <a:defRPr sz="6667" b="1">
                <a:solidFill>
                  <a:schemeClr val="tx1"/>
                </a:solidFill>
              </a:defRPr>
            </a:lvl1pPr>
          </a:lstStyle>
          <a:p>
            <a:pPr lvl="0"/>
            <a:endParaRPr lang="en-SG" dirty="0"/>
          </a:p>
        </p:txBody>
      </p:sp>
      <p:sp>
        <p:nvSpPr>
          <p:cNvPr id="16" name="Text Placeholder 3">
            <a:extLst>
              <a:ext uri="{FF2B5EF4-FFF2-40B4-BE49-F238E27FC236}">
                <a16:creationId xmlns:a16="http://schemas.microsoft.com/office/drawing/2014/main" id="{8F1328D7-7673-4614-9EEB-F014CD487900}"/>
              </a:ext>
            </a:extLst>
          </p:cNvPr>
          <p:cNvSpPr>
            <a:spLocks noGrp="1"/>
          </p:cNvSpPr>
          <p:nvPr>
            <p:ph type="body" sz="quarter" idx="13"/>
          </p:nvPr>
        </p:nvSpPr>
        <p:spPr>
          <a:xfrm>
            <a:off x="356323" y="3549449"/>
            <a:ext cx="4813671" cy="999104"/>
          </a:xfrm>
          <a:prstGeom prst="rect">
            <a:avLst/>
          </a:prstGeom>
        </p:spPr>
        <p:txBody>
          <a:bodyPr/>
          <a:lstStyle>
            <a:lvl1pPr>
              <a:defRPr sz="1867" b="0">
                <a:solidFill>
                  <a:schemeClr val="tx1"/>
                </a:solidFill>
              </a:defRPr>
            </a:lvl1pPr>
          </a:lstStyle>
          <a:p>
            <a:pPr lvl="0"/>
            <a:endParaRPr lang="en-SG" dirty="0"/>
          </a:p>
        </p:txBody>
      </p:sp>
      <p:sp>
        <p:nvSpPr>
          <p:cNvPr id="18" name="Rectangle 1">
            <a:extLst>
              <a:ext uri="{FF2B5EF4-FFF2-40B4-BE49-F238E27FC236}">
                <a16:creationId xmlns:a16="http://schemas.microsoft.com/office/drawing/2014/main" id="{B0011CE1-EDBF-46B7-9599-4FD9FCE16C51}"/>
              </a:ext>
            </a:extLst>
          </p:cNvPr>
          <p:cNvSpPr/>
          <p:nvPr userDrawn="1"/>
        </p:nvSpPr>
        <p:spPr>
          <a:xfrm rot="2871830">
            <a:off x="6936865" y="138470"/>
            <a:ext cx="257671" cy="2397084"/>
          </a:xfrm>
          <a:custGeom>
            <a:avLst/>
            <a:gdLst>
              <a:gd name="connsiteX0" fmla="*/ 0 w 193253"/>
              <a:gd name="connsiteY0" fmla="*/ 0 h 1820147"/>
              <a:gd name="connsiteX1" fmla="*/ 193253 w 193253"/>
              <a:gd name="connsiteY1" fmla="*/ 0 h 1820147"/>
              <a:gd name="connsiteX2" fmla="*/ 193253 w 193253"/>
              <a:gd name="connsiteY2" fmla="*/ 1820147 h 1820147"/>
              <a:gd name="connsiteX3" fmla="*/ 0 w 193253"/>
              <a:gd name="connsiteY3" fmla="*/ 1820147 h 1820147"/>
              <a:gd name="connsiteX4" fmla="*/ 0 w 193253"/>
              <a:gd name="connsiteY4" fmla="*/ 0 h 1820147"/>
              <a:gd name="connsiteX0" fmla="*/ 0 w 197852"/>
              <a:gd name="connsiteY0" fmla="*/ 0 h 1820147"/>
              <a:gd name="connsiteX1" fmla="*/ 197852 w 197852"/>
              <a:gd name="connsiteY1" fmla="*/ 4378 h 1820147"/>
              <a:gd name="connsiteX2" fmla="*/ 193253 w 197852"/>
              <a:gd name="connsiteY2" fmla="*/ 1820147 h 1820147"/>
              <a:gd name="connsiteX3" fmla="*/ 0 w 197852"/>
              <a:gd name="connsiteY3" fmla="*/ 1820147 h 1820147"/>
              <a:gd name="connsiteX4" fmla="*/ 0 w 197852"/>
              <a:gd name="connsiteY4" fmla="*/ 0 h 1820147"/>
              <a:gd name="connsiteX0" fmla="*/ 5041 w 197852"/>
              <a:gd name="connsiteY0" fmla="*/ 17956 h 1815769"/>
              <a:gd name="connsiteX1" fmla="*/ 197852 w 197852"/>
              <a:gd name="connsiteY1" fmla="*/ 0 h 1815769"/>
              <a:gd name="connsiteX2" fmla="*/ 193253 w 197852"/>
              <a:gd name="connsiteY2" fmla="*/ 1815769 h 1815769"/>
              <a:gd name="connsiteX3" fmla="*/ 0 w 197852"/>
              <a:gd name="connsiteY3" fmla="*/ 1815769 h 1815769"/>
              <a:gd name="connsiteX4" fmla="*/ 5041 w 197852"/>
              <a:gd name="connsiteY4" fmla="*/ 17956 h 1815769"/>
              <a:gd name="connsiteX0" fmla="*/ 5041 w 193253"/>
              <a:gd name="connsiteY0" fmla="*/ 0 h 1797813"/>
              <a:gd name="connsiteX1" fmla="*/ 189316 w 193253"/>
              <a:gd name="connsiteY1" fmla="*/ 220 h 1797813"/>
              <a:gd name="connsiteX2" fmla="*/ 193253 w 193253"/>
              <a:gd name="connsiteY2" fmla="*/ 1797813 h 1797813"/>
              <a:gd name="connsiteX3" fmla="*/ 0 w 193253"/>
              <a:gd name="connsiteY3" fmla="*/ 1797813 h 1797813"/>
              <a:gd name="connsiteX4" fmla="*/ 5041 w 193253"/>
              <a:gd name="connsiteY4" fmla="*/ 0 h 17978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253" h="1797813">
                <a:moveTo>
                  <a:pt x="5041" y="0"/>
                </a:moveTo>
                <a:lnTo>
                  <a:pt x="189316" y="220"/>
                </a:lnTo>
                <a:cubicBezTo>
                  <a:pt x="190628" y="599418"/>
                  <a:pt x="191941" y="1198615"/>
                  <a:pt x="193253" y="1797813"/>
                </a:cubicBezTo>
                <a:lnTo>
                  <a:pt x="0" y="1797813"/>
                </a:lnTo>
                <a:cubicBezTo>
                  <a:pt x="1680" y="1198542"/>
                  <a:pt x="3361" y="599271"/>
                  <a:pt x="5041" y="0"/>
                </a:cubicBezTo>
                <a:close/>
              </a:path>
            </a:pathLst>
          </a:custGeom>
          <a:solidFill>
            <a:srgbClr val="1641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pic>
        <p:nvPicPr>
          <p:cNvPr id="21" name="Graphic 20">
            <a:extLst>
              <a:ext uri="{FF2B5EF4-FFF2-40B4-BE49-F238E27FC236}">
                <a16:creationId xmlns:a16="http://schemas.microsoft.com/office/drawing/2014/main" id="{C043153B-9164-4B7D-8967-9232760F7739}"/>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547" y="393707"/>
            <a:ext cx="2822077" cy="584956"/>
          </a:xfrm>
          <a:prstGeom prst="rect">
            <a:avLst/>
          </a:prstGeom>
        </p:spPr>
      </p:pic>
      <p:sp>
        <p:nvSpPr>
          <p:cNvPr id="2" name="Isosceles Triangle 2">
            <a:extLst>
              <a:ext uri="{FF2B5EF4-FFF2-40B4-BE49-F238E27FC236}">
                <a16:creationId xmlns:a16="http://schemas.microsoft.com/office/drawing/2014/main" id="{A15BFF93-6482-1724-38DE-4828529F78E7}"/>
              </a:ext>
            </a:extLst>
          </p:cNvPr>
          <p:cNvSpPr/>
          <p:nvPr userDrawn="1"/>
        </p:nvSpPr>
        <p:spPr>
          <a:xfrm rot="16200000">
            <a:off x="10798933" y="5465604"/>
            <a:ext cx="1375097" cy="1413193"/>
          </a:xfrm>
          <a:custGeom>
            <a:avLst/>
            <a:gdLst>
              <a:gd name="connsiteX0" fmla="*/ 0 w 906866"/>
              <a:gd name="connsiteY0" fmla="*/ 754622 h 754622"/>
              <a:gd name="connsiteX1" fmla="*/ 453433 w 906866"/>
              <a:gd name="connsiteY1" fmla="*/ 0 h 754622"/>
              <a:gd name="connsiteX2" fmla="*/ 906866 w 906866"/>
              <a:gd name="connsiteY2" fmla="*/ 754622 h 754622"/>
              <a:gd name="connsiteX3" fmla="*/ 0 w 906866"/>
              <a:gd name="connsiteY3" fmla="*/ 754622 h 754622"/>
              <a:gd name="connsiteX0" fmla="*/ 0 w 1143086"/>
              <a:gd name="connsiteY0" fmla="*/ 754622 h 754622"/>
              <a:gd name="connsiteX1" fmla="*/ 453433 w 1143086"/>
              <a:gd name="connsiteY1" fmla="*/ 0 h 754622"/>
              <a:gd name="connsiteX2" fmla="*/ 1143086 w 1143086"/>
              <a:gd name="connsiteY2" fmla="*/ 747002 h 754622"/>
              <a:gd name="connsiteX3" fmla="*/ 0 w 1143086"/>
              <a:gd name="connsiteY3" fmla="*/ 754622 h 754622"/>
              <a:gd name="connsiteX0" fmla="*/ 0 w 1143086"/>
              <a:gd name="connsiteY0" fmla="*/ 1227062 h 1227062"/>
              <a:gd name="connsiteX1" fmla="*/ 3853 w 1143086"/>
              <a:gd name="connsiteY1" fmla="*/ 0 h 1227062"/>
              <a:gd name="connsiteX2" fmla="*/ 1143086 w 1143086"/>
              <a:gd name="connsiteY2" fmla="*/ 1219442 h 1227062"/>
              <a:gd name="connsiteX3" fmla="*/ 0 w 1143086"/>
              <a:gd name="connsiteY3" fmla="*/ 1227062 h 1227062"/>
              <a:gd name="connsiteX0" fmla="*/ 0 w 1143086"/>
              <a:gd name="connsiteY0" fmla="*/ 1219442 h 1219442"/>
              <a:gd name="connsiteX1" fmla="*/ 3853 w 1143086"/>
              <a:gd name="connsiteY1" fmla="*/ 0 h 1219442"/>
              <a:gd name="connsiteX2" fmla="*/ 1143086 w 1143086"/>
              <a:gd name="connsiteY2" fmla="*/ 1219442 h 1219442"/>
              <a:gd name="connsiteX3" fmla="*/ 0 w 1143086"/>
              <a:gd name="connsiteY3" fmla="*/ 1219442 h 1219442"/>
              <a:gd name="connsiteX0" fmla="*/ 0 w 1062123"/>
              <a:gd name="connsiteY0" fmla="*/ 1219442 h 1219442"/>
              <a:gd name="connsiteX1" fmla="*/ 3853 w 1062123"/>
              <a:gd name="connsiteY1" fmla="*/ 0 h 1219442"/>
              <a:gd name="connsiteX2" fmla="*/ 1062123 w 1062123"/>
              <a:gd name="connsiteY2" fmla="*/ 1131336 h 1219442"/>
              <a:gd name="connsiteX3" fmla="*/ 0 w 106212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0 w 1062273"/>
              <a:gd name="connsiteY0" fmla="*/ 1219442 h 1219442"/>
              <a:gd name="connsiteX1" fmla="*/ 3853 w 1062273"/>
              <a:gd name="connsiteY1" fmla="*/ 0 h 1219442"/>
              <a:gd name="connsiteX2" fmla="*/ 1062123 w 1062273"/>
              <a:gd name="connsiteY2" fmla="*/ 1131336 h 1219442"/>
              <a:gd name="connsiteX3" fmla="*/ 0 w 1062273"/>
              <a:gd name="connsiteY3" fmla="*/ 1219442 h 1219442"/>
              <a:gd name="connsiteX0" fmla="*/ 31902 w 1058464"/>
              <a:gd name="connsiteY0" fmla="*/ 1131335 h 1132395"/>
              <a:gd name="connsiteX1" fmla="*/ 36 w 1058464"/>
              <a:gd name="connsiteY1" fmla="*/ 0 h 1132395"/>
              <a:gd name="connsiteX2" fmla="*/ 1058306 w 1058464"/>
              <a:gd name="connsiteY2" fmla="*/ 1131336 h 1132395"/>
              <a:gd name="connsiteX3" fmla="*/ 31902 w 1058464"/>
              <a:gd name="connsiteY3" fmla="*/ 1131335 h 1132395"/>
              <a:gd name="connsiteX0" fmla="*/ 5810 w 1032372"/>
              <a:gd name="connsiteY0" fmla="*/ 1074182 h 1075242"/>
              <a:gd name="connsiteX1" fmla="*/ 137 w 1032372"/>
              <a:gd name="connsiteY1" fmla="*/ 0 h 1075242"/>
              <a:gd name="connsiteX2" fmla="*/ 1032214 w 1032372"/>
              <a:gd name="connsiteY2" fmla="*/ 1074183 h 1075242"/>
              <a:gd name="connsiteX3" fmla="*/ 5810 w 1032372"/>
              <a:gd name="connsiteY3" fmla="*/ 1074182 h 1075242"/>
              <a:gd name="connsiteX0" fmla="*/ 1200 w 1032523"/>
              <a:gd name="connsiteY0" fmla="*/ 1078945 h 1078945"/>
              <a:gd name="connsiteX1" fmla="*/ 289 w 1032523"/>
              <a:gd name="connsiteY1" fmla="*/ 0 h 1078945"/>
              <a:gd name="connsiteX2" fmla="*/ 1032366 w 1032523"/>
              <a:gd name="connsiteY2" fmla="*/ 1074183 h 1078945"/>
              <a:gd name="connsiteX3" fmla="*/ 1200 w 1032523"/>
              <a:gd name="connsiteY3" fmla="*/ 1078945 h 1078945"/>
              <a:gd name="connsiteX0" fmla="*/ 0 w 1031323"/>
              <a:gd name="connsiteY0" fmla="*/ 1059895 h 1059895"/>
              <a:gd name="connsiteX1" fmla="*/ 1470 w 1031323"/>
              <a:gd name="connsiteY1" fmla="*/ 0 h 1059895"/>
              <a:gd name="connsiteX2" fmla="*/ 1031166 w 1031323"/>
              <a:gd name="connsiteY2" fmla="*/ 1055133 h 1059895"/>
              <a:gd name="connsiteX3" fmla="*/ 0 w 1031323"/>
              <a:gd name="connsiteY3" fmla="*/ 1059895 h 1059895"/>
            </a:gdLst>
            <a:ahLst/>
            <a:cxnLst>
              <a:cxn ang="0">
                <a:pos x="connsiteX0" y="connsiteY0"/>
              </a:cxn>
              <a:cxn ang="0">
                <a:pos x="connsiteX1" y="connsiteY1"/>
              </a:cxn>
              <a:cxn ang="0">
                <a:pos x="connsiteX2" y="connsiteY2"/>
              </a:cxn>
              <a:cxn ang="0">
                <a:pos x="connsiteX3" y="connsiteY3"/>
              </a:cxn>
            </a:cxnLst>
            <a:rect l="l" t="t" r="r" b="b"/>
            <a:pathLst>
              <a:path w="1031323" h="1059895">
                <a:moveTo>
                  <a:pt x="0" y="1059895"/>
                </a:moveTo>
                <a:cubicBezTo>
                  <a:pt x="1284" y="650874"/>
                  <a:pt x="186" y="409021"/>
                  <a:pt x="1470" y="0"/>
                </a:cubicBezTo>
                <a:cubicBezTo>
                  <a:pt x="354227" y="377112"/>
                  <a:pt x="1042740" y="1051880"/>
                  <a:pt x="1031166" y="1055133"/>
                </a:cubicBezTo>
                <a:cubicBezTo>
                  <a:pt x="1043043" y="1057517"/>
                  <a:pt x="381029" y="1059895"/>
                  <a:pt x="0" y="1059895"/>
                </a:cubicBezTo>
                <a:close/>
              </a:path>
            </a:pathLst>
          </a:custGeom>
          <a:solidFill>
            <a:schemeClr val="bg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4" name="Rectangle 11">
            <a:extLst>
              <a:ext uri="{FF2B5EF4-FFF2-40B4-BE49-F238E27FC236}">
                <a16:creationId xmlns:a16="http://schemas.microsoft.com/office/drawing/2014/main" id="{F51460D6-F294-9FEC-8A11-8E4DE73D906F}"/>
              </a:ext>
            </a:extLst>
          </p:cNvPr>
          <p:cNvSpPr/>
          <p:nvPr userDrawn="1"/>
        </p:nvSpPr>
        <p:spPr>
          <a:xfrm rot="13500000">
            <a:off x="11360201" y="5062314"/>
            <a:ext cx="311071" cy="2220841"/>
          </a:xfrm>
          <a:custGeom>
            <a:avLst/>
            <a:gdLst>
              <a:gd name="connsiteX0" fmla="*/ 0 w 185368"/>
              <a:gd name="connsiteY0" fmla="*/ 0 h 1259721"/>
              <a:gd name="connsiteX1" fmla="*/ 185368 w 185368"/>
              <a:gd name="connsiteY1" fmla="*/ 0 h 1259721"/>
              <a:gd name="connsiteX2" fmla="*/ 185368 w 185368"/>
              <a:gd name="connsiteY2" fmla="*/ 1259721 h 1259721"/>
              <a:gd name="connsiteX3" fmla="*/ 0 w 185368"/>
              <a:gd name="connsiteY3" fmla="*/ 1259721 h 1259721"/>
              <a:gd name="connsiteX4" fmla="*/ 0 w 185368"/>
              <a:gd name="connsiteY4" fmla="*/ 0 h 1259721"/>
              <a:gd name="connsiteX0" fmla="*/ 11136 w 185368"/>
              <a:gd name="connsiteY0" fmla="*/ 134862 h 1259721"/>
              <a:gd name="connsiteX1" fmla="*/ 185368 w 185368"/>
              <a:gd name="connsiteY1" fmla="*/ 0 h 1259721"/>
              <a:gd name="connsiteX2" fmla="*/ 185368 w 185368"/>
              <a:gd name="connsiteY2" fmla="*/ 1259721 h 1259721"/>
              <a:gd name="connsiteX3" fmla="*/ 0 w 185368"/>
              <a:gd name="connsiteY3" fmla="*/ 1259721 h 1259721"/>
              <a:gd name="connsiteX4" fmla="*/ 11136 w 185368"/>
              <a:gd name="connsiteY4" fmla="*/ 134862 h 1259721"/>
              <a:gd name="connsiteX0" fmla="*/ 11136 w 185368"/>
              <a:gd name="connsiteY0" fmla="*/ 221597 h 1346456"/>
              <a:gd name="connsiteX1" fmla="*/ 168470 w 185368"/>
              <a:gd name="connsiteY1" fmla="*/ 0 h 1346456"/>
              <a:gd name="connsiteX2" fmla="*/ 185368 w 185368"/>
              <a:gd name="connsiteY2" fmla="*/ 1346456 h 1346456"/>
              <a:gd name="connsiteX3" fmla="*/ 0 w 185368"/>
              <a:gd name="connsiteY3" fmla="*/ 1346456 h 1346456"/>
              <a:gd name="connsiteX4" fmla="*/ 11136 w 185368"/>
              <a:gd name="connsiteY4" fmla="*/ 221597 h 1346456"/>
              <a:gd name="connsiteX0" fmla="*/ 0 w 174232"/>
              <a:gd name="connsiteY0" fmla="*/ 221597 h 1368722"/>
              <a:gd name="connsiteX1" fmla="*/ 157334 w 174232"/>
              <a:gd name="connsiteY1" fmla="*/ 0 h 1368722"/>
              <a:gd name="connsiteX2" fmla="*/ 174232 w 174232"/>
              <a:gd name="connsiteY2" fmla="*/ 1346456 h 1368722"/>
              <a:gd name="connsiteX3" fmla="*/ 366 w 174232"/>
              <a:gd name="connsiteY3" fmla="*/ 1368722 h 1368722"/>
              <a:gd name="connsiteX4" fmla="*/ 0 w 174232"/>
              <a:gd name="connsiteY4" fmla="*/ 221597 h 1368722"/>
              <a:gd name="connsiteX0" fmla="*/ 28972 w 173866"/>
              <a:gd name="connsiteY0" fmla="*/ 283202 h 1368722"/>
              <a:gd name="connsiteX1" fmla="*/ 156968 w 173866"/>
              <a:gd name="connsiteY1" fmla="*/ 0 h 1368722"/>
              <a:gd name="connsiteX2" fmla="*/ 173866 w 173866"/>
              <a:gd name="connsiteY2" fmla="*/ 1346456 h 1368722"/>
              <a:gd name="connsiteX3" fmla="*/ 0 w 173866"/>
              <a:gd name="connsiteY3" fmla="*/ 1368722 h 1368722"/>
              <a:gd name="connsiteX4" fmla="*/ 28972 w 173866"/>
              <a:gd name="connsiteY4" fmla="*/ 283202 h 1368722"/>
              <a:gd name="connsiteX0" fmla="*/ 13460 w 173866"/>
              <a:gd name="connsiteY0" fmla="*/ 267631 h 1368722"/>
              <a:gd name="connsiteX1" fmla="*/ 156968 w 173866"/>
              <a:gd name="connsiteY1" fmla="*/ 0 h 1368722"/>
              <a:gd name="connsiteX2" fmla="*/ 173866 w 173866"/>
              <a:gd name="connsiteY2" fmla="*/ 1346456 h 1368722"/>
              <a:gd name="connsiteX3" fmla="*/ 0 w 173866"/>
              <a:gd name="connsiteY3" fmla="*/ 1368722 h 1368722"/>
              <a:gd name="connsiteX4" fmla="*/ 13460 w 173866"/>
              <a:gd name="connsiteY4" fmla="*/ 267631 h 1368722"/>
              <a:gd name="connsiteX0" fmla="*/ 13460 w 173866"/>
              <a:gd name="connsiteY0" fmla="*/ 257249 h 1358340"/>
              <a:gd name="connsiteX1" fmla="*/ 167308 w 173866"/>
              <a:gd name="connsiteY1" fmla="*/ 0 h 1358340"/>
              <a:gd name="connsiteX2" fmla="*/ 173866 w 173866"/>
              <a:gd name="connsiteY2" fmla="*/ 1336074 h 1358340"/>
              <a:gd name="connsiteX3" fmla="*/ 0 w 173866"/>
              <a:gd name="connsiteY3" fmla="*/ 1358340 h 1358340"/>
              <a:gd name="connsiteX4" fmla="*/ 13460 w 173866"/>
              <a:gd name="connsiteY4" fmla="*/ 257249 h 1358340"/>
              <a:gd name="connsiteX0" fmla="*/ 32818 w 173866"/>
              <a:gd name="connsiteY0" fmla="*/ 279771 h 1358340"/>
              <a:gd name="connsiteX1" fmla="*/ 167308 w 173866"/>
              <a:gd name="connsiteY1" fmla="*/ 0 h 1358340"/>
              <a:gd name="connsiteX2" fmla="*/ 173866 w 173866"/>
              <a:gd name="connsiteY2" fmla="*/ 1336074 h 1358340"/>
              <a:gd name="connsiteX3" fmla="*/ 0 w 173866"/>
              <a:gd name="connsiteY3" fmla="*/ 1358340 h 1358340"/>
              <a:gd name="connsiteX4" fmla="*/ 32818 w 173866"/>
              <a:gd name="connsiteY4" fmla="*/ 279771 h 1358340"/>
              <a:gd name="connsiteX0" fmla="*/ 32818 w 173866"/>
              <a:gd name="connsiteY0" fmla="*/ 269656 h 1348225"/>
              <a:gd name="connsiteX1" fmla="*/ 162520 w 173866"/>
              <a:gd name="connsiteY1" fmla="*/ -1 h 1348225"/>
              <a:gd name="connsiteX2" fmla="*/ 173866 w 173866"/>
              <a:gd name="connsiteY2" fmla="*/ 1325959 h 1348225"/>
              <a:gd name="connsiteX3" fmla="*/ 0 w 173866"/>
              <a:gd name="connsiteY3" fmla="*/ 1348225 h 1348225"/>
              <a:gd name="connsiteX4" fmla="*/ 32818 w 173866"/>
              <a:gd name="connsiteY4" fmla="*/ 269656 h 1348225"/>
              <a:gd name="connsiteX0" fmla="*/ 23240 w 164288"/>
              <a:gd name="connsiteY0" fmla="*/ 269657 h 1327995"/>
              <a:gd name="connsiteX1" fmla="*/ 152942 w 164288"/>
              <a:gd name="connsiteY1" fmla="*/ 0 h 1327995"/>
              <a:gd name="connsiteX2" fmla="*/ 164288 w 164288"/>
              <a:gd name="connsiteY2" fmla="*/ 1325960 h 1327995"/>
              <a:gd name="connsiteX3" fmla="*/ 0 w 164288"/>
              <a:gd name="connsiteY3" fmla="*/ 1327995 h 1327995"/>
              <a:gd name="connsiteX4" fmla="*/ 23240 w 164288"/>
              <a:gd name="connsiteY4" fmla="*/ 269657 h 1327995"/>
              <a:gd name="connsiteX0" fmla="*/ 23240 w 170070"/>
              <a:gd name="connsiteY0" fmla="*/ 261634 h 1319972"/>
              <a:gd name="connsiteX1" fmla="*/ 170070 w 170070"/>
              <a:gd name="connsiteY1" fmla="*/ 0 h 1319972"/>
              <a:gd name="connsiteX2" fmla="*/ 164288 w 170070"/>
              <a:gd name="connsiteY2" fmla="*/ 1317937 h 1319972"/>
              <a:gd name="connsiteX3" fmla="*/ 0 w 170070"/>
              <a:gd name="connsiteY3" fmla="*/ 1319972 h 1319972"/>
              <a:gd name="connsiteX4" fmla="*/ 23240 w 170070"/>
              <a:gd name="connsiteY4" fmla="*/ 261634 h 1319972"/>
              <a:gd name="connsiteX0" fmla="*/ 23240 w 170070"/>
              <a:gd name="connsiteY0" fmla="*/ 261634 h 1368726"/>
              <a:gd name="connsiteX1" fmla="*/ 170070 w 170070"/>
              <a:gd name="connsiteY1" fmla="*/ 0 h 1368726"/>
              <a:gd name="connsiteX2" fmla="*/ 167819 w 170070"/>
              <a:gd name="connsiteY2" fmla="*/ 1368726 h 1368726"/>
              <a:gd name="connsiteX3" fmla="*/ 0 w 170070"/>
              <a:gd name="connsiteY3" fmla="*/ 1319972 h 1368726"/>
              <a:gd name="connsiteX4" fmla="*/ 23240 w 170070"/>
              <a:gd name="connsiteY4" fmla="*/ 261634 h 1368726"/>
              <a:gd name="connsiteX0" fmla="*/ 23240 w 184789"/>
              <a:gd name="connsiteY0" fmla="*/ 261634 h 1396262"/>
              <a:gd name="connsiteX1" fmla="*/ 170070 w 184789"/>
              <a:gd name="connsiteY1" fmla="*/ 0 h 1396262"/>
              <a:gd name="connsiteX2" fmla="*/ 184648 w 184789"/>
              <a:gd name="connsiteY2" fmla="*/ 1396262 h 1396262"/>
              <a:gd name="connsiteX3" fmla="*/ 0 w 184789"/>
              <a:gd name="connsiteY3" fmla="*/ 1319972 h 1396262"/>
              <a:gd name="connsiteX4" fmla="*/ 23240 w 184789"/>
              <a:gd name="connsiteY4" fmla="*/ 261634 h 1396262"/>
              <a:gd name="connsiteX0" fmla="*/ 14074 w 184789"/>
              <a:gd name="connsiteY0" fmla="*/ 296650 h 1396262"/>
              <a:gd name="connsiteX1" fmla="*/ 170070 w 184789"/>
              <a:gd name="connsiteY1" fmla="*/ 0 h 1396262"/>
              <a:gd name="connsiteX2" fmla="*/ 184648 w 184789"/>
              <a:gd name="connsiteY2" fmla="*/ 1396262 h 1396262"/>
              <a:gd name="connsiteX3" fmla="*/ 0 w 184789"/>
              <a:gd name="connsiteY3" fmla="*/ 1319972 h 1396262"/>
              <a:gd name="connsiteX4" fmla="*/ 14074 w 184789"/>
              <a:gd name="connsiteY4" fmla="*/ 296650 h 1396262"/>
              <a:gd name="connsiteX0" fmla="*/ 22940 w 184789"/>
              <a:gd name="connsiteY0" fmla="*/ 281148 h 1396262"/>
              <a:gd name="connsiteX1" fmla="*/ 170070 w 184789"/>
              <a:gd name="connsiteY1" fmla="*/ 0 h 1396262"/>
              <a:gd name="connsiteX2" fmla="*/ 184648 w 184789"/>
              <a:gd name="connsiteY2" fmla="*/ 1396262 h 1396262"/>
              <a:gd name="connsiteX3" fmla="*/ 0 w 184789"/>
              <a:gd name="connsiteY3" fmla="*/ 1319972 h 1396262"/>
              <a:gd name="connsiteX4" fmla="*/ 22940 w 184789"/>
              <a:gd name="connsiteY4" fmla="*/ 281148 h 1396262"/>
              <a:gd name="connsiteX0" fmla="*/ 27672 w 184789"/>
              <a:gd name="connsiteY0" fmla="*/ 253884 h 1396262"/>
              <a:gd name="connsiteX1" fmla="*/ 170070 w 184789"/>
              <a:gd name="connsiteY1" fmla="*/ 0 h 1396262"/>
              <a:gd name="connsiteX2" fmla="*/ 184648 w 184789"/>
              <a:gd name="connsiteY2" fmla="*/ 1396262 h 1396262"/>
              <a:gd name="connsiteX3" fmla="*/ 0 w 184789"/>
              <a:gd name="connsiteY3" fmla="*/ 1319972 h 1396262"/>
              <a:gd name="connsiteX4" fmla="*/ 27672 w 184789"/>
              <a:gd name="connsiteY4" fmla="*/ 253884 h 1396262"/>
              <a:gd name="connsiteX0" fmla="*/ 0 w 190766"/>
              <a:gd name="connsiteY0" fmla="*/ 250212 h 1396262"/>
              <a:gd name="connsiteX1" fmla="*/ 176047 w 190766"/>
              <a:gd name="connsiteY1" fmla="*/ 0 h 1396262"/>
              <a:gd name="connsiteX2" fmla="*/ 190625 w 190766"/>
              <a:gd name="connsiteY2" fmla="*/ 1396262 h 1396262"/>
              <a:gd name="connsiteX3" fmla="*/ 5977 w 190766"/>
              <a:gd name="connsiteY3" fmla="*/ 1319972 h 1396262"/>
              <a:gd name="connsiteX4" fmla="*/ 0 w 190766"/>
              <a:gd name="connsiteY4" fmla="*/ 250212 h 1396262"/>
              <a:gd name="connsiteX0" fmla="*/ 0 w 197591"/>
              <a:gd name="connsiteY0" fmla="*/ 232644 h 1378694"/>
              <a:gd name="connsiteX1" fmla="*/ 197591 w 197591"/>
              <a:gd name="connsiteY1" fmla="*/ 0 h 1378694"/>
              <a:gd name="connsiteX2" fmla="*/ 190625 w 197591"/>
              <a:gd name="connsiteY2" fmla="*/ 1378694 h 1378694"/>
              <a:gd name="connsiteX3" fmla="*/ 5977 w 197591"/>
              <a:gd name="connsiteY3" fmla="*/ 1302404 h 1378694"/>
              <a:gd name="connsiteX4" fmla="*/ 0 w 197591"/>
              <a:gd name="connsiteY4" fmla="*/ 232644 h 1378694"/>
              <a:gd name="connsiteX0" fmla="*/ 24386 w 191715"/>
              <a:gd name="connsiteY0" fmla="*/ 197901 h 1378694"/>
              <a:gd name="connsiteX1" fmla="*/ 191715 w 191715"/>
              <a:gd name="connsiteY1" fmla="*/ 0 h 1378694"/>
              <a:gd name="connsiteX2" fmla="*/ 184749 w 191715"/>
              <a:gd name="connsiteY2" fmla="*/ 1378694 h 1378694"/>
              <a:gd name="connsiteX3" fmla="*/ 101 w 191715"/>
              <a:gd name="connsiteY3" fmla="*/ 1302404 h 1378694"/>
              <a:gd name="connsiteX4" fmla="*/ 24386 w 191715"/>
              <a:gd name="connsiteY4" fmla="*/ 197901 h 1378694"/>
              <a:gd name="connsiteX0" fmla="*/ 0 w 167329"/>
              <a:gd name="connsiteY0" fmla="*/ 197901 h 1378694"/>
              <a:gd name="connsiteX1" fmla="*/ 167329 w 167329"/>
              <a:gd name="connsiteY1" fmla="*/ 0 h 1378694"/>
              <a:gd name="connsiteX2" fmla="*/ 160363 w 167329"/>
              <a:gd name="connsiteY2" fmla="*/ 1378694 h 1378694"/>
              <a:gd name="connsiteX3" fmla="*/ 4847 w 167329"/>
              <a:gd name="connsiteY3" fmla="*/ 1254857 h 1378694"/>
              <a:gd name="connsiteX4" fmla="*/ 0 w 167329"/>
              <a:gd name="connsiteY4" fmla="*/ 197901 h 1378694"/>
              <a:gd name="connsiteX0" fmla="*/ 22856 w 190185"/>
              <a:gd name="connsiteY0" fmla="*/ 197901 h 1378694"/>
              <a:gd name="connsiteX1" fmla="*/ 190185 w 190185"/>
              <a:gd name="connsiteY1" fmla="*/ 0 h 1378694"/>
              <a:gd name="connsiteX2" fmla="*/ 183219 w 190185"/>
              <a:gd name="connsiteY2" fmla="*/ 1378694 h 1378694"/>
              <a:gd name="connsiteX3" fmla="*/ 106 w 190185"/>
              <a:gd name="connsiteY3" fmla="*/ 1244237 h 1378694"/>
              <a:gd name="connsiteX4" fmla="*/ 22856 w 190185"/>
              <a:gd name="connsiteY4" fmla="*/ 197901 h 1378694"/>
              <a:gd name="connsiteX0" fmla="*/ 22856 w 190185"/>
              <a:gd name="connsiteY0" fmla="*/ 197901 h 1378694"/>
              <a:gd name="connsiteX1" fmla="*/ 190185 w 190185"/>
              <a:gd name="connsiteY1" fmla="*/ 0 h 1378694"/>
              <a:gd name="connsiteX2" fmla="*/ 183220 w 190185"/>
              <a:gd name="connsiteY2" fmla="*/ 1378694 h 1378694"/>
              <a:gd name="connsiteX3" fmla="*/ 106 w 190185"/>
              <a:gd name="connsiteY3" fmla="*/ 1244237 h 1378694"/>
              <a:gd name="connsiteX4" fmla="*/ 22856 w 190185"/>
              <a:gd name="connsiteY4" fmla="*/ 197901 h 1378694"/>
              <a:gd name="connsiteX0" fmla="*/ 20607 w 190194"/>
              <a:gd name="connsiteY0" fmla="*/ 172292 h 1378694"/>
              <a:gd name="connsiteX1" fmla="*/ 190194 w 190194"/>
              <a:gd name="connsiteY1" fmla="*/ 0 h 1378694"/>
              <a:gd name="connsiteX2" fmla="*/ 183229 w 190194"/>
              <a:gd name="connsiteY2" fmla="*/ 1378694 h 1378694"/>
              <a:gd name="connsiteX3" fmla="*/ 115 w 190194"/>
              <a:gd name="connsiteY3" fmla="*/ 1244237 h 1378694"/>
              <a:gd name="connsiteX4" fmla="*/ 20607 w 190194"/>
              <a:gd name="connsiteY4" fmla="*/ 172292 h 1378694"/>
              <a:gd name="connsiteX0" fmla="*/ 20607 w 195117"/>
              <a:gd name="connsiteY0" fmla="*/ 192045 h 1398447"/>
              <a:gd name="connsiteX1" fmla="*/ 195117 w 195117"/>
              <a:gd name="connsiteY1" fmla="*/ 0 h 1398447"/>
              <a:gd name="connsiteX2" fmla="*/ 183229 w 195117"/>
              <a:gd name="connsiteY2" fmla="*/ 1398447 h 1398447"/>
              <a:gd name="connsiteX3" fmla="*/ 115 w 195117"/>
              <a:gd name="connsiteY3" fmla="*/ 1263990 h 1398447"/>
              <a:gd name="connsiteX4" fmla="*/ 20607 w 195117"/>
              <a:gd name="connsiteY4" fmla="*/ 192045 h 1398447"/>
              <a:gd name="connsiteX0" fmla="*/ 14590 w 195152"/>
              <a:gd name="connsiteY0" fmla="*/ 198994 h 1398447"/>
              <a:gd name="connsiteX1" fmla="*/ 195152 w 195152"/>
              <a:gd name="connsiteY1" fmla="*/ 0 h 1398447"/>
              <a:gd name="connsiteX2" fmla="*/ 183264 w 195152"/>
              <a:gd name="connsiteY2" fmla="*/ 1398447 h 1398447"/>
              <a:gd name="connsiteX3" fmla="*/ 150 w 195152"/>
              <a:gd name="connsiteY3" fmla="*/ 1263990 h 1398447"/>
              <a:gd name="connsiteX4" fmla="*/ 14590 w 195152"/>
              <a:gd name="connsiteY4" fmla="*/ 198994 h 1398447"/>
              <a:gd name="connsiteX0" fmla="*/ 14590 w 183796"/>
              <a:gd name="connsiteY0" fmla="*/ 185097 h 1384550"/>
              <a:gd name="connsiteX1" fmla="*/ 183048 w 183796"/>
              <a:gd name="connsiteY1" fmla="*/ 0 h 1384550"/>
              <a:gd name="connsiteX2" fmla="*/ 183264 w 183796"/>
              <a:gd name="connsiteY2" fmla="*/ 1384550 h 1384550"/>
              <a:gd name="connsiteX3" fmla="*/ 150 w 183796"/>
              <a:gd name="connsiteY3" fmla="*/ 1250093 h 1384550"/>
              <a:gd name="connsiteX4" fmla="*/ 14590 w 183796"/>
              <a:gd name="connsiteY4" fmla="*/ 185097 h 1384550"/>
              <a:gd name="connsiteX0" fmla="*/ 14590 w 184829"/>
              <a:gd name="connsiteY0" fmla="*/ 185097 h 1397354"/>
              <a:gd name="connsiteX1" fmla="*/ 183048 w 184829"/>
              <a:gd name="connsiteY1" fmla="*/ 0 h 1397354"/>
              <a:gd name="connsiteX2" fmla="*/ 184393 w 184829"/>
              <a:gd name="connsiteY2" fmla="*/ 1397354 h 1397354"/>
              <a:gd name="connsiteX3" fmla="*/ 150 w 184829"/>
              <a:gd name="connsiteY3" fmla="*/ 1250093 h 1397354"/>
              <a:gd name="connsiteX4" fmla="*/ 14590 w 184829"/>
              <a:gd name="connsiteY4" fmla="*/ 185097 h 1397354"/>
              <a:gd name="connsiteX0" fmla="*/ 14590 w 184492"/>
              <a:gd name="connsiteY0" fmla="*/ 202666 h 1414923"/>
              <a:gd name="connsiteX1" fmla="*/ 161504 w 184492"/>
              <a:gd name="connsiteY1" fmla="*/ 0 h 1414923"/>
              <a:gd name="connsiteX2" fmla="*/ 184393 w 184492"/>
              <a:gd name="connsiteY2" fmla="*/ 1414923 h 1414923"/>
              <a:gd name="connsiteX3" fmla="*/ 150 w 184492"/>
              <a:gd name="connsiteY3" fmla="*/ 1267662 h 1414923"/>
              <a:gd name="connsiteX4" fmla="*/ 14590 w 184492"/>
              <a:gd name="connsiteY4" fmla="*/ 202666 h 1414923"/>
              <a:gd name="connsiteX0" fmla="*/ 14590 w 184526"/>
              <a:gd name="connsiteY0" fmla="*/ 196810 h 1409067"/>
              <a:gd name="connsiteX1" fmla="*/ 168685 w 184526"/>
              <a:gd name="connsiteY1" fmla="*/ 0 h 1409067"/>
              <a:gd name="connsiteX2" fmla="*/ 184393 w 184526"/>
              <a:gd name="connsiteY2" fmla="*/ 1409067 h 1409067"/>
              <a:gd name="connsiteX3" fmla="*/ 150 w 184526"/>
              <a:gd name="connsiteY3" fmla="*/ 1261806 h 1409067"/>
              <a:gd name="connsiteX4" fmla="*/ 14590 w 184526"/>
              <a:gd name="connsiteY4" fmla="*/ 196810 h 1409067"/>
              <a:gd name="connsiteX0" fmla="*/ 712 w 184933"/>
              <a:gd name="connsiteY0" fmla="*/ 197904 h 1409067"/>
              <a:gd name="connsiteX1" fmla="*/ 169092 w 184933"/>
              <a:gd name="connsiteY1" fmla="*/ 0 h 1409067"/>
              <a:gd name="connsiteX2" fmla="*/ 184800 w 184933"/>
              <a:gd name="connsiteY2" fmla="*/ 1409067 h 1409067"/>
              <a:gd name="connsiteX3" fmla="*/ 557 w 184933"/>
              <a:gd name="connsiteY3" fmla="*/ 1261806 h 1409067"/>
              <a:gd name="connsiteX4" fmla="*/ 712 w 184933"/>
              <a:gd name="connsiteY4" fmla="*/ 197904 h 1409067"/>
              <a:gd name="connsiteX0" fmla="*/ 712 w 185008"/>
              <a:gd name="connsiteY0" fmla="*/ 205826 h 1416989"/>
              <a:gd name="connsiteX1" fmla="*/ 176532 w 185008"/>
              <a:gd name="connsiteY1" fmla="*/ 0 h 1416989"/>
              <a:gd name="connsiteX2" fmla="*/ 184800 w 185008"/>
              <a:gd name="connsiteY2" fmla="*/ 1416989 h 1416989"/>
              <a:gd name="connsiteX3" fmla="*/ 557 w 185008"/>
              <a:gd name="connsiteY3" fmla="*/ 1269728 h 1416989"/>
              <a:gd name="connsiteX4" fmla="*/ 712 w 185008"/>
              <a:gd name="connsiteY4" fmla="*/ 205826 h 1416989"/>
              <a:gd name="connsiteX0" fmla="*/ 712 w 185170"/>
              <a:gd name="connsiteY0" fmla="*/ 187888 h 1399051"/>
              <a:gd name="connsiteX1" fmla="*/ 182334 w 185170"/>
              <a:gd name="connsiteY1" fmla="*/ 0 h 1399051"/>
              <a:gd name="connsiteX2" fmla="*/ 184800 w 185170"/>
              <a:gd name="connsiteY2" fmla="*/ 1399051 h 1399051"/>
              <a:gd name="connsiteX3" fmla="*/ 557 w 185170"/>
              <a:gd name="connsiteY3" fmla="*/ 1251790 h 1399051"/>
              <a:gd name="connsiteX4" fmla="*/ 712 w 185170"/>
              <a:gd name="connsiteY4" fmla="*/ 187888 h 1399051"/>
              <a:gd name="connsiteX0" fmla="*/ 712 w 191470"/>
              <a:gd name="connsiteY0" fmla="*/ 197235 h 1408398"/>
              <a:gd name="connsiteX1" fmla="*/ 191470 w 191470"/>
              <a:gd name="connsiteY1" fmla="*/ 0 h 1408398"/>
              <a:gd name="connsiteX2" fmla="*/ 184800 w 191470"/>
              <a:gd name="connsiteY2" fmla="*/ 1408398 h 1408398"/>
              <a:gd name="connsiteX3" fmla="*/ 557 w 191470"/>
              <a:gd name="connsiteY3" fmla="*/ 1261137 h 1408398"/>
              <a:gd name="connsiteX4" fmla="*/ 712 w 191470"/>
              <a:gd name="connsiteY4" fmla="*/ 197235 h 1408398"/>
              <a:gd name="connsiteX0" fmla="*/ 712 w 205141"/>
              <a:gd name="connsiteY0" fmla="*/ 197235 h 1416020"/>
              <a:gd name="connsiteX1" fmla="*/ 191470 w 205141"/>
              <a:gd name="connsiteY1" fmla="*/ 0 h 1416020"/>
              <a:gd name="connsiteX2" fmla="*/ 204992 w 205141"/>
              <a:gd name="connsiteY2" fmla="*/ 1416020 h 1416020"/>
              <a:gd name="connsiteX3" fmla="*/ 557 w 205141"/>
              <a:gd name="connsiteY3" fmla="*/ 1261137 h 1416020"/>
              <a:gd name="connsiteX4" fmla="*/ 712 w 205141"/>
              <a:gd name="connsiteY4" fmla="*/ 197235 h 1416020"/>
              <a:gd name="connsiteX0" fmla="*/ 712 w 205183"/>
              <a:gd name="connsiteY0" fmla="*/ 149617 h 1368402"/>
              <a:gd name="connsiteX1" fmla="*/ 195553 w 205183"/>
              <a:gd name="connsiteY1" fmla="*/ 0 h 1368402"/>
              <a:gd name="connsiteX2" fmla="*/ 204992 w 205183"/>
              <a:gd name="connsiteY2" fmla="*/ 1368402 h 1368402"/>
              <a:gd name="connsiteX3" fmla="*/ 557 w 205183"/>
              <a:gd name="connsiteY3" fmla="*/ 1213519 h 1368402"/>
              <a:gd name="connsiteX4" fmla="*/ 712 w 205183"/>
              <a:gd name="connsiteY4" fmla="*/ 149617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213519 h 1368402"/>
              <a:gd name="connsiteX4" fmla="*/ 0 w 207533"/>
              <a:gd name="connsiteY4" fmla="*/ 174342 h 1368402"/>
              <a:gd name="connsiteX0" fmla="*/ 0 w 207533"/>
              <a:gd name="connsiteY0" fmla="*/ 174342 h 1368402"/>
              <a:gd name="connsiteX1" fmla="*/ 197903 w 207533"/>
              <a:gd name="connsiteY1" fmla="*/ 0 h 1368402"/>
              <a:gd name="connsiteX2" fmla="*/ 207342 w 207533"/>
              <a:gd name="connsiteY2" fmla="*/ 1368402 h 1368402"/>
              <a:gd name="connsiteX3" fmla="*/ 2907 w 207533"/>
              <a:gd name="connsiteY3" fmla="*/ 1175058 h 1368402"/>
              <a:gd name="connsiteX4" fmla="*/ 0 w 207533"/>
              <a:gd name="connsiteY4" fmla="*/ 174342 h 1368402"/>
              <a:gd name="connsiteX0" fmla="*/ 0 w 209045"/>
              <a:gd name="connsiteY0" fmla="*/ 174342 h 1358786"/>
              <a:gd name="connsiteX1" fmla="*/ 197903 w 209045"/>
              <a:gd name="connsiteY1" fmla="*/ 0 h 1358786"/>
              <a:gd name="connsiteX2" fmla="*/ 208872 w 209045"/>
              <a:gd name="connsiteY2" fmla="*/ 1358786 h 1358786"/>
              <a:gd name="connsiteX3" fmla="*/ 2907 w 209045"/>
              <a:gd name="connsiteY3" fmla="*/ 1175058 h 1358786"/>
              <a:gd name="connsiteX4" fmla="*/ 0 w 209045"/>
              <a:gd name="connsiteY4" fmla="*/ 174342 h 1358786"/>
              <a:gd name="connsiteX0" fmla="*/ 0 w 212106"/>
              <a:gd name="connsiteY0" fmla="*/ 185331 h 1358786"/>
              <a:gd name="connsiteX1" fmla="*/ 200964 w 212106"/>
              <a:gd name="connsiteY1" fmla="*/ 0 h 1358786"/>
              <a:gd name="connsiteX2" fmla="*/ 211933 w 212106"/>
              <a:gd name="connsiteY2" fmla="*/ 1358786 h 1358786"/>
              <a:gd name="connsiteX3" fmla="*/ 5968 w 212106"/>
              <a:gd name="connsiteY3" fmla="*/ 1175058 h 1358786"/>
              <a:gd name="connsiteX4" fmla="*/ 0 w 212106"/>
              <a:gd name="connsiteY4" fmla="*/ 185331 h 135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106" h="1358786">
                <a:moveTo>
                  <a:pt x="0" y="185331"/>
                </a:moveTo>
                <a:cubicBezTo>
                  <a:pt x="63586" y="119586"/>
                  <a:pt x="137378" y="65745"/>
                  <a:pt x="200964" y="0"/>
                </a:cubicBezTo>
                <a:cubicBezTo>
                  <a:pt x="199037" y="439312"/>
                  <a:pt x="213860" y="919474"/>
                  <a:pt x="211933" y="1358786"/>
                </a:cubicBezTo>
                <a:lnTo>
                  <a:pt x="5968" y="1175058"/>
                </a:lnTo>
                <a:cubicBezTo>
                  <a:pt x="3976" y="818471"/>
                  <a:pt x="1992" y="541918"/>
                  <a:pt x="0" y="185331"/>
                </a:cubicBezTo>
                <a:close/>
              </a:path>
            </a:pathLst>
          </a:custGeom>
          <a:solidFill>
            <a:srgbClr val="E306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sz="2400"/>
          </a:p>
        </p:txBody>
      </p:sp>
      <p:sp>
        <p:nvSpPr>
          <p:cNvPr id="5" name="Freeform: Shape 4">
            <a:extLst>
              <a:ext uri="{FF2B5EF4-FFF2-40B4-BE49-F238E27FC236}">
                <a16:creationId xmlns:a16="http://schemas.microsoft.com/office/drawing/2014/main" id="{D00AA2F6-9E32-1951-916C-8943096E1C7C}"/>
              </a:ext>
            </a:extLst>
          </p:cNvPr>
          <p:cNvSpPr/>
          <p:nvPr userDrawn="1"/>
        </p:nvSpPr>
        <p:spPr>
          <a:xfrm>
            <a:off x="1058466" y="3902882"/>
            <a:ext cx="5774133" cy="2955801"/>
          </a:xfrm>
          <a:custGeom>
            <a:avLst/>
            <a:gdLst>
              <a:gd name="connsiteX0" fmla="*/ 0 w 7242629"/>
              <a:gd name="connsiteY0" fmla="*/ 0 h 6858000"/>
              <a:gd name="connsiteX1" fmla="*/ 7242629 w 7242629"/>
              <a:gd name="connsiteY1" fmla="*/ 6858000 h 6858000"/>
              <a:gd name="connsiteX2" fmla="*/ 2313585 w 7242629"/>
              <a:gd name="connsiteY2" fmla="*/ 6858000 h 6858000"/>
              <a:gd name="connsiteX3" fmla="*/ 0 w 7242629"/>
              <a:gd name="connsiteY3" fmla="*/ 4667280 h 6858000"/>
              <a:gd name="connsiteX0" fmla="*/ 0 w 7242629"/>
              <a:gd name="connsiteY0" fmla="*/ 0 h 6858000"/>
              <a:gd name="connsiteX1" fmla="*/ 7242629 w 7242629"/>
              <a:gd name="connsiteY1" fmla="*/ 6858000 h 6858000"/>
              <a:gd name="connsiteX2" fmla="*/ 2323185 w 7242629"/>
              <a:gd name="connsiteY2" fmla="*/ 6838800 h 6858000"/>
              <a:gd name="connsiteX3" fmla="*/ 0 w 7242629"/>
              <a:gd name="connsiteY3" fmla="*/ 4667280 h 6858000"/>
              <a:gd name="connsiteX4" fmla="*/ 0 w 7242629"/>
              <a:gd name="connsiteY4" fmla="*/ 0 h 6858000"/>
              <a:gd name="connsiteX0" fmla="*/ 0 w 7242629"/>
              <a:gd name="connsiteY0" fmla="*/ 0 h 6858000"/>
              <a:gd name="connsiteX1" fmla="*/ 3430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4881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26585 w 7242629"/>
              <a:gd name="connsiteY1" fmla="*/ 32736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841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593785 w 7242629"/>
              <a:gd name="connsiteY1" fmla="*/ 33888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42629"/>
              <a:gd name="connsiteY0" fmla="*/ 0 h 6858000"/>
              <a:gd name="connsiteX1" fmla="*/ 3632185 w 7242629"/>
              <a:gd name="connsiteY1" fmla="*/ 3427200 h 6858000"/>
              <a:gd name="connsiteX2" fmla="*/ 7242629 w 7242629"/>
              <a:gd name="connsiteY2" fmla="*/ 6858000 h 6858000"/>
              <a:gd name="connsiteX3" fmla="*/ 2323185 w 7242629"/>
              <a:gd name="connsiteY3" fmla="*/ 6838800 h 6858000"/>
              <a:gd name="connsiteX4" fmla="*/ 0 w 7242629"/>
              <a:gd name="connsiteY4" fmla="*/ 4667280 h 6858000"/>
              <a:gd name="connsiteX5" fmla="*/ 0 w 7242629"/>
              <a:gd name="connsiteY5" fmla="*/ 0 h 6858000"/>
              <a:gd name="connsiteX0" fmla="*/ 0 w 7204229"/>
              <a:gd name="connsiteY0" fmla="*/ 0 h 6858000"/>
              <a:gd name="connsiteX1" fmla="*/ 3632185 w 7204229"/>
              <a:gd name="connsiteY1" fmla="*/ 3427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89785 w 7204229"/>
              <a:gd name="connsiteY1" fmla="*/ 33984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609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3632185 w 7204229"/>
              <a:gd name="connsiteY1" fmla="*/ 3379200 h 6858000"/>
              <a:gd name="connsiteX2" fmla="*/ 7204229 w 7204229"/>
              <a:gd name="connsiteY2" fmla="*/ 6858000 h 6858000"/>
              <a:gd name="connsiteX3" fmla="*/ 2323185 w 7204229"/>
              <a:gd name="connsiteY3" fmla="*/ 6838800 h 6858000"/>
              <a:gd name="connsiteX4" fmla="*/ 0 w 7204229"/>
              <a:gd name="connsiteY4" fmla="*/ 4667280 h 6858000"/>
              <a:gd name="connsiteX5" fmla="*/ 0 w 7204229"/>
              <a:gd name="connsiteY5" fmla="*/ 0 h 6858000"/>
              <a:gd name="connsiteX0" fmla="*/ 0 w 7204229"/>
              <a:gd name="connsiteY0" fmla="*/ 0 h 6858000"/>
              <a:gd name="connsiteX1" fmla="*/ 857785 w 7204229"/>
              <a:gd name="connsiteY1" fmla="*/ 796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209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876985 w 7204229"/>
              <a:gd name="connsiteY1" fmla="*/ 13344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401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63385 w 7204229"/>
              <a:gd name="connsiteY1" fmla="*/ 8928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72985 w 7204229"/>
              <a:gd name="connsiteY1" fmla="*/ 1104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30585 w 7204229"/>
              <a:gd name="connsiteY1" fmla="*/ 960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1001785 w 7204229"/>
              <a:gd name="connsiteY1" fmla="*/ 10080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0 w 7204229"/>
              <a:gd name="connsiteY0" fmla="*/ 0 h 6858000"/>
              <a:gd name="connsiteX1" fmla="*/ 992185 w 7204229"/>
              <a:gd name="connsiteY1" fmla="*/ 969600 h 6858000"/>
              <a:gd name="connsiteX2" fmla="*/ 3632185 w 7204229"/>
              <a:gd name="connsiteY2" fmla="*/ 3379200 h 6858000"/>
              <a:gd name="connsiteX3" fmla="*/ 7204229 w 7204229"/>
              <a:gd name="connsiteY3" fmla="*/ 6858000 h 6858000"/>
              <a:gd name="connsiteX4" fmla="*/ 2323185 w 7204229"/>
              <a:gd name="connsiteY4" fmla="*/ 6838800 h 6858000"/>
              <a:gd name="connsiteX5" fmla="*/ 0 w 7204229"/>
              <a:gd name="connsiteY5" fmla="*/ 4667280 h 6858000"/>
              <a:gd name="connsiteX6" fmla="*/ 0 w 7204229"/>
              <a:gd name="connsiteY6" fmla="*/ 0 h 6858000"/>
              <a:gd name="connsiteX0" fmla="*/ 9600 w 7204229"/>
              <a:gd name="connsiteY0" fmla="*/ 739200 h 5888400"/>
              <a:gd name="connsiteX1" fmla="*/ 992185 w 7204229"/>
              <a:gd name="connsiteY1" fmla="*/ 0 h 5888400"/>
              <a:gd name="connsiteX2" fmla="*/ 3632185 w 7204229"/>
              <a:gd name="connsiteY2" fmla="*/ 2409600 h 5888400"/>
              <a:gd name="connsiteX3" fmla="*/ 7204229 w 7204229"/>
              <a:gd name="connsiteY3" fmla="*/ 5888400 h 5888400"/>
              <a:gd name="connsiteX4" fmla="*/ 2323185 w 7204229"/>
              <a:gd name="connsiteY4" fmla="*/ 5869200 h 5888400"/>
              <a:gd name="connsiteX5" fmla="*/ 0 w 7204229"/>
              <a:gd name="connsiteY5" fmla="*/ 3697680 h 5888400"/>
              <a:gd name="connsiteX6" fmla="*/ 9600 w 7204229"/>
              <a:gd name="connsiteY6" fmla="*/ 739200 h 5888400"/>
              <a:gd name="connsiteX0" fmla="*/ 0 w 7194629"/>
              <a:gd name="connsiteY0" fmla="*/ 739200 h 5888400"/>
              <a:gd name="connsiteX1" fmla="*/ 982585 w 7194629"/>
              <a:gd name="connsiteY1" fmla="*/ 0 h 5888400"/>
              <a:gd name="connsiteX2" fmla="*/ 3622585 w 7194629"/>
              <a:gd name="connsiteY2" fmla="*/ 2409600 h 5888400"/>
              <a:gd name="connsiteX3" fmla="*/ 7194629 w 7194629"/>
              <a:gd name="connsiteY3" fmla="*/ 5888400 h 5888400"/>
              <a:gd name="connsiteX4" fmla="*/ 2313585 w 7194629"/>
              <a:gd name="connsiteY4" fmla="*/ 5869200 h 5888400"/>
              <a:gd name="connsiteX5" fmla="*/ 777600 w 7194629"/>
              <a:gd name="connsiteY5" fmla="*/ 4456080 h 5888400"/>
              <a:gd name="connsiteX6" fmla="*/ 0 w 7194629"/>
              <a:gd name="connsiteY6" fmla="*/ 739200 h 5888400"/>
              <a:gd name="connsiteX0" fmla="*/ 0 w 7194629"/>
              <a:gd name="connsiteY0" fmla="*/ 0 h 5149200"/>
              <a:gd name="connsiteX1" fmla="*/ 2336185 w 7194629"/>
              <a:gd name="connsiteY1" fmla="*/ 2496000 h 5149200"/>
              <a:gd name="connsiteX2" fmla="*/ 3622585 w 7194629"/>
              <a:gd name="connsiteY2" fmla="*/ 1670400 h 5149200"/>
              <a:gd name="connsiteX3" fmla="*/ 7194629 w 7194629"/>
              <a:gd name="connsiteY3" fmla="*/ 5149200 h 5149200"/>
              <a:gd name="connsiteX4" fmla="*/ 2313585 w 7194629"/>
              <a:gd name="connsiteY4" fmla="*/ 5130000 h 5149200"/>
              <a:gd name="connsiteX5" fmla="*/ 777600 w 7194629"/>
              <a:gd name="connsiteY5" fmla="*/ 3716880 h 5149200"/>
              <a:gd name="connsiteX6" fmla="*/ 0 w 7194629"/>
              <a:gd name="connsiteY6" fmla="*/ 0 h 5149200"/>
              <a:gd name="connsiteX0" fmla="*/ 0 w 7194629"/>
              <a:gd name="connsiteY0" fmla="*/ 0 h 5149200"/>
              <a:gd name="connsiteX1" fmla="*/ 3622585 w 7194629"/>
              <a:gd name="connsiteY1" fmla="*/ 1670400 h 5149200"/>
              <a:gd name="connsiteX2" fmla="*/ 7194629 w 7194629"/>
              <a:gd name="connsiteY2" fmla="*/ 5149200 h 5149200"/>
              <a:gd name="connsiteX3" fmla="*/ 2313585 w 7194629"/>
              <a:gd name="connsiteY3" fmla="*/ 5130000 h 5149200"/>
              <a:gd name="connsiteX4" fmla="*/ 777600 w 7194629"/>
              <a:gd name="connsiteY4" fmla="*/ 3716880 h 5149200"/>
              <a:gd name="connsiteX5" fmla="*/ 0 w 7194629"/>
              <a:gd name="connsiteY5" fmla="*/ 0 h 5149200"/>
              <a:gd name="connsiteX0" fmla="*/ 1737600 w 6417029"/>
              <a:gd name="connsiteY0" fmla="*/ 79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737600 w 6417029"/>
              <a:gd name="connsiteY5" fmla="*/ 796800 h 3478800"/>
              <a:gd name="connsiteX0" fmla="*/ 1392000 w 6417029"/>
              <a:gd name="connsiteY0" fmla="*/ 1036800 h 3478800"/>
              <a:gd name="connsiteX1" fmla="*/ 2844985 w 6417029"/>
              <a:gd name="connsiteY1" fmla="*/ 0 h 3478800"/>
              <a:gd name="connsiteX2" fmla="*/ 6417029 w 6417029"/>
              <a:gd name="connsiteY2" fmla="*/ 3478800 h 3478800"/>
              <a:gd name="connsiteX3" fmla="*/ 1535985 w 6417029"/>
              <a:gd name="connsiteY3" fmla="*/ 3459600 h 3478800"/>
              <a:gd name="connsiteX4" fmla="*/ 0 w 6417029"/>
              <a:gd name="connsiteY4" fmla="*/ 2046480 h 3478800"/>
              <a:gd name="connsiteX5" fmla="*/ 1392000 w 6417029"/>
              <a:gd name="connsiteY5" fmla="*/ 1036800 h 3478800"/>
              <a:gd name="connsiteX0" fmla="*/ 1369520 w 6394549"/>
              <a:gd name="connsiteY0" fmla="*/ 1036800 h 3478800"/>
              <a:gd name="connsiteX1" fmla="*/ 2822505 w 6394549"/>
              <a:gd name="connsiteY1" fmla="*/ 0 h 3478800"/>
              <a:gd name="connsiteX2" fmla="*/ 6394549 w 6394549"/>
              <a:gd name="connsiteY2" fmla="*/ 3478800 h 3478800"/>
              <a:gd name="connsiteX3" fmla="*/ 1513505 w 6394549"/>
              <a:gd name="connsiteY3" fmla="*/ 3459600 h 3478800"/>
              <a:gd name="connsiteX4" fmla="*/ 0 w 6394549"/>
              <a:gd name="connsiteY4" fmla="*/ 2001521 h 3478800"/>
              <a:gd name="connsiteX5" fmla="*/ 1369520 w 6394549"/>
              <a:gd name="connsiteY5" fmla="*/ 1036800 h 3478800"/>
              <a:gd name="connsiteX0" fmla="*/ 1369520 w 6394549"/>
              <a:gd name="connsiteY0" fmla="*/ 1036800 h 3482080"/>
              <a:gd name="connsiteX1" fmla="*/ 2822505 w 6394549"/>
              <a:gd name="connsiteY1" fmla="*/ 0 h 3482080"/>
              <a:gd name="connsiteX2" fmla="*/ 6394549 w 6394549"/>
              <a:gd name="connsiteY2" fmla="*/ 3478800 h 3482080"/>
              <a:gd name="connsiteX3" fmla="*/ 1513506 w 6394549"/>
              <a:gd name="connsiteY3" fmla="*/ 3482080 h 3482080"/>
              <a:gd name="connsiteX4" fmla="*/ 0 w 6394549"/>
              <a:gd name="connsiteY4" fmla="*/ 2001521 h 3482080"/>
              <a:gd name="connsiteX5" fmla="*/ 1369520 w 6394549"/>
              <a:gd name="connsiteY5" fmla="*/ 1036800 h 3482080"/>
              <a:gd name="connsiteX0" fmla="*/ 1369520 w 5826494"/>
              <a:gd name="connsiteY0" fmla="*/ 1036800 h 3482080"/>
              <a:gd name="connsiteX1" fmla="*/ 2822505 w 5826494"/>
              <a:gd name="connsiteY1" fmla="*/ 0 h 3482080"/>
              <a:gd name="connsiteX2" fmla="*/ 5826494 w 5826494"/>
              <a:gd name="connsiteY2" fmla="*/ 2934088 h 3482080"/>
              <a:gd name="connsiteX3" fmla="*/ 1513506 w 5826494"/>
              <a:gd name="connsiteY3" fmla="*/ 3482080 h 3482080"/>
              <a:gd name="connsiteX4" fmla="*/ 0 w 5826494"/>
              <a:gd name="connsiteY4" fmla="*/ 2001521 h 3482080"/>
              <a:gd name="connsiteX5" fmla="*/ 1369520 w 5826494"/>
              <a:gd name="connsiteY5" fmla="*/ 1036800 h 3482080"/>
              <a:gd name="connsiteX0" fmla="*/ 1369520 w 5826494"/>
              <a:gd name="connsiteY0" fmla="*/ 1036800 h 2945150"/>
              <a:gd name="connsiteX1" fmla="*/ 2822505 w 5826494"/>
              <a:gd name="connsiteY1" fmla="*/ 0 h 2945150"/>
              <a:gd name="connsiteX2" fmla="*/ 5826494 w 5826494"/>
              <a:gd name="connsiteY2" fmla="*/ 2934088 h 2945150"/>
              <a:gd name="connsiteX3" fmla="*/ 1427908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36800 h 2945150"/>
              <a:gd name="connsiteX1" fmla="*/ 2822505 w 5826494"/>
              <a:gd name="connsiteY1" fmla="*/ 0 h 2945150"/>
              <a:gd name="connsiteX2" fmla="*/ 5826494 w 5826494"/>
              <a:gd name="connsiteY2" fmla="*/ 2934088 h 2945150"/>
              <a:gd name="connsiteX3" fmla="*/ 961012 w 5826494"/>
              <a:gd name="connsiteY3" fmla="*/ 2945150 h 2945150"/>
              <a:gd name="connsiteX4" fmla="*/ 0 w 5826494"/>
              <a:gd name="connsiteY4" fmla="*/ 2001521 h 2945150"/>
              <a:gd name="connsiteX5" fmla="*/ 1369520 w 5826494"/>
              <a:gd name="connsiteY5" fmla="*/ 1036800 h 2945150"/>
              <a:gd name="connsiteX0" fmla="*/ 1369520 w 5826494"/>
              <a:gd name="connsiteY0" fmla="*/ 1044581 h 2952931"/>
              <a:gd name="connsiteX1" fmla="*/ 2814724 w 5826494"/>
              <a:gd name="connsiteY1" fmla="*/ 0 h 2952931"/>
              <a:gd name="connsiteX2" fmla="*/ 5826494 w 5826494"/>
              <a:gd name="connsiteY2" fmla="*/ 2941869 h 2952931"/>
              <a:gd name="connsiteX3" fmla="*/ 961012 w 5826494"/>
              <a:gd name="connsiteY3" fmla="*/ 2952931 h 2952931"/>
              <a:gd name="connsiteX4" fmla="*/ 0 w 5826494"/>
              <a:gd name="connsiteY4" fmla="*/ 2009302 h 2952931"/>
              <a:gd name="connsiteX5" fmla="*/ 1369520 w 5826494"/>
              <a:gd name="connsiteY5" fmla="*/ 1044581 h 2952931"/>
              <a:gd name="connsiteX0" fmla="*/ 1369520 w 5849839"/>
              <a:gd name="connsiteY0" fmla="*/ 1044581 h 2952931"/>
              <a:gd name="connsiteX1" fmla="*/ 2814724 w 5849839"/>
              <a:gd name="connsiteY1" fmla="*/ 0 h 2952931"/>
              <a:gd name="connsiteX2" fmla="*/ 5849839 w 5849839"/>
              <a:gd name="connsiteY2" fmla="*/ 2941870 h 2952931"/>
              <a:gd name="connsiteX3" fmla="*/ 961012 w 5849839"/>
              <a:gd name="connsiteY3" fmla="*/ 2952931 h 2952931"/>
              <a:gd name="connsiteX4" fmla="*/ 0 w 5849839"/>
              <a:gd name="connsiteY4" fmla="*/ 2009302 h 2952931"/>
              <a:gd name="connsiteX5" fmla="*/ 1369520 w 5849839"/>
              <a:gd name="connsiteY5" fmla="*/ 1044581 h 2952931"/>
              <a:gd name="connsiteX0" fmla="*/ 1369520 w 5849839"/>
              <a:gd name="connsiteY0" fmla="*/ 1008453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69520 w 5849839"/>
              <a:gd name="connsiteY5" fmla="*/ 1008453 h 2916803"/>
              <a:gd name="connsiteX0" fmla="*/ 1355069 w 5849839"/>
              <a:gd name="connsiteY0" fmla="*/ 1066259 h 2916803"/>
              <a:gd name="connsiteX1" fmla="*/ 2908659 w 5849839"/>
              <a:gd name="connsiteY1" fmla="*/ 0 h 2916803"/>
              <a:gd name="connsiteX2" fmla="*/ 5849839 w 5849839"/>
              <a:gd name="connsiteY2" fmla="*/ 2905742 h 2916803"/>
              <a:gd name="connsiteX3" fmla="*/ 961012 w 5849839"/>
              <a:gd name="connsiteY3" fmla="*/ 2916803 h 2916803"/>
              <a:gd name="connsiteX4" fmla="*/ 0 w 5849839"/>
              <a:gd name="connsiteY4" fmla="*/ 1973174 h 2916803"/>
              <a:gd name="connsiteX5" fmla="*/ 1355069 w 5849839"/>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29819 h 2916803"/>
              <a:gd name="connsiteX5" fmla="*/ 1340618 w 5835388"/>
              <a:gd name="connsiteY5" fmla="*/ 1066259 h 2916803"/>
              <a:gd name="connsiteX0" fmla="*/ 1340618 w 5835388"/>
              <a:gd name="connsiteY0" fmla="*/ 1066259 h 2916803"/>
              <a:gd name="connsiteX1" fmla="*/ 2894208 w 5835388"/>
              <a:gd name="connsiteY1" fmla="*/ 0 h 2916803"/>
              <a:gd name="connsiteX2" fmla="*/ 5835388 w 5835388"/>
              <a:gd name="connsiteY2" fmla="*/ 2905742 h 2916803"/>
              <a:gd name="connsiteX3" fmla="*/ 946561 w 5835388"/>
              <a:gd name="connsiteY3" fmla="*/ 2916803 h 2916803"/>
              <a:gd name="connsiteX4" fmla="*/ 0 w 5835388"/>
              <a:gd name="connsiteY4" fmla="*/ 1958723 h 2916803"/>
              <a:gd name="connsiteX5" fmla="*/ 1340618 w 5835388"/>
              <a:gd name="connsiteY5" fmla="*/ 1066259 h 2916803"/>
              <a:gd name="connsiteX0" fmla="*/ 1340618 w 5777582"/>
              <a:gd name="connsiteY0" fmla="*/ 1066259 h 2916803"/>
              <a:gd name="connsiteX1" fmla="*/ 2894208 w 5777582"/>
              <a:gd name="connsiteY1" fmla="*/ 0 h 2916803"/>
              <a:gd name="connsiteX2" fmla="*/ 5777582 w 5777582"/>
              <a:gd name="connsiteY2" fmla="*/ 2905742 h 2916803"/>
              <a:gd name="connsiteX3" fmla="*/ 946561 w 5777582"/>
              <a:gd name="connsiteY3" fmla="*/ 2916803 h 2916803"/>
              <a:gd name="connsiteX4" fmla="*/ 0 w 5777582"/>
              <a:gd name="connsiteY4" fmla="*/ 1958723 h 2916803"/>
              <a:gd name="connsiteX5" fmla="*/ 1340618 w 5777582"/>
              <a:gd name="connsiteY5" fmla="*/ 1066259 h 2916803"/>
              <a:gd name="connsiteX0" fmla="*/ 1340618 w 5828162"/>
              <a:gd name="connsiteY0" fmla="*/ 1066259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5" fmla="*/ 1340618 w 5828162"/>
              <a:gd name="connsiteY5" fmla="*/ 1066259 h 2916803"/>
              <a:gd name="connsiteX0" fmla="*/ 0 w 5828162"/>
              <a:gd name="connsiteY0" fmla="*/ 1958723 h 2916803"/>
              <a:gd name="connsiteX1" fmla="*/ 2894208 w 5828162"/>
              <a:gd name="connsiteY1" fmla="*/ 0 h 2916803"/>
              <a:gd name="connsiteX2" fmla="*/ 5828162 w 5828162"/>
              <a:gd name="connsiteY2" fmla="*/ 2912968 h 2916803"/>
              <a:gd name="connsiteX3" fmla="*/ 946561 w 5828162"/>
              <a:gd name="connsiteY3" fmla="*/ 2916803 h 2916803"/>
              <a:gd name="connsiteX4" fmla="*/ 0 w 5828162"/>
              <a:gd name="connsiteY4" fmla="*/ 1958723 h 2916803"/>
              <a:gd name="connsiteX0" fmla="*/ 0 w 5828162"/>
              <a:gd name="connsiteY0" fmla="*/ 1938491 h 2896571"/>
              <a:gd name="connsiteX1" fmla="*/ 2904324 w 5828162"/>
              <a:gd name="connsiteY1" fmla="*/ 0 h 2896571"/>
              <a:gd name="connsiteX2" fmla="*/ 5828162 w 5828162"/>
              <a:gd name="connsiteY2" fmla="*/ 2892736 h 2896571"/>
              <a:gd name="connsiteX3" fmla="*/ 946561 w 5828162"/>
              <a:gd name="connsiteY3" fmla="*/ 2896571 h 2896571"/>
              <a:gd name="connsiteX4" fmla="*/ 0 w 5828162"/>
              <a:gd name="connsiteY4" fmla="*/ 1938491 h 2896571"/>
              <a:gd name="connsiteX0" fmla="*/ 0 w 5797814"/>
              <a:gd name="connsiteY0" fmla="*/ 1948607 h 2896571"/>
              <a:gd name="connsiteX1" fmla="*/ 2873976 w 5797814"/>
              <a:gd name="connsiteY1" fmla="*/ 0 h 2896571"/>
              <a:gd name="connsiteX2" fmla="*/ 5797814 w 5797814"/>
              <a:gd name="connsiteY2" fmla="*/ 2892736 h 2896571"/>
              <a:gd name="connsiteX3" fmla="*/ 916213 w 5797814"/>
              <a:gd name="connsiteY3" fmla="*/ 2896571 h 2896571"/>
              <a:gd name="connsiteX4" fmla="*/ 0 w 5797814"/>
              <a:gd name="connsiteY4" fmla="*/ 1948607 h 2896571"/>
              <a:gd name="connsiteX0" fmla="*/ 0 w 5797814"/>
              <a:gd name="connsiteY0" fmla="*/ 1948607 h 2937035"/>
              <a:gd name="connsiteX1" fmla="*/ 2873976 w 5797814"/>
              <a:gd name="connsiteY1" fmla="*/ 0 h 2937035"/>
              <a:gd name="connsiteX2" fmla="*/ 5797814 w 5797814"/>
              <a:gd name="connsiteY2" fmla="*/ 2892736 h 2937035"/>
              <a:gd name="connsiteX3" fmla="*/ 936446 w 5797814"/>
              <a:gd name="connsiteY3" fmla="*/ 2937035 h 2937035"/>
              <a:gd name="connsiteX4" fmla="*/ 0 w 5797814"/>
              <a:gd name="connsiteY4" fmla="*/ 1948607 h 2937035"/>
              <a:gd name="connsiteX0" fmla="*/ 0 w 5797814"/>
              <a:gd name="connsiteY0" fmla="*/ 1908143 h 2896571"/>
              <a:gd name="connsiteX1" fmla="*/ 2681771 w 5797814"/>
              <a:gd name="connsiteY1" fmla="*/ 0 h 2896571"/>
              <a:gd name="connsiteX2" fmla="*/ 5797814 w 5797814"/>
              <a:gd name="connsiteY2" fmla="*/ 2852272 h 2896571"/>
              <a:gd name="connsiteX3" fmla="*/ 936446 w 5797814"/>
              <a:gd name="connsiteY3" fmla="*/ 2896571 h 2896571"/>
              <a:gd name="connsiteX4" fmla="*/ 0 w 5797814"/>
              <a:gd name="connsiteY4" fmla="*/ 1908143 h 2896571"/>
              <a:gd name="connsiteX0" fmla="*/ 0 w 5605609"/>
              <a:gd name="connsiteY0" fmla="*/ 1908143 h 2896571"/>
              <a:gd name="connsiteX1" fmla="*/ 2681771 w 5605609"/>
              <a:gd name="connsiteY1" fmla="*/ 0 h 2896571"/>
              <a:gd name="connsiteX2" fmla="*/ 5605609 w 5605609"/>
              <a:gd name="connsiteY2" fmla="*/ 2791576 h 2896571"/>
              <a:gd name="connsiteX3" fmla="*/ 936446 w 5605609"/>
              <a:gd name="connsiteY3" fmla="*/ 2896571 h 2896571"/>
              <a:gd name="connsiteX4" fmla="*/ 0 w 5605609"/>
              <a:gd name="connsiteY4" fmla="*/ 1908143 h 2896571"/>
              <a:gd name="connsiteX0" fmla="*/ 0 w 5676421"/>
              <a:gd name="connsiteY0" fmla="*/ 1908143 h 2896571"/>
              <a:gd name="connsiteX1" fmla="*/ 2681771 w 5676421"/>
              <a:gd name="connsiteY1" fmla="*/ 0 h 2896571"/>
              <a:gd name="connsiteX2" fmla="*/ 5676421 w 5676421"/>
              <a:gd name="connsiteY2" fmla="*/ 2821925 h 2896571"/>
              <a:gd name="connsiteX3" fmla="*/ 936446 w 5676421"/>
              <a:gd name="connsiteY3" fmla="*/ 2896571 h 2896571"/>
              <a:gd name="connsiteX4" fmla="*/ 0 w 5676421"/>
              <a:gd name="connsiteY4" fmla="*/ 1908143 h 2896571"/>
              <a:gd name="connsiteX0" fmla="*/ 0 w 5676421"/>
              <a:gd name="connsiteY0" fmla="*/ 1908143 h 2896571"/>
              <a:gd name="connsiteX1" fmla="*/ 2681771 w 5676421"/>
              <a:gd name="connsiteY1" fmla="*/ 0 h 2896571"/>
              <a:gd name="connsiteX2" fmla="*/ 5676421 w 5676421"/>
              <a:gd name="connsiteY2" fmla="*/ 2842157 h 2896571"/>
              <a:gd name="connsiteX3" fmla="*/ 936446 w 5676421"/>
              <a:gd name="connsiteY3" fmla="*/ 2896571 h 2896571"/>
              <a:gd name="connsiteX4" fmla="*/ 0 w 5676421"/>
              <a:gd name="connsiteY4" fmla="*/ 1908143 h 2896571"/>
              <a:gd name="connsiteX0" fmla="*/ 0 w 5727001"/>
              <a:gd name="connsiteY0" fmla="*/ 1908143 h 2896571"/>
              <a:gd name="connsiteX1" fmla="*/ 2681771 w 5727001"/>
              <a:gd name="connsiteY1" fmla="*/ 0 h 2896571"/>
              <a:gd name="connsiteX2" fmla="*/ 5727001 w 5727001"/>
              <a:gd name="connsiteY2" fmla="*/ 2842157 h 2896571"/>
              <a:gd name="connsiteX3" fmla="*/ 936446 w 5727001"/>
              <a:gd name="connsiteY3" fmla="*/ 2896571 h 2896571"/>
              <a:gd name="connsiteX4" fmla="*/ 0 w 5727001"/>
              <a:gd name="connsiteY4" fmla="*/ 1908143 h 2896571"/>
              <a:gd name="connsiteX0" fmla="*/ 0 w 5727001"/>
              <a:gd name="connsiteY0" fmla="*/ 1908143 h 2896571"/>
              <a:gd name="connsiteX1" fmla="*/ 2681771 w 5727001"/>
              <a:gd name="connsiteY1" fmla="*/ 0 h 2896571"/>
              <a:gd name="connsiteX2" fmla="*/ 5727001 w 5727001"/>
              <a:gd name="connsiteY2" fmla="*/ 2872505 h 2896571"/>
              <a:gd name="connsiteX3" fmla="*/ 936446 w 5727001"/>
              <a:gd name="connsiteY3" fmla="*/ 2896571 h 2896571"/>
              <a:gd name="connsiteX4" fmla="*/ 0 w 5727001"/>
              <a:gd name="connsiteY4" fmla="*/ 1908143 h 2896571"/>
              <a:gd name="connsiteX0" fmla="*/ 0 w 5716885"/>
              <a:gd name="connsiteY0" fmla="*/ 1908143 h 2896571"/>
              <a:gd name="connsiteX1" fmla="*/ 2681771 w 5716885"/>
              <a:gd name="connsiteY1" fmla="*/ 0 h 2896571"/>
              <a:gd name="connsiteX2" fmla="*/ 5716885 w 5716885"/>
              <a:gd name="connsiteY2" fmla="*/ 2852273 h 2896571"/>
              <a:gd name="connsiteX3" fmla="*/ 936446 w 5716885"/>
              <a:gd name="connsiteY3" fmla="*/ 2896571 h 2896571"/>
              <a:gd name="connsiteX4" fmla="*/ 0 w 5716885"/>
              <a:gd name="connsiteY4" fmla="*/ 1908143 h 2896571"/>
              <a:gd name="connsiteX0" fmla="*/ 0 w 5716885"/>
              <a:gd name="connsiteY0" fmla="*/ 1867679 h 2856107"/>
              <a:gd name="connsiteX1" fmla="*/ 2661539 w 5716885"/>
              <a:gd name="connsiteY1" fmla="*/ 0 h 2856107"/>
              <a:gd name="connsiteX2" fmla="*/ 5716885 w 5716885"/>
              <a:gd name="connsiteY2" fmla="*/ 2811809 h 2856107"/>
              <a:gd name="connsiteX3" fmla="*/ 936446 w 5716885"/>
              <a:gd name="connsiteY3" fmla="*/ 2856107 h 2856107"/>
              <a:gd name="connsiteX4" fmla="*/ 0 w 5716885"/>
              <a:gd name="connsiteY4" fmla="*/ 1867679 h 2856107"/>
              <a:gd name="connsiteX0" fmla="*/ 0 w 5716885"/>
              <a:gd name="connsiteY0" fmla="*/ 1898027 h 2886455"/>
              <a:gd name="connsiteX1" fmla="*/ 2681771 w 5716885"/>
              <a:gd name="connsiteY1" fmla="*/ 0 h 2886455"/>
              <a:gd name="connsiteX2" fmla="*/ 5716885 w 5716885"/>
              <a:gd name="connsiteY2" fmla="*/ 2842157 h 2886455"/>
              <a:gd name="connsiteX3" fmla="*/ 936446 w 5716885"/>
              <a:gd name="connsiteY3" fmla="*/ 2886455 h 2886455"/>
              <a:gd name="connsiteX4" fmla="*/ 0 w 5716885"/>
              <a:gd name="connsiteY4" fmla="*/ 1898027 h 2886455"/>
              <a:gd name="connsiteX0" fmla="*/ 0 w 5686537"/>
              <a:gd name="connsiteY0" fmla="*/ 1948607 h 2886455"/>
              <a:gd name="connsiteX1" fmla="*/ 2651423 w 5686537"/>
              <a:gd name="connsiteY1" fmla="*/ 0 h 2886455"/>
              <a:gd name="connsiteX2" fmla="*/ 5686537 w 5686537"/>
              <a:gd name="connsiteY2" fmla="*/ 2842157 h 2886455"/>
              <a:gd name="connsiteX3" fmla="*/ 906098 w 5686537"/>
              <a:gd name="connsiteY3" fmla="*/ 2886455 h 2886455"/>
              <a:gd name="connsiteX4" fmla="*/ 0 w 5686537"/>
              <a:gd name="connsiteY4" fmla="*/ 1948607 h 2886455"/>
              <a:gd name="connsiteX0" fmla="*/ 0 w 5565144"/>
              <a:gd name="connsiteY0" fmla="*/ 2059884 h 2886455"/>
              <a:gd name="connsiteX1" fmla="*/ 2530030 w 5565144"/>
              <a:gd name="connsiteY1" fmla="*/ 0 h 2886455"/>
              <a:gd name="connsiteX2" fmla="*/ 5565144 w 5565144"/>
              <a:gd name="connsiteY2" fmla="*/ 2842157 h 2886455"/>
              <a:gd name="connsiteX3" fmla="*/ 784705 w 5565144"/>
              <a:gd name="connsiteY3" fmla="*/ 2886455 h 2886455"/>
              <a:gd name="connsiteX4" fmla="*/ 0 w 5565144"/>
              <a:gd name="connsiteY4" fmla="*/ 2059884 h 2886455"/>
              <a:gd name="connsiteX0" fmla="*/ 0 w 5585376"/>
              <a:gd name="connsiteY0" fmla="*/ 2059884 h 2886455"/>
              <a:gd name="connsiteX1" fmla="*/ 2530030 w 5585376"/>
              <a:gd name="connsiteY1" fmla="*/ 0 h 2886455"/>
              <a:gd name="connsiteX2" fmla="*/ 5585376 w 5585376"/>
              <a:gd name="connsiteY2" fmla="*/ 2862389 h 2886455"/>
              <a:gd name="connsiteX3" fmla="*/ 784705 w 5585376"/>
              <a:gd name="connsiteY3" fmla="*/ 2886455 h 2886455"/>
              <a:gd name="connsiteX4" fmla="*/ 0 w 5585376"/>
              <a:gd name="connsiteY4" fmla="*/ 2059884 h 2886455"/>
              <a:gd name="connsiteX0" fmla="*/ 0 w 5635956"/>
              <a:gd name="connsiteY0" fmla="*/ 2059884 h 2886455"/>
              <a:gd name="connsiteX1" fmla="*/ 2530030 w 5635956"/>
              <a:gd name="connsiteY1" fmla="*/ 0 h 2886455"/>
              <a:gd name="connsiteX2" fmla="*/ 5635956 w 5635956"/>
              <a:gd name="connsiteY2" fmla="*/ 2872505 h 2886455"/>
              <a:gd name="connsiteX3" fmla="*/ 784705 w 5635956"/>
              <a:gd name="connsiteY3" fmla="*/ 2886455 h 2886455"/>
              <a:gd name="connsiteX4" fmla="*/ 0 w 5635956"/>
              <a:gd name="connsiteY4" fmla="*/ 2059884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2407"/>
              <a:gd name="connsiteY0" fmla="*/ 1899713 h 2886455"/>
              <a:gd name="connsiteX1" fmla="*/ 2656481 w 5762407"/>
              <a:gd name="connsiteY1" fmla="*/ 0 h 2886455"/>
              <a:gd name="connsiteX2" fmla="*/ 5762407 w 5762407"/>
              <a:gd name="connsiteY2" fmla="*/ 2872505 h 2886455"/>
              <a:gd name="connsiteX3" fmla="*/ 911156 w 5762407"/>
              <a:gd name="connsiteY3" fmla="*/ 2886455 h 2886455"/>
              <a:gd name="connsiteX4" fmla="*/ 0 w 5762407"/>
              <a:gd name="connsiteY4" fmla="*/ 1899713 h 2886455"/>
              <a:gd name="connsiteX0" fmla="*/ 0 w 5769151"/>
              <a:gd name="connsiteY0" fmla="*/ 1919945 h 2886455"/>
              <a:gd name="connsiteX1" fmla="*/ 2663225 w 5769151"/>
              <a:gd name="connsiteY1" fmla="*/ 0 h 2886455"/>
              <a:gd name="connsiteX2" fmla="*/ 5769151 w 5769151"/>
              <a:gd name="connsiteY2" fmla="*/ 2872505 h 2886455"/>
              <a:gd name="connsiteX3" fmla="*/ 917900 w 5769151"/>
              <a:gd name="connsiteY3" fmla="*/ 2886455 h 2886455"/>
              <a:gd name="connsiteX4" fmla="*/ 0 w 5769151"/>
              <a:gd name="connsiteY4" fmla="*/ 1919945 h 2886455"/>
              <a:gd name="connsiteX0" fmla="*/ 0 w 5769151"/>
              <a:gd name="connsiteY0" fmla="*/ 1899713 h 2866223"/>
              <a:gd name="connsiteX1" fmla="*/ 2656482 w 5769151"/>
              <a:gd name="connsiteY1" fmla="*/ 0 h 2866223"/>
              <a:gd name="connsiteX2" fmla="*/ 5769151 w 5769151"/>
              <a:gd name="connsiteY2" fmla="*/ 2852273 h 2866223"/>
              <a:gd name="connsiteX3" fmla="*/ 917900 w 5769151"/>
              <a:gd name="connsiteY3" fmla="*/ 2866223 h 2866223"/>
              <a:gd name="connsiteX4" fmla="*/ 0 w 5769151"/>
              <a:gd name="connsiteY4" fmla="*/ 1899713 h 2866223"/>
              <a:gd name="connsiteX0" fmla="*/ 0 w 5769151"/>
              <a:gd name="connsiteY0" fmla="*/ 1899713 h 2872967"/>
              <a:gd name="connsiteX1" fmla="*/ 2656482 w 5769151"/>
              <a:gd name="connsiteY1" fmla="*/ 0 h 2872967"/>
              <a:gd name="connsiteX2" fmla="*/ 5769151 w 5769151"/>
              <a:gd name="connsiteY2" fmla="*/ 2852273 h 2872967"/>
              <a:gd name="connsiteX3" fmla="*/ 911157 w 5769151"/>
              <a:gd name="connsiteY3" fmla="*/ 2872967 h 2872967"/>
              <a:gd name="connsiteX4" fmla="*/ 0 w 5769151"/>
              <a:gd name="connsiteY4" fmla="*/ 1899713 h 2872967"/>
              <a:gd name="connsiteX0" fmla="*/ 0 w 5769151"/>
              <a:gd name="connsiteY0" fmla="*/ 1899713 h 2879711"/>
              <a:gd name="connsiteX1" fmla="*/ 2656482 w 5769151"/>
              <a:gd name="connsiteY1" fmla="*/ 0 h 2879711"/>
              <a:gd name="connsiteX2" fmla="*/ 5769151 w 5769151"/>
              <a:gd name="connsiteY2" fmla="*/ 2852273 h 2879711"/>
              <a:gd name="connsiteX3" fmla="*/ 911157 w 5769151"/>
              <a:gd name="connsiteY3" fmla="*/ 2879711 h 2879711"/>
              <a:gd name="connsiteX4" fmla="*/ 0 w 5769151"/>
              <a:gd name="connsiteY4" fmla="*/ 1899713 h 2879711"/>
              <a:gd name="connsiteX0" fmla="*/ 0 w 5769151"/>
              <a:gd name="connsiteY0" fmla="*/ 1988229 h 2968227"/>
              <a:gd name="connsiteX1" fmla="*/ 2669127 w 5769151"/>
              <a:gd name="connsiteY1" fmla="*/ 0 h 2968227"/>
              <a:gd name="connsiteX2" fmla="*/ 5769151 w 5769151"/>
              <a:gd name="connsiteY2" fmla="*/ 2940789 h 2968227"/>
              <a:gd name="connsiteX3" fmla="*/ 911157 w 5769151"/>
              <a:gd name="connsiteY3" fmla="*/ 2968227 h 2968227"/>
              <a:gd name="connsiteX4" fmla="*/ 0 w 5769151"/>
              <a:gd name="connsiteY4" fmla="*/ 1988229 h 2968227"/>
              <a:gd name="connsiteX0" fmla="*/ 0 w 5769151"/>
              <a:gd name="connsiteY0" fmla="*/ 196293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1962939 h 2942937"/>
              <a:gd name="connsiteX0" fmla="*/ 0 w 5769151"/>
              <a:gd name="connsiteY0" fmla="*/ 2013519 h 2942937"/>
              <a:gd name="connsiteX1" fmla="*/ 2694417 w 5769151"/>
              <a:gd name="connsiteY1" fmla="*/ 0 h 2942937"/>
              <a:gd name="connsiteX2" fmla="*/ 5769151 w 5769151"/>
              <a:gd name="connsiteY2" fmla="*/ 2915499 h 2942937"/>
              <a:gd name="connsiteX3" fmla="*/ 911157 w 5769151"/>
              <a:gd name="connsiteY3" fmla="*/ 2942937 h 2942937"/>
              <a:gd name="connsiteX4" fmla="*/ 0 w 5769151"/>
              <a:gd name="connsiteY4" fmla="*/ 2013519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645611 w 5503605"/>
              <a:gd name="connsiteY3" fmla="*/ 2942937 h 2942937"/>
              <a:gd name="connsiteX4" fmla="*/ 0 w 5503605"/>
              <a:gd name="connsiteY4" fmla="*/ 2317001 h 2942937"/>
              <a:gd name="connsiteX0" fmla="*/ 0 w 5503605"/>
              <a:gd name="connsiteY0" fmla="*/ 2317001 h 2942937"/>
              <a:gd name="connsiteX1" fmla="*/ 2428871 w 5503605"/>
              <a:gd name="connsiteY1" fmla="*/ 0 h 2942937"/>
              <a:gd name="connsiteX2" fmla="*/ 5503605 w 5503605"/>
              <a:gd name="connsiteY2" fmla="*/ 2915499 h 2942937"/>
              <a:gd name="connsiteX3" fmla="*/ 860578 w 5503605"/>
              <a:gd name="connsiteY3" fmla="*/ 2942937 h 2942937"/>
              <a:gd name="connsiteX4" fmla="*/ 0 w 5503605"/>
              <a:gd name="connsiteY4" fmla="*/ 2317001 h 2942937"/>
              <a:gd name="connsiteX0" fmla="*/ 0 w 5364509"/>
              <a:gd name="connsiteY0" fmla="*/ 2215840 h 2942937"/>
              <a:gd name="connsiteX1" fmla="*/ 2289775 w 5364509"/>
              <a:gd name="connsiteY1" fmla="*/ 0 h 2942937"/>
              <a:gd name="connsiteX2" fmla="*/ 5364509 w 5364509"/>
              <a:gd name="connsiteY2" fmla="*/ 2915499 h 2942937"/>
              <a:gd name="connsiteX3" fmla="*/ 721482 w 5364509"/>
              <a:gd name="connsiteY3" fmla="*/ 2942937 h 2942937"/>
              <a:gd name="connsiteX4" fmla="*/ 0 w 5364509"/>
              <a:gd name="connsiteY4" fmla="*/ 2215840 h 2942937"/>
              <a:gd name="connsiteX0" fmla="*/ 0 w 5364509"/>
              <a:gd name="connsiteY0" fmla="*/ 2215840 h 2915499"/>
              <a:gd name="connsiteX1" fmla="*/ 2289775 w 5364509"/>
              <a:gd name="connsiteY1" fmla="*/ 0 h 2915499"/>
              <a:gd name="connsiteX2" fmla="*/ 5364509 w 5364509"/>
              <a:gd name="connsiteY2" fmla="*/ 2915499 h 2915499"/>
              <a:gd name="connsiteX3" fmla="*/ 0 w 5364509"/>
              <a:gd name="connsiteY3" fmla="*/ 2215840 h 2915499"/>
              <a:gd name="connsiteX0" fmla="*/ 0 w 5327774"/>
              <a:gd name="connsiteY0" fmla="*/ 2348085 h 2915499"/>
              <a:gd name="connsiteX1" fmla="*/ 2253040 w 5327774"/>
              <a:gd name="connsiteY1" fmla="*/ 0 h 2915499"/>
              <a:gd name="connsiteX2" fmla="*/ 5327774 w 5327774"/>
              <a:gd name="connsiteY2" fmla="*/ 2915499 h 2915499"/>
              <a:gd name="connsiteX3" fmla="*/ 0 w 5327774"/>
              <a:gd name="connsiteY3" fmla="*/ 2348085 h 2915499"/>
              <a:gd name="connsiteX0" fmla="*/ 0 w 4695932"/>
              <a:gd name="connsiteY0" fmla="*/ 2348085 h 2348085"/>
              <a:gd name="connsiteX1" fmla="*/ 2253040 w 4695932"/>
              <a:gd name="connsiteY1" fmla="*/ 0 h 2348085"/>
              <a:gd name="connsiteX2" fmla="*/ 4695932 w 4695932"/>
              <a:gd name="connsiteY2" fmla="*/ 2320392 h 2348085"/>
              <a:gd name="connsiteX3" fmla="*/ 0 w 4695932"/>
              <a:gd name="connsiteY3" fmla="*/ 2348085 h 2348085"/>
              <a:gd name="connsiteX0" fmla="*/ 0 w 4695932"/>
              <a:gd name="connsiteY0" fmla="*/ 2460076 h 2460076"/>
              <a:gd name="connsiteX1" fmla="*/ 2358807 w 4695932"/>
              <a:gd name="connsiteY1" fmla="*/ 0 h 2460076"/>
              <a:gd name="connsiteX2" fmla="*/ 4695932 w 4695932"/>
              <a:gd name="connsiteY2" fmla="*/ 2432383 h 2460076"/>
              <a:gd name="connsiteX3" fmla="*/ 0 w 4695932"/>
              <a:gd name="connsiteY3" fmla="*/ 2460076 h 2460076"/>
              <a:gd name="connsiteX0" fmla="*/ 0 w 4695932"/>
              <a:gd name="connsiteY0" fmla="*/ 2377949 h 2377949"/>
              <a:gd name="connsiteX1" fmla="*/ 2288296 w 4695932"/>
              <a:gd name="connsiteY1" fmla="*/ 0 h 2377949"/>
              <a:gd name="connsiteX2" fmla="*/ 4695932 w 4695932"/>
              <a:gd name="connsiteY2" fmla="*/ 2350256 h 2377949"/>
              <a:gd name="connsiteX3" fmla="*/ 0 w 4695932"/>
              <a:gd name="connsiteY3" fmla="*/ 2377949 h 2377949"/>
              <a:gd name="connsiteX0" fmla="*/ 0 w 4646574"/>
              <a:gd name="connsiteY0" fmla="*/ 2377949 h 2377949"/>
              <a:gd name="connsiteX1" fmla="*/ 2288296 w 4646574"/>
              <a:gd name="connsiteY1" fmla="*/ 0 h 2377949"/>
              <a:gd name="connsiteX2" fmla="*/ 4646574 w 4646574"/>
              <a:gd name="connsiteY2" fmla="*/ 2350256 h 2377949"/>
              <a:gd name="connsiteX3" fmla="*/ 0 w 4646574"/>
              <a:gd name="connsiteY3" fmla="*/ 2377949 h 2377949"/>
              <a:gd name="connsiteX0" fmla="*/ 0 w 5491143"/>
              <a:gd name="connsiteY0" fmla="*/ 2423575 h 2423575"/>
              <a:gd name="connsiteX1" fmla="*/ 3132865 w 5491143"/>
              <a:gd name="connsiteY1" fmla="*/ 0 h 2423575"/>
              <a:gd name="connsiteX2" fmla="*/ 5491143 w 5491143"/>
              <a:gd name="connsiteY2" fmla="*/ 2350256 h 2423575"/>
              <a:gd name="connsiteX3" fmla="*/ 0 w 5491143"/>
              <a:gd name="connsiteY3" fmla="*/ 2423575 h 2423575"/>
              <a:gd name="connsiteX0" fmla="*/ 0 w 5439435"/>
              <a:gd name="connsiteY0" fmla="*/ 2423575 h 2423575"/>
              <a:gd name="connsiteX1" fmla="*/ 3132865 w 5439435"/>
              <a:gd name="connsiteY1" fmla="*/ 0 h 2423575"/>
              <a:gd name="connsiteX2" fmla="*/ 5439435 w 5439435"/>
              <a:gd name="connsiteY2" fmla="*/ 2359381 h 2423575"/>
              <a:gd name="connsiteX3" fmla="*/ 0 w 5439435"/>
              <a:gd name="connsiteY3" fmla="*/ 2423575 h 2423575"/>
              <a:gd name="connsiteX0" fmla="*/ 0 w 5482525"/>
              <a:gd name="connsiteY0" fmla="*/ 2423575 h 2423575"/>
              <a:gd name="connsiteX1" fmla="*/ 3132865 w 5482525"/>
              <a:gd name="connsiteY1" fmla="*/ 0 h 2423575"/>
              <a:gd name="connsiteX2" fmla="*/ 5482525 w 5482525"/>
              <a:gd name="connsiteY2" fmla="*/ 2414133 h 2423575"/>
              <a:gd name="connsiteX3" fmla="*/ 0 w 5482525"/>
              <a:gd name="connsiteY3" fmla="*/ 2423575 h 2423575"/>
              <a:gd name="connsiteX0" fmla="*/ 0 w 5491143"/>
              <a:gd name="connsiteY0" fmla="*/ 2405325 h 2414133"/>
              <a:gd name="connsiteX1" fmla="*/ 3141483 w 5491143"/>
              <a:gd name="connsiteY1" fmla="*/ 0 h 2414133"/>
              <a:gd name="connsiteX2" fmla="*/ 5491143 w 5491143"/>
              <a:gd name="connsiteY2" fmla="*/ 2414133 h 2414133"/>
              <a:gd name="connsiteX3" fmla="*/ 0 w 5491143"/>
              <a:gd name="connsiteY3" fmla="*/ 2405325 h 2414133"/>
              <a:gd name="connsiteX0" fmla="*/ 0 w 5516997"/>
              <a:gd name="connsiteY0" fmla="*/ 2405325 h 2405325"/>
              <a:gd name="connsiteX1" fmla="*/ 3141483 w 5516997"/>
              <a:gd name="connsiteY1" fmla="*/ 0 h 2405325"/>
              <a:gd name="connsiteX2" fmla="*/ 5516997 w 5516997"/>
              <a:gd name="connsiteY2" fmla="*/ 2395882 h 2405325"/>
              <a:gd name="connsiteX3" fmla="*/ 0 w 5516997"/>
              <a:gd name="connsiteY3" fmla="*/ 2405325 h 2405325"/>
              <a:gd name="connsiteX0" fmla="*/ 0 w 5524753"/>
              <a:gd name="connsiteY0" fmla="*/ 2413538 h 2413538"/>
              <a:gd name="connsiteX1" fmla="*/ 3149239 w 5524753"/>
              <a:gd name="connsiteY1" fmla="*/ 0 h 2413538"/>
              <a:gd name="connsiteX2" fmla="*/ 5524753 w 5524753"/>
              <a:gd name="connsiteY2" fmla="*/ 2395882 h 2413538"/>
              <a:gd name="connsiteX3" fmla="*/ 0 w 5524753"/>
              <a:gd name="connsiteY3" fmla="*/ 2413538 h 2413538"/>
              <a:gd name="connsiteX0" fmla="*/ 0 w 5435258"/>
              <a:gd name="connsiteY0" fmla="*/ 2413538 h 2413538"/>
              <a:gd name="connsiteX1" fmla="*/ 3149239 w 5435258"/>
              <a:gd name="connsiteY1" fmla="*/ 0 h 2413538"/>
              <a:gd name="connsiteX2" fmla="*/ 5435258 w 5435258"/>
              <a:gd name="connsiteY2" fmla="*/ 2370611 h 2413538"/>
              <a:gd name="connsiteX3" fmla="*/ 0 w 5435258"/>
              <a:gd name="connsiteY3" fmla="*/ 2413538 h 2413538"/>
              <a:gd name="connsiteX0" fmla="*/ 0 w 5314114"/>
              <a:gd name="connsiteY0" fmla="*/ 2413538 h 2413538"/>
              <a:gd name="connsiteX1" fmla="*/ 3149239 w 5314114"/>
              <a:gd name="connsiteY1" fmla="*/ 0 h 2413538"/>
              <a:gd name="connsiteX2" fmla="*/ 5314114 w 5314114"/>
              <a:gd name="connsiteY2" fmla="*/ 2257604 h 2413538"/>
              <a:gd name="connsiteX3" fmla="*/ 0 w 5314114"/>
              <a:gd name="connsiteY3" fmla="*/ 2413538 h 2413538"/>
              <a:gd name="connsiteX0" fmla="*/ 0 w 5206430"/>
              <a:gd name="connsiteY0" fmla="*/ 2277929 h 2277929"/>
              <a:gd name="connsiteX1" fmla="*/ 3041555 w 5206430"/>
              <a:gd name="connsiteY1" fmla="*/ 0 h 2277929"/>
              <a:gd name="connsiteX2" fmla="*/ 5206430 w 5206430"/>
              <a:gd name="connsiteY2" fmla="*/ 2257604 h 2277929"/>
              <a:gd name="connsiteX3" fmla="*/ 0 w 5206430"/>
              <a:gd name="connsiteY3" fmla="*/ 2277929 h 2277929"/>
              <a:gd name="connsiteX0" fmla="*/ 0 w 5219891"/>
              <a:gd name="connsiteY0" fmla="*/ 2277929 h 2277929"/>
              <a:gd name="connsiteX1" fmla="*/ 3041555 w 5219891"/>
              <a:gd name="connsiteY1" fmla="*/ 0 h 2277929"/>
              <a:gd name="connsiteX2" fmla="*/ 5219891 w 5219891"/>
              <a:gd name="connsiteY2" fmla="*/ 2257604 h 2277929"/>
              <a:gd name="connsiteX3" fmla="*/ 0 w 5219891"/>
              <a:gd name="connsiteY3" fmla="*/ 2277929 h 2277929"/>
              <a:gd name="connsiteX0" fmla="*/ 0 w 5246811"/>
              <a:gd name="connsiteY0" fmla="*/ 2277929 h 2277929"/>
              <a:gd name="connsiteX1" fmla="*/ 3041555 w 5246811"/>
              <a:gd name="connsiteY1" fmla="*/ 0 h 2277929"/>
              <a:gd name="connsiteX2" fmla="*/ 5246811 w 5246811"/>
              <a:gd name="connsiteY2" fmla="*/ 2257604 h 2277929"/>
              <a:gd name="connsiteX3" fmla="*/ 0 w 5246811"/>
              <a:gd name="connsiteY3" fmla="*/ 2277929 h 2277929"/>
              <a:gd name="connsiteX0" fmla="*/ 0 w 5246811"/>
              <a:gd name="connsiteY0" fmla="*/ 2284743 h 2284743"/>
              <a:gd name="connsiteX1" fmla="*/ 3041555 w 5246811"/>
              <a:gd name="connsiteY1" fmla="*/ 0 h 2284743"/>
              <a:gd name="connsiteX2" fmla="*/ 5246811 w 5246811"/>
              <a:gd name="connsiteY2" fmla="*/ 2264418 h 2284743"/>
              <a:gd name="connsiteX3" fmla="*/ 0 w 5246811"/>
              <a:gd name="connsiteY3" fmla="*/ 2284743 h 2284743"/>
              <a:gd name="connsiteX0" fmla="*/ 0 w 5222463"/>
              <a:gd name="connsiteY0" fmla="*/ 2298370 h 2298370"/>
              <a:gd name="connsiteX1" fmla="*/ 3017207 w 5222463"/>
              <a:gd name="connsiteY1" fmla="*/ 0 h 2298370"/>
              <a:gd name="connsiteX2" fmla="*/ 5222463 w 5222463"/>
              <a:gd name="connsiteY2" fmla="*/ 2264418 h 2298370"/>
              <a:gd name="connsiteX3" fmla="*/ 0 w 5222463"/>
              <a:gd name="connsiteY3" fmla="*/ 2298370 h 2298370"/>
              <a:gd name="connsiteX0" fmla="*/ 0 w 5198115"/>
              <a:gd name="connsiteY0" fmla="*/ 2298370 h 2298370"/>
              <a:gd name="connsiteX1" fmla="*/ 3017207 w 5198115"/>
              <a:gd name="connsiteY1" fmla="*/ 0 h 2298370"/>
              <a:gd name="connsiteX2" fmla="*/ 5198115 w 5198115"/>
              <a:gd name="connsiteY2" fmla="*/ 2271232 h 2298370"/>
              <a:gd name="connsiteX3" fmla="*/ 0 w 5198115"/>
              <a:gd name="connsiteY3" fmla="*/ 2298370 h 2298370"/>
              <a:gd name="connsiteX0" fmla="*/ 0 w 5198115"/>
              <a:gd name="connsiteY0" fmla="*/ 2293222 h 2293222"/>
              <a:gd name="connsiteX1" fmla="*/ 2998811 w 5198115"/>
              <a:gd name="connsiteY1" fmla="*/ 0 h 2293222"/>
              <a:gd name="connsiteX2" fmla="*/ 5198115 w 5198115"/>
              <a:gd name="connsiteY2" fmla="*/ 2266084 h 2293222"/>
              <a:gd name="connsiteX3" fmla="*/ 0 w 5198115"/>
              <a:gd name="connsiteY3" fmla="*/ 2293222 h 2293222"/>
              <a:gd name="connsiteX0" fmla="*/ 0 w 5198115"/>
              <a:gd name="connsiteY0" fmla="*/ 2293222 h 2293222"/>
              <a:gd name="connsiteX1" fmla="*/ 2998811 w 5198115"/>
              <a:gd name="connsiteY1" fmla="*/ 0 h 2293222"/>
              <a:gd name="connsiteX2" fmla="*/ 5198115 w 5198115"/>
              <a:gd name="connsiteY2" fmla="*/ 2255788 h 2293222"/>
              <a:gd name="connsiteX3" fmla="*/ 0 w 5198115"/>
              <a:gd name="connsiteY3" fmla="*/ 2293222 h 2293222"/>
              <a:gd name="connsiteX0" fmla="*/ 0 w 5179719"/>
              <a:gd name="connsiteY0" fmla="*/ 2293222 h 2293222"/>
              <a:gd name="connsiteX1" fmla="*/ 2998811 w 5179719"/>
              <a:gd name="connsiteY1" fmla="*/ 0 h 2293222"/>
              <a:gd name="connsiteX2" fmla="*/ 5179719 w 5179719"/>
              <a:gd name="connsiteY2" fmla="*/ 2255788 h 2293222"/>
              <a:gd name="connsiteX3" fmla="*/ 0 w 5179719"/>
              <a:gd name="connsiteY3" fmla="*/ 2293222 h 2293222"/>
              <a:gd name="connsiteX0" fmla="*/ 0 w 5210379"/>
              <a:gd name="connsiteY0" fmla="*/ 2293222 h 2293222"/>
              <a:gd name="connsiteX1" fmla="*/ 2998811 w 5210379"/>
              <a:gd name="connsiteY1" fmla="*/ 0 h 2293222"/>
              <a:gd name="connsiteX2" fmla="*/ 5210379 w 5210379"/>
              <a:gd name="connsiteY2" fmla="*/ 2255788 h 2293222"/>
              <a:gd name="connsiteX3" fmla="*/ 0 w 5210379"/>
              <a:gd name="connsiteY3" fmla="*/ 2293222 h 2293222"/>
              <a:gd name="connsiteX0" fmla="*/ 0 w 5165070"/>
              <a:gd name="connsiteY0" fmla="*/ 2254611 h 2255788"/>
              <a:gd name="connsiteX1" fmla="*/ 2953502 w 5165070"/>
              <a:gd name="connsiteY1" fmla="*/ 0 h 2255788"/>
              <a:gd name="connsiteX2" fmla="*/ 5165070 w 5165070"/>
              <a:gd name="connsiteY2" fmla="*/ 2255788 h 2255788"/>
              <a:gd name="connsiteX3" fmla="*/ 0 w 5165070"/>
              <a:gd name="connsiteY3" fmla="*/ 2254611 h 2255788"/>
              <a:gd name="connsiteX0" fmla="*/ 0 w 5138640"/>
              <a:gd name="connsiteY0" fmla="*/ 2241741 h 2255788"/>
              <a:gd name="connsiteX1" fmla="*/ 2927072 w 5138640"/>
              <a:gd name="connsiteY1" fmla="*/ 0 h 2255788"/>
              <a:gd name="connsiteX2" fmla="*/ 5138640 w 5138640"/>
              <a:gd name="connsiteY2" fmla="*/ 2255788 h 2255788"/>
              <a:gd name="connsiteX3" fmla="*/ 0 w 5138640"/>
              <a:gd name="connsiteY3" fmla="*/ 2241741 h 2255788"/>
              <a:gd name="connsiteX0" fmla="*/ 0 w 5149967"/>
              <a:gd name="connsiteY0" fmla="*/ 2251394 h 2255788"/>
              <a:gd name="connsiteX1" fmla="*/ 2938399 w 5149967"/>
              <a:gd name="connsiteY1" fmla="*/ 0 h 2255788"/>
              <a:gd name="connsiteX2" fmla="*/ 5149967 w 5149967"/>
              <a:gd name="connsiteY2" fmla="*/ 2255788 h 2255788"/>
              <a:gd name="connsiteX3" fmla="*/ 0 w 5149967"/>
              <a:gd name="connsiteY3" fmla="*/ 2251394 h 2255788"/>
              <a:gd name="connsiteX0" fmla="*/ 0 w 5161294"/>
              <a:gd name="connsiteY0" fmla="*/ 2251394 h 2255788"/>
              <a:gd name="connsiteX1" fmla="*/ 2949726 w 5161294"/>
              <a:gd name="connsiteY1" fmla="*/ 0 h 2255788"/>
              <a:gd name="connsiteX2" fmla="*/ 5161294 w 5161294"/>
              <a:gd name="connsiteY2" fmla="*/ 2255788 h 2255788"/>
              <a:gd name="connsiteX3" fmla="*/ 0 w 5161294"/>
              <a:gd name="connsiteY3" fmla="*/ 2251394 h 2255788"/>
              <a:gd name="connsiteX0" fmla="*/ 0 w 5161294"/>
              <a:gd name="connsiteY0" fmla="*/ 2246568 h 2250962"/>
              <a:gd name="connsiteX1" fmla="*/ 2955391 w 5161294"/>
              <a:gd name="connsiteY1" fmla="*/ 0 h 2250962"/>
              <a:gd name="connsiteX2" fmla="*/ 5161294 w 5161294"/>
              <a:gd name="connsiteY2" fmla="*/ 2250962 h 2250962"/>
              <a:gd name="connsiteX3" fmla="*/ 0 w 5161294"/>
              <a:gd name="connsiteY3" fmla="*/ 2246568 h 2250962"/>
              <a:gd name="connsiteX0" fmla="*/ 0 w 5149967"/>
              <a:gd name="connsiteY0" fmla="*/ 2246568 h 2246568"/>
              <a:gd name="connsiteX1" fmla="*/ 2955391 w 5149967"/>
              <a:gd name="connsiteY1" fmla="*/ 0 h 2246568"/>
              <a:gd name="connsiteX2" fmla="*/ 5149967 w 5149967"/>
              <a:gd name="connsiteY2" fmla="*/ 2243722 h 2246568"/>
              <a:gd name="connsiteX3" fmla="*/ 0 w 5149967"/>
              <a:gd name="connsiteY3" fmla="*/ 2246568 h 2246568"/>
            </a:gdLst>
            <a:ahLst/>
            <a:cxnLst>
              <a:cxn ang="0">
                <a:pos x="connsiteX0" y="connsiteY0"/>
              </a:cxn>
              <a:cxn ang="0">
                <a:pos x="connsiteX1" y="connsiteY1"/>
              </a:cxn>
              <a:cxn ang="0">
                <a:pos x="connsiteX2" y="connsiteY2"/>
              </a:cxn>
              <a:cxn ang="0">
                <a:pos x="connsiteX3" y="connsiteY3"/>
              </a:cxn>
            </a:cxnLst>
            <a:rect l="l" t="t" r="r" b="b"/>
            <a:pathLst>
              <a:path w="5149967" h="2246568">
                <a:moveTo>
                  <a:pt x="0" y="2246568"/>
                </a:moveTo>
                <a:lnTo>
                  <a:pt x="2955391" y="0"/>
                </a:lnTo>
                <a:lnTo>
                  <a:pt x="5149967" y="2243722"/>
                </a:lnTo>
                <a:lnTo>
                  <a:pt x="0" y="2246568"/>
                </a:lnTo>
                <a:close/>
              </a:path>
            </a:pathLst>
          </a:cu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ID" sz="1400" b="1" dirty="0"/>
              <a:t> </a:t>
            </a:r>
          </a:p>
        </p:txBody>
      </p:sp>
    </p:spTree>
    <p:extLst>
      <p:ext uri="{BB962C8B-B14F-4D97-AF65-F5344CB8AC3E}">
        <p14:creationId xmlns:p14="http://schemas.microsoft.com/office/powerpoint/2010/main" val="15511982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ADB08-1EB9-42B6-AEE5-D0C769541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3E007F2-5ECD-4C9C-95FE-E9CAF6A0EE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4AA8F24D-21B0-455E-80A1-1C8917BE12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SG"/>
          </a:p>
        </p:txBody>
      </p:sp>
      <p:sp>
        <p:nvSpPr>
          <p:cNvPr id="5" name="Footer Placeholder 4">
            <a:extLst>
              <a:ext uri="{FF2B5EF4-FFF2-40B4-BE49-F238E27FC236}">
                <a16:creationId xmlns:a16="http://schemas.microsoft.com/office/drawing/2014/main" id="{53774F77-5866-4BE4-909E-22CFEB520A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AC61C9B2-EA38-47FE-848F-FF32C8E846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9DD2C-80DA-488C-99A4-6C8CE83C9C30}" type="slidenum">
              <a:rPr lang="en-SG" smtClean="0"/>
              <a:t>‹#›</a:t>
            </a:fld>
            <a:endParaRPr lang="en-SG"/>
          </a:p>
        </p:txBody>
      </p:sp>
      <p:sp>
        <p:nvSpPr>
          <p:cNvPr id="7" name="MSIPCMContentMarking" descr="{&quot;HashCode&quot;:-2012720162,&quot;Placement&quot;:&quot;Header&quot;,&quot;Top&quot;:0.0,&quot;Left&quot;:0.0,&quot;SlideWidth&quot;:960,&quot;SlideHeight&quot;:540}">
            <a:extLst>
              <a:ext uri="{FF2B5EF4-FFF2-40B4-BE49-F238E27FC236}">
                <a16:creationId xmlns:a16="http://schemas.microsoft.com/office/drawing/2014/main" id="{D9BD36F5-CDDD-89EC-1204-46A113C95B1B}"/>
              </a:ext>
            </a:extLst>
          </p:cNvPr>
          <p:cNvSpPr txBox="1"/>
          <p:nvPr userDrawn="1"/>
        </p:nvSpPr>
        <p:spPr>
          <a:xfrm>
            <a:off x="0" y="110000"/>
            <a:ext cx="1033377" cy="262344"/>
          </a:xfrm>
          <a:prstGeom prst="rect">
            <a:avLst/>
          </a:prstGeom>
          <a:noFill/>
        </p:spPr>
        <p:txBody>
          <a:bodyPr vert="horz" wrap="square" lIns="0" tIns="0" rIns="0" bIns="0" rtlCol="0" anchor="ctr" anchorCtr="1">
            <a:spAutoFit/>
          </a:bodyPr>
          <a:lstStyle/>
          <a:p>
            <a:pPr algn="l">
              <a:spcBef>
                <a:spcPts val="0"/>
              </a:spcBef>
              <a:spcAft>
                <a:spcPts val="0"/>
              </a:spcAft>
            </a:pPr>
            <a:r>
              <a:rPr lang="en-SG" sz="1000">
                <a:solidFill>
                  <a:srgbClr val="000000"/>
                </a:solidFill>
                <a:latin typeface="Calibri" panose="020F0502020204030204" pitchFamily="34" charset="0"/>
              </a:rPr>
              <a:t>Official (Open)</a:t>
            </a:r>
          </a:p>
        </p:txBody>
      </p:sp>
    </p:spTree>
    <p:extLst>
      <p:ext uri="{BB962C8B-B14F-4D97-AF65-F5344CB8AC3E}">
        <p14:creationId xmlns:p14="http://schemas.microsoft.com/office/powerpoint/2010/main" val="351684698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1" r:id="rId12"/>
    <p:sldLayoutId id="2147483692" r:id="rId13"/>
    <p:sldLayoutId id="2147483693"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7.png"/><Relationship Id="rId5" Type="http://schemas.openxmlformats.org/officeDocument/2006/relationships/image" Target="../media/image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deepgram.com/product/models/nova"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voicespin.com/glossary/voice-activity-detection/" TargetMode="External"/><Relationship Id="rId3" Type="http://schemas.openxmlformats.org/officeDocument/2006/relationships/hyperlink" Target="https://deepgram.com/" TargetMode="External"/><Relationship Id="rId4" Type="http://schemas.openxmlformats.org/officeDocument/2006/relationships/hyperlink" Target="https://docs.livekit.io/agents/" TargetMode="External"/><Relationship Id="rId5" Type="http://schemas.openxmlformats.org/officeDocument/2006/relationships/hyperlink" Target="https://github.com/snakers4/silero-vad" TargetMode="External"/><Relationship Id="rId6" Type="http://schemas.openxmlformats.org/officeDocument/2006/relationships/hyperlink" Target="https://webrtc.org/" TargetMode="External"/><Relationship Id="rId7" Type="http://schemas.openxmlformats.org/officeDocument/2006/relationships/hyperlink" Target="https://www.youtube.com/watch?v=xWhI8RkRSGQ&amp;t=60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notesSlide" Target="../notesSlides/notesSlid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3.png"/><Relationship Id="rId3"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 Id="rId3" Type="http://schemas.openxmlformats.org/officeDocument/2006/relationships/notesSlide" Target="../notesSlides/notesSlid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85A33-1C05-0A99-DEA3-DBBDF06F2471}"/>
              </a:ext>
            </a:extLst>
          </p:cNvPr>
          <p:cNvSpPr>
            <a:spLocks noGrp="1"/>
          </p:cNvSpPr>
          <p:nvPr>
            <p:ph type="body" sz="quarter" idx="12"/>
          </p:nvPr>
        </p:nvSpPr>
        <p:spPr>
          <a:xfrm>
            <a:off x="757451" y="1963253"/>
            <a:ext cx="6198982" cy="1613597"/>
          </a:xfrm>
        </p:spPr>
        <p:txBody>
          <a:bodyPr>
            <a:normAutofit lnSpcReduction="10000"/>
          </a:bodyPr>
          <a:lstStyle/>
          <a:p>
            <a:pPr marL="0" indent="0">
              <a:lnSpc>
                <a:spcPct val="110000"/>
              </a:lnSpc>
              <a:spcAft>
                <a:spcPts val="600"/>
              </a:spcAft>
              <a:buNone/>
            </a:pPr>
            <a:r>
              <a:rPr lang="en-SG" sz="4800" dirty="0"/>
              <a:t>AI Voice Agent Application</a:t>
            </a:r>
          </a:p>
        </p:txBody>
      </p:sp>
    </p:spTree>
    <p:extLst>
      <p:ext uri="{BB962C8B-B14F-4D97-AF65-F5344CB8AC3E}">
        <p14:creationId xmlns:p14="http://schemas.microsoft.com/office/powerpoint/2010/main" val="3496168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5240-7FB9-719D-31A3-9285D2702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D871B1-6C5D-3259-B42A-793ADF2CE90C}"/>
              </a:ext>
            </a:extLst>
          </p:cNvPr>
          <p:cNvSpPr>
            <a:spLocks noGrp="1"/>
          </p:cNvSpPr>
          <p:nvPr>
            <p:ph type="title"/>
          </p:nvPr>
        </p:nvSpPr>
        <p:spPr/>
        <p:txBody>
          <a:bodyPr/>
          <a:lstStyle/>
          <a:p>
            <a:r>
              <a:rPr lang="en-GB" dirty="0"/>
              <a:t>Learning Outcomes</a:t>
            </a:r>
          </a:p>
        </p:txBody>
      </p:sp>
      <p:sp>
        <p:nvSpPr>
          <p:cNvPr id="3" name="Text Placeholder 2">
            <a:extLst>
              <a:ext uri="{FF2B5EF4-FFF2-40B4-BE49-F238E27FC236}">
                <a16:creationId xmlns:a16="http://schemas.microsoft.com/office/drawing/2014/main" id="{DD3B9174-B1BD-7F76-160C-AB73246A18B4}"/>
              </a:ext>
            </a:extLst>
          </p:cNvPr>
          <p:cNvSpPr>
            <a:spLocks noGrp="1"/>
          </p:cNvSpPr>
          <p:nvPr>
            <p:ph type="body" sz="quarter" idx="11"/>
          </p:nvPr>
        </p:nvSpPr>
        <p:spPr/>
        <p:txBody>
          <a:bodyPr/>
          <a:lstStyle/>
          <a:p>
            <a:pPr marL="0" indent="0">
              <a:buNone/>
            </a:pPr>
            <a:r>
              <a:rPr lang="en-US" b="0" i="0" dirty="0" sz="1800">
                <a:solidFill>
                  <a:srgbClr val="212529"/>
                </a:solidFill>
                <a:effectLst/>
              </a:rPr>
              <a:t>Upon completion of this session, the learners should be able to:</a:t>
            </a:r>
          </a:p>
          <a:p>
            <a:r>
              <a:rPr lang="en-US" b="0" i="0" dirty="0" sz="1800">
                <a:solidFill>
                  <a:srgbClr val="212529"/>
                </a:solidFill>
                <a:effectLst/>
              </a:rPr>
              <a:t>Understand the overview of AI Voice Agent Stack Components.</a:t>
            </a:r>
          </a:p>
          <a:p>
            <a:r>
              <a:rPr lang="en-US" b="0" i="0" dirty="0" sz="1800">
                <a:solidFill>
                  <a:srgbClr val="212529"/>
                </a:solidFill>
                <a:effectLst/>
              </a:rPr>
              <a:t>Apply the Stack Components </a:t>
            </a:r>
            <a:r>
              <a:rPr lang="en-US" dirty="0" sz="1800">
                <a:solidFill>
                  <a:srgbClr val="212529"/>
                </a:solidFill>
              </a:rPr>
              <a:t>to develop </a:t>
            </a:r>
            <a:r>
              <a:rPr lang="en-US" b="0" i="0" dirty="0" sz="1800">
                <a:solidFill>
                  <a:srgbClr val="212529"/>
                </a:solidFill>
                <a:effectLst/>
              </a:rPr>
              <a:t>the AI Voice Agent application.</a:t>
            </a:r>
          </a:p>
          <a:p>
            <a:r>
              <a:rPr lang="en-US" b="0" i="0" dirty="0" sz="1800">
                <a:solidFill>
                  <a:srgbClr val="212529"/>
                </a:solidFill>
                <a:effectLst/>
              </a:rPr>
              <a:t>Explain how speech becomes text and text becomes speech inside the stack.</a:t>
            </a:r>
          </a:p>
          <a:p>
            <a:r>
              <a:rPr lang="en-US" b="0" i="0" dirty="0" sz="1800">
                <a:solidFill>
                  <a:srgbClr val="212529"/>
                </a:solidFill>
                <a:effectLst/>
              </a:rPr>
              <a:t>Describe the client–server architecture and the agent’s perceive–reason–act loop.</a:t>
            </a:r>
          </a:p>
          <a:p>
            <a:r>
              <a:rPr lang="en-US" b="0" i="0" dirty="0" sz="1800">
                <a:solidFill>
                  <a:srgbClr val="212529"/>
                </a:solidFill>
                <a:effectLst/>
              </a:rPr>
              <a:t>Evaluate a voice agent using WER, RTF, MOS and latency, and apply data-privacy practices.</a:t>
            </a:r>
          </a:p>
        </p:txBody>
      </p:sp>
      <p:sp>
        <p:nvSpPr>
          <p:cNvPr id="5" name="Footer Placeholder 4">
            <a:extLst>
              <a:ext uri="{FF2B5EF4-FFF2-40B4-BE49-F238E27FC236}">
                <a16:creationId xmlns:a16="http://schemas.microsoft.com/office/drawing/2014/main" id="{E841A2ED-BA44-7B19-97E4-E9DC855A7F0E}"/>
              </a:ext>
            </a:extLst>
          </p:cNvPr>
          <p:cNvSpPr>
            <a:spLocks noGrp="1"/>
          </p:cNvSpPr>
          <p:nvPr>
            <p:ph type="ftr" sz="quarter" idx="13"/>
          </p:nvPr>
        </p:nvSpPr>
        <p:spPr/>
        <p:txBody>
          <a:bodyPr/>
          <a:lstStyle/>
          <a:p>
            <a:r>
              <a:rPr lang="it-IT" dirty="0"/>
              <a:t>ITI121 Generative AI - PDC in Generative AI &amp; Deep Learning</a:t>
            </a:r>
            <a:endParaRPr lang="en-SG" dirty="0"/>
          </a:p>
        </p:txBody>
      </p:sp>
      <p:sp>
        <p:nvSpPr>
          <p:cNvPr id="6" name="Slide Number Placeholder 5">
            <a:extLst>
              <a:ext uri="{FF2B5EF4-FFF2-40B4-BE49-F238E27FC236}">
                <a16:creationId xmlns:a16="http://schemas.microsoft.com/office/drawing/2014/main" id="{0C4BE5E6-4BAF-74BD-8A1D-C6CA7BB6F2D9}"/>
              </a:ext>
            </a:extLst>
          </p:cNvPr>
          <p:cNvSpPr>
            <a:spLocks noGrp="1"/>
          </p:cNvSpPr>
          <p:nvPr>
            <p:ph type="sldNum" sz="quarter" idx="14"/>
          </p:nvPr>
        </p:nvSpPr>
        <p:spPr/>
        <p:txBody>
          <a:bodyPr/>
          <a:lstStyle/>
          <a:p>
            <a:fld id="{CE19DD2C-80DA-488C-99A4-6C8CE83C9C30}" type="slidenum">
              <a:rPr lang="en-SG" smtClean="0"/>
              <a:t>2</a:t>
            </a:fld>
            <a:endParaRPr lang="en-SG"/>
          </a:p>
        </p:txBody>
      </p:sp>
    </p:spTree>
    <p:extLst>
      <p:ext uri="{BB962C8B-B14F-4D97-AF65-F5344CB8AC3E}">
        <p14:creationId xmlns:p14="http://schemas.microsoft.com/office/powerpoint/2010/main" val="3155291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9D6B2-47DF-C2DC-3486-40CC03922071}"/>
              </a:ext>
            </a:extLst>
          </p:cNvPr>
          <p:cNvSpPr>
            <a:spLocks noGrp="1"/>
          </p:cNvSpPr>
          <p:nvPr>
            <p:ph type="title"/>
          </p:nvPr>
        </p:nvSpPr>
        <p:spPr/>
        <p:txBody>
          <a:bodyPr/>
          <a:lstStyle/>
          <a:p>
            <a:r>
              <a:rPr lang="en-US" dirty="0"/>
              <a:t>What is an AI Voice Agent?</a:t>
            </a:r>
          </a:p>
        </p:txBody>
      </p:sp>
      <p:sp>
        <p:nvSpPr>
          <p:cNvPr id="3" name="Text Placeholder 2">
            <a:extLst>
              <a:ext uri="{FF2B5EF4-FFF2-40B4-BE49-F238E27FC236}">
                <a16:creationId xmlns:a16="http://schemas.microsoft.com/office/drawing/2014/main" id="{B27EBDE3-ADC2-1E77-1615-3208E2B8E85D}"/>
              </a:ext>
            </a:extLst>
          </p:cNvPr>
          <p:cNvSpPr>
            <a:spLocks noGrp="1"/>
          </p:cNvSpPr>
          <p:nvPr>
            <p:ph type="body" sz="quarter" idx="11"/>
          </p:nvPr>
        </p:nvSpPr>
        <p:spPr>
          <a:xfrm>
            <a:off x="542018" y="1366585"/>
            <a:ext cx="11042651" cy="4791607"/>
          </a:xfrm>
        </p:spPr>
        <p:txBody>
          <a:bodyPr>
            <a:normAutofit/>
          </a:bodyPr>
          <a:lstStyle/>
          <a:p>
            <a:r>
              <a:rPr lang="en-US" sz="2000" dirty="0"/>
              <a:t>Definition: Voice Agents combine speech and reasoning abilities of </a:t>
            </a:r>
            <a:r>
              <a:rPr lang="en-US" sz="2000" dirty="0" err="1"/>
              <a:t>foundation</a:t>
            </a:r>
            <a:r>
              <a:rPr lang="en-US" sz="2000" dirty="0"/>
              <a:t> models to deliver real-time, human-like voice interactions.</a:t>
            </a:r>
          </a:p>
          <a:p>
            <a:r>
              <a:rPr lang="en-US" sz="2000" dirty="0"/>
              <a:t>Use Cases</a:t>
            </a:r>
          </a:p>
          <a:p>
            <a:pPr lvl="1"/>
            <a:r>
              <a:rPr lang="en-US" sz="2000" dirty="0">
                <a:latin typeface="+mn-lt"/>
              </a:rPr>
              <a:t>Improve learning: Guide personalized skill development, conduct interviews.</a:t>
            </a:r>
          </a:p>
          <a:p>
            <a:pPr lvl="1"/>
            <a:r>
              <a:rPr lang="en-US" sz="2000" dirty="0">
                <a:latin typeface="+mn-lt"/>
              </a:rPr>
              <a:t>Handle customer service voice calls (Restaurant booking, sales, insurance).</a:t>
            </a:r>
          </a:p>
          <a:p>
            <a:pPr lvl="1"/>
            <a:r>
              <a:rPr lang="en-US" sz="2000" dirty="0">
                <a:latin typeface="+mn-lt"/>
              </a:rPr>
              <a:t>Improve accessibility in medical and talk therapy application.</a:t>
            </a:r>
          </a:p>
        </p:txBody>
      </p:sp>
      <p:sp>
        <p:nvSpPr>
          <p:cNvPr id="4" name="Footer Placeholder 3">
            <a:extLst>
              <a:ext uri="{FF2B5EF4-FFF2-40B4-BE49-F238E27FC236}">
                <a16:creationId xmlns:a16="http://schemas.microsoft.com/office/drawing/2014/main" id="{B11C3F06-A942-C97E-DE01-0397205C7C28}"/>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0BA72C3F-BDD5-1813-4367-81687B919661}"/>
              </a:ext>
            </a:extLst>
          </p:cNvPr>
          <p:cNvSpPr>
            <a:spLocks noGrp="1"/>
          </p:cNvSpPr>
          <p:nvPr>
            <p:ph type="sldNum" sz="quarter" idx="14"/>
          </p:nvPr>
        </p:nvSpPr>
        <p:spPr/>
        <p:txBody>
          <a:bodyPr/>
          <a:lstStyle/>
          <a:p>
            <a:fld id="{CE19DD2C-80DA-488C-99A4-6C8CE83C9C30}" type="slidenum">
              <a:rPr lang="en-SG" smtClean="0"/>
              <a:t>3</a:t>
            </a:fld>
            <a:endParaRPr lang="en-SG"/>
          </a:p>
        </p:txBody>
      </p:sp>
      <p:pic>
        <p:nvPicPr>
          <p:cNvPr id="7" name="Graphic 6" descr="Volume outline">
            <a:extLst>
              <a:ext uri="{FF2B5EF4-FFF2-40B4-BE49-F238E27FC236}">
                <a16:creationId xmlns:a16="http://schemas.microsoft.com/office/drawing/2014/main" id="{ED8475BC-97DE-9B7E-6D85-E1B2809BC9B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8332" y="4909112"/>
            <a:ext cx="914400" cy="914400"/>
          </a:xfrm>
          <a:prstGeom prst="rect">
            <a:avLst/>
          </a:prstGeom>
        </p:spPr>
      </p:pic>
      <p:sp>
        <p:nvSpPr>
          <p:cNvPr id="8" name="TextBox 7">
            <a:extLst>
              <a:ext uri="{FF2B5EF4-FFF2-40B4-BE49-F238E27FC236}">
                <a16:creationId xmlns:a16="http://schemas.microsoft.com/office/drawing/2014/main" id="{E921EEE6-B3CF-E3F8-2496-6405C507886E}"/>
              </a:ext>
            </a:extLst>
          </p:cNvPr>
          <p:cNvSpPr txBox="1"/>
          <p:nvPr/>
        </p:nvSpPr>
        <p:spPr>
          <a:xfrm>
            <a:off x="548640" y="4262781"/>
            <a:ext cx="1795620" cy="646331"/>
          </a:xfrm>
          <a:prstGeom prst="rect">
            <a:avLst/>
          </a:prstGeom>
          <a:noFill/>
        </p:spPr>
        <p:txBody>
          <a:bodyPr wrap="none" rtlCol="0">
            <a:spAutoFit/>
          </a:bodyPr>
          <a:lstStyle/>
          <a:p>
            <a:r>
              <a:rPr lang="en-US" dirty="0"/>
              <a:t>Input: User Voice</a:t>
            </a:r>
          </a:p>
          <a:p>
            <a:r>
              <a:rPr lang="en-US" dirty="0"/>
              <a:t>Query</a:t>
            </a:r>
          </a:p>
        </p:txBody>
      </p:sp>
      <p:sp>
        <p:nvSpPr>
          <p:cNvPr id="9" name="TextBox 8">
            <a:extLst>
              <a:ext uri="{FF2B5EF4-FFF2-40B4-BE49-F238E27FC236}">
                <a16:creationId xmlns:a16="http://schemas.microsoft.com/office/drawing/2014/main" id="{9CAD8D37-8B6E-FDAA-CB3F-AFB4A10E4874}"/>
              </a:ext>
            </a:extLst>
          </p:cNvPr>
          <p:cNvSpPr txBox="1"/>
          <p:nvPr/>
        </p:nvSpPr>
        <p:spPr>
          <a:xfrm>
            <a:off x="2442400" y="4401280"/>
            <a:ext cx="1171475" cy="646331"/>
          </a:xfrm>
          <a:prstGeom prst="rect">
            <a:avLst/>
          </a:prstGeom>
          <a:solidFill>
            <a:schemeClr val="accent1">
              <a:lumMod val="40000"/>
              <a:lumOff val="60000"/>
            </a:schemeClr>
          </a:solidFill>
          <a:ln>
            <a:solidFill>
              <a:schemeClr val="tx1"/>
            </a:solidFill>
          </a:ln>
        </p:spPr>
        <p:txBody>
          <a:bodyPr wrap="none" rtlCol="0">
            <a:spAutoFit/>
          </a:bodyPr>
          <a:lstStyle/>
          <a:p>
            <a:r>
              <a:rPr lang="en-US" dirty="0"/>
              <a:t>Speech to </a:t>
            </a:r>
          </a:p>
          <a:p>
            <a:r>
              <a:rPr lang="en-US" dirty="0"/>
              <a:t>Text</a:t>
            </a:r>
          </a:p>
        </p:txBody>
      </p:sp>
      <p:sp>
        <p:nvSpPr>
          <p:cNvPr id="10" name="TextBox 9">
            <a:extLst>
              <a:ext uri="{FF2B5EF4-FFF2-40B4-BE49-F238E27FC236}">
                <a16:creationId xmlns:a16="http://schemas.microsoft.com/office/drawing/2014/main" id="{BB4FD0D5-826E-10BA-380C-71D3FE6850C5}"/>
              </a:ext>
            </a:extLst>
          </p:cNvPr>
          <p:cNvSpPr txBox="1"/>
          <p:nvPr/>
        </p:nvSpPr>
        <p:spPr>
          <a:xfrm>
            <a:off x="4388144" y="4401280"/>
            <a:ext cx="2033698" cy="646331"/>
          </a:xfrm>
          <a:prstGeom prst="rect">
            <a:avLst/>
          </a:prstGeom>
          <a:solidFill>
            <a:schemeClr val="accent1">
              <a:lumMod val="40000"/>
              <a:lumOff val="60000"/>
            </a:schemeClr>
          </a:solidFill>
          <a:ln>
            <a:solidFill>
              <a:schemeClr val="tx1"/>
            </a:solidFill>
          </a:ln>
        </p:spPr>
        <p:txBody>
          <a:bodyPr wrap="none" rtlCol="0">
            <a:spAutoFit/>
          </a:bodyPr>
          <a:lstStyle/>
          <a:p>
            <a:r>
              <a:rPr lang="en-US" dirty="0"/>
              <a:t>LLM or Agentic LLM</a:t>
            </a:r>
          </a:p>
          <a:p>
            <a:r>
              <a:rPr lang="en-US" dirty="0"/>
              <a:t>workflow</a:t>
            </a:r>
          </a:p>
        </p:txBody>
      </p:sp>
      <p:sp>
        <p:nvSpPr>
          <p:cNvPr id="11" name="TextBox 10">
            <a:extLst>
              <a:ext uri="{FF2B5EF4-FFF2-40B4-BE49-F238E27FC236}">
                <a16:creationId xmlns:a16="http://schemas.microsoft.com/office/drawing/2014/main" id="{D8BDF215-5F73-9566-18B2-102DC9434A6C}"/>
              </a:ext>
            </a:extLst>
          </p:cNvPr>
          <p:cNvSpPr txBox="1"/>
          <p:nvPr/>
        </p:nvSpPr>
        <p:spPr>
          <a:xfrm>
            <a:off x="7282107" y="4401280"/>
            <a:ext cx="1545744" cy="646331"/>
          </a:xfrm>
          <a:prstGeom prst="rect">
            <a:avLst/>
          </a:prstGeom>
          <a:solidFill>
            <a:schemeClr val="accent1">
              <a:lumMod val="40000"/>
              <a:lumOff val="60000"/>
            </a:schemeClr>
          </a:solidFill>
          <a:ln>
            <a:solidFill>
              <a:schemeClr val="tx1"/>
            </a:solidFill>
          </a:ln>
        </p:spPr>
        <p:txBody>
          <a:bodyPr wrap="none" rtlCol="0">
            <a:spAutoFit/>
          </a:bodyPr>
          <a:lstStyle/>
          <a:p>
            <a:r>
              <a:rPr lang="en-US" dirty="0"/>
              <a:t>Text to Speech</a:t>
            </a:r>
          </a:p>
          <a:p>
            <a:endParaRPr lang="en-US" dirty="0"/>
          </a:p>
        </p:txBody>
      </p:sp>
      <p:sp>
        <p:nvSpPr>
          <p:cNvPr id="12" name="TextBox 11">
            <a:extLst>
              <a:ext uri="{FF2B5EF4-FFF2-40B4-BE49-F238E27FC236}">
                <a16:creationId xmlns:a16="http://schemas.microsoft.com/office/drawing/2014/main" id="{04DFFAFD-0B67-F0ED-6BD4-C69098BCCBCA}"/>
              </a:ext>
            </a:extLst>
          </p:cNvPr>
          <p:cNvSpPr txBox="1"/>
          <p:nvPr/>
        </p:nvSpPr>
        <p:spPr>
          <a:xfrm>
            <a:off x="4226737" y="5500346"/>
            <a:ext cx="2313454" cy="646331"/>
          </a:xfrm>
          <a:prstGeom prst="rect">
            <a:avLst/>
          </a:prstGeom>
          <a:solidFill>
            <a:schemeClr val="accent6">
              <a:lumMod val="40000"/>
              <a:lumOff val="60000"/>
            </a:schemeClr>
          </a:solidFill>
          <a:ln>
            <a:solidFill>
              <a:schemeClr val="tx1"/>
            </a:solidFill>
          </a:ln>
        </p:spPr>
        <p:txBody>
          <a:bodyPr wrap="none" rtlCol="0">
            <a:spAutoFit/>
          </a:bodyPr>
          <a:lstStyle/>
          <a:p>
            <a:r>
              <a:rPr lang="en-US" dirty="0"/>
              <a:t>Speech to </a:t>
            </a:r>
          </a:p>
          <a:p>
            <a:r>
              <a:rPr lang="en-US" dirty="0"/>
              <a:t>Speech (aka Real time)</a:t>
            </a:r>
          </a:p>
        </p:txBody>
      </p:sp>
      <p:pic>
        <p:nvPicPr>
          <p:cNvPr id="13" name="Graphic 12" descr="Volume outline">
            <a:extLst>
              <a:ext uri="{FF2B5EF4-FFF2-40B4-BE49-F238E27FC236}">
                <a16:creationId xmlns:a16="http://schemas.microsoft.com/office/drawing/2014/main" id="{5AE5E5DE-A1D3-F421-F6E4-1BC08EE0335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128163" y="4130979"/>
            <a:ext cx="914400" cy="914400"/>
          </a:xfrm>
          <a:prstGeom prst="rect">
            <a:avLst/>
          </a:prstGeom>
        </p:spPr>
      </p:pic>
      <p:pic>
        <p:nvPicPr>
          <p:cNvPr id="16" name="Graphic 15" descr="Presentation with media with solid fill">
            <a:extLst>
              <a:ext uri="{FF2B5EF4-FFF2-40B4-BE49-F238E27FC236}">
                <a16:creationId xmlns:a16="http://schemas.microsoft.com/office/drawing/2014/main" id="{A3CB48F1-7230-FA78-F676-111A866526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62202" y="5403452"/>
            <a:ext cx="914400" cy="914400"/>
          </a:xfrm>
          <a:prstGeom prst="rect">
            <a:avLst/>
          </a:prstGeom>
        </p:spPr>
      </p:pic>
      <p:cxnSp>
        <p:nvCxnSpPr>
          <p:cNvPr id="18" name="Straight Arrow Connector 17">
            <a:extLst>
              <a:ext uri="{FF2B5EF4-FFF2-40B4-BE49-F238E27FC236}">
                <a16:creationId xmlns:a16="http://schemas.microsoft.com/office/drawing/2014/main" id="{7BF6550E-E1AB-0F55-2091-56C554FDAA22}"/>
              </a:ext>
            </a:extLst>
          </p:cNvPr>
          <p:cNvCxnSpPr>
            <a:stCxn id="7" idx="3"/>
            <a:endCxn id="9" idx="1"/>
          </p:cNvCxnSpPr>
          <p:nvPr/>
        </p:nvCxnSpPr>
        <p:spPr>
          <a:xfrm flipV="1">
            <a:off x="1652732" y="4724446"/>
            <a:ext cx="789668" cy="641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9F8B445-C217-E7A5-446D-EDE6073E208F}"/>
              </a:ext>
            </a:extLst>
          </p:cNvPr>
          <p:cNvCxnSpPr>
            <a:endCxn id="12" idx="1"/>
          </p:cNvCxnSpPr>
          <p:nvPr/>
        </p:nvCxnSpPr>
        <p:spPr>
          <a:xfrm>
            <a:off x="1652732" y="5366312"/>
            <a:ext cx="2574005"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65F6874-9656-707E-598B-241AEBE3D138}"/>
              </a:ext>
            </a:extLst>
          </p:cNvPr>
          <p:cNvCxnSpPr>
            <a:cxnSpLocks/>
            <a:stCxn id="9" idx="3"/>
            <a:endCxn id="10" idx="1"/>
          </p:cNvCxnSpPr>
          <p:nvPr/>
        </p:nvCxnSpPr>
        <p:spPr>
          <a:xfrm>
            <a:off x="3613875" y="4724446"/>
            <a:ext cx="77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9FF8699-69E8-DC25-2D62-84366966592B}"/>
              </a:ext>
            </a:extLst>
          </p:cNvPr>
          <p:cNvCxnSpPr>
            <a:stCxn id="10" idx="3"/>
            <a:endCxn id="11" idx="1"/>
          </p:cNvCxnSpPr>
          <p:nvPr/>
        </p:nvCxnSpPr>
        <p:spPr>
          <a:xfrm>
            <a:off x="6421842" y="4724446"/>
            <a:ext cx="86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661621C-3CA6-25CC-5DD4-30C95AB842B3}"/>
              </a:ext>
            </a:extLst>
          </p:cNvPr>
          <p:cNvCxnSpPr>
            <a:cxnSpLocks/>
            <a:stCxn id="11" idx="3"/>
          </p:cNvCxnSpPr>
          <p:nvPr/>
        </p:nvCxnSpPr>
        <p:spPr>
          <a:xfrm>
            <a:off x="8827851" y="4724446"/>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1948039-DF23-47EA-D6A9-C4FDA3FFFA39}"/>
              </a:ext>
            </a:extLst>
          </p:cNvPr>
          <p:cNvCxnSpPr/>
          <p:nvPr/>
        </p:nvCxnSpPr>
        <p:spPr>
          <a:xfrm flipV="1">
            <a:off x="6537960" y="5330952"/>
            <a:ext cx="2670048" cy="438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EE7EF289-3684-EEE6-EE72-941C8E2285AE}"/>
              </a:ext>
            </a:extLst>
          </p:cNvPr>
          <p:cNvSpPr txBox="1"/>
          <p:nvPr/>
        </p:nvSpPr>
        <p:spPr>
          <a:xfrm>
            <a:off x="10104120" y="3570283"/>
            <a:ext cx="1444752" cy="2308324"/>
          </a:xfrm>
          <a:prstGeom prst="rect">
            <a:avLst/>
          </a:prstGeom>
          <a:noFill/>
        </p:spPr>
        <p:txBody>
          <a:bodyPr wrap="square" rtlCol="0">
            <a:spAutoFit/>
          </a:bodyPr>
          <a:lstStyle/>
          <a:p>
            <a:r>
              <a:rPr lang="en-US" dirty="0" sz="1200"/>
              <a:t>Output:</a:t>
            </a:r>
          </a:p>
          <a:p>
            <a:r>
              <a:rPr lang="en-US" dirty="0" sz="1200"/>
              <a:t>System Voice </a:t>
            </a:r>
          </a:p>
          <a:p>
            <a:r>
              <a:rPr lang="en-US" dirty="0" sz="1200"/>
              <a:t>Response</a:t>
            </a:r>
          </a:p>
          <a:p>
            <a:endParaRPr lang="en-US" dirty="0"/>
          </a:p>
          <a:p>
            <a:endParaRPr lang="en-US" dirty="0"/>
          </a:p>
          <a:p>
            <a:r>
              <a:rPr lang="en-US" dirty="0" sz="1200"/>
              <a:t>Or </a:t>
            </a:r>
          </a:p>
          <a:p>
            <a:r>
              <a:rPr lang="en-US" dirty="0" sz="1200"/>
              <a:t>System Video </a:t>
            </a:r>
          </a:p>
          <a:p>
            <a:r>
              <a:rPr lang="en-US" dirty="0" sz="1200"/>
              <a:t>Response</a:t>
            </a:r>
          </a:p>
        </p:txBody>
      </p:sp>
    </p:spTree>
    <p:extLst>
      <p:ext uri="{BB962C8B-B14F-4D97-AF65-F5344CB8AC3E}">
        <p14:creationId xmlns:p14="http://schemas.microsoft.com/office/powerpoint/2010/main" val="3731265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C22B5-4396-1FB7-F141-27CA2B1CCAC9}"/>
              </a:ext>
            </a:extLst>
          </p:cNvPr>
          <p:cNvSpPr>
            <a:spLocks noGrp="1"/>
          </p:cNvSpPr>
          <p:nvPr>
            <p:ph type="title"/>
          </p:nvPr>
        </p:nvSpPr>
        <p:spPr/>
        <p:txBody>
          <a:bodyPr/>
          <a:lstStyle/>
          <a:p>
            <a:r>
              <a:rPr lang="en-US" dirty="0"/>
              <a:t>Voice Agent Stack Components</a:t>
            </a:r>
          </a:p>
        </p:txBody>
      </p:sp>
      <p:sp>
        <p:nvSpPr>
          <p:cNvPr id="3" name="Text Placeholder 2">
            <a:extLst>
              <a:ext uri="{FF2B5EF4-FFF2-40B4-BE49-F238E27FC236}">
                <a16:creationId xmlns:a16="http://schemas.microsoft.com/office/drawing/2014/main" id="{69957CA0-078F-DD0D-BCF8-DB2864C1341A}"/>
              </a:ext>
            </a:extLst>
          </p:cNvPr>
          <p:cNvSpPr>
            <a:spLocks noGrp="1"/>
          </p:cNvSpPr>
          <p:nvPr>
            <p:ph type="body" sz="quarter" idx="11"/>
          </p:nvPr>
        </p:nvSpPr>
        <p:spPr>
          <a:xfrm>
            <a:off x="542018" y="1562095"/>
            <a:ext cx="11042651" cy="4791607"/>
          </a:xfrm>
        </p:spPr>
        <p:txBody>
          <a:bodyPr>
            <a:normAutofit/>
          </a:bodyPr>
          <a:lstStyle/>
          <a:p>
            <a:r>
              <a:rPr lang="en-US" sz="2000" dirty="0"/>
              <a:t>Automatic Speech Recognition (ASR), also known as Speech-to-Text (STT): the task of transcribing a given audio signal to text.</a:t>
            </a:r>
          </a:p>
          <a:p>
            <a:pPr marL="0" indent="0">
              <a:buNone/>
            </a:pPr>
            <a:r>
              <a:rPr lang="en-US" sz="2000" dirty="0"/>
              <a:t>	Audio → Text.</a:t>
            </a:r>
          </a:p>
          <a:p>
            <a:endParaRPr lang="en-US" sz="2000" dirty="0"/>
          </a:p>
          <a:p>
            <a:r>
              <a:rPr lang="en-US" sz="2000" dirty="0"/>
              <a:t>LLMs and LLM agent: Generate a response to the transcribed query.</a:t>
            </a:r>
          </a:p>
          <a:p>
            <a:pPr marL="0" indent="0">
              <a:buNone/>
            </a:pPr>
            <a:r>
              <a:rPr lang="en-US" sz="2000" dirty="0"/>
              <a:t>	Text → Text or multimodal response (e.g. text or images).</a:t>
            </a:r>
          </a:p>
          <a:p>
            <a:endParaRPr lang="en-US" sz="2000" dirty="0"/>
          </a:p>
          <a:p>
            <a:r>
              <a:rPr lang="en-US" sz="2000" dirty="0"/>
              <a:t>Text-to-Speech (TTS), also known as Speech Synthesis: the task of generating natural and intelligible speech from text.</a:t>
            </a:r>
          </a:p>
          <a:p>
            <a:pPr marL="0" indent="0">
              <a:buNone/>
            </a:pPr>
            <a:r>
              <a:rPr lang="en-US" sz="2000" dirty="0"/>
              <a:t>	Text → Audio.</a:t>
            </a:r>
          </a:p>
        </p:txBody>
      </p:sp>
      <p:sp>
        <p:nvSpPr>
          <p:cNvPr id="4" name="Footer Placeholder 3">
            <a:extLst>
              <a:ext uri="{FF2B5EF4-FFF2-40B4-BE49-F238E27FC236}">
                <a16:creationId xmlns:a16="http://schemas.microsoft.com/office/drawing/2014/main" id="{CBC925B6-E700-99AF-BF47-D7C5F25E27B0}"/>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ED07100-3859-B261-72A3-2B444B33F401}"/>
              </a:ext>
            </a:extLst>
          </p:cNvPr>
          <p:cNvSpPr>
            <a:spLocks noGrp="1"/>
          </p:cNvSpPr>
          <p:nvPr>
            <p:ph type="sldNum" sz="quarter" idx="14"/>
          </p:nvPr>
        </p:nvSpPr>
        <p:spPr/>
        <p:txBody>
          <a:bodyPr/>
          <a:lstStyle/>
          <a:p>
            <a:fld id="{CE19DD2C-80DA-488C-99A4-6C8CE83C9C30}" type="slidenum">
              <a:rPr lang="en-SG" smtClean="0"/>
              <a:t>4</a:t>
            </a:fld>
            <a:endParaRPr lang="en-SG"/>
          </a:p>
        </p:txBody>
      </p:sp>
    </p:spTree>
    <p:extLst>
      <p:ext uri="{BB962C8B-B14F-4D97-AF65-F5344CB8AC3E}">
        <p14:creationId xmlns:p14="http://schemas.microsoft.com/office/powerpoint/2010/main" val="226720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08F9A-1D0A-9C3D-C0A0-25149658E2D2}"/>
              </a:ext>
            </a:extLst>
          </p:cNvPr>
          <p:cNvSpPr>
            <a:spLocks noGrp="1"/>
          </p:cNvSpPr>
          <p:nvPr>
            <p:ph type="title"/>
          </p:nvPr>
        </p:nvSpPr>
        <p:spPr/>
        <p:txBody>
          <a:bodyPr/>
          <a:lstStyle/>
          <a:p>
            <a:r>
              <a:rPr lang="en-US" dirty="0"/>
              <a:t>Example Providers: TTS/LLM/STT Pipeline</a:t>
            </a:r>
          </a:p>
        </p:txBody>
      </p:sp>
      <p:sp>
        <p:nvSpPr>
          <p:cNvPr id="4" name="Footer Placeholder 3">
            <a:extLst>
              <a:ext uri="{FF2B5EF4-FFF2-40B4-BE49-F238E27FC236}">
                <a16:creationId xmlns:a16="http://schemas.microsoft.com/office/drawing/2014/main" id="{7039B4CB-10FB-6566-7900-7D4530847CC3}"/>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293A1179-9BA8-9010-E18D-463032F8EF74}"/>
              </a:ext>
            </a:extLst>
          </p:cNvPr>
          <p:cNvSpPr>
            <a:spLocks noGrp="1"/>
          </p:cNvSpPr>
          <p:nvPr>
            <p:ph type="sldNum" sz="quarter" idx="14"/>
          </p:nvPr>
        </p:nvSpPr>
        <p:spPr/>
        <p:txBody>
          <a:bodyPr/>
          <a:lstStyle/>
          <a:p>
            <a:fld id="{CE19DD2C-80DA-488C-99A4-6C8CE83C9C30}" type="slidenum">
              <a:rPr lang="en-SG" smtClean="0"/>
              <a:t>5</a:t>
            </a:fld>
            <a:endParaRPr lang="en-SG"/>
          </a:p>
        </p:txBody>
      </p:sp>
      <p:pic>
        <p:nvPicPr>
          <p:cNvPr id="8" name="Graphic 7" descr="Volume outline">
            <a:extLst>
              <a:ext uri="{FF2B5EF4-FFF2-40B4-BE49-F238E27FC236}">
                <a16:creationId xmlns:a16="http://schemas.microsoft.com/office/drawing/2014/main" id="{6652B83C-FDFD-384E-1809-5E62E12AACD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00" y="3429000"/>
            <a:ext cx="914400" cy="914400"/>
          </a:xfrm>
          <a:prstGeom prst="rect">
            <a:avLst/>
          </a:prstGeom>
        </p:spPr>
      </p:pic>
      <p:sp>
        <p:nvSpPr>
          <p:cNvPr id="9" name="TextBox 8">
            <a:extLst>
              <a:ext uri="{FF2B5EF4-FFF2-40B4-BE49-F238E27FC236}">
                <a16:creationId xmlns:a16="http://schemas.microsoft.com/office/drawing/2014/main" id="{C80F8349-F6A7-FEFB-3466-639726FE1AB4}"/>
              </a:ext>
            </a:extLst>
          </p:cNvPr>
          <p:cNvSpPr txBox="1"/>
          <p:nvPr/>
        </p:nvSpPr>
        <p:spPr>
          <a:xfrm>
            <a:off x="548640" y="2782669"/>
            <a:ext cx="1795620" cy="646331"/>
          </a:xfrm>
          <a:prstGeom prst="rect">
            <a:avLst/>
          </a:prstGeom>
          <a:noFill/>
        </p:spPr>
        <p:txBody>
          <a:bodyPr wrap="none" rtlCol="0">
            <a:spAutoFit/>
          </a:bodyPr>
          <a:lstStyle/>
          <a:p>
            <a:r>
              <a:rPr lang="en-US" dirty="0"/>
              <a:t>Input: User Voice</a:t>
            </a:r>
          </a:p>
          <a:p>
            <a:r>
              <a:rPr lang="en-US" dirty="0"/>
              <a:t>Query</a:t>
            </a:r>
          </a:p>
        </p:txBody>
      </p:sp>
      <p:sp>
        <p:nvSpPr>
          <p:cNvPr id="10" name="TextBox 9">
            <a:extLst>
              <a:ext uri="{FF2B5EF4-FFF2-40B4-BE49-F238E27FC236}">
                <a16:creationId xmlns:a16="http://schemas.microsoft.com/office/drawing/2014/main" id="{BADB5EA4-EACC-FC0F-EA00-F6BD01934AB6}"/>
              </a:ext>
            </a:extLst>
          </p:cNvPr>
          <p:cNvSpPr txBox="1"/>
          <p:nvPr/>
        </p:nvSpPr>
        <p:spPr>
          <a:xfrm>
            <a:off x="2351768" y="2921168"/>
            <a:ext cx="1171475" cy="646331"/>
          </a:xfrm>
          <a:prstGeom prst="rect">
            <a:avLst/>
          </a:prstGeom>
          <a:noFill/>
          <a:ln>
            <a:solidFill>
              <a:schemeClr val="tx1"/>
            </a:solidFill>
          </a:ln>
        </p:spPr>
        <p:txBody>
          <a:bodyPr wrap="none" rtlCol="0">
            <a:spAutoFit/>
          </a:bodyPr>
          <a:lstStyle/>
          <a:p>
            <a:r>
              <a:rPr lang="en-US" dirty="0"/>
              <a:t>Speech to </a:t>
            </a:r>
          </a:p>
          <a:p>
            <a:r>
              <a:rPr lang="en-US" dirty="0"/>
              <a:t>Text</a:t>
            </a:r>
          </a:p>
        </p:txBody>
      </p:sp>
      <p:sp>
        <p:nvSpPr>
          <p:cNvPr id="11" name="TextBox 10">
            <a:extLst>
              <a:ext uri="{FF2B5EF4-FFF2-40B4-BE49-F238E27FC236}">
                <a16:creationId xmlns:a16="http://schemas.microsoft.com/office/drawing/2014/main" id="{8B964BB9-5717-33C0-48AB-4444D0833BE9}"/>
              </a:ext>
            </a:extLst>
          </p:cNvPr>
          <p:cNvSpPr txBox="1"/>
          <p:nvPr/>
        </p:nvSpPr>
        <p:spPr>
          <a:xfrm>
            <a:off x="4297512" y="2921168"/>
            <a:ext cx="2033698" cy="646331"/>
          </a:xfrm>
          <a:prstGeom prst="rect">
            <a:avLst/>
          </a:prstGeom>
          <a:noFill/>
          <a:ln>
            <a:solidFill>
              <a:schemeClr val="tx1"/>
            </a:solidFill>
          </a:ln>
        </p:spPr>
        <p:txBody>
          <a:bodyPr wrap="none" rtlCol="0">
            <a:spAutoFit/>
          </a:bodyPr>
          <a:lstStyle/>
          <a:p>
            <a:r>
              <a:rPr lang="en-US" dirty="0"/>
              <a:t>LLM or Agentic LLM</a:t>
            </a:r>
          </a:p>
          <a:p>
            <a:r>
              <a:rPr lang="en-US" dirty="0"/>
              <a:t>workflow</a:t>
            </a:r>
          </a:p>
        </p:txBody>
      </p:sp>
      <p:sp>
        <p:nvSpPr>
          <p:cNvPr id="12" name="TextBox 11">
            <a:extLst>
              <a:ext uri="{FF2B5EF4-FFF2-40B4-BE49-F238E27FC236}">
                <a16:creationId xmlns:a16="http://schemas.microsoft.com/office/drawing/2014/main" id="{ACAFFEDB-FB5B-151D-324E-FA2DD4B523D2}"/>
              </a:ext>
            </a:extLst>
          </p:cNvPr>
          <p:cNvSpPr txBox="1"/>
          <p:nvPr/>
        </p:nvSpPr>
        <p:spPr>
          <a:xfrm>
            <a:off x="7191475" y="2921168"/>
            <a:ext cx="1545744" cy="646331"/>
          </a:xfrm>
          <a:prstGeom prst="rect">
            <a:avLst/>
          </a:prstGeom>
          <a:noFill/>
          <a:ln>
            <a:solidFill>
              <a:schemeClr val="tx1"/>
            </a:solidFill>
          </a:ln>
        </p:spPr>
        <p:txBody>
          <a:bodyPr wrap="none" rtlCol="0">
            <a:spAutoFit/>
          </a:bodyPr>
          <a:lstStyle/>
          <a:p>
            <a:r>
              <a:rPr lang="en-US" dirty="0"/>
              <a:t>Text to Speech</a:t>
            </a:r>
          </a:p>
          <a:p>
            <a:endParaRPr lang="en-US" dirty="0"/>
          </a:p>
        </p:txBody>
      </p:sp>
      <p:pic>
        <p:nvPicPr>
          <p:cNvPr id="14" name="Graphic 13" descr="Volume outline">
            <a:extLst>
              <a:ext uri="{FF2B5EF4-FFF2-40B4-BE49-F238E27FC236}">
                <a16:creationId xmlns:a16="http://schemas.microsoft.com/office/drawing/2014/main" id="{93829CD8-5EE8-BAD3-6FFC-8EF31ECB6E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37531" y="2650867"/>
            <a:ext cx="914400" cy="914400"/>
          </a:xfrm>
          <a:prstGeom prst="rect">
            <a:avLst/>
          </a:prstGeom>
        </p:spPr>
      </p:pic>
      <p:pic>
        <p:nvPicPr>
          <p:cNvPr id="15" name="Graphic 14" descr="Presentation with media with solid fill">
            <a:extLst>
              <a:ext uri="{FF2B5EF4-FFF2-40B4-BE49-F238E27FC236}">
                <a16:creationId xmlns:a16="http://schemas.microsoft.com/office/drawing/2014/main" id="{26575279-AEF2-23FE-6295-94EB0DAE6B4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71570" y="3923340"/>
            <a:ext cx="914400" cy="914400"/>
          </a:xfrm>
          <a:prstGeom prst="rect">
            <a:avLst/>
          </a:prstGeom>
        </p:spPr>
      </p:pic>
      <p:cxnSp>
        <p:nvCxnSpPr>
          <p:cNvPr id="16" name="Straight Arrow Connector 15">
            <a:extLst>
              <a:ext uri="{FF2B5EF4-FFF2-40B4-BE49-F238E27FC236}">
                <a16:creationId xmlns:a16="http://schemas.microsoft.com/office/drawing/2014/main" id="{C2977230-DAA0-EABE-FFE6-311B7FC3D897}"/>
              </a:ext>
            </a:extLst>
          </p:cNvPr>
          <p:cNvCxnSpPr>
            <a:stCxn id="8" idx="3"/>
            <a:endCxn id="10" idx="1"/>
          </p:cNvCxnSpPr>
          <p:nvPr/>
        </p:nvCxnSpPr>
        <p:spPr>
          <a:xfrm flipV="1">
            <a:off x="1562100" y="3244334"/>
            <a:ext cx="789668" cy="641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6FBBC11-B5C0-7CAC-D985-E82744FE7E51}"/>
              </a:ext>
            </a:extLst>
          </p:cNvPr>
          <p:cNvCxnSpPr>
            <a:stCxn id="10" idx="3"/>
          </p:cNvCxnSpPr>
          <p:nvPr/>
        </p:nvCxnSpPr>
        <p:spPr>
          <a:xfrm flipV="1">
            <a:off x="3523243" y="3244333"/>
            <a:ext cx="8859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DA80CAD-9263-CBFB-93D8-3239E48F374C}"/>
              </a:ext>
            </a:extLst>
          </p:cNvPr>
          <p:cNvCxnSpPr>
            <a:stCxn id="11" idx="3"/>
            <a:endCxn id="12" idx="1"/>
          </p:cNvCxnSpPr>
          <p:nvPr/>
        </p:nvCxnSpPr>
        <p:spPr>
          <a:xfrm>
            <a:off x="6331210" y="3244334"/>
            <a:ext cx="86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846552F-1948-010B-FC12-59BF0EA4DD61}"/>
              </a:ext>
            </a:extLst>
          </p:cNvPr>
          <p:cNvCxnSpPr>
            <a:cxnSpLocks/>
            <a:stCxn id="12" idx="3"/>
          </p:cNvCxnSpPr>
          <p:nvPr/>
        </p:nvCxnSpPr>
        <p:spPr>
          <a:xfrm>
            <a:off x="8737219" y="3244334"/>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058BABA-EFF7-3429-A1EB-7C50640EB0FA}"/>
              </a:ext>
            </a:extLst>
          </p:cNvPr>
          <p:cNvSpPr txBox="1"/>
          <p:nvPr/>
        </p:nvSpPr>
        <p:spPr>
          <a:xfrm>
            <a:off x="10104120" y="2090171"/>
            <a:ext cx="1444752" cy="2308324"/>
          </a:xfrm>
          <a:prstGeom prst="rect">
            <a:avLst/>
          </a:prstGeom>
          <a:noFill/>
        </p:spPr>
        <p:txBody>
          <a:bodyPr wrap="square" rtlCol="0">
            <a:spAutoFit/>
          </a:bodyPr>
          <a:lstStyle/>
          <a:p>
            <a:r>
              <a:rPr lang="en-US" dirty="0" sz="1200"/>
              <a:t>Output:</a:t>
            </a:r>
          </a:p>
          <a:p>
            <a:r>
              <a:rPr lang="en-US" dirty="0" sz="1200"/>
              <a:t>System Voice </a:t>
            </a:r>
          </a:p>
          <a:p>
            <a:r>
              <a:rPr lang="en-US" dirty="0" sz="1200"/>
              <a:t>Response</a:t>
            </a:r>
          </a:p>
          <a:p>
            <a:endParaRPr lang="en-US" dirty="0"/>
          </a:p>
          <a:p>
            <a:endParaRPr lang="en-US" dirty="0"/>
          </a:p>
          <a:p>
            <a:r>
              <a:rPr lang="en-US" dirty="0" sz="1200"/>
              <a:t>Or </a:t>
            </a:r>
          </a:p>
          <a:p>
            <a:r>
              <a:rPr lang="en-US" dirty="0" sz="1200"/>
              <a:t>System Video </a:t>
            </a:r>
          </a:p>
          <a:p>
            <a:r>
              <a:rPr lang="en-US" dirty="0" sz="1200"/>
              <a:t>Response</a:t>
            </a:r>
          </a:p>
        </p:txBody>
      </p:sp>
      <p:sp>
        <p:nvSpPr>
          <p:cNvPr id="57" name="TextBox 56">
            <a:extLst>
              <a:ext uri="{FF2B5EF4-FFF2-40B4-BE49-F238E27FC236}">
                <a16:creationId xmlns:a16="http://schemas.microsoft.com/office/drawing/2014/main" id="{51789BA4-6157-ABE5-48A2-8559A57139C4}"/>
              </a:ext>
            </a:extLst>
          </p:cNvPr>
          <p:cNvSpPr txBox="1"/>
          <p:nvPr/>
        </p:nvSpPr>
        <p:spPr>
          <a:xfrm>
            <a:off x="1929384" y="3986784"/>
            <a:ext cx="2011680" cy="1234440"/>
          </a:xfrm>
          <a:prstGeom prst="rect">
            <a:avLst/>
          </a:prstGeom>
          <a:noFill/>
          <a:ln>
            <a:solidFill>
              <a:schemeClr val="tx1"/>
            </a:solidFill>
          </a:ln>
        </p:spPr>
        <p:txBody>
          <a:bodyPr wrap="square" rtlCol="0">
            <a:spAutoFit/>
          </a:bodyPr>
          <a:lstStyle/>
          <a:p>
            <a:r>
              <a:rPr lang="en-US" dirty="0"/>
              <a:t>Example STT APIs</a:t>
            </a:r>
          </a:p>
          <a:p>
            <a:r>
              <a:rPr lang="en-US" dirty="0"/>
              <a:t>- Deepgram</a:t>
            </a:r>
            <a:endParaRPr lang="en-US" dirty="0"/>
          </a:p>
          <a:p>
            <a:r>
              <a:rPr lang="en-US" dirty="0"/>
              <a:t>- OpenAI</a:t>
            </a:r>
            <a:endParaRPr lang="en-US" dirty="0"/>
          </a:p>
          <a:p>
            <a:r>
              <a:rPr lang="en-US" dirty="0"/>
              <a:t>- fal</a:t>
            </a:r>
            <a:endParaRPr lang="en-US" dirty="0"/>
          </a:p>
        </p:txBody>
      </p:sp>
      <p:sp>
        <p:nvSpPr>
          <p:cNvPr id="59" name="TextBox 58">
            <a:extLst>
              <a:ext uri="{FF2B5EF4-FFF2-40B4-BE49-F238E27FC236}">
                <a16:creationId xmlns:a16="http://schemas.microsoft.com/office/drawing/2014/main" id="{5AC1F6E4-7D1E-E452-E7CE-DF3363C2AB1E}"/>
              </a:ext>
            </a:extLst>
          </p:cNvPr>
          <p:cNvSpPr txBox="1"/>
          <p:nvPr/>
        </p:nvSpPr>
        <p:spPr>
          <a:xfrm>
            <a:off x="4206240" y="3986784"/>
            <a:ext cx="2286000" cy="1234440"/>
          </a:xfrm>
          <a:prstGeom prst="rect">
            <a:avLst/>
          </a:prstGeom>
          <a:noFill/>
          <a:ln>
            <a:solidFill>
              <a:schemeClr val="tx1"/>
            </a:solidFill>
          </a:ln>
        </p:spPr>
        <p:txBody>
          <a:bodyPr wrap="square" rtlCol="0">
            <a:spAutoFit/>
          </a:bodyPr>
          <a:lstStyle/>
          <a:p>
            <a:r>
              <a:rPr lang="en-US" dirty="0"/>
              <a:t>Example LLM APIs</a:t>
            </a:r>
          </a:p>
          <a:p>
            <a:r>
              <a:rPr lang="en-US" dirty="0"/>
              <a:t>- OpenAI, Anthropic</a:t>
            </a:r>
            <a:endParaRPr lang="en-US" dirty="0"/>
          </a:p>
          <a:p>
            <a:r>
              <a:rPr lang="en-US" dirty="0"/>
              <a:t>- Llama</a:t>
            </a:r>
          </a:p>
          <a:p>
            <a:r>
              <a:rPr lang="en-US" dirty="0"/>
              <a:t>- Groq</a:t>
            </a:r>
            <a:endParaRPr lang="en-US" dirty="0"/>
          </a:p>
        </p:txBody>
      </p:sp>
      <p:sp>
        <p:nvSpPr>
          <p:cNvPr id="60" name="TextBox 59">
            <a:extLst>
              <a:ext uri="{FF2B5EF4-FFF2-40B4-BE49-F238E27FC236}">
                <a16:creationId xmlns:a16="http://schemas.microsoft.com/office/drawing/2014/main" id="{12EA6216-B44A-2D4C-BCBF-59D07F28BF5F}"/>
              </a:ext>
            </a:extLst>
          </p:cNvPr>
          <p:cNvSpPr txBox="1"/>
          <p:nvPr/>
        </p:nvSpPr>
        <p:spPr>
          <a:xfrm>
            <a:off x="6903720" y="3986784"/>
            <a:ext cx="2011680" cy="1234440"/>
          </a:xfrm>
          <a:prstGeom prst="rect">
            <a:avLst/>
          </a:prstGeom>
          <a:noFill/>
          <a:ln>
            <a:solidFill>
              <a:schemeClr val="tx1"/>
            </a:solidFill>
          </a:ln>
        </p:spPr>
        <p:txBody>
          <a:bodyPr wrap="square" rtlCol="0">
            <a:spAutoFit/>
          </a:bodyPr>
          <a:lstStyle/>
          <a:p>
            <a:r>
              <a:rPr lang="en-US" dirty="0"/>
              <a:t>Example TTS APIs</a:t>
            </a:r>
          </a:p>
          <a:p>
            <a:r>
              <a:rPr lang="en-US" dirty="0"/>
              <a:t>- ElevenLabs TTS</a:t>
            </a:r>
          </a:p>
          <a:p>
            <a:r>
              <a:rPr lang="en-US" dirty="0"/>
              <a:t>- Cartesia TTS</a:t>
            </a:r>
          </a:p>
          <a:p>
            <a:r>
              <a:rPr lang="en-US" dirty="0"/>
              <a:t>- OpenAI TTS</a:t>
            </a:r>
          </a:p>
        </p:txBody>
      </p:sp>
      <p:cxnSp>
        <p:nvCxnSpPr>
          <p:cNvPr id="61" name="Connector 60"/>
          <p:cNvCxnSpPr/>
          <p:nvPr/>
        </p:nvCxnSpPr>
        <p:spPr>
          <a:xfrm>
            <a:off x="8732520" y="3474720"/>
            <a:ext cx="457200" cy="685800"/>
          </a:xfrm>
          <a:prstGeom prst="line">
            <a:avLst/>
          </a:prstGeom>
          <a:ln w="1587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3763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6400C-A70D-B88D-7FA6-53EDBE94C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42B16-1269-3F53-3E43-F74A0BD8CCA5}"/>
              </a:ext>
            </a:extLst>
          </p:cNvPr>
          <p:cNvSpPr>
            <a:spLocks noGrp="1"/>
          </p:cNvSpPr>
          <p:nvPr>
            <p:ph type="title"/>
          </p:nvPr>
        </p:nvSpPr>
        <p:spPr/>
        <p:txBody>
          <a:bodyPr/>
          <a:lstStyle/>
          <a:p>
            <a:r>
              <a:rPr lang="en-US" dirty="0"/>
              <a:t>Example Providers: TTS/LLM/STT Pipeline (Real Time)</a:t>
            </a:r>
          </a:p>
        </p:txBody>
      </p:sp>
      <p:sp>
        <p:nvSpPr>
          <p:cNvPr id="3" name="Text Placeholder 2">
            <a:extLst>
              <a:ext uri="{FF2B5EF4-FFF2-40B4-BE49-F238E27FC236}">
                <a16:creationId xmlns:a16="http://schemas.microsoft.com/office/drawing/2014/main" id="{1CA6F050-CCC1-14EA-E79C-3EC7A265CFD2}"/>
              </a:ext>
            </a:extLst>
          </p:cNvPr>
          <p:cNvSpPr>
            <a:spLocks noGrp="1"/>
          </p:cNvSpPr>
          <p:nvPr>
            <p:ph type="body" sz="quarter" idx="11"/>
          </p:nvPr>
        </p:nvSpPr>
        <p:spPr/>
        <p:txBody>
          <a:bodyPr/>
          <a:lstStyle/>
          <a:p>
            <a:r>
              <a:rPr lang="en-US" dirty="0"/>
              <a:t>Live conversation requires low latency audio streaming</a:t>
            </a:r>
          </a:p>
          <a:p>
            <a:endParaRPr lang="en-US" dirty="0"/>
          </a:p>
        </p:txBody>
      </p:sp>
      <p:sp>
        <p:nvSpPr>
          <p:cNvPr id="4" name="Footer Placeholder 3">
            <a:extLst>
              <a:ext uri="{FF2B5EF4-FFF2-40B4-BE49-F238E27FC236}">
                <a16:creationId xmlns:a16="http://schemas.microsoft.com/office/drawing/2014/main" id="{18BFF165-B3E7-25BB-4D92-BA24A6DEC1E7}"/>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9719ED1D-4E2A-1521-0249-727BDD0FD996}"/>
              </a:ext>
            </a:extLst>
          </p:cNvPr>
          <p:cNvSpPr>
            <a:spLocks noGrp="1"/>
          </p:cNvSpPr>
          <p:nvPr>
            <p:ph type="sldNum" sz="quarter" idx="14"/>
          </p:nvPr>
        </p:nvSpPr>
        <p:spPr/>
        <p:txBody>
          <a:bodyPr/>
          <a:lstStyle/>
          <a:p>
            <a:fld id="{CE19DD2C-80DA-488C-99A4-6C8CE83C9C30}" type="slidenum">
              <a:rPr lang="en-SG" smtClean="0"/>
              <a:t>6</a:t>
            </a:fld>
            <a:endParaRPr lang="en-SG"/>
          </a:p>
        </p:txBody>
      </p:sp>
      <p:pic>
        <p:nvPicPr>
          <p:cNvPr id="8" name="Graphic 7" descr="Volume outline">
            <a:extLst>
              <a:ext uri="{FF2B5EF4-FFF2-40B4-BE49-F238E27FC236}">
                <a16:creationId xmlns:a16="http://schemas.microsoft.com/office/drawing/2014/main" id="{B6994FBE-CF03-EE0A-1DA6-82848EFDC3C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7700" y="3429000"/>
            <a:ext cx="914400" cy="914400"/>
          </a:xfrm>
          <a:prstGeom prst="rect">
            <a:avLst/>
          </a:prstGeom>
        </p:spPr>
      </p:pic>
      <p:sp>
        <p:nvSpPr>
          <p:cNvPr id="9" name="TextBox 8">
            <a:extLst>
              <a:ext uri="{FF2B5EF4-FFF2-40B4-BE49-F238E27FC236}">
                <a16:creationId xmlns:a16="http://schemas.microsoft.com/office/drawing/2014/main" id="{45A9EF58-B94C-07A0-C7DB-2FA1E73228B3}"/>
              </a:ext>
            </a:extLst>
          </p:cNvPr>
          <p:cNvSpPr txBox="1"/>
          <p:nvPr/>
        </p:nvSpPr>
        <p:spPr>
          <a:xfrm>
            <a:off x="548640" y="2782669"/>
            <a:ext cx="1795620" cy="646331"/>
          </a:xfrm>
          <a:prstGeom prst="rect">
            <a:avLst/>
          </a:prstGeom>
          <a:noFill/>
        </p:spPr>
        <p:txBody>
          <a:bodyPr wrap="none" rtlCol="0">
            <a:spAutoFit/>
          </a:bodyPr>
          <a:lstStyle/>
          <a:p>
            <a:r>
              <a:rPr lang="en-US" dirty="0"/>
              <a:t>Input: User Voice</a:t>
            </a:r>
          </a:p>
          <a:p>
            <a:r>
              <a:rPr lang="en-US" dirty="0"/>
              <a:t>Query</a:t>
            </a:r>
          </a:p>
        </p:txBody>
      </p:sp>
      <p:sp>
        <p:nvSpPr>
          <p:cNvPr id="10" name="TextBox 9">
            <a:extLst>
              <a:ext uri="{FF2B5EF4-FFF2-40B4-BE49-F238E27FC236}">
                <a16:creationId xmlns:a16="http://schemas.microsoft.com/office/drawing/2014/main" id="{2C04C7DC-2A00-FC77-E36E-2F9AFACACFA9}"/>
              </a:ext>
            </a:extLst>
          </p:cNvPr>
          <p:cNvSpPr txBox="1"/>
          <p:nvPr/>
        </p:nvSpPr>
        <p:spPr>
          <a:xfrm>
            <a:off x="2351768" y="2921168"/>
            <a:ext cx="1171475" cy="646331"/>
          </a:xfrm>
          <a:prstGeom prst="rect">
            <a:avLst/>
          </a:prstGeom>
          <a:noFill/>
          <a:ln>
            <a:solidFill>
              <a:schemeClr val="tx1"/>
            </a:solidFill>
          </a:ln>
        </p:spPr>
        <p:txBody>
          <a:bodyPr wrap="none" rtlCol="0">
            <a:spAutoFit/>
          </a:bodyPr>
          <a:lstStyle/>
          <a:p>
            <a:r>
              <a:rPr lang="en-US" dirty="0"/>
              <a:t>Speech to </a:t>
            </a:r>
          </a:p>
          <a:p>
            <a:r>
              <a:rPr lang="en-US" dirty="0"/>
              <a:t>Text</a:t>
            </a:r>
          </a:p>
        </p:txBody>
      </p:sp>
      <p:sp>
        <p:nvSpPr>
          <p:cNvPr id="11" name="TextBox 10">
            <a:extLst>
              <a:ext uri="{FF2B5EF4-FFF2-40B4-BE49-F238E27FC236}">
                <a16:creationId xmlns:a16="http://schemas.microsoft.com/office/drawing/2014/main" id="{A2733183-188D-1394-C774-591B623B393F}"/>
              </a:ext>
            </a:extLst>
          </p:cNvPr>
          <p:cNvSpPr txBox="1"/>
          <p:nvPr/>
        </p:nvSpPr>
        <p:spPr>
          <a:xfrm>
            <a:off x="4297512" y="2921168"/>
            <a:ext cx="2033698" cy="646331"/>
          </a:xfrm>
          <a:prstGeom prst="rect">
            <a:avLst/>
          </a:prstGeom>
          <a:noFill/>
          <a:ln>
            <a:solidFill>
              <a:schemeClr val="tx1"/>
            </a:solidFill>
          </a:ln>
        </p:spPr>
        <p:txBody>
          <a:bodyPr wrap="none" rtlCol="0">
            <a:spAutoFit/>
          </a:bodyPr>
          <a:lstStyle/>
          <a:p>
            <a:r>
              <a:rPr lang="en-US" dirty="0"/>
              <a:t>LLM or Agentic LLM</a:t>
            </a:r>
          </a:p>
          <a:p>
            <a:r>
              <a:rPr lang="en-US" dirty="0"/>
              <a:t>workflow</a:t>
            </a:r>
          </a:p>
        </p:txBody>
      </p:sp>
      <p:sp>
        <p:nvSpPr>
          <p:cNvPr id="12" name="TextBox 11">
            <a:extLst>
              <a:ext uri="{FF2B5EF4-FFF2-40B4-BE49-F238E27FC236}">
                <a16:creationId xmlns:a16="http://schemas.microsoft.com/office/drawing/2014/main" id="{3D8D1BE4-20D2-8AEE-62E0-85657350AE58}"/>
              </a:ext>
            </a:extLst>
          </p:cNvPr>
          <p:cNvSpPr txBox="1"/>
          <p:nvPr/>
        </p:nvSpPr>
        <p:spPr>
          <a:xfrm>
            <a:off x="7191475" y="2921168"/>
            <a:ext cx="1545744" cy="646331"/>
          </a:xfrm>
          <a:prstGeom prst="rect">
            <a:avLst/>
          </a:prstGeom>
          <a:noFill/>
          <a:ln>
            <a:solidFill>
              <a:schemeClr val="tx1"/>
            </a:solidFill>
          </a:ln>
        </p:spPr>
        <p:txBody>
          <a:bodyPr wrap="none" rtlCol="0">
            <a:spAutoFit/>
          </a:bodyPr>
          <a:lstStyle/>
          <a:p>
            <a:r>
              <a:rPr lang="en-US" dirty="0"/>
              <a:t>Text to Speech</a:t>
            </a:r>
          </a:p>
          <a:p>
            <a:endParaRPr lang="en-US" dirty="0"/>
          </a:p>
        </p:txBody>
      </p:sp>
      <p:pic>
        <p:nvPicPr>
          <p:cNvPr id="14" name="Graphic 13" descr="Volume outline">
            <a:extLst>
              <a:ext uri="{FF2B5EF4-FFF2-40B4-BE49-F238E27FC236}">
                <a16:creationId xmlns:a16="http://schemas.microsoft.com/office/drawing/2014/main" id="{72528BBF-9421-7582-BAD5-3DC271AFD5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37531" y="2650867"/>
            <a:ext cx="914400" cy="914400"/>
          </a:xfrm>
          <a:prstGeom prst="rect">
            <a:avLst/>
          </a:prstGeom>
        </p:spPr>
      </p:pic>
      <p:pic>
        <p:nvPicPr>
          <p:cNvPr id="15" name="Graphic 14" descr="Presentation with media with solid fill">
            <a:extLst>
              <a:ext uri="{FF2B5EF4-FFF2-40B4-BE49-F238E27FC236}">
                <a16:creationId xmlns:a16="http://schemas.microsoft.com/office/drawing/2014/main" id="{8D473B30-AF25-A903-AF43-38324457FCB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971570" y="3923340"/>
            <a:ext cx="914400" cy="914400"/>
          </a:xfrm>
          <a:prstGeom prst="rect">
            <a:avLst/>
          </a:prstGeom>
        </p:spPr>
      </p:pic>
      <p:cxnSp>
        <p:nvCxnSpPr>
          <p:cNvPr id="16" name="Straight Arrow Connector 15">
            <a:extLst>
              <a:ext uri="{FF2B5EF4-FFF2-40B4-BE49-F238E27FC236}">
                <a16:creationId xmlns:a16="http://schemas.microsoft.com/office/drawing/2014/main" id="{39D1FEEA-F993-ABCA-ACAD-1D0935D43794}"/>
              </a:ext>
            </a:extLst>
          </p:cNvPr>
          <p:cNvCxnSpPr>
            <a:stCxn id="8" idx="3"/>
            <a:endCxn id="10" idx="1"/>
          </p:cNvCxnSpPr>
          <p:nvPr/>
        </p:nvCxnSpPr>
        <p:spPr>
          <a:xfrm flipV="1">
            <a:off x="1562100" y="3244334"/>
            <a:ext cx="789668" cy="641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6057C45-80A7-4738-DB56-619B4442EA1F}"/>
              </a:ext>
            </a:extLst>
          </p:cNvPr>
          <p:cNvCxnSpPr>
            <a:stCxn id="10" idx="3"/>
          </p:cNvCxnSpPr>
          <p:nvPr/>
        </p:nvCxnSpPr>
        <p:spPr>
          <a:xfrm flipV="1">
            <a:off x="3523243" y="3244333"/>
            <a:ext cx="8859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CC72B1E-2BFB-48A1-5846-1D12A53AF141}"/>
              </a:ext>
            </a:extLst>
          </p:cNvPr>
          <p:cNvCxnSpPr>
            <a:stCxn id="11" idx="3"/>
            <a:endCxn id="12" idx="1"/>
          </p:cNvCxnSpPr>
          <p:nvPr/>
        </p:nvCxnSpPr>
        <p:spPr>
          <a:xfrm>
            <a:off x="6331210" y="3244334"/>
            <a:ext cx="8602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3783870-7C48-BA59-A60A-6E9AC9919F14}"/>
              </a:ext>
            </a:extLst>
          </p:cNvPr>
          <p:cNvCxnSpPr>
            <a:cxnSpLocks/>
            <a:stCxn id="12" idx="3"/>
          </p:cNvCxnSpPr>
          <p:nvPr/>
        </p:nvCxnSpPr>
        <p:spPr>
          <a:xfrm>
            <a:off x="8737219" y="3244334"/>
            <a:ext cx="27432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DA86025-5BFE-0EF0-299C-BE44742A0D66}"/>
              </a:ext>
            </a:extLst>
          </p:cNvPr>
          <p:cNvSpPr txBox="1"/>
          <p:nvPr/>
        </p:nvSpPr>
        <p:spPr>
          <a:xfrm>
            <a:off x="10104120" y="2090171"/>
            <a:ext cx="1444752" cy="2308324"/>
          </a:xfrm>
          <a:prstGeom prst="rect">
            <a:avLst/>
          </a:prstGeom>
          <a:noFill/>
        </p:spPr>
        <p:txBody>
          <a:bodyPr wrap="square" rtlCol="0">
            <a:spAutoFit/>
          </a:bodyPr>
          <a:lstStyle/>
          <a:p>
            <a:r>
              <a:rPr lang="en-US" dirty="0" sz="1200"/>
              <a:t>Output:</a:t>
            </a:r>
          </a:p>
          <a:p>
            <a:r>
              <a:rPr lang="en-US" dirty="0" sz="1200"/>
              <a:t>System Voice </a:t>
            </a:r>
          </a:p>
          <a:p>
            <a:r>
              <a:rPr lang="en-US" dirty="0" sz="1200"/>
              <a:t>Response</a:t>
            </a:r>
          </a:p>
          <a:p>
            <a:endParaRPr lang="en-US" dirty="0"/>
          </a:p>
          <a:p>
            <a:endParaRPr lang="en-US" dirty="0"/>
          </a:p>
          <a:p>
            <a:r>
              <a:rPr lang="en-US" dirty="0" sz="1200"/>
              <a:t>Or </a:t>
            </a:r>
          </a:p>
          <a:p>
            <a:r>
              <a:rPr lang="en-US" dirty="0" sz="1200"/>
              <a:t>System Video </a:t>
            </a:r>
          </a:p>
          <a:p>
            <a:r>
              <a:rPr lang="en-US" dirty="0" sz="1200"/>
              <a:t>Response</a:t>
            </a:r>
          </a:p>
        </p:txBody>
      </p:sp>
      <p:sp>
        <p:nvSpPr>
          <p:cNvPr id="59" name="TextBox 58">
            <a:extLst>
              <a:ext uri="{FF2B5EF4-FFF2-40B4-BE49-F238E27FC236}">
                <a16:creationId xmlns:a16="http://schemas.microsoft.com/office/drawing/2014/main" id="{92340302-2FF9-0957-FF9A-5721BFE08457}"/>
              </a:ext>
            </a:extLst>
          </p:cNvPr>
          <p:cNvSpPr txBox="1"/>
          <p:nvPr/>
        </p:nvSpPr>
        <p:spPr>
          <a:xfrm>
            <a:off x="4192592" y="4034982"/>
            <a:ext cx="3484558" cy="1200329"/>
          </a:xfrm>
          <a:prstGeom prst="rect">
            <a:avLst/>
          </a:prstGeom>
          <a:noFill/>
          <a:ln>
            <a:solidFill>
              <a:schemeClr val="tx1"/>
            </a:solidFill>
          </a:ln>
        </p:spPr>
        <p:txBody>
          <a:bodyPr wrap="square" rtlCol="0">
            <a:spAutoFit/>
          </a:bodyPr>
          <a:lstStyle/>
          <a:p>
            <a:r>
              <a:rPr lang="en-US" dirty="0"/>
              <a:t>Example Real-Time APIs</a:t>
            </a:r>
          </a:p>
          <a:p>
            <a:r>
              <a:rPr lang="en-US" dirty="0"/>
              <a:t>- Gemini Multimodal Live</a:t>
            </a:r>
          </a:p>
          <a:p>
            <a:r>
              <a:rPr lang="en-US" dirty="0"/>
              <a:t>- OpenAI Realtime</a:t>
            </a:r>
          </a:p>
          <a:p>
            <a:r>
              <a:rPr lang="en-US" dirty="0"/>
              <a:t>- Azure OpenAI Realtime</a:t>
            </a:r>
            <a:endParaRPr lang="en-US" dirty="0"/>
          </a:p>
        </p:txBody>
      </p:sp>
      <p:cxnSp>
        <p:nvCxnSpPr>
          <p:cNvPr id="60" name="Connector 59"/>
          <p:cNvCxnSpPr/>
          <p:nvPr/>
        </p:nvCxnSpPr>
        <p:spPr>
          <a:xfrm>
            <a:off x="8732520" y="3474720"/>
            <a:ext cx="457200" cy="685800"/>
          </a:xfrm>
          <a:prstGeom prst="line">
            <a:avLst/>
          </a:prstGeom>
          <a:ln w="1587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4837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6B318-0FC9-D37D-7C17-02AD5080EAB4}"/>
              </a:ext>
            </a:extLst>
          </p:cNvPr>
          <p:cNvSpPr>
            <a:spLocks noGrp="1"/>
          </p:cNvSpPr>
          <p:nvPr>
            <p:ph type="title"/>
          </p:nvPr>
        </p:nvSpPr>
        <p:spPr/>
        <p:txBody>
          <a:bodyPr/>
          <a:lstStyle/>
          <a:p>
            <a:r>
              <a:rPr lang="en-US" dirty="0"/>
              <a:t>AI Voice Agent — Call Management</a:t>
            </a:r>
          </a:p>
        </p:txBody>
      </p:sp>
      <p:sp>
        <p:nvSpPr>
          <p:cNvPr id="3" name="Text Placeholder 2">
            <a:extLst>
              <a:ext uri="{FF2B5EF4-FFF2-40B4-BE49-F238E27FC236}">
                <a16:creationId xmlns:a16="http://schemas.microsoft.com/office/drawing/2014/main" id="{1449AD33-1348-224A-1CEB-385C87898479}"/>
              </a:ext>
            </a:extLst>
          </p:cNvPr>
          <p:cNvSpPr>
            <a:spLocks noGrp="1"/>
          </p:cNvSpPr>
          <p:nvPr>
            <p:ph type="body" sz="quarter" idx="11"/>
          </p:nvPr>
        </p:nvSpPr>
        <p:spPr>
          <a:xfrm>
            <a:off x="542018" y="1562095"/>
            <a:ext cx="6309360" cy="4791607"/>
          </a:xfrm>
        </p:spPr>
        <p:txBody>
          <a:bodyPr>
            <a:normAutofit/>
          </a:bodyPr>
          <a:lstStyle/>
          <a:p>
            <a:r>
              <a:rPr lang="en-US" sz="2000" b="1" dirty="0"/>
              <a:t>Call management</a:t>
            </a:r>
            <a:r>
              <a:rPr lang="en-US" sz="2000" dirty="0"/>
              <a:t> refers to how an AI voice agent handles the </a:t>
            </a:r>
            <a:r>
              <a:rPr lang="en-US" sz="2000" b="1" dirty="0"/>
              <a:t>flow of a live call</a:t>
            </a:r>
            <a:r>
              <a:rPr lang="en-US" sz="2000" dirty="0"/>
              <a:t> — from detecting when a person starts or stops speaking, managing turn-taking, handling interruptions, to controlling session state (hold, transfer, end).</a:t>
            </a:r>
          </a:p>
          <a:p>
            <a:pPr marL="0" indent="0">
              <a:buNone/>
            </a:pPr>
            <a:endParaRPr lang="en-US" sz="2000" dirty="0"/>
          </a:p>
          <a:p>
            <a:r>
              <a:rPr lang="en-US" sz="2000" dirty="0"/>
              <a:t>A good call management system ensures </a:t>
            </a:r>
            <a:r>
              <a:rPr lang="en-US" sz="2000" b="1" dirty="0"/>
              <a:t>natural, human-like interaction</a:t>
            </a:r>
            <a:r>
              <a:rPr lang="en-US" sz="2000" dirty="0"/>
              <a:t>, even though multiple processes (ASR, NLP, TTS) are running behind the scenes in real time.</a:t>
            </a:r>
          </a:p>
          <a:p>
            <a:endParaRPr lang="en-US" dirty="0"/>
          </a:p>
        </p:txBody>
      </p:sp>
      <p:sp>
        <p:nvSpPr>
          <p:cNvPr id="4" name="Footer Placeholder 3">
            <a:extLst>
              <a:ext uri="{FF2B5EF4-FFF2-40B4-BE49-F238E27FC236}">
                <a16:creationId xmlns:a16="http://schemas.microsoft.com/office/drawing/2014/main" id="{BF91102E-B873-3B52-EB84-041F548640D0}"/>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EC84CBA3-83FC-A5B5-F765-49D4B9FA7D81}"/>
              </a:ext>
            </a:extLst>
          </p:cNvPr>
          <p:cNvSpPr>
            <a:spLocks noGrp="1"/>
          </p:cNvSpPr>
          <p:nvPr>
            <p:ph type="sldNum" sz="quarter" idx="14"/>
          </p:nvPr>
        </p:nvSpPr>
        <p:spPr/>
        <p:txBody>
          <a:bodyPr/>
          <a:lstStyle/>
          <a:p>
            <a:fld id="{CE19DD2C-80DA-488C-99A4-6C8CE83C9C30}" type="slidenum">
              <a:rPr lang="en-SG" smtClean="0"/>
              <a:t>7</a:t>
            </a:fld>
            <a:endParaRPr lang="en-SG"/>
          </a:p>
        </p:txBody>
      </p:sp>
      <p:pic>
        <p:nvPicPr>
          <p:cNvPr id="1026" name="Picture 2" descr="voice bot">
            <a:extLst>
              <a:ext uri="{FF2B5EF4-FFF2-40B4-BE49-F238E27FC236}">
                <a16:creationId xmlns:a16="http://schemas.microsoft.com/office/drawing/2014/main" id="{E063016E-7D53-DD20-3712-B2D4335B04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3760" y="1600200"/>
            <a:ext cx="4325112" cy="29566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B1FB4F1-020E-99D1-AA01-AA1798F4C7A0}"/>
              </a:ext>
            </a:extLst>
          </p:cNvPr>
          <p:cNvSpPr txBox="1"/>
          <p:nvPr/>
        </p:nvSpPr>
        <p:spPr>
          <a:xfrm>
            <a:off x="7223760" y="4648259"/>
            <a:ext cx="4325112" cy="246221"/>
          </a:xfrm>
          <a:prstGeom prst="rect">
            <a:avLst/>
          </a:prstGeom>
          <a:noFill/>
        </p:spPr>
        <p:txBody>
          <a:bodyPr wrap="square">
            <a:spAutoFit/>
          </a:bodyPr>
          <a:lstStyle/>
          <a:p>
            <a:pPr algn="ctr"/>
            <a:r>
              <a:rPr lang="en-US" sz="1050" dirty="0">
                <a:solidFill>
                  <a:srgbClr val="808080"/>
                </a:solidFill>
              </a:rPr>
              <a:t>Image source: https://www.kapture.cx/blog/ai-voice-bot/</a:t>
            </a:r>
          </a:p>
        </p:txBody>
      </p:sp>
    </p:spTree>
    <p:extLst>
      <p:ext uri="{BB962C8B-B14F-4D97-AF65-F5344CB8AC3E}">
        <p14:creationId xmlns:p14="http://schemas.microsoft.com/office/powerpoint/2010/main" val="1978977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56998-296E-8F40-E7A6-41DC24D1F90D}"/>
              </a:ext>
            </a:extLst>
          </p:cNvPr>
          <p:cNvSpPr>
            <a:spLocks noGrp="1"/>
          </p:cNvSpPr>
          <p:nvPr>
            <p:ph type="title"/>
          </p:nvPr>
        </p:nvSpPr>
        <p:spPr/>
        <p:txBody>
          <a:bodyPr/>
          <a:lstStyle/>
          <a:p>
            <a:r>
              <a:rPr lang="en-US" dirty="0"/>
              <a:t>Core Components of Call Management</a:t>
            </a:r>
          </a:p>
        </p:txBody>
      </p:sp>
      <p:sp>
        <p:nvSpPr>
          <p:cNvPr id="4" name="Footer Placeholder 3">
            <a:extLst>
              <a:ext uri="{FF2B5EF4-FFF2-40B4-BE49-F238E27FC236}">
                <a16:creationId xmlns:a16="http://schemas.microsoft.com/office/drawing/2014/main" id="{D26C3ED6-F61F-4456-A1F9-A6EBAA753663}"/>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127D528-89B6-6433-EB10-23AB4F7FC93B}"/>
              </a:ext>
            </a:extLst>
          </p:cNvPr>
          <p:cNvSpPr>
            <a:spLocks noGrp="1"/>
          </p:cNvSpPr>
          <p:nvPr>
            <p:ph type="sldNum" sz="quarter" idx="14"/>
          </p:nvPr>
        </p:nvSpPr>
        <p:spPr/>
        <p:txBody>
          <a:bodyPr/>
          <a:lstStyle/>
          <a:p>
            <a:fld id="{CE19DD2C-80DA-488C-99A4-6C8CE83C9C30}" type="slidenum">
              <a:rPr lang="en-SG" smtClean="0"/>
              <a:t>8</a:t>
            </a:fld>
            <a:endParaRPr lang="en-SG"/>
          </a:p>
        </p:txBody>
      </p:sp>
      <p:graphicFrame>
        <p:nvGraphicFramePr>
          <p:cNvPr id="6" name="Table 5">
            <a:extLst>
              <a:ext uri="{FF2B5EF4-FFF2-40B4-BE49-F238E27FC236}">
                <a16:creationId xmlns:a16="http://schemas.microsoft.com/office/drawing/2014/main" id="{BA170A85-45FF-5B18-D093-D347E7F14B9E}"/>
              </a:ext>
            </a:extLst>
          </p:cNvPr>
          <p:cNvGraphicFramePr>
            <a:graphicFrameLocks noGrp="1"/>
          </p:cNvGraphicFramePr>
          <p:nvPr>
            <p:extLst>
              <p:ext uri="{D42A27DB-BD31-4B8C-83A1-F6EECF244321}">
                <p14:modId xmlns:p14="http://schemas.microsoft.com/office/powerpoint/2010/main" val="3576934142"/>
              </p:ext>
            </p:extLst>
          </p:nvPr>
        </p:nvGraphicFramePr>
        <p:xfrm>
          <a:off x="640080" y="1561795"/>
          <a:ext cx="10908792" cy="4602480"/>
        </p:xfrm>
        <a:graphic>
          <a:graphicData uri="http://schemas.openxmlformats.org/drawingml/2006/table">
            <a:tbl>
              <a:tblPr firstRow="1"/>
              <a:tblGrid>
                <a:gridCol w="3293454">
                  <a:extLst>
                    <a:ext uri="{9D8B030D-6E8A-4147-A177-3AD203B41FA5}">
                      <a16:colId xmlns:a16="http://schemas.microsoft.com/office/drawing/2014/main" val="2538970059"/>
                    </a:ext>
                  </a:extLst>
                </a:gridCol>
                <a:gridCol w="3979073">
                  <a:extLst>
                    <a:ext uri="{9D8B030D-6E8A-4147-A177-3AD203B41FA5}">
                      <a16:colId xmlns:a16="http://schemas.microsoft.com/office/drawing/2014/main" val="2144558763"/>
                    </a:ext>
                  </a:extLst>
                </a:gridCol>
                <a:gridCol w="3636264">
                  <a:extLst>
                    <a:ext uri="{9D8B030D-6E8A-4147-A177-3AD203B41FA5}">
                      <a16:colId xmlns:a16="http://schemas.microsoft.com/office/drawing/2014/main" val="2904867719"/>
                    </a:ext>
                  </a:extLst>
                </a:gridCol>
              </a:tblGrid>
              <a:tr h="0">
                <a:tc>
                  <a:txBody>
                    <a:bodyPr/>
                    <a:lstStyle/>
                    <a:p>
                      <a:pPr>
                        <a:buNone/>
                      </a:pPr>
                      <a:r>
                        <a:rPr lang="en-US" sz="1800" b="1" dirty="0">
                          <a:solidFill>
                            <a:srgbClr val="FFFFFF"/>
                          </a:solidFill>
                        </a:rPr>
                        <a:t>Component</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sz="1800" b="1">
                          <a:solidFill>
                            <a:srgbClr val="FFFFFF"/>
                          </a:solidFill>
                        </a:rPr>
                        <a:t>Description</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sz="1800" b="1" dirty="0">
                          <a:solidFill>
                            <a:srgbClr val="FFFFFF"/>
                          </a:solidFill>
                        </a:rPr>
                        <a:t>Purpose</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extLst>
                  <a:ext uri="{0D108BD9-81ED-4DB2-BD59-A6C34878D82A}">
                    <a16:rowId xmlns:a16="http://schemas.microsoft.com/office/drawing/2014/main" val="183552912"/>
                  </a:ext>
                </a:extLst>
              </a:tr>
              <a:tr h="0">
                <a:tc>
                  <a:txBody>
                    <a:bodyPr/>
                    <a:lstStyle/>
                    <a:p>
                      <a:pPr>
                        <a:buNone/>
                      </a:pPr>
                      <a:r>
                        <a:rPr lang="en-US" sz="1800" b="1" dirty="0">
                          <a:solidFill>
                            <a:srgbClr val="262626"/>
                          </a:solidFill>
                        </a:rPr>
                        <a:t>VAD (Voice Activity Detection)</a:t>
                      </a:r>
                      <a:endParaRPr lang="en-US" sz="2000" dirty="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dirty="0">
                          <a:solidFill>
                            <a:srgbClr val="262626"/>
                          </a:solidFill>
                        </a:rPr>
                        <a:t>Detects speech vs silence from audio stream.</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a:solidFill>
                            <a:srgbClr val="262626"/>
                          </a:solidFill>
                        </a:rPr>
                        <a:t>Helps system decide when to start/stop STT processing.</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013233257"/>
                  </a:ext>
                </a:extLst>
              </a:tr>
              <a:tr h="0">
                <a:tc>
                  <a:txBody>
                    <a:bodyPr/>
                    <a:lstStyle/>
                    <a:p>
                      <a:pPr>
                        <a:buNone/>
                      </a:pPr>
                      <a:r>
                        <a:rPr lang="en-US" sz="1800" b="1">
                          <a:solidFill>
                            <a:srgbClr val="262626"/>
                          </a:solidFill>
                        </a:rPr>
                        <a:t>Endpoint Detection</a:t>
                      </a:r>
                      <a:endParaRPr lang="en-US" sz="200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800" dirty="0">
                          <a:solidFill>
                            <a:srgbClr val="262626"/>
                          </a:solidFill>
                        </a:rPr>
                        <a:t>Determines when user has finished speaking.</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800" dirty="0">
                          <a:solidFill>
                            <a:srgbClr val="262626"/>
                          </a:solidFill>
                        </a:rPr>
                        <a:t>Prevents premature cutoff or long silences.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1364219057"/>
                  </a:ext>
                </a:extLst>
              </a:tr>
              <a:tr h="0">
                <a:tc>
                  <a:txBody>
                    <a:bodyPr/>
                    <a:lstStyle/>
                    <a:p>
                      <a:pPr>
                        <a:buNone/>
                      </a:pPr>
                      <a:r>
                        <a:rPr lang="en-US" sz="1800" b="1" dirty="0">
                          <a:solidFill>
                            <a:srgbClr val="262626"/>
                          </a:solidFill>
                        </a:rPr>
                        <a:t>Barge-In Detection</a:t>
                      </a:r>
                      <a:endParaRPr lang="en-US" sz="2000" dirty="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a:solidFill>
                            <a:srgbClr val="262626"/>
                          </a:solidFill>
                        </a:rPr>
                        <a:t>Detects user interruption while TTS is playing.</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dirty="0">
                          <a:solidFill>
                            <a:srgbClr val="262626"/>
                          </a:solidFill>
                        </a:rPr>
                        <a:t>Enables natural interruptions (user can stop the bot mid-sentence).</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09911668"/>
                  </a:ext>
                </a:extLst>
              </a:tr>
              <a:tr h="0">
                <a:tc>
                  <a:txBody>
                    <a:bodyPr/>
                    <a:lstStyle/>
                    <a:p>
                      <a:pPr>
                        <a:buNone/>
                      </a:pPr>
                      <a:r>
                        <a:rPr lang="en-US" sz="1800" b="1" dirty="0">
                          <a:solidFill>
                            <a:srgbClr val="262626"/>
                          </a:solidFill>
                        </a:rPr>
                        <a:t>Turn-Taking Management</a:t>
                      </a:r>
                      <a:endParaRPr lang="en-US" sz="2000" dirty="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800">
                          <a:solidFill>
                            <a:srgbClr val="262626"/>
                          </a:solidFill>
                        </a:rPr>
                        <a:t>Coordinates who speaks when (bot vs user).</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fr-FR" sz="1800" dirty="0" err="1">
                          <a:solidFill>
                            <a:srgbClr val="262626"/>
                          </a:solidFill>
                        </a:rPr>
                        <a:t>Avoids</a:t>
                      </a:r>
                      <a:r>
                        <a:rPr lang="fr-FR" sz="1800" dirty="0">
                          <a:solidFill>
                            <a:srgbClr val="262626"/>
                          </a:solidFill>
                        </a:rPr>
                        <a:t> </a:t>
                      </a:r>
                      <a:r>
                        <a:rPr lang="fr-FR" sz="1800" dirty="0" err="1">
                          <a:solidFill>
                            <a:srgbClr val="262626"/>
                          </a:solidFill>
                        </a:rPr>
                        <a:t>overlaps</a:t>
                      </a:r>
                      <a:r>
                        <a:rPr lang="fr-FR" sz="1800" dirty="0">
                          <a:solidFill>
                            <a:srgbClr val="262626"/>
                          </a:solidFill>
                        </a:rPr>
                        <a:t>, </a:t>
                      </a:r>
                      <a:r>
                        <a:rPr lang="fr-FR" sz="1800" dirty="0" err="1">
                          <a:solidFill>
                            <a:srgbClr val="262626"/>
                          </a:solidFill>
                        </a:rPr>
                        <a:t>ensures</a:t>
                      </a:r>
                      <a:r>
                        <a:rPr lang="fr-FR" sz="1800" dirty="0">
                          <a:solidFill>
                            <a:srgbClr val="262626"/>
                          </a:solidFill>
                        </a:rPr>
                        <a:t> </a:t>
                      </a:r>
                      <a:r>
                        <a:rPr lang="fr-FR" sz="1800" dirty="0" err="1">
                          <a:solidFill>
                            <a:srgbClr val="262626"/>
                          </a:solidFill>
                        </a:rPr>
                        <a:t>fluid</a:t>
                      </a:r>
                      <a:r>
                        <a:rPr lang="fr-FR" sz="1800" dirty="0">
                          <a:solidFill>
                            <a:srgbClr val="262626"/>
                          </a:solidFill>
                        </a:rPr>
                        <a:t> dialogue.</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2910464000"/>
                  </a:ext>
                </a:extLst>
              </a:tr>
              <a:tr h="0">
                <a:tc>
                  <a:txBody>
                    <a:bodyPr/>
                    <a:lstStyle/>
                    <a:p>
                      <a:pPr>
                        <a:buNone/>
                      </a:pPr>
                      <a:r>
                        <a:rPr lang="en-US" sz="1800" b="1">
                          <a:solidFill>
                            <a:srgbClr val="262626"/>
                          </a:solidFill>
                        </a:rPr>
                        <a:t>Call State Management</a:t>
                      </a:r>
                      <a:endParaRPr lang="en-US" sz="200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a:solidFill>
                            <a:srgbClr val="262626"/>
                          </a:solidFill>
                        </a:rPr>
                        <a:t>Tracks call lifecycle — start, hold, resume, transfer, end.</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dirty="0">
                          <a:solidFill>
                            <a:srgbClr val="262626"/>
                          </a:solidFill>
                        </a:rPr>
                        <a:t>Integrates with telephony or CRM backend.</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993886937"/>
                  </a:ext>
                </a:extLst>
              </a:tr>
              <a:tr h="0">
                <a:tc>
                  <a:txBody>
                    <a:bodyPr/>
                    <a:lstStyle/>
                    <a:p>
                      <a:pPr>
                        <a:buNone/>
                      </a:pPr>
                      <a:r>
                        <a:rPr lang="en-US" sz="1800" b="1">
                          <a:solidFill>
                            <a:srgbClr val="262626"/>
                          </a:solidFill>
                        </a:rPr>
                        <a:t>Session Context Tracking</a:t>
                      </a:r>
                      <a:endParaRPr lang="en-US" sz="200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800">
                          <a:solidFill>
                            <a:srgbClr val="262626"/>
                          </a:solidFill>
                        </a:rPr>
                        <a:t>Maintains conversational state and user intent.</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800" dirty="0">
                          <a:solidFill>
                            <a:srgbClr val="262626"/>
                          </a:solidFill>
                        </a:rPr>
                        <a:t>Ensures continuity within the same call.</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1932133572"/>
                  </a:ext>
                </a:extLst>
              </a:tr>
            </a:tbl>
          </a:graphicData>
        </a:graphic>
      </p:graphicFrame>
    </p:spTree>
    <p:extLst>
      <p:ext uri="{BB962C8B-B14F-4D97-AF65-F5344CB8AC3E}">
        <p14:creationId xmlns:p14="http://schemas.microsoft.com/office/powerpoint/2010/main" val="2595699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49EB4-5AEC-F0F0-84FD-BD9D305DCC76}"/>
              </a:ext>
            </a:extLst>
          </p:cNvPr>
          <p:cNvSpPr>
            <a:spLocks noGrp="1"/>
          </p:cNvSpPr>
          <p:nvPr>
            <p:ph type="title"/>
          </p:nvPr>
        </p:nvSpPr>
        <p:spPr/>
        <p:txBody>
          <a:bodyPr/>
          <a:lstStyle/>
          <a:p>
            <a:r>
              <a:rPr lang="en-US" dirty="0"/>
              <a:t>Call Flow Architecture</a:t>
            </a:r>
          </a:p>
        </p:txBody>
      </p:sp>
      <p:sp>
        <p:nvSpPr>
          <p:cNvPr id="4" name="Footer Placeholder 3">
            <a:extLst>
              <a:ext uri="{FF2B5EF4-FFF2-40B4-BE49-F238E27FC236}">
                <a16:creationId xmlns:a16="http://schemas.microsoft.com/office/drawing/2014/main" id="{D56C1291-7F46-0B4C-1B64-950638C4E510}"/>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AC12C0E5-887F-AAA3-AAE3-2574DEE3101C}"/>
              </a:ext>
            </a:extLst>
          </p:cNvPr>
          <p:cNvSpPr>
            <a:spLocks noGrp="1"/>
          </p:cNvSpPr>
          <p:nvPr>
            <p:ph type="sldNum" sz="quarter" idx="14"/>
          </p:nvPr>
        </p:nvSpPr>
        <p:spPr/>
        <p:txBody>
          <a:bodyPr/>
          <a:lstStyle/>
          <a:p>
            <a:fld id="{CE19DD2C-80DA-488C-99A4-6C8CE83C9C30}" type="slidenum">
              <a:rPr lang="en-SG" smtClean="0"/>
              <a:t>9</a:t>
            </a:fld>
            <a:endParaRPr lang="en-SG"/>
          </a:p>
        </p:txBody>
      </p:sp>
      <p:sp>
        <p:nvSpPr>
          <p:cNvPr id="6" name="Rounded Rectangle 5"/>
          <p:cNvSpPr/>
          <p:nvPr/>
        </p:nvSpPr>
        <p:spPr>
          <a:xfrm>
            <a:off x="640080" y="1920240"/>
            <a:ext cx="1572768"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lnSpc>
                <a:spcPct val="90000"/>
              </a:lnSpc>
              <a:spcBef>
                <a:spcPts val="0"/>
              </a:spcBef>
              <a:spcAft>
                <a:spcPts val="0"/>
              </a:spcAft>
            </a:pPr>
            <a:r>
              <a:rPr sz="1250" b="1" i="0">
                <a:solidFill>
                  <a:srgbClr val="0E2B63"/>
                </a:solidFill>
                <a:latin typeface="Calibri"/>
              </a:rPr>
              <a:t>User voice input</a:t>
            </a:r>
          </a:p>
          <a:p>
            <a:pPr algn="ctr">
              <a:lnSpc>
                <a:spcPct val="90000"/>
              </a:lnSpc>
              <a:spcBef>
                <a:spcPts val="200"/>
              </a:spcBef>
              <a:spcAft>
                <a:spcPts val="0"/>
              </a:spcAft>
            </a:pPr>
            <a:r>
              <a:rPr sz="950" b="0" i="0">
                <a:solidFill>
                  <a:srgbClr val="595959"/>
                </a:solidFill>
                <a:latin typeface="Calibri"/>
              </a:rPr>
              <a:t>audio stream opens</a:t>
            </a:r>
          </a:p>
        </p:txBody>
      </p:sp>
      <p:cxnSp>
        <p:nvCxnSpPr>
          <p:cNvPr id="7" name="Connector 6"/>
          <p:cNvCxnSpPr/>
          <p:nvPr/>
        </p:nvCxnSpPr>
        <p:spPr>
          <a:xfrm>
            <a:off x="2240280" y="2441448"/>
            <a:ext cx="210311"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78024" y="1920240"/>
            <a:ext cx="1572768"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lnSpc>
                <a:spcPct val="90000"/>
              </a:lnSpc>
              <a:spcBef>
                <a:spcPts val="0"/>
              </a:spcBef>
              <a:spcAft>
                <a:spcPts val="0"/>
              </a:spcAft>
            </a:pPr>
            <a:r>
              <a:rPr sz="1250" b="1" i="0">
                <a:solidFill>
                  <a:srgbClr val="0E2B63"/>
                </a:solidFill>
                <a:latin typeface="Calibri"/>
              </a:rPr>
              <a:t>VAD</a:t>
            </a:r>
          </a:p>
          <a:p>
            <a:pPr algn="ctr">
              <a:lnSpc>
                <a:spcPct val="90000"/>
              </a:lnSpc>
              <a:spcBef>
                <a:spcPts val="200"/>
              </a:spcBef>
              <a:spcAft>
                <a:spcPts val="0"/>
              </a:spcAft>
            </a:pPr>
            <a:r>
              <a:rPr sz="950" b="0" i="0">
                <a:solidFill>
                  <a:srgbClr val="595959"/>
                </a:solidFill>
                <a:latin typeface="Calibri"/>
              </a:rPr>
              <a:t>detect speech start / stop</a:t>
            </a:r>
          </a:p>
        </p:txBody>
      </p:sp>
      <p:cxnSp>
        <p:nvCxnSpPr>
          <p:cNvPr id="9" name="Connector 8"/>
          <p:cNvCxnSpPr/>
          <p:nvPr/>
        </p:nvCxnSpPr>
        <p:spPr>
          <a:xfrm>
            <a:off x="4078224" y="2441448"/>
            <a:ext cx="210312"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315968" y="1920240"/>
            <a:ext cx="1572768"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lnSpc>
                <a:spcPct val="90000"/>
              </a:lnSpc>
              <a:spcBef>
                <a:spcPts val="0"/>
              </a:spcBef>
              <a:spcAft>
                <a:spcPts val="0"/>
              </a:spcAft>
            </a:pPr>
            <a:r>
              <a:rPr sz="1250" b="1" i="0">
                <a:solidFill>
                  <a:srgbClr val="0E2B63"/>
                </a:solidFill>
                <a:latin typeface="Calibri"/>
              </a:rPr>
              <a:t>Streaming ASR</a:t>
            </a:r>
          </a:p>
          <a:p>
            <a:pPr algn="ctr">
              <a:lnSpc>
                <a:spcPct val="90000"/>
              </a:lnSpc>
              <a:spcBef>
                <a:spcPts val="200"/>
              </a:spcBef>
              <a:spcAft>
                <a:spcPts val="0"/>
              </a:spcAft>
            </a:pPr>
            <a:r>
              <a:rPr sz="950" b="0" i="0">
                <a:solidFill>
                  <a:srgbClr val="595959"/>
                </a:solidFill>
                <a:latin typeface="Calibri"/>
              </a:rPr>
              <a:t>partial transcription</a:t>
            </a:r>
          </a:p>
        </p:txBody>
      </p:sp>
      <p:cxnSp>
        <p:nvCxnSpPr>
          <p:cNvPr id="11" name="Connector 10"/>
          <p:cNvCxnSpPr/>
          <p:nvPr/>
        </p:nvCxnSpPr>
        <p:spPr>
          <a:xfrm>
            <a:off x="5916168" y="2441448"/>
            <a:ext cx="210311"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53912" y="1920240"/>
            <a:ext cx="1572768" cy="1051560"/>
          </a:xfrm>
          <a:prstGeom prst="roundRect">
            <a:avLst>
              <a:gd name="adj" fmla="val 7000"/>
            </a:avLst>
          </a:prstGeom>
          <a:solidFill>
            <a:srgbClr val="164194"/>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lnSpc>
                <a:spcPct val="90000"/>
              </a:lnSpc>
              <a:spcBef>
                <a:spcPts val="0"/>
              </a:spcBef>
              <a:spcAft>
                <a:spcPts val="0"/>
              </a:spcAft>
            </a:pPr>
            <a:r>
              <a:rPr sz="1250" b="1" i="0">
                <a:solidFill>
                  <a:srgbClr val="FFFFFF"/>
                </a:solidFill>
                <a:latin typeface="Calibri"/>
              </a:rPr>
              <a:t>LLM / NLU</a:t>
            </a:r>
          </a:p>
          <a:p>
            <a:pPr algn="ctr">
              <a:lnSpc>
                <a:spcPct val="90000"/>
              </a:lnSpc>
              <a:spcBef>
                <a:spcPts val="200"/>
              </a:spcBef>
              <a:spcAft>
                <a:spcPts val="0"/>
              </a:spcAft>
            </a:pPr>
            <a:r>
              <a:rPr sz="950" b="0" i="0">
                <a:solidFill>
                  <a:srgbClr val="C9D7F0"/>
                </a:solidFill>
                <a:latin typeface="Calibri"/>
              </a:rPr>
              <a:t>intent recognition</a:t>
            </a:r>
          </a:p>
        </p:txBody>
      </p:sp>
      <p:cxnSp>
        <p:nvCxnSpPr>
          <p:cNvPr id="13" name="Connector 12"/>
          <p:cNvCxnSpPr/>
          <p:nvPr/>
        </p:nvCxnSpPr>
        <p:spPr>
          <a:xfrm>
            <a:off x="7754112" y="2441448"/>
            <a:ext cx="210311"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991855" y="1920240"/>
            <a:ext cx="1572768"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lnSpc>
                <a:spcPct val="90000"/>
              </a:lnSpc>
              <a:spcBef>
                <a:spcPts val="0"/>
              </a:spcBef>
              <a:spcAft>
                <a:spcPts val="0"/>
              </a:spcAft>
            </a:pPr>
            <a:r>
              <a:rPr sz="1250" b="1" i="0">
                <a:solidFill>
                  <a:srgbClr val="0E2B63"/>
                </a:solidFill>
                <a:latin typeface="Calibri"/>
              </a:rPr>
              <a:t>NLG</a:t>
            </a:r>
          </a:p>
          <a:p>
            <a:pPr algn="ctr">
              <a:lnSpc>
                <a:spcPct val="90000"/>
              </a:lnSpc>
              <a:spcBef>
                <a:spcPts val="200"/>
              </a:spcBef>
              <a:spcAft>
                <a:spcPts val="0"/>
              </a:spcAft>
            </a:pPr>
            <a:r>
              <a:rPr sz="950" b="0" i="0">
                <a:solidFill>
                  <a:srgbClr val="595959"/>
                </a:solidFill>
                <a:latin typeface="Calibri"/>
              </a:rPr>
              <a:t>response generation</a:t>
            </a:r>
          </a:p>
        </p:txBody>
      </p:sp>
      <p:cxnSp>
        <p:nvCxnSpPr>
          <p:cNvPr id="15" name="Connector 14"/>
          <p:cNvCxnSpPr/>
          <p:nvPr/>
        </p:nvCxnSpPr>
        <p:spPr>
          <a:xfrm>
            <a:off x="9592055" y="2441448"/>
            <a:ext cx="210312"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29799" y="1920240"/>
            <a:ext cx="1572768"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lnSpc>
                <a:spcPct val="90000"/>
              </a:lnSpc>
              <a:spcBef>
                <a:spcPts val="0"/>
              </a:spcBef>
              <a:spcAft>
                <a:spcPts val="0"/>
              </a:spcAft>
            </a:pPr>
            <a:r>
              <a:rPr sz="1250" b="1" i="0">
                <a:solidFill>
                  <a:srgbClr val="0E2B63"/>
                </a:solidFill>
                <a:latin typeface="Calibri"/>
              </a:rPr>
              <a:t>TTS</a:t>
            </a:r>
          </a:p>
          <a:p>
            <a:pPr algn="ctr">
              <a:lnSpc>
                <a:spcPct val="90000"/>
              </a:lnSpc>
              <a:spcBef>
                <a:spcPts val="200"/>
              </a:spcBef>
              <a:spcAft>
                <a:spcPts val="0"/>
              </a:spcAft>
            </a:pPr>
            <a:r>
              <a:rPr sz="950" b="0" i="0">
                <a:solidFill>
                  <a:srgbClr val="595959"/>
                </a:solidFill>
                <a:latin typeface="Calibri"/>
              </a:rPr>
              <a:t>speech output</a:t>
            </a:r>
          </a:p>
        </p:txBody>
      </p:sp>
      <p:sp>
        <p:nvSpPr>
          <p:cNvPr id="17" name="TextBox 16"/>
          <p:cNvSpPr txBox="1"/>
          <p:nvPr/>
        </p:nvSpPr>
        <p:spPr>
          <a:xfrm>
            <a:off x="640080" y="1325880"/>
            <a:ext cx="10908792" cy="365760"/>
          </a:xfrm>
          <a:prstGeom prst="rect">
            <a:avLst/>
          </a:prstGeom>
          <a:noFill/>
        </p:spPr>
        <p:txBody>
          <a:bodyPr wrap="square" lIns="0" rIns="0" tIns="0" bIns="0" anchor="t">
            <a:spAutoFit/>
          </a:bodyPr>
          <a:lstStyle/>
          <a:p>
            <a:pPr algn="l">
              <a:spcBef>
                <a:spcPts val="0"/>
              </a:spcBef>
              <a:spcAft>
                <a:spcPts val="0"/>
              </a:spcAft>
            </a:pPr>
            <a:r>
              <a:rPr sz="1400" b="1" i="0">
                <a:solidFill>
                  <a:srgbClr val="164194"/>
                </a:solidFill>
                <a:latin typeface="Calibri"/>
              </a:rPr>
              <a:t>One turn of a live call, left to right</a:t>
            </a:r>
          </a:p>
        </p:txBody>
      </p:sp>
      <p:sp>
        <p:nvSpPr>
          <p:cNvPr id="18" name="Rounded Rectangle 17"/>
          <p:cNvSpPr/>
          <p:nvPr/>
        </p:nvSpPr>
        <p:spPr>
          <a:xfrm>
            <a:off x="2478024" y="3291840"/>
            <a:ext cx="7315200" cy="594360"/>
          </a:xfrm>
          <a:prstGeom prst="roundRect">
            <a:avLst>
              <a:gd name="adj" fmla="val 7000"/>
            </a:avLst>
          </a:prstGeom>
          <a:solidFill>
            <a:srgbClr val="FFFFFF"/>
          </a:solidFill>
          <a:ln w="12700">
            <a:solidFill>
              <a:srgbClr val="E3061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0000"/>
              </a:lnSpc>
              <a:spcBef>
                <a:spcPts val="0"/>
              </a:spcBef>
              <a:spcAft>
                <a:spcPts val="0"/>
              </a:spcAft>
            </a:pPr>
            <a:r>
              <a:rPr sz="1250" b="1">
                <a:solidFill>
                  <a:srgbClr val="E30613"/>
                </a:solidFill>
                <a:latin typeface="Calibri"/>
              </a:rPr>
              <a:t>Barge-in: </a:t>
            </a:r>
            <a:r>
              <a:rPr sz="1250" b="0">
                <a:solidFill>
                  <a:srgbClr val="262626"/>
                </a:solidFill>
                <a:latin typeface="Calibri"/>
              </a:rPr>
              <a:t>if the user speaks while the agent is talking, VAD fires again, TTS is stopped and the loop restarts from the new input.</a:t>
            </a:r>
          </a:p>
        </p:txBody>
      </p:sp>
      <p:cxnSp>
        <p:nvCxnSpPr>
          <p:cNvPr id="19" name="Connector 18"/>
          <p:cNvCxnSpPr/>
          <p:nvPr/>
        </p:nvCxnSpPr>
        <p:spPr>
          <a:xfrm>
            <a:off x="11384280" y="2441448"/>
            <a:ext cx="0" cy="1719072"/>
          </a:xfrm>
          <a:prstGeom prst="line">
            <a:avLst/>
          </a:prstGeom>
          <a:ln w="22225">
            <a:solidFill>
              <a:srgbClr val="16419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426464" y="4160520"/>
            <a:ext cx="9957816" cy="0"/>
          </a:xfrm>
          <a:prstGeom prst="line">
            <a:avLst/>
          </a:prstGeom>
          <a:ln w="22225">
            <a:solidFill>
              <a:srgbClr val="16419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426464" y="3017520"/>
            <a:ext cx="0" cy="114300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40080" y="4572000"/>
            <a:ext cx="10908792" cy="960120"/>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5000"/>
              </a:lnSpc>
              <a:spcBef>
                <a:spcPts val="0"/>
              </a:spcBef>
              <a:spcAft>
                <a:spcPts val="0"/>
              </a:spcAft>
            </a:pPr>
            <a:r>
              <a:rPr sz="1300" b="1">
                <a:solidFill>
                  <a:srgbClr val="0E2B63"/>
                </a:solidFill>
                <a:latin typeface="Calibri"/>
              </a:rPr>
              <a:t>Everything is streamed. </a:t>
            </a:r>
            <a:r>
              <a:rPr sz="1300" b="0">
                <a:solidFill>
                  <a:srgbClr val="262626"/>
                </a:solidFill>
                <a:latin typeface="Calibri"/>
              </a:rPr>
              <a:t>ASR emits partial hypotheses while the user is still speaking, the LLM starts generating before the sentence ends, and TTS begins speaking before the answer is complete — that is how a sub-second response is possible at all.</a:t>
            </a:r>
          </a:p>
        </p:txBody>
      </p:sp>
    </p:spTree>
    <p:extLst>
      <p:ext uri="{BB962C8B-B14F-4D97-AF65-F5344CB8AC3E}">
        <p14:creationId xmlns:p14="http://schemas.microsoft.com/office/powerpoint/2010/main" val="1545120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E7489-9FCD-6773-FC1E-022223985778}"/>
              </a:ext>
            </a:extLst>
          </p:cNvPr>
          <p:cNvSpPr>
            <a:spLocks noGrp="1"/>
          </p:cNvSpPr>
          <p:nvPr>
            <p:ph type="title"/>
          </p:nvPr>
        </p:nvSpPr>
        <p:spPr/>
        <p:txBody>
          <a:bodyPr/>
          <a:lstStyle/>
          <a:p>
            <a:r>
              <a:rPr lang="en-US" dirty="0"/>
              <a:t>Voice Activity Detection (VAD)</a:t>
            </a:r>
          </a:p>
        </p:txBody>
      </p:sp>
      <p:sp>
        <p:nvSpPr>
          <p:cNvPr id="4" name="Footer Placeholder 3">
            <a:extLst>
              <a:ext uri="{FF2B5EF4-FFF2-40B4-BE49-F238E27FC236}">
                <a16:creationId xmlns:a16="http://schemas.microsoft.com/office/drawing/2014/main" id="{92FF8229-7A32-997C-89AA-21D61814BD4F}"/>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52F07973-EB6D-192E-8AF1-5321D9BB89C7}"/>
              </a:ext>
            </a:extLst>
          </p:cNvPr>
          <p:cNvSpPr>
            <a:spLocks noGrp="1"/>
          </p:cNvSpPr>
          <p:nvPr>
            <p:ph type="sldNum" sz="quarter" idx="14"/>
          </p:nvPr>
        </p:nvSpPr>
        <p:spPr/>
        <p:txBody>
          <a:bodyPr/>
          <a:lstStyle/>
          <a:p>
            <a:fld id="{CE19DD2C-80DA-488C-99A4-6C8CE83C9C30}" type="slidenum">
              <a:rPr lang="en-SG" smtClean="0"/>
              <a:t>10</a:t>
            </a:fld>
            <a:endParaRPr lang="en-SG"/>
          </a:p>
        </p:txBody>
      </p:sp>
      <p:sp>
        <p:nvSpPr>
          <p:cNvPr id="6" name="Rounded Rectangle 5"/>
          <p:cNvSpPr/>
          <p:nvPr/>
        </p:nvSpPr>
        <p:spPr>
          <a:xfrm>
            <a:off x="640080" y="1627632"/>
            <a:ext cx="5303520" cy="105100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lnSpc>
                <a:spcPct val="105000"/>
              </a:lnSpc>
              <a:spcBef>
                <a:spcPts val="0"/>
              </a:spcBef>
              <a:spcAft>
                <a:spcPts val="500"/>
              </a:spcAft>
            </a:pPr>
            <a:r>
              <a:rPr sz="1700" b="1">
                <a:solidFill>
                  <a:srgbClr val="262626"/>
                </a:solidFill>
                <a:latin typeface="Calibri"/>
              </a:rPr>
              <a:t>Definition:</a:t>
            </a:r>
            <a:r>
              <a:rPr sz="1700" b="0">
                <a:solidFill>
                  <a:srgbClr val="262626"/>
                </a:solidFill>
                <a:latin typeface="Calibri"/>
              </a:rPr>
              <a:t> </a:t>
            </a:r>
            <a:r>
              <a:rPr sz="1700" b="0">
                <a:solidFill>
                  <a:srgbClr val="262626"/>
                </a:solidFill>
                <a:latin typeface="Calibri"/>
              </a:rPr>
              <a:t>VAD determines when speech is present in an audio stream.</a:t>
            </a:r>
          </a:p>
        </p:txBody>
      </p:sp>
      <p:sp>
        <p:nvSpPr>
          <p:cNvPr id="7" name="Rounded Rectangle 6"/>
          <p:cNvSpPr/>
          <p:nvPr/>
        </p:nvSpPr>
        <p:spPr>
          <a:xfrm>
            <a:off x="640080" y="2879808"/>
            <a:ext cx="5303520" cy="2997502"/>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lnSpc>
                <a:spcPct val="100000"/>
              </a:lnSpc>
              <a:spcBef>
                <a:spcPts val="0"/>
              </a:spcBef>
              <a:spcAft>
                <a:spcPts val="400"/>
              </a:spcAft>
            </a:pPr>
            <a:r>
              <a:rPr sz="1750" b="1">
                <a:solidFill>
                  <a:srgbClr val="0E2B63"/>
                </a:solidFill>
                <a:latin typeface="Calibri"/>
              </a:rPr>
              <a:t>Key techniques:</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Energy-based detection (simple threshold)</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Spectral-based (FFT, frequency domain)</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Deep learning-based (Silero VAD, WebRTC VAD)</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Example Workflow:</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Audio Stream → VAD model → Speech segments (</a:t>
            </a:r>
            <a:r>
              <a:rPr sz="1700" b="1">
                <a:solidFill>
                  <a:srgbClr val="262626"/>
                </a:solidFill>
                <a:latin typeface="Calibri"/>
              </a:rPr>
              <a:t>start_time</a:t>
            </a:r>
            <a:r>
              <a:rPr sz="1700" b="1">
                <a:solidFill>
                  <a:srgbClr val="262626"/>
                </a:solidFill>
                <a:latin typeface="Calibri"/>
              </a:rPr>
              <a:t>, </a:t>
            </a:r>
            <a:r>
              <a:rPr sz="1700" b="1">
                <a:solidFill>
                  <a:srgbClr val="262626"/>
                </a:solidFill>
                <a:latin typeface="Calibri"/>
              </a:rPr>
              <a:t>end_time</a:t>
            </a:r>
            <a:r>
              <a:rPr sz="1700" b="1">
                <a:solidFill>
                  <a:srgbClr val="262626"/>
                </a:solidFill>
                <a:latin typeface="Calibri"/>
              </a:rPr>
              <a:t>)</a:t>
            </a:r>
          </a:p>
        </p:txBody>
      </p:sp>
      <p:sp>
        <p:nvSpPr>
          <p:cNvPr id="8" name="Rounded Rectangle 7"/>
          <p:cNvSpPr/>
          <p:nvPr/>
        </p:nvSpPr>
        <p:spPr>
          <a:xfrm>
            <a:off x="6245352" y="1627632"/>
            <a:ext cx="5303520" cy="189973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lnSpc>
                <a:spcPct val="100000"/>
              </a:lnSpc>
              <a:spcBef>
                <a:spcPts val="0"/>
              </a:spcBef>
              <a:spcAft>
                <a:spcPts val="400"/>
              </a:spcAft>
            </a:pPr>
            <a:r>
              <a:rPr sz="1750" b="1">
                <a:solidFill>
                  <a:srgbClr val="0E2B63"/>
                </a:solidFill>
                <a:latin typeface="Calibri"/>
              </a:rPr>
              <a:t>Benefits:</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Reduces computation by processing only speech</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Avoids empty or noisy segments being sent to STT</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Enables accurate end-of-speech detection</a:t>
            </a:r>
          </a:p>
        </p:txBody>
      </p:sp>
    </p:spTree>
    <p:extLst>
      <p:ext uri="{BB962C8B-B14F-4D97-AF65-F5344CB8AC3E}">
        <p14:creationId xmlns:p14="http://schemas.microsoft.com/office/powerpoint/2010/main" val="361752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C6AC-8D93-02B8-184B-5B20C3E20B77}"/>
              </a:ext>
            </a:extLst>
          </p:cNvPr>
          <p:cNvSpPr>
            <a:spLocks noGrp="1"/>
          </p:cNvSpPr>
          <p:nvPr>
            <p:ph type="title"/>
          </p:nvPr>
        </p:nvSpPr>
        <p:spPr/>
        <p:txBody>
          <a:bodyPr/>
          <a:lstStyle/>
          <a:p>
            <a:r>
              <a:rPr lang="en-US" dirty="0"/>
              <a:t>Barge-In &amp; Turn-Taking Control</a:t>
            </a:r>
          </a:p>
        </p:txBody>
      </p:sp>
      <p:sp>
        <p:nvSpPr>
          <p:cNvPr id="4" name="Footer Placeholder 3">
            <a:extLst>
              <a:ext uri="{FF2B5EF4-FFF2-40B4-BE49-F238E27FC236}">
                <a16:creationId xmlns:a16="http://schemas.microsoft.com/office/drawing/2014/main" id="{A2D356D2-34F0-918F-8E7D-79F1FCDBE17E}"/>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185487D2-AD37-66E9-0B29-EDE47ED9BD20}"/>
              </a:ext>
            </a:extLst>
          </p:cNvPr>
          <p:cNvSpPr>
            <a:spLocks noGrp="1"/>
          </p:cNvSpPr>
          <p:nvPr>
            <p:ph type="sldNum" sz="quarter" idx="14"/>
          </p:nvPr>
        </p:nvSpPr>
        <p:spPr/>
        <p:txBody>
          <a:bodyPr/>
          <a:lstStyle/>
          <a:p>
            <a:fld id="{CE19DD2C-80DA-488C-99A4-6C8CE83C9C30}" type="slidenum">
              <a:rPr lang="en-SG" smtClean="0"/>
              <a:t>11</a:t>
            </a:fld>
            <a:endParaRPr lang="en-SG"/>
          </a:p>
        </p:txBody>
      </p:sp>
      <p:sp>
        <p:nvSpPr>
          <p:cNvPr id="6" name="Rounded Rectangle 5"/>
          <p:cNvSpPr/>
          <p:nvPr/>
        </p:nvSpPr>
        <p:spPr>
          <a:xfrm>
            <a:off x="640080" y="1627632"/>
            <a:ext cx="5303520" cy="2717311"/>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Barge-In:</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Allows the </a:t>
            </a:r>
            <a:r>
              <a:rPr sz="1700" b="1">
                <a:solidFill>
                  <a:srgbClr val="262626"/>
                </a:solidFill>
                <a:latin typeface="Calibri"/>
              </a:rPr>
              <a:t>user to interrupt</a:t>
            </a:r>
            <a:r>
              <a:rPr sz="1700" b="0">
                <a:solidFill>
                  <a:srgbClr val="262626"/>
                </a:solidFill>
                <a:latin typeface="Calibri"/>
              </a:rPr>
              <a:t> the bot mid-sentence.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Critical for human-like interaction.</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Requires continuous monitoring of input audio during TTS output.</a:t>
            </a:r>
          </a:p>
        </p:txBody>
      </p:sp>
      <p:sp>
        <p:nvSpPr>
          <p:cNvPr id="7" name="Rounded Rectangle 6"/>
          <p:cNvSpPr/>
          <p:nvPr/>
        </p:nvSpPr>
        <p:spPr>
          <a:xfrm>
            <a:off x="6245352" y="1627632"/>
            <a:ext cx="5303520" cy="2717311"/>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Implementation example: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TTS playback thread runs asynchronously.</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VAD/ASR continues listening on the input channel.</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If user speech detected → stop TTS → send new utterance to NLP.</a:t>
            </a:r>
          </a:p>
        </p:txBody>
      </p:sp>
    </p:spTree>
    <p:extLst>
      <p:ext uri="{BB962C8B-B14F-4D97-AF65-F5344CB8AC3E}">
        <p14:creationId xmlns:p14="http://schemas.microsoft.com/office/powerpoint/2010/main" val="3205942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7A77C-5C32-105A-4D59-214E81CB1736}"/>
              </a:ext>
            </a:extLst>
          </p:cNvPr>
          <p:cNvSpPr>
            <a:spLocks noGrp="1"/>
          </p:cNvSpPr>
          <p:nvPr>
            <p:ph type="title"/>
          </p:nvPr>
        </p:nvSpPr>
        <p:spPr/>
        <p:txBody>
          <a:bodyPr/>
          <a:lstStyle/>
          <a:p>
            <a:r>
              <a:rPr lang="en-US" dirty="0"/>
              <a:t>Turn-Taking Management</a:t>
            </a:r>
          </a:p>
        </p:txBody>
      </p:sp>
      <p:sp>
        <p:nvSpPr>
          <p:cNvPr id="3" name="Text Placeholder 2">
            <a:extLst>
              <a:ext uri="{FF2B5EF4-FFF2-40B4-BE49-F238E27FC236}">
                <a16:creationId xmlns:a16="http://schemas.microsoft.com/office/drawing/2014/main" id="{7478E6FF-5C18-9020-4BAF-08E725041512}"/>
              </a:ext>
            </a:extLst>
          </p:cNvPr>
          <p:cNvSpPr>
            <a:spLocks noGrp="1"/>
          </p:cNvSpPr>
          <p:nvPr>
            <p:ph type="body" sz="quarter" idx="11"/>
          </p:nvPr>
        </p:nvSpPr>
        <p:spPr/>
        <p:txBody>
          <a:bodyPr>
            <a:normAutofit/>
          </a:bodyPr>
          <a:lstStyle/>
          <a:p>
            <a:r>
              <a:rPr lang="en-US" sz="2000" dirty="0"/>
              <a:t>Turn-taking ensures smooth dialogue flow between user and agent.</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graphicFrame>
        <p:nvGraphicFramePr>
          <p:cNvPr id="8" name="Table 7">
            <a:extLst>
              <a:ext uri="{FF2B5EF4-FFF2-40B4-BE49-F238E27FC236}">
                <a16:creationId xmlns:a16="http://schemas.microsoft.com/office/drawing/2014/main" id="{CE0F8DFE-9219-BC08-108B-5EA8F9B6EC67}"/>
              </a:ext>
            </a:extLst>
          </p:cNvPr>
          <p:cNvGraphicFramePr>
            <a:graphicFrameLocks noGrp="1"/>
          </p:cNvGraphicFramePr>
          <p:nvPr>
            <p:extLst>
              <p:ext uri="{D42A27DB-BD31-4B8C-83A1-F6EECF244321}">
                <p14:modId xmlns:p14="http://schemas.microsoft.com/office/powerpoint/2010/main" val="2416361747"/>
              </p:ext>
            </p:extLst>
          </p:nvPr>
        </p:nvGraphicFramePr>
        <p:xfrm>
          <a:off x="640080" y="2468880"/>
          <a:ext cx="10908792" cy="2499360"/>
        </p:xfrm>
        <a:graphic>
          <a:graphicData uri="http://schemas.openxmlformats.org/drawingml/2006/table">
            <a:tbl>
              <a:tblPr firstRow="1"/>
              <a:tblGrid>
                <a:gridCol w="5454396">
                  <a:extLst>
                    <a:ext uri="{9D8B030D-6E8A-4147-A177-3AD203B41FA5}">
                      <a16:colId xmlns:a16="http://schemas.microsoft.com/office/drawing/2014/main" val="2356391233"/>
                    </a:ext>
                  </a:extLst>
                </a:gridCol>
                <a:gridCol w="5454396">
                  <a:extLst>
                    <a:ext uri="{9D8B030D-6E8A-4147-A177-3AD203B41FA5}">
                      <a16:colId xmlns:a16="http://schemas.microsoft.com/office/drawing/2014/main" val="2295698981"/>
                    </a:ext>
                  </a:extLst>
                </a:gridCol>
              </a:tblGrid>
              <a:tr h="0">
                <a:tc>
                  <a:txBody>
                    <a:bodyPr/>
                    <a:lstStyle/>
                    <a:p>
                      <a:pPr>
                        <a:buNone/>
                      </a:pPr>
                      <a:r>
                        <a:rPr lang="en-US" sz="1800" dirty="0" b="1">
                          <a:solidFill>
                            <a:srgbClr val="FFFFFF"/>
                          </a:solidFill>
                        </a:rPr>
                        <a:t>Strategy</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sz="1800" dirty="0" b="1">
                          <a:solidFill>
                            <a:srgbClr val="FFFFFF"/>
                          </a:solidFill>
                        </a:rPr>
                        <a:t>Technique</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extLst>
                  <a:ext uri="{0D108BD9-81ED-4DB2-BD59-A6C34878D82A}">
                    <a16:rowId xmlns:a16="http://schemas.microsoft.com/office/drawing/2014/main" val="1539990058"/>
                  </a:ext>
                </a:extLst>
              </a:tr>
              <a:tr h="0">
                <a:tc>
                  <a:txBody>
                    <a:bodyPr/>
                    <a:lstStyle/>
                    <a:p>
                      <a:pPr>
                        <a:buNone/>
                      </a:pPr>
                      <a:r>
                        <a:rPr lang="en-US" sz="1800" b="1">
                          <a:solidFill>
                            <a:srgbClr val="262626"/>
                          </a:solidFill>
                        </a:rPr>
                        <a:t>Timer-based</a:t>
                      </a:r>
                      <a:endParaRPr lang="en-US" sz="200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dirty="0">
                          <a:solidFill>
                            <a:srgbClr val="262626"/>
                          </a:solidFill>
                        </a:rPr>
                        <a:t>Wait for silence &gt; X </a:t>
                      </a:r>
                      <a:r>
                        <a:rPr lang="en-US" sz="1800" dirty="0" err="1">
                          <a:solidFill>
                            <a:srgbClr val="262626"/>
                          </a:solidFill>
                        </a:rPr>
                        <a:t>ms</a:t>
                      </a:r>
                      <a:r>
                        <a:rPr lang="en-US" sz="1800" dirty="0">
                          <a:solidFill>
                            <a:srgbClr val="262626"/>
                          </a:solidFill>
                        </a:rPr>
                        <a:t> to decide end of user speech.</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04566250"/>
                  </a:ext>
                </a:extLst>
              </a:tr>
              <a:tr h="0">
                <a:tc>
                  <a:txBody>
                    <a:bodyPr/>
                    <a:lstStyle/>
                    <a:p>
                      <a:pPr>
                        <a:buNone/>
                      </a:pPr>
                      <a:r>
                        <a:rPr lang="en-US" sz="1800" b="1">
                          <a:solidFill>
                            <a:srgbClr val="262626"/>
                          </a:solidFill>
                        </a:rPr>
                        <a:t>Semantic-based</a:t>
                      </a:r>
                      <a:endParaRPr lang="en-US" sz="200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800">
                          <a:solidFill>
                            <a:srgbClr val="262626"/>
                          </a:solidFill>
                        </a:rPr>
                        <a:t>Predict intent completion (“yes”, “okay”, “that’s all”).</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1874298227"/>
                  </a:ext>
                </a:extLst>
              </a:tr>
              <a:tr h="0">
                <a:tc>
                  <a:txBody>
                    <a:bodyPr/>
                    <a:lstStyle/>
                    <a:p>
                      <a:pPr>
                        <a:buNone/>
                      </a:pPr>
                      <a:r>
                        <a:rPr lang="en-US" sz="1800" b="1">
                          <a:solidFill>
                            <a:srgbClr val="262626"/>
                          </a:solidFill>
                        </a:rPr>
                        <a:t>Hybrid approach</a:t>
                      </a:r>
                      <a:endParaRPr lang="en-US" sz="200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800" dirty="0">
                          <a:solidFill>
                            <a:srgbClr val="262626"/>
                          </a:solidFill>
                        </a:rPr>
                        <a:t>Combine VAD + semantic signal for natural pauses.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756026667"/>
                  </a:ext>
                </a:extLst>
              </a:tr>
            </a:tbl>
          </a:graphicData>
        </a:graphic>
      </p:graphicFrame>
    </p:spTree>
    <p:extLst>
      <p:ext uri="{BB962C8B-B14F-4D97-AF65-F5344CB8AC3E}">
        <p14:creationId xmlns:p14="http://schemas.microsoft.com/office/powerpoint/2010/main" val="3257088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D29ED-EE31-D164-E58D-A708B7B2BBF7}"/>
              </a:ext>
            </a:extLst>
          </p:cNvPr>
          <p:cNvSpPr>
            <a:spLocks noGrp="1"/>
          </p:cNvSpPr>
          <p:nvPr>
            <p:ph type="title"/>
          </p:nvPr>
        </p:nvSpPr>
        <p:spPr/>
        <p:txBody>
          <a:bodyPr/>
          <a:lstStyle/>
          <a:p>
            <a:r>
              <a:rPr lang="en-US" dirty="0"/>
              <a:t>Call Session &amp; State Management</a:t>
            </a:r>
          </a:p>
        </p:txBody>
      </p:sp>
      <p:sp>
        <p:nvSpPr>
          <p:cNvPr id="4" name="Footer Placeholder 3">
            <a:extLst>
              <a:ext uri="{FF2B5EF4-FFF2-40B4-BE49-F238E27FC236}">
                <a16:creationId xmlns:a16="http://schemas.microsoft.com/office/drawing/2014/main" id="{67A2C1A6-142E-4256-218E-060219A0E34D}"/>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94D017F3-63A9-DA2F-5B45-230ED42F95E8}"/>
              </a:ext>
            </a:extLst>
          </p:cNvPr>
          <p:cNvSpPr>
            <a:spLocks noGrp="1"/>
          </p:cNvSpPr>
          <p:nvPr>
            <p:ph type="sldNum" sz="quarter" idx="14"/>
          </p:nvPr>
        </p:nvSpPr>
        <p:spPr/>
        <p:txBody>
          <a:bodyPr/>
          <a:lstStyle/>
          <a:p>
            <a:fld id="{CE19DD2C-80DA-488C-99A4-6C8CE83C9C30}" type="slidenum">
              <a:rPr lang="en-SG" smtClean="0"/>
              <a:t>13</a:t>
            </a:fld>
            <a:endParaRPr lang="en-SG"/>
          </a:p>
        </p:txBody>
      </p:sp>
      <p:sp>
        <p:nvSpPr>
          <p:cNvPr id="6" name="Rounded Rectangle 5"/>
          <p:cNvSpPr/>
          <p:nvPr/>
        </p:nvSpPr>
        <p:spPr>
          <a:xfrm>
            <a:off x="640080" y="1627632"/>
            <a:ext cx="5303520" cy="1211083"/>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Voice agents often integrate with </a:t>
            </a:r>
            <a:r>
              <a:rPr sz="1700" b="1">
                <a:solidFill>
                  <a:srgbClr val="262626"/>
                </a:solidFill>
                <a:latin typeface="Calibri"/>
              </a:rPr>
              <a:t>telephony systems</a:t>
            </a:r>
            <a:r>
              <a:rPr sz="1700" b="0">
                <a:solidFill>
                  <a:srgbClr val="262626"/>
                </a:solidFill>
                <a:latin typeface="Calibri"/>
              </a:rPr>
              <a:t> (SIP, Twilio, Vonage, Asterisk, etc.).</a:t>
            </a:r>
          </a:p>
        </p:txBody>
      </p:sp>
      <p:sp>
        <p:nvSpPr>
          <p:cNvPr id="7" name="Rounded Rectangle 6"/>
          <p:cNvSpPr/>
          <p:nvPr/>
        </p:nvSpPr>
        <p:spPr>
          <a:xfrm>
            <a:off x="6245352" y="1627632"/>
            <a:ext cx="5303520" cy="427024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Session management tasks:</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Call Start:</a:t>
            </a:r>
            <a:r>
              <a:rPr sz="1700" b="0">
                <a:solidFill>
                  <a:srgbClr val="262626"/>
                </a:solidFill>
                <a:latin typeface="Calibri"/>
              </a:rPr>
              <a:t> Answer incoming call, initiate session ID.</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Authentication:</a:t>
            </a:r>
            <a:r>
              <a:rPr sz="1700" b="0">
                <a:solidFill>
                  <a:srgbClr val="262626"/>
                </a:solidFill>
                <a:latin typeface="Calibri"/>
              </a:rPr>
              <a:t> Identify user or retrieve context.</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Active Call:</a:t>
            </a:r>
            <a:r>
              <a:rPr sz="1700" b="0">
                <a:solidFill>
                  <a:srgbClr val="262626"/>
                </a:solidFill>
                <a:latin typeface="Calibri"/>
              </a:rPr>
              <a:t> Handle multiple conversation turns.</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Hold / Transfer:</a:t>
            </a:r>
            <a:r>
              <a:rPr sz="1700" b="0">
                <a:solidFill>
                  <a:srgbClr val="262626"/>
                </a:solidFill>
                <a:latin typeface="Calibri"/>
              </a:rPr>
              <a:t> Pass control to human agent or another service.</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End Call:</a:t>
            </a:r>
            <a:r>
              <a:rPr sz="1700" b="0">
                <a:solidFill>
                  <a:srgbClr val="262626"/>
                </a:solidFill>
                <a:latin typeface="Calibri"/>
              </a:rPr>
              <a:t> Confirm closure, save call log, metrics.</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Backend systems:</a:t>
            </a:r>
            <a:r>
              <a:rPr sz="1700" b="0">
                <a:solidFill>
                  <a:srgbClr val="262626"/>
                </a:solidFill>
                <a:latin typeface="Calibri"/>
              </a:rPr>
              <a:t> </a:t>
            </a:r>
            <a:r>
              <a:rPr sz="1700" b="0">
                <a:solidFill>
                  <a:srgbClr val="262626"/>
                </a:solidFill>
                <a:latin typeface="Calibri"/>
              </a:rPr>
              <a:t>Use a </a:t>
            </a:r>
            <a:r>
              <a:rPr sz="1700" b="1">
                <a:solidFill>
                  <a:srgbClr val="262626"/>
                </a:solidFill>
                <a:latin typeface="Calibri"/>
              </a:rPr>
              <a:t>Session Manager service</a:t>
            </a:r>
            <a:r>
              <a:rPr sz="1700" b="0">
                <a:solidFill>
                  <a:srgbClr val="262626"/>
                </a:solidFill>
                <a:latin typeface="Calibri"/>
              </a:rPr>
              <a:t> or </a:t>
            </a:r>
            <a:r>
              <a:rPr sz="1700" b="1">
                <a:solidFill>
                  <a:srgbClr val="262626"/>
                </a:solidFill>
                <a:latin typeface="Calibri"/>
              </a:rPr>
              <a:t>Redis/Mongo</a:t>
            </a:r>
            <a:r>
              <a:rPr sz="1700" b="0">
                <a:solidFill>
                  <a:srgbClr val="262626"/>
                </a:solidFill>
                <a:latin typeface="Calibri"/>
              </a:rPr>
              <a:t> to track real-time call states and history.</a:t>
            </a:r>
          </a:p>
        </p:txBody>
      </p:sp>
    </p:spTree>
    <p:extLst>
      <p:ext uri="{BB962C8B-B14F-4D97-AF65-F5344CB8AC3E}">
        <p14:creationId xmlns:p14="http://schemas.microsoft.com/office/powerpoint/2010/main" val="41948703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5B78C-2F67-0FB7-D389-4DA0C7AEE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ACA9E-1EF5-4480-3214-3B4B9D3272F3}"/>
              </a:ext>
            </a:extLst>
          </p:cNvPr>
          <p:cNvSpPr>
            <a:spLocks noGrp="1"/>
          </p:cNvSpPr>
          <p:nvPr>
            <p:ph type="title"/>
          </p:nvPr>
        </p:nvSpPr>
        <p:spPr/>
        <p:txBody>
          <a:bodyPr/>
          <a:lstStyle/>
          <a:p>
            <a:r>
              <a:rPr lang="en-US" dirty="0"/>
              <a:t>Challenges in Implementing AI Voice Bots</a:t>
            </a:r>
          </a:p>
        </p:txBody>
      </p:sp>
      <p:sp>
        <p:nvSpPr>
          <p:cNvPr id="4" name="Footer Placeholder 3">
            <a:extLst>
              <a:ext uri="{FF2B5EF4-FFF2-40B4-BE49-F238E27FC236}">
                <a16:creationId xmlns:a16="http://schemas.microsoft.com/office/drawing/2014/main" id="{0C349A42-C23E-9A3A-DFAC-897D00FAC3B6}"/>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D83BC27-3A5B-F76D-C36D-24D229E630C4}"/>
              </a:ext>
            </a:extLst>
          </p:cNvPr>
          <p:cNvSpPr>
            <a:spLocks noGrp="1"/>
          </p:cNvSpPr>
          <p:nvPr>
            <p:ph type="sldNum" sz="quarter" idx="14"/>
          </p:nvPr>
        </p:nvSpPr>
        <p:spPr/>
        <p:txBody>
          <a:bodyPr/>
          <a:lstStyle/>
          <a:p>
            <a:fld id="{CE19DD2C-80DA-488C-99A4-6C8CE83C9C30}" type="slidenum">
              <a:rPr lang="en-SG" smtClean="0"/>
              <a:t>14</a:t>
            </a:fld>
            <a:endParaRPr lang="en-SG"/>
          </a:p>
        </p:txBody>
      </p:sp>
      <p:sp>
        <p:nvSpPr>
          <p:cNvPr id="6" name="Rounded Rectangle 5"/>
          <p:cNvSpPr/>
          <p:nvPr/>
        </p:nvSpPr>
        <p:spPr>
          <a:xfrm>
            <a:off x="640080" y="1627632"/>
            <a:ext cx="5303520" cy="2364057"/>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1. Real-Time Latency</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Users expect sub-second responses; delays break natural conversation flow.</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Caused by sequential STT → LLM → TTS processing and network lag.</a:t>
            </a:r>
          </a:p>
        </p:txBody>
      </p:sp>
      <p:sp>
        <p:nvSpPr>
          <p:cNvPr id="7" name="Rounded Rectangle 6"/>
          <p:cNvSpPr/>
          <p:nvPr/>
        </p:nvSpPr>
        <p:spPr>
          <a:xfrm>
            <a:off x="6245352" y="1627632"/>
            <a:ext cx="5303520" cy="201310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2. Speech Recognition Accuracy</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Background noise, accents, code-switching, and poor microphones degrade ASR performance.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Domain-specific vocabulary often misrecognized.</a:t>
            </a:r>
          </a:p>
        </p:txBody>
      </p:sp>
      <p:sp>
        <p:nvSpPr>
          <p:cNvPr id="8" name="Rounded Rectangle 7"/>
          <p:cNvSpPr/>
          <p:nvPr/>
        </p:nvSpPr>
        <p:spPr>
          <a:xfrm>
            <a:off x="6245352" y="3841908"/>
            <a:ext cx="5303520" cy="201310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3. Voice Activity &amp; Turn-Taking</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Detecting when users start/stop speaking is difficult.</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Requires robust VAD, interruption (barge-in) handling, and echo cancellation.</a:t>
            </a:r>
          </a:p>
        </p:txBody>
      </p:sp>
    </p:spTree>
    <p:extLst>
      <p:ext uri="{BB962C8B-B14F-4D97-AF65-F5344CB8AC3E}">
        <p14:creationId xmlns:p14="http://schemas.microsoft.com/office/powerpoint/2010/main" val="2888591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8E958-808F-8FCA-3D12-F210025B120B}"/>
              </a:ext>
            </a:extLst>
          </p:cNvPr>
          <p:cNvSpPr>
            <a:spLocks noGrp="1"/>
          </p:cNvSpPr>
          <p:nvPr>
            <p:ph type="title"/>
          </p:nvPr>
        </p:nvSpPr>
        <p:spPr/>
        <p:txBody>
          <a:bodyPr/>
          <a:lstStyle/>
          <a:p>
            <a:r>
              <a:rPr lang="en-US" dirty="0"/>
              <a:t>Challenges in Implementing AI Voice Bots</a:t>
            </a:r>
          </a:p>
        </p:txBody>
      </p:sp>
      <p:sp>
        <p:nvSpPr>
          <p:cNvPr id="4" name="Footer Placeholder 3">
            <a:extLst>
              <a:ext uri="{FF2B5EF4-FFF2-40B4-BE49-F238E27FC236}">
                <a16:creationId xmlns:a16="http://schemas.microsoft.com/office/drawing/2014/main" id="{243A8846-3602-263D-AA32-EC0B267E49A9}"/>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2244D040-D579-EB55-781C-CDE87301EA93}"/>
              </a:ext>
            </a:extLst>
          </p:cNvPr>
          <p:cNvSpPr>
            <a:spLocks noGrp="1"/>
          </p:cNvSpPr>
          <p:nvPr>
            <p:ph type="sldNum" sz="quarter" idx="14"/>
          </p:nvPr>
        </p:nvSpPr>
        <p:spPr/>
        <p:txBody>
          <a:bodyPr/>
          <a:lstStyle/>
          <a:p>
            <a:fld id="{CE19DD2C-80DA-488C-99A4-6C8CE83C9C30}" type="slidenum">
              <a:rPr lang="en-SG" smtClean="0"/>
              <a:t>15</a:t>
            </a:fld>
            <a:endParaRPr lang="en-SG"/>
          </a:p>
        </p:txBody>
      </p:sp>
      <p:sp>
        <p:nvSpPr>
          <p:cNvPr id="6" name="Rounded Rectangle 5"/>
          <p:cNvSpPr/>
          <p:nvPr/>
        </p:nvSpPr>
        <p:spPr>
          <a:xfrm>
            <a:off x="640080" y="1627632"/>
            <a:ext cx="5303520" cy="201310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4. Naturalness of Speech Output</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TTS voices can sound robotic or emotionally flat.</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Prosody and tone adaptation to user context are still limited.</a:t>
            </a:r>
          </a:p>
        </p:txBody>
      </p:sp>
      <p:sp>
        <p:nvSpPr>
          <p:cNvPr id="7" name="Rounded Rectangle 6"/>
          <p:cNvSpPr/>
          <p:nvPr/>
        </p:nvSpPr>
        <p:spPr>
          <a:xfrm>
            <a:off x="6245352" y="1627632"/>
            <a:ext cx="5303520" cy="201310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5. Integration &amp; Context Management</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Need to connect with CRM, telephony, and databases in real time.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Maintaining context across multi-turn calls is complex.</a:t>
            </a:r>
          </a:p>
        </p:txBody>
      </p:sp>
      <p:sp>
        <p:nvSpPr>
          <p:cNvPr id="8" name="Rounded Rectangle 7"/>
          <p:cNvSpPr/>
          <p:nvPr/>
        </p:nvSpPr>
        <p:spPr>
          <a:xfrm>
            <a:off x="6245352" y="3841908"/>
            <a:ext cx="5303520" cy="201310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6. Privacy &amp; Compliance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Handling voice data securely (GDPR, PDPA).</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Avoiding storage of sensitive personal or biometric information.</a:t>
            </a:r>
          </a:p>
        </p:txBody>
      </p:sp>
    </p:spTree>
    <p:extLst>
      <p:ext uri="{BB962C8B-B14F-4D97-AF65-F5344CB8AC3E}">
        <p14:creationId xmlns:p14="http://schemas.microsoft.com/office/powerpoint/2010/main" val="1445789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D00C-C05F-CA7E-FBD1-FC607AC2BC1A}"/>
              </a:ext>
            </a:extLst>
          </p:cNvPr>
          <p:cNvSpPr>
            <a:spLocks noGrp="1"/>
          </p:cNvSpPr>
          <p:nvPr>
            <p:ph type="title"/>
          </p:nvPr>
        </p:nvSpPr>
        <p:spPr/>
        <p:txBody>
          <a:bodyPr/>
          <a:lstStyle/>
          <a:p>
            <a:r>
              <a:rPr lang="en-US" dirty="0"/>
              <a:t>Understanding Voice-to-Voice Latency</a:t>
            </a:r>
          </a:p>
        </p:txBody>
      </p:sp>
      <p:sp>
        <p:nvSpPr>
          <p:cNvPr id="3" name="Text Placeholder 2">
            <a:extLst>
              <a:ext uri="{FF2B5EF4-FFF2-40B4-BE49-F238E27FC236}">
                <a16:creationId xmlns:a16="http://schemas.microsoft.com/office/drawing/2014/main" id="{DF638141-0A7F-048B-B0C2-71FA678AB595}"/>
              </a:ext>
            </a:extLst>
          </p:cNvPr>
          <p:cNvSpPr>
            <a:spLocks noGrp="1"/>
          </p:cNvSpPr>
          <p:nvPr>
            <p:ph type="body" sz="quarter" idx="11"/>
          </p:nvPr>
        </p:nvSpPr>
        <p:spPr>
          <a:xfrm>
            <a:off x="542018" y="1140064"/>
            <a:ext cx="11042294" cy="4791607"/>
          </a:xfrm>
        </p:spPr>
        <p:txBody>
          <a:bodyPr>
            <a:normAutofit/>
          </a:bodyPr>
          <a:lstStyle/>
          <a:p>
            <a:r>
              <a:rPr lang="en-US" sz="2000" dirty="0"/>
              <a:t>Latency is perhaps the most critical factor in voice agent performance. In human conversation, responses typically arrive within 500ms, and responses beyond 1000ms feel unnaturally delayed. For voice AI agents to feel natural, they must achieve similar responsiveness. This guide explores optimization strategies across all layers of the voice AI stack.</a:t>
            </a:r>
          </a:p>
        </p:txBody>
      </p:sp>
      <p:sp>
        <p:nvSpPr>
          <p:cNvPr id="4" name="Footer Placeholder 3">
            <a:extLst>
              <a:ext uri="{FF2B5EF4-FFF2-40B4-BE49-F238E27FC236}">
                <a16:creationId xmlns:a16="http://schemas.microsoft.com/office/drawing/2014/main" id="{B071D1B9-65BE-D3D9-A385-4486983B4402}"/>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8D1B599-5076-3647-23E4-7E301936162E}"/>
              </a:ext>
            </a:extLst>
          </p:cNvPr>
          <p:cNvSpPr>
            <a:spLocks noGrp="1"/>
          </p:cNvSpPr>
          <p:nvPr>
            <p:ph type="sldNum" sz="quarter" idx="14"/>
          </p:nvPr>
        </p:nvSpPr>
        <p:spPr/>
        <p:txBody>
          <a:bodyPr/>
          <a:lstStyle/>
          <a:p>
            <a:fld id="{CE19DD2C-80DA-488C-99A4-6C8CE83C9C30}" type="slidenum">
              <a:rPr lang="en-SG" smtClean="0"/>
              <a:t>16</a:t>
            </a:fld>
            <a:endParaRPr lang="en-SG"/>
          </a:p>
        </p:txBody>
      </p:sp>
      <p:pic>
        <p:nvPicPr>
          <p:cNvPr id="4098" name="Picture 2" descr="What is Latency in Voice AI Agents">
            <a:extLst>
              <a:ext uri="{FF2B5EF4-FFF2-40B4-BE49-F238E27FC236}">
                <a16:creationId xmlns:a16="http://schemas.microsoft.com/office/drawing/2014/main" id="{910AEAD8-BC67-DBED-9729-01690549D2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6298" r="1823" b="26866"/>
          <a:stretch>
            <a:fillRect/>
          </a:stretch>
        </p:blipFill>
        <p:spPr bwMode="auto">
          <a:xfrm>
            <a:off x="1308100" y="3088694"/>
            <a:ext cx="9575800" cy="239116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9382AD9-6A1C-688C-7AAA-3C4EE00DE0D0}"/>
              </a:ext>
            </a:extLst>
          </p:cNvPr>
          <p:cNvSpPr txBox="1"/>
          <p:nvPr/>
        </p:nvSpPr>
        <p:spPr>
          <a:xfrm>
            <a:off x="1308100" y="5571296"/>
            <a:ext cx="9575800" cy="369332"/>
          </a:xfrm>
          <a:prstGeom prst="rect">
            <a:avLst/>
          </a:prstGeom>
          <a:noFill/>
        </p:spPr>
        <p:txBody>
          <a:bodyPr wrap="square">
            <a:spAutoFit/>
          </a:bodyPr>
          <a:lstStyle/>
          <a:p>
            <a:pPr algn="ctr"/>
            <a:r>
              <a:rPr lang="en-US" dirty="0"/>
              <a:t>Image source: https://www.voicespin.com/</a:t>
            </a:r>
          </a:p>
        </p:txBody>
      </p:sp>
    </p:spTree>
    <p:extLst>
      <p:ext uri="{BB962C8B-B14F-4D97-AF65-F5344CB8AC3E}">
        <p14:creationId xmlns:p14="http://schemas.microsoft.com/office/powerpoint/2010/main" val="3465679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81BAD-CABE-DC86-B399-059A473D369F}"/>
              </a:ext>
            </a:extLst>
          </p:cNvPr>
          <p:cNvSpPr>
            <a:spLocks noGrp="1"/>
          </p:cNvSpPr>
          <p:nvPr>
            <p:ph type="title"/>
          </p:nvPr>
        </p:nvSpPr>
        <p:spPr/>
        <p:txBody>
          <a:bodyPr/>
          <a:lstStyle/>
          <a:p>
            <a:r>
              <a:rPr lang="en-US" dirty="0"/>
              <a:t>Latency Lower Bounds</a:t>
            </a:r>
          </a:p>
        </p:txBody>
      </p:sp>
      <p:sp>
        <p:nvSpPr>
          <p:cNvPr id="3" name="Text Placeholder 2">
            <a:extLst>
              <a:ext uri="{FF2B5EF4-FFF2-40B4-BE49-F238E27FC236}">
                <a16:creationId xmlns:a16="http://schemas.microsoft.com/office/drawing/2014/main" id="{A20088B8-03DA-FF5C-D123-1C9079D4C6E2}"/>
              </a:ext>
            </a:extLst>
          </p:cNvPr>
          <p:cNvSpPr>
            <a:spLocks noGrp="1"/>
          </p:cNvSpPr>
          <p:nvPr>
            <p:ph type="body" sz="quarter" idx="11"/>
          </p:nvPr>
        </p:nvSpPr>
        <p:spPr>
          <a:xfrm>
            <a:off x="542018" y="1562095"/>
            <a:ext cx="5006727" cy="4791607"/>
          </a:xfrm>
        </p:spPr>
        <p:txBody>
          <a:bodyPr>
            <a:normAutofit/>
          </a:bodyPr>
          <a:lstStyle/>
          <a:p>
            <a:r>
              <a:rPr lang="en-US" sz="2000" dirty="0"/>
              <a:t>Latency of Human Interactions</a:t>
            </a:r>
          </a:p>
          <a:p>
            <a:r>
              <a:rPr lang="en-US" sz="2000" dirty="0"/>
              <a:t>Humans expect a response on avg within 230ms (std dev = 520ms) from the end of their interlocutor’s turn</a:t>
            </a:r>
          </a:p>
          <a:p>
            <a:r>
              <a:rPr lang="en-US" sz="2000" dirty="0"/>
              <a:t>Note: estimates for English, other languages may be up or down</a:t>
            </a:r>
          </a:p>
        </p:txBody>
      </p:sp>
      <p:sp>
        <p:nvSpPr>
          <p:cNvPr id="4" name="Footer Placeholder 3">
            <a:extLst>
              <a:ext uri="{FF2B5EF4-FFF2-40B4-BE49-F238E27FC236}">
                <a16:creationId xmlns:a16="http://schemas.microsoft.com/office/drawing/2014/main" id="{B866DB5A-5482-10E6-0F10-D4DD9590BDC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5927B7-785E-7E91-45FE-AD9CC9C54043}"/>
              </a:ext>
            </a:extLst>
          </p:cNvPr>
          <p:cNvSpPr>
            <a:spLocks noGrp="1"/>
          </p:cNvSpPr>
          <p:nvPr>
            <p:ph type="sldNum" sz="quarter" idx="14"/>
          </p:nvPr>
        </p:nvSpPr>
        <p:spPr/>
        <p:txBody>
          <a:bodyPr/>
          <a:lstStyle/>
          <a:p>
            <a:fld id="{CE19DD2C-80DA-488C-99A4-6C8CE83C9C30}" type="slidenum">
              <a:rPr lang="en-SG" smtClean="0"/>
              <a:t>17</a:t>
            </a:fld>
            <a:endParaRPr lang="en-SG"/>
          </a:p>
        </p:txBody>
      </p:sp>
      <p:sp>
        <p:nvSpPr>
          <p:cNvPr id="6" name="Text Placeholder 2">
            <a:extLst>
              <a:ext uri="{FF2B5EF4-FFF2-40B4-BE49-F238E27FC236}">
                <a16:creationId xmlns:a16="http://schemas.microsoft.com/office/drawing/2014/main" id="{31AAEEDE-5742-6726-BA42-CEA70369DEC8}"/>
              </a:ext>
            </a:extLst>
          </p:cNvPr>
          <p:cNvSpPr txBox="1">
            <a:spLocks/>
          </p:cNvSpPr>
          <p:nvPr/>
        </p:nvSpPr>
        <p:spPr>
          <a:xfrm>
            <a:off x="5848502" y="1562095"/>
            <a:ext cx="5505491" cy="4791607"/>
          </a:xfrm>
          <a:prstGeom prst="rect">
            <a:avLst/>
          </a:prstGeom>
        </p:spPr>
        <p:txBody>
          <a:bodyPr vert="horz" lIns="91440" tIns="45720" rIns="91440" bIns="45720" rtlCol="0">
            <a:normAutofit/>
          </a:bodyPr>
          <a:lstStyle>
            <a:lvl1pPr marL="380990" indent="-38099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Latency of Voice Agent interactions (Note: all streaming APIs for STT/LLM/TTS)</a:t>
            </a:r>
          </a:p>
          <a:p>
            <a:endParaRPr lang="en-US" dirty="0"/>
          </a:p>
          <a:p>
            <a:endParaRPr lang="en-US" dirty="0"/>
          </a:p>
        </p:txBody>
      </p:sp>
      <p:graphicFrame>
        <p:nvGraphicFramePr>
          <p:cNvPr id="7" name="Table 6">
            <a:extLst>
              <a:ext uri="{FF2B5EF4-FFF2-40B4-BE49-F238E27FC236}">
                <a16:creationId xmlns:a16="http://schemas.microsoft.com/office/drawing/2014/main" id="{DE6637FB-0DF7-F51C-D0C6-7F759A4D3A45}"/>
              </a:ext>
            </a:extLst>
          </p:cNvPr>
          <p:cNvGraphicFramePr>
            <a:graphicFrameLocks noGrp="1"/>
          </p:cNvGraphicFramePr>
          <p:nvPr>
            <p:extLst>
              <p:ext uri="{D42A27DB-BD31-4B8C-83A1-F6EECF244321}">
                <p14:modId xmlns:p14="http://schemas.microsoft.com/office/powerpoint/2010/main" val="184613036"/>
              </p:ext>
            </p:extLst>
          </p:nvPr>
        </p:nvGraphicFramePr>
        <p:xfrm>
          <a:off x="5848502" y="3099816"/>
          <a:ext cx="5596128" cy="2377440"/>
        </p:xfrm>
        <a:graphic>
          <a:graphicData uri="http://schemas.openxmlformats.org/drawingml/2006/table">
            <a:tbl>
              <a:tblPr firstRow="1" bandRow="1">
                <a:tableStyleId>{5C22544A-7EE6-4342-B048-85BDC9FD1C3A}</a:tableStyleId>
              </a:tblPr>
              <a:tblGrid>
                <a:gridCol w="2938890">
                  <a:extLst>
                    <a:ext uri="{9D8B030D-6E8A-4147-A177-3AD203B41FA5}">
                      <a16:colId xmlns:a16="http://schemas.microsoft.com/office/drawing/2014/main" val="1465669780"/>
                    </a:ext>
                  </a:extLst>
                </a:gridCol>
                <a:gridCol w="2657237">
                  <a:extLst>
                    <a:ext uri="{9D8B030D-6E8A-4147-A177-3AD203B41FA5}">
                      <a16:colId xmlns:a16="http://schemas.microsoft.com/office/drawing/2014/main" val="889108966"/>
                    </a:ext>
                  </a:extLst>
                </a:gridCol>
              </a:tblGrid>
              <a:tr h="370840">
                <a:tc>
                  <a:txBody>
                    <a:bodyPr/>
                    <a:lstStyle/>
                    <a:p>
                      <a:r>
                        <a:rPr lang="en-US" sz="1600" dirty="0" b="1">
                          <a:solidFill>
                            <a:srgbClr val="FFFFFF"/>
                          </a:solidFill>
                        </a:rPr>
                        <a:t>Task</a:t>
                      </a:r>
                    </a:p>
                  </a:txBody>
                  <a:tcPr marL="128016" marR="128016" marT="45720" marB="45720" anchor="ctr">
                    <a:solidFill>
                      <a:srgbClr val="164194"/>
                    </a:solidFill>
                  </a:tcPr>
                </a:tc>
                <a:tc>
                  <a:txBody>
                    <a:bodyPr/>
                    <a:lstStyle/>
                    <a:p>
                      <a:r>
                        <a:rPr lang="en-US" sz="1600" dirty="0" b="1">
                          <a:solidFill>
                            <a:srgbClr val="FFFFFF"/>
                          </a:solidFill>
                        </a:rPr>
                        <a:t>Latency</a:t>
                      </a:r>
                    </a:p>
                  </a:txBody>
                  <a:tcPr marL="128016" marR="128016" marT="45720" marB="45720" anchor="ctr">
                    <a:solidFill>
                      <a:srgbClr val="164194"/>
                    </a:solidFill>
                  </a:tcPr>
                </a:tc>
                <a:extLst>
                  <a:ext uri="{0D108BD9-81ED-4DB2-BD59-A6C34878D82A}">
                    <a16:rowId xmlns:a16="http://schemas.microsoft.com/office/drawing/2014/main" val="3181690899"/>
                  </a:ext>
                </a:extLst>
              </a:tr>
              <a:tr h="370840">
                <a:tc>
                  <a:txBody>
                    <a:bodyPr/>
                    <a:lstStyle/>
                    <a:p>
                      <a:r>
                        <a:rPr lang="en-US" sz="1600" dirty="0">
                          <a:solidFill>
                            <a:srgbClr val="262626"/>
                          </a:solidFill>
                        </a:rPr>
                        <a:t>VAD(</a:t>
                      </a:r>
                      <a:r>
                        <a:rPr lang="en-US" sz="1600" dirty="0" err="1">
                          <a:solidFill>
                            <a:srgbClr val="262626"/>
                          </a:solidFill>
                        </a:rPr>
                        <a:t>LiveKit’s</a:t>
                      </a:r>
                      <a:r>
                        <a:rPr lang="en-US" sz="1600" dirty="0">
                          <a:solidFill>
                            <a:srgbClr val="262626"/>
                          </a:solidFill>
                        </a:rPr>
                        <a:t>)</a:t>
                      </a:r>
                    </a:p>
                  </a:txBody>
                  <a:tcPr marL="128016" marR="128016" marT="45720" marB="45720" anchor="ctr">
                    <a:solidFill>
                      <a:srgbClr val="FFFFFF"/>
                    </a:solidFill>
                  </a:tcPr>
                </a:tc>
                <a:tc>
                  <a:txBody>
                    <a:bodyPr/>
                    <a:lstStyle/>
                    <a:p>
                      <a:r>
                        <a:rPr lang="en-US" sz="1600" dirty="0">
                          <a:solidFill>
                            <a:srgbClr val="262626"/>
                          </a:solidFill>
                        </a:rPr>
                        <a:t>20ms</a:t>
                      </a:r>
                    </a:p>
                  </a:txBody>
                  <a:tcPr marL="128016" marR="128016" marT="45720" marB="45720" anchor="ctr">
                    <a:solidFill>
                      <a:srgbClr val="FFFFFF"/>
                    </a:solidFill>
                  </a:tcPr>
                </a:tc>
                <a:extLst>
                  <a:ext uri="{0D108BD9-81ED-4DB2-BD59-A6C34878D82A}">
                    <a16:rowId xmlns:a16="http://schemas.microsoft.com/office/drawing/2014/main" val="7327179"/>
                  </a:ext>
                </a:extLst>
              </a:tr>
              <a:tr h="370840">
                <a:tc>
                  <a:txBody>
                    <a:bodyPr/>
                    <a:lstStyle/>
                    <a:p>
                      <a:r>
                        <a:rPr lang="en-US" sz="1600" dirty="0">
                          <a:solidFill>
                            <a:srgbClr val="262626"/>
                          </a:solidFill>
                        </a:rPr>
                        <a:t>EOU(</a:t>
                      </a:r>
                      <a:r>
                        <a:rPr lang="en-US" sz="1600" dirty="0" err="1">
                          <a:solidFill>
                            <a:srgbClr val="262626"/>
                          </a:solidFill>
                        </a:rPr>
                        <a:t>LiveKit’s</a:t>
                      </a:r>
                      <a:r>
                        <a:rPr lang="en-US" sz="1600" dirty="0">
                          <a:solidFill>
                            <a:srgbClr val="262626"/>
                          </a:solidFill>
                        </a:rPr>
                        <a:t>)</a:t>
                      </a:r>
                    </a:p>
                  </a:txBody>
                  <a:tcPr marL="128016" marR="128016" marT="45720" marB="45720" anchor="ctr">
                    <a:solidFill>
                      <a:srgbClr val="F4F6FA"/>
                    </a:solidFill>
                  </a:tcPr>
                </a:tc>
                <a:tc>
                  <a:txBody>
                    <a:bodyPr/>
                    <a:lstStyle/>
                    <a:p>
                      <a:r>
                        <a:rPr lang="en-US" sz="1600" dirty="0">
                          <a:solidFill>
                            <a:srgbClr val="262626"/>
                          </a:solidFill>
                        </a:rPr>
                        <a:t>100ms</a:t>
                      </a:r>
                    </a:p>
                  </a:txBody>
                  <a:tcPr marL="128016" marR="128016" marT="45720" marB="45720" anchor="ctr">
                    <a:solidFill>
                      <a:srgbClr val="F4F6FA"/>
                    </a:solidFill>
                  </a:tcPr>
                </a:tc>
                <a:extLst>
                  <a:ext uri="{0D108BD9-81ED-4DB2-BD59-A6C34878D82A}">
                    <a16:rowId xmlns:a16="http://schemas.microsoft.com/office/drawing/2014/main" val="2965705552"/>
                  </a:ext>
                </a:extLst>
              </a:tr>
              <a:tr h="370840">
                <a:tc>
                  <a:txBody>
                    <a:bodyPr/>
                    <a:lstStyle/>
                    <a:p>
                      <a:r>
                        <a:rPr lang="en-US" sz="1600" dirty="0">
                          <a:solidFill>
                            <a:srgbClr val="262626"/>
                          </a:solidFill>
                        </a:rPr>
                        <a:t>ASR/STT</a:t>
                      </a:r>
                    </a:p>
                  </a:txBody>
                  <a:tcPr marL="128016" marR="128016" marT="45720" marB="45720" anchor="ctr">
                    <a:solidFill>
                      <a:srgbClr val="FFFFFF"/>
                    </a:solidFill>
                  </a:tcPr>
                </a:tc>
                <a:tc>
                  <a:txBody>
                    <a:bodyPr/>
                    <a:lstStyle/>
                    <a:p>
                      <a:r>
                        <a:rPr lang="en-US" sz="1600" dirty="0">
                          <a:solidFill>
                            <a:srgbClr val="262626"/>
                          </a:solidFill>
                        </a:rPr>
                        <a:t>100-500ms</a:t>
                      </a:r>
                    </a:p>
                  </a:txBody>
                  <a:tcPr marL="128016" marR="128016" marT="45720" marB="45720" anchor="ctr">
                    <a:solidFill>
                      <a:srgbClr val="FFFFFF"/>
                    </a:solidFill>
                  </a:tcPr>
                </a:tc>
                <a:extLst>
                  <a:ext uri="{0D108BD9-81ED-4DB2-BD59-A6C34878D82A}">
                    <a16:rowId xmlns:a16="http://schemas.microsoft.com/office/drawing/2014/main" val="2043761073"/>
                  </a:ext>
                </a:extLst>
              </a:tr>
              <a:tr h="370840">
                <a:tc>
                  <a:txBody>
                    <a:bodyPr/>
                    <a:lstStyle/>
                    <a:p>
                      <a:r>
                        <a:rPr lang="en-US" sz="1600" dirty="0">
                          <a:solidFill>
                            <a:srgbClr val="262626"/>
                          </a:solidFill>
                        </a:rPr>
                        <a:t>LLM (time to first token)</a:t>
                      </a:r>
                    </a:p>
                  </a:txBody>
                  <a:tcPr marL="128016" marR="128016" marT="45720" marB="45720" anchor="ctr">
                    <a:solidFill>
                      <a:srgbClr val="F4F6FA"/>
                    </a:solidFill>
                  </a:tcPr>
                </a:tc>
                <a:tc>
                  <a:txBody>
                    <a:bodyPr/>
                    <a:lstStyle/>
                    <a:p>
                      <a:r>
                        <a:rPr lang="en-US" sz="1600" dirty="0">
                          <a:solidFill>
                            <a:srgbClr val="262626"/>
                          </a:solidFill>
                        </a:rPr>
                        <a:t>200-550ms</a:t>
                      </a:r>
                    </a:p>
                  </a:txBody>
                  <a:tcPr marL="128016" marR="128016" marT="45720" marB="45720" anchor="ctr">
                    <a:solidFill>
                      <a:srgbClr val="F4F6FA"/>
                    </a:solidFill>
                  </a:tcPr>
                </a:tc>
                <a:extLst>
                  <a:ext uri="{0D108BD9-81ED-4DB2-BD59-A6C34878D82A}">
                    <a16:rowId xmlns:a16="http://schemas.microsoft.com/office/drawing/2014/main" val="1668348034"/>
                  </a:ext>
                </a:extLst>
              </a:tr>
              <a:tr h="370840">
                <a:tc>
                  <a:txBody>
                    <a:bodyPr/>
                    <a:lstStyle/>
                    <a:p>
                      <a:r>
                        <a:rPr lang="en-US" sz="1600" dirty="0">
                          <a:solidFill>
                            <a:srgbClr val="262626"/>
                          </a:solidFill>
                        </a:rPr>
                        <a:t>TTS (time to first byte)</a:t>
                      </a:r>
                    </a:p>
                  </a:txBody>
                  <a:tcPr marL="128016" marR="128016" marT="45720" marB="45720" anchor="ctr">
                    <a:solidFill>
                      <a:srgbClr val="FFFFFF"/>
                    </a:solidFill>
                  </a:tcPr>
                </a:tc>
                <a:tc>
                  <a:txBody>
                    <a:bodyPr/>
                    <a:lstStyle/>
                    <a:p>
                      <a:r>
                        <a:rPr lang="en-US" sz="1600" dirty="0">
                          <a:solidFill>
                            <a:srgbClr val="262626"/>
                          </a:solidFill>
                        </a:rPr>
                        <a:t>100-450ms</a:t>
                      </a:r>
                    </a:p>
                  </a:txBody>
                  <a:tcPr marL="128016" marR="128016" marT="45720" marB="45720" anchor="ctr">
                    <a:solidFill>
                      <a:srgbClr val="FFFFFF"/>
                    </a:solidFill>
                  </a:tcPr>
                </a:tc>
                <a:extLst>
                  <a:ext uri="{0D108BD9-81ED-4DB2-BD59-A6C34878D82A}">
                    <a16:rowId xmlns:a16="http://schemas.microsoft.com/office/drawing/2014/main" val="2101268253"/>
                  </a:ext>
                </a:extLst>
              </a:tr>
            </a:tbl>
          </a:graphicData>
        </a:graphic>
      </p:graphicFrame>
      <p:sp>
        <p:nvSpPr>
          <p:cNvPr id="9" name="TextBox 8">
            <a:extLst>
              <a:ext uri="{FF2B5EF4-FFF2-40B4-BE49-F238E27FC236}">
                <a16:creationId xmlns:a16="http://schemas.microsoft.com/office/drawing/2014/main" id="{A6F8C498-B8DA-A2FF-FD0F-83162FEA79F9}"/>
              </a:ext>
            </a:extLst>
          </p:cNvPr>
          <p:cNvSpPr txBox="1"/>
          <p:nvPr/>
        </p:nvSpPr>
        <p:spPr>
          <a:xfrm>
            <a:off x="5848309" y="5817801"/>
            <a:ext cx="5705856" cy="338554"/>
          </a:xfrm>
          <a:prstGeom prst="rect">
            <a:avLst/>
          </a:prstGeom>
          <a:noFill/>
        </p:spPr>
        <p:txBody>
          <a:bodyPr wrap="square">
            <a:spAutoFit/>
          </a:bodyPr>
          <a:lstStyle/>
          <a:p>
            <a:r>
              <a:rPr lang="en-US" sz="1600" dirty="0"/>
              <a:t>Interlocutor: </a:t>
            </a:r>
            <a:r>
              <a:rPr lang="en-US" sz="1600" b="0" i="0" dirty="0">
                <a:solidFill>
                  <a:srgbClr val="1F1F1F"/>
                </a:solidFill>
                <a:effectLst/>
              </a:rPr>
              <a:t>a person who takes part in a dialogue or conversation.</a:t>
            </a:r>
            <a:endParaRPr lang="en-US" sz="1600" dirty="0"/>
          </a:p>
        </p:txBody>
      </p:sp>
    </p:spTree>
    <p:extLst>
      <p:ext uri="{BB962C8B-B14F-4D97-AF65-F5344CB8AC3E}">
        <p14:creationId xmlns:p14="http://schemas.microsoft.com/office/powerpoint/2010/main" val="2805704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1B53B-46BC-7B86-F66A-26C6376268B0}"/>
              </a:ext>
            </a:extLst>
          </p:cNvPr>
          <p:cNvSpPr>
            <a:spLocks noGrp="1"/>
          </p:cNvSpPr>
          <p:nvPr>
            <p:ph type="title"/>
          </p:nvPr>
        </p:nvSpPr>
        <p:spPr/>
        <p:txBody>
          <a:bodyPr/>
          <a:lstStyle/>
          <a:p>
            <a:r>
              <a:rPr lang="en-US" dirty="0"/>
              <a:t>Speech-to-Text (STT) Optimization</a:t>
            </a:r>
          </a:p>
        </p:txBody>
      </p:sp>
      <p:sp>
        <p:nvSpPr>
          <p:cNvPr id="4" name="Footer Placeholder 3">
            <a:extLst>
              <a:ext uri="{FF2B5EF4-FFF2-40B4-BE49-F238E27FC236}">
                <a16:creationId xmlns:a16="http://schemas.microsoft.com/office/drawing/2014/main" id="{55F9A5E1-AC0B-8A6D-5827-B5001AFAE2D8}"/>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81EF2231-0A74-A9F3-39BD-2780DDC0DCD4}"/>
              </a:ext>
            </a:extLst>
          </p:cNvPr>
          <p:cNvSpPr>
            <a:spLocks noGrp="1"/>
          </p:cNvSpPr>
          <p:nvPr>
            <p:ph type="sldNum" sz="quarter" idx="14"/>
          </p:nvPr>
        </p:nvSpPr>
        <p:spPr/>
        <p:txBody>
          <a:bodyPr/>
          <a:lstStyle/>
          <a:p>
            <a:fld id="{CE19DD2C-80DA-488C-99A4-6C8CE83C9C30}" type="slidenum">
              <a:rPr lang="en-SG" smtClean="0"/>
              <a:t>18</a:t>
            </a:fld>
            <a:endParaRPr lang="en-SG"/>
          </a:p>
        </p:txBody>
      </p:sp>
      <p:sp>
        <p:nvSpPr>
          <p:cNvPr id="6" name="Rounded Rectangle 5"/>
          <p:cNvSpPr/>
          <p:nvPr/>
        </p:nvSpPr>
        <p:spPr>
          <a:xfrm>
            <a:off x="640080" y="1627632"/>
            <a:ext cx="5303520" cy="2935052"/>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Streaming Transcription</a:t>
            </a:r>
          </a:p>
          <a:p>
            <a:pPr algn="l">
              <a:lnSpc>
                <a:spcPct val="105000"/>
              </a:lnSpc>
              <a:spcBef>
                <a:spcPts val="0"/>
              </a:spcBef>
              <a:spcAft>
                <a:spcPts val="500"/>
              </a:spcAft>
            </a:pPr>
            <a:r>
              <a:rPr sz="1700" b="0">
                <a:solidFill>
                  <a:srgbClr val="262626"/>
                </a:solidFill>
                <a:latin typeface="Calibri"/>
              </a:rPr>
              <a:t>Rather than buffering the entire user utterance, streaming speech-to-text transcribes audio on the fly. As the user speaks</a:t>
            </a:r>
            <a:r>
              <a:rPr sz="1700" b="1">
                <a:solidFill>
                  <a:srgbClr val="262626"/>
                </a:solidFill>
                <a:latin typeface="Calibri"/>
              </a:rPr>
              <a:t>, partial text hypotheses are produced every few hundred milliseconds</a:t>
            </a:r>
            <a:r>
              <a:rPr sz="1700" b="0">
                <a:solidFill>
                  <a:srgbClr val="262626"/>
                </a:solidFill>
                <a:latin typeface="Calibri"/>
              </a:rPr>
              <a:t>. This allows the system to get a head start on understanding the query.</a:t>
            </a:r>
          </a:p>
        </p:txBody>
      </p:sp>
      <p:sp>
        <p:nvSpPr>
          <p:cNvPr id="7" name="Rounded Rectangle 6"/>
          <p:cNvSpPr/>
          <p:nvPr/>
        </p:nvSpPr>
        <p:spPr>
          <a:xfrm>
            <a:off x="6245352" y="1627632"/>
            <a:ext cx="5303520" cy="2068372"/>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1">
                <a:solidFill>
                  <a:srgbClr val="262626"/>
                </a:solidFill>
                <a:latin typeface="Calibri"/>
              </a:rPr>
              <a:t>By the time the user finishes speaking (or even before they finish), the agent may already have most of the text</a:t>
            </a:r>
            <a:r>
              <a:rPr sz="1700" b="0">
                <a:solidFill>
                  <a:srgbClr val="262626"/>
                </a:solidFill>
                <a:latin typeface="Calibri"/>
              </a:rPr>
              <a:t>. For example, with a capable streaming ASR, an utterance might be recognized with only ~200 </a:t>
            </a:r>
            <a:r>
              <a:rPr sz="1700" b="0">
                <a:solidFill>
                  <a:srgbClr val="262626"/>
                </a:solidFill>
                <a:latin typeface="Calibri"/>
              </a:rPr>
              <a:t>ms</a:t>
            </a:r>
            <a:r>
              <a:rPr sz="1700" b="0">
                <a:solidFill>
                  <a:srgbClr val="262626"/>
                </a:solidFill>
                <a:latin typeface="Calibri"/>
              </a:rPr>
              <a:t> delay from speech.</a:t>
            </a:r>
          </a:p>
        </p:txBody>
      </p:sp>
    </p:spTree>
    <p:extLst>
      <p:ext uri="{BB962C8B-B14F-4D97-AF65-F5344CB8AC3E}">
        <p14:creationId xmlns:p14="http://schemas.microsoft.com/office/powerpoint/2010/main" val="408012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BE8F9-0E8C-BC8D-65A1-CA036F8891FE}"/>
              </a:ext>
            </a:extLst>
          </p:cNvPr>
          <p:cNvSpPr>
            <a:spLocks noGrp="1"/>
          </p:cNvSpPr>
          <p:nvPr>
            <p:ph type="title"/>
          </p:nvPr>
        </p:nvSpPr>
        <p:spPr/>
        <p:txBody>
          <a:bodyPr/>
          <a:lstStyle/>
          <a:p>
            <a:r>
              <a:rPr lang="en-US" dirty="0"/>
              <a:t>Speech-to-Text (STT) Optimization</a:t>
            </a:r>
          </a:p>
        </p:txBody>
      </p:sp>
      <p:sp>
        <p:nvSpPr>
          <p:cNvPr id="4" name="Footer Placeholder 3">
            <a:extLst>
              <a:ext uri="{FF2B5EF4-FFF2-40B4-BE49-F238E27FC236}">
                <a16:creationId xmlns:a16="http://schemas.microsoft.com/office/drawing/2014/main" id="{6771D970-BC26-8306-3FEE-88C1334C0EF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3146CD47-CF6C-E7B1-A551-2A4D8FE2A4F0}"/>
              </a:ext>
            </a:extLst>
          </p:cNvPr>
          <p:cNvSpPr>
            <a:spLocks noGrp="1"/>
          </p:cNvSpPr>
          <p:nvPr>
            <p:ph type="sldNum" sz="quarter" idx="14"/>
          </p:nvPr>
        </p:nvSpPr>
        <p:spPr/>
        <p:txBody>
          <a:bodyPr/>
          <a:lstStyle/>
          <a:p>
            <a:fld id="{CE19DD2C-80DA-488C-99A4-6C8CE83C9C30}" type="slidenum">
              <a:rPr lang="en-SG" smtClean="0"/>
              <a:t>19</a:t>
            </a:fld>
            <a:endParaRPr lang="en-SG"/>
          </a:p>
        </p:txBody>
      </p:sp>
      <p:sp>
        <p:nvSpPr>
          <p:cNvPr id="6" name="Rounded Rectangle 5"/>
          <p:cNvSpPr/>
          <p:nvPr/>
        </p:nvSpPr>
        <p:spPr>
          <a:xfrm>
            <a:off x="640080" y="1627632"/>
            <a:ext cx="5303520" cy="3325615"/>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Edge Deployment for STT</a:t>
            </a:r>
          </a:p>
          <a:p>
            <a:pPr algn="l">
              <a:lnSpc>
                <a:spcPct val="105000"/>
              </a:lnSpc>
              <a:spcBef>
                <a:spcPts val="0"/>
              </a:spcBef>
              <a:spcAft>
                <a:spcPts val="500"/>
              </a:spcAft>
            </a:pPr>
            <a:r>
              <a:rPr sz="1700" b="0">
                <a:solidFill>
                  <a:srgbClr val="262626"/>
                </a:solidFill>
                <a:latin typeface="Calibri"/>
              </a:rPr>
              <a:t>Edge deployment or on-device STT can eliminate network latency entirely. For example, running Whisper locally in a browser can add as little as ~300 </a:t>
            </a:r>
            <a:r>
              <a:rPr sz="1700" b="0">
                <a:solidFill>
                  <a:srgbClr val="262626"/>
                </a:solidFill>
                <a:latin typeface="Calibri"/>
              </a:rPr>
              <a:t>ms</a:t>
            </a:r>
            <a:r>
              <a:rPr sz="1700" b="0">
                <a:solidFill>
                  <a:srgbClr val="262626"/>
                </a:solidFill>
                <a:latin typeface="Calibri"/>
              </a:rPr>
              <a:t> overhead for transcription. When using cloud STT, placing the service in a region close to users or co-located with your other components can avoid extra network hops.</a:t>
            </a:r>
          </a:p>
        </p:txBody>
      </p:sp>
      <p:sp>
        <p:nvSpPr>
          <p:cNvPr id="7" name="Rounded Rectangle 6"/>
          <p:cNvSpPr/>
          <p:nvPr/>
        </p:nvSpPr>
        <p:spPr>
          <a:xfrm>
            <a:off x="6245352" y="1627632"/>
            <a:ext cx="5303520" cy="2458935"/>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1">
                <a:solidFill>
                  <a:srgbClr val="262626"/>
                </a:solidFill>
                <a:latin typeface="Calibri"/>
              </a:rPr>
              <a:t>Scenario</a:t>
            </a:r>
            <a:r>
              <a:rPr sz="1700" b="0">
                <a:solidFill>
                  <a:srgbClr val="262626"/>
                </a:solidFill>
                <a:latin typeface="Calibri"/>
              </a:rPr>
              <a:t>: Consider a call center deploying voice AI to handle customer queries. By running a lightweight STT model (like </a:t>
            </a:r>
            <a:r>
              <a:rPr sz="1700" b="0">
                <a:solidFill>
                  <a:srgbClr val="262626"/>
                </a:solidFill>
                <a:latin typeface="Calibri"/>
              </a:rPr>
              <a:t>Deepgram’s</a:t>
            </a:r>
            <a:r>
              <a:rPr sz="1700" b="0">
                <a:solidFill>
                  <a:srgbClr val="262626"/>
                </a:solidFill>
                <a:latin typeface="Calibri"/>
              </a:rPr>
              <a:t> Nova-3</a:t>
            </a:r>
            <a:r>
              <a:rPr sz="1700" b="0">
                <a:solidFill>
                  <a:srgbClr val="262626"/>
                </a:solidFill>
                <a:latin typeface="Calibri"/>
              </a:rPr>
              <a:t>) in the same data center as the telephony system, you reduce transcription latency by 50-100ms compared to sending audio across regions.</a:t>
            </a:r>
          </a:p>
        </p:txBody>
      </p:sp>
    </p:spTree>
    <p:extLst>
      <p:ext uri="{BB962C8B-B14F-4D97-AF65-F5344CB8AC3E}">
        <p14:creationId xmlns:p14="http://schemas.microsoft.com/office/powerpoint/2010/main" val="3557847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F5AAF-69FB-1C96-9F4E-07536D7EE591}"/>
              </a:ext>
            </a:extLst>
          </p:cNvPr>
          <p:cNvSpPr>
            <a:spLocks noGrp="1"/>
          </p:cNvSpPr>
          <p:nvPr>
            <p:ph type="title"/>
          </p:nvPr>
        </p:nvSpPr>
        <p:spPr/>
        <p:txBody>
          <a:bodyPr/>
          <a:lstStyle/>
          <a:p>
            <a:r>
              <a:rPr lang="en-US" dirty="0"/>
              <a:t>LLM Optimization Strategies</a:t>
            </a:r>
          </a:p>
        </p:txBody>
      </p:sp>
      <p:sp>
        <p:nvSpPr>
          <p:cNvPr id="4" name="Footer Placeholder 3">
            <a:extLst>
              <a:ext uri="{FF2B5EF4-FFF2-40B4-BE49-F238E27FC236}">
                <a16:creationId xmlns:a16="http://schemas.microsoft.com/office/drawing/2014/main" id="{F4E37F3B-73AC-0441-D0BE-6B4A4B3408AB}"/>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3AEC2AD7-7242-C086-3AF7-0533C40C1A44}"/>
              </a:ext>
            </a:extLst>
          </p:cNvPr>
          <p:cNvSpPr>
            <a:spLocks noGrp="1"/>
          </p:cNvSpPr>
          <p:nvPr>
            <p:ph type="sldNum" sz="quarter" idx="14"/>
          </p:nvPr>
        </p:nvSpPr>
        <p:spPr/>
        <p:txBody>
          <a:bodyPr/>
          <a:lstStyle/>
          <a:p>
            <a:fld id="{CE19DD2C-80DA-488C-99A4-6C8CE83C9C30}" type="slidenum">
              <a:rPr lang="en-SG" smtClean="0"/>
              <a:t>20</a:t>
            </a:fld>
            <a:endParaRPr lang="en-SG"/>
          </a:p>
        </p:txBody>
      </p:sp>
      <p:sp>
        <p:nvSpPr>
          <p:cNvPr id="6" name="Rounded Rectangle 5"/>
          <p:cNvSpPr/>
          <p:nvPr/>
        </p:nvSpPr>
        <p:spPr>
          <a:xfrm>
            <a:off x="640080" y="1627632"/>
            <a:ext cx="5303520" cy="1763363"/>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Model Selection for Real-Time Voice</a:t>
            </a:r>
          </a:p>
          <a:p>
            <a:pPr algn="l">
              <a:lnSpc>
                <a:spcPct val="105000"/>
              </a:lnSpc>
              <a:spcBef>
                <a:spcPts val="0"/>
              </a:spcBef>
              <a:spcAft>
                <a:spcPts val="500"/>
              </a:spcAft>
            </a:pPr>
            <a:r>
              <a:rPr sz="1700" b="0">
                <a:solidFill>
                  <a:srgbClr val="262626"/>
                </a:solidFill>
                <a:latin typeface="Calibri"/>
              </a:rPr>
              <a:t>For real-time dialogue, not all LLMs are created equal. Time-to-First-Token (TTFT) is crucial.</a:t>
            </a:r>
          </a:p>
        </p:txBody>
      </p:sp>
      <p:sp>
        <p:nvSpPr>
          <p:cNvPr id="7" name="Rounded Rectangle 6"/>
          <p:cNvSpPr/>
          <p:nvPr/>
        </p:nvSpPr>
        <p:spPr>
          <a:xfrm>
            <a:off x="6245352" y="1627632"/>
            <a:ext cx="5303520" cy="2458935"/>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Sub-500ms TTFT is the goal to make the AI seem to respond immediately as you finish speaking. In practice, the average latency per query (from end of user speech to start of agent speech) has been measured around 300–700 </a:t>
            </a:r>
            <a:r>
              <a:rPr sz="1700" b="0">
                <a:solidFill>
                  <a:srgbClr val="262626"/>
                </a:solidFill>
                <a:latin typeface="Calibri"/>
              </a:rPr>
              <a:t>ms</a:t>
            </a:r>
            <a:r>
              <a:rPr sz="1700" b="0">
                <a:solidFill>
                  <a:srgbClr val="262626"/>
                </a:solidFill>
                <a:latin typeface="Calibri"/>
              </a:rPr>
              <a:t> with optimized stacks using these models.</a:t>
            </a:r>
          </a:p>
        </p:txBody>
      </p:sp>
    </p:spTree>
    <p:extLst>
      <p:ext uri="{BB962C8B-B14F-4D97-AF65-F5344CB8AC3E}">
        <p14:creationId xmlns:p14="http://schemas.microsoft.com/office/powerpoint/2010/main" val="2552272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1D7C-664C-B3AE-E107-0C3EDA2EB570}"/>
              </a:ext>
            </a:extLst>
          </p:cNvPr>
          <p:cNvSpPr>
            <a:spLocks noGrp="1"/>
          </p:cNvSpPr>
          <p:nvPr>
            <p:ph type="title"/>
          </p:nvPr>
        </p:nvSpPr>
        <p:spPr/>
        <p:txBody>
          <a:bodyPr/>
          <a:lstStyle/>
          <a:p>
            <a:r>
              <a:rPr lang="en-US" dirty="0"/>
              <a:t>LLM Optimization Strategies</a:t>
            </a:r>
          </a:p>
        </p:txBody>
      </p:sp>
      <p:sp>
        <p:nvSpPr>
          <p:cNvPr id="4" name="Footer Placeholder 3">
            <a:extLst>
              <a:ext uri="{FF2B5EF4-FFF2-40B4-BE49-F238E27FC236}">
                <a16:creationId xmlns:a16="http://schemas.microsoft.com/office/drawing/2014/main" id="{76B748A3-3005-15DD-1A5D-1561D01D69B9}"/>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6DF54842-51C6-ED81-2332-9E4884B9608D}"/>
              </a:ext>
            </a:extLst>
          </p:cNvPr>
          <p:cNvSpPr>
            <a:spLocks noGrp="1"/>
          </p:cNvSpPr>
          <p:nvPr>
            <p:ph type="sldNum" sz="quarter" idx="14"/>
          </p:nvPr>
        </p:nvSpPr>
        <p:spPr/>
        <p:txBody>
          <a:bodyPr/>
          <a:lstStyle/>
          <a:p>
            <a:fld id="{CE19DD2C-80DA-488C-99A4-6C8CE83C9C30}" type="slidenum">
              <a:rPr lang="en-SG" smtClean="0"/>
              <a:t>21</a:t>
            </a:fld>
            <a:endParaRPr lang="en-SG"/>
          </a:p>
        </p:txBody>
      </p:sp>
      <p:sp>
        <p:nvSpPr>
          <p:cNvPr id="6" name="Rounded Rectangle 5"/>
          <p:cNvSpPr/>
          <p:nvPr/>
        </p:nvSpPr>
        <p:spPr>
          <a:xfrm>
            <a:off x="640080" y="1627632"/>
            <a:ext cx="5303520" cy="427024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Warm-Up and Startup Optimization</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If using an API-based LLM (like OpenAI), the very first request in a session may incur extra latency (due to loading the model or caching the prompt). One trick is to send a lightweight “warm-up” query in advance.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Scenario: When a user calls into a customer service voice agent, send a simple “ping” request to the LLM during the initial greeting (“Thank you for calling…”). By the time the user states their question, the model is already warm and can respond quickly.</a:t>
            </a:r>
          </a:p>
        </p:txBody>
      </p:sp>
      <p:sp>
        <p:nvSpPr>
          <p:cNvPr id="7" name="Rounded Rectangle 6"/>
          <p:cNvSpPr/>
          <p:nvPr/>
        </p:nvSpPr>
        <p:spPr>
          <a:xfrm>
            <a:off x="6245352" y="1627632"/>
            <a:ext cx="5303520" cy="2654629"/>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Some developers issue a dummy prompt (e.g. “ping”) to the LLM when a call begins or even periodically during idle times, just to keep the model instance warm. This can reduce latency for the real user queries that follow, since the model’s context cache is already initialized on the server.</a:t>
            </a:r>
          </a:p>
        </p:txBody>
      </p:sp>
    </p:spTree>
    <p:extLst>
      <p:ext uri="{BB962C8B-B14F-4D97-AF65-F5344CB8AC3E}">
        <p14:creationId xmlns:p14="http://schemas.microsoft.com/office/powerpoint/2010/main" val="1006744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3C63-735A-653E-AECC-BB1B6855A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9DE38-B108-9DBE-3BC7-93990329DD61}"/>
              </a:ext>
            </a:extLst>
          </p:cNvPr>
          <p:cNvSpPr>
            <a:spLocks noGrp="1"/>
          </p:cNvSpPr>
          <p:nvPr>
            <p:ph type="title"/>
          </p:nvPr>
        </p:nvSpPr>
        <p:spPr/>
        <p:txBody>
          <a:bodyPr/>
          <a:lstStyle/>
          <a:p>
            <a:r>
              <a:rPr lang="en-US" dirty="0"/>
              <a:t>LLM Optimization Strategies</a:t>
            </a:r>
          </a:p>
        </p:txBody>
      </p:sp>
      <p:sp>
        <p:nvSpPr>
          <p:cNvPr id="4" name="Footer Placeholder 3">
            <a:extLst>
              <a:ext uri="{FF2B5EF4-FFF2-40B4-BE49-F238E27FC236}">
                <a16:creationId xmlns:a16="http://schemas.microsoft.com/office/drawing/2014/main" id="{F49E1A93-E910-D959-24D3-56E921DDD0E4}"/>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F1936F92-98D9-FCBD-6645-7C64E46908AD}"/>
              </a:ext>
            </a:extLst>
          </p:cNvPr>
          <p:cNvSpPr>
            <a:spLocks noGrp="1"/>
          </p:cNvSpPr>
          <p:nvPr>
            <p:ph type="sldNum" sz="quarter" idx="14"/>
          </p:nvPr>
        </p:nvSpPr>
        <p:spPr/>
        <p:txBody>
          <a:bodyPr/>
          <a:lstStyle/>
          <a:p>
            <a:fld id="{CE19DD2C-80DA-488C-99A4-6C8CE83C9C30}" type="slidenum">
              <a:rPr lang="en-SG" smtClean="0"/>
              <a:t>22</a:t>
            </a:fld>
            <a:endParaRPr lang="en-SG"/>
          </a:p>
        </p:txBody>
      </p:sp>
      <p:sp>
        <p:nvSpPr>
          <p:cNvPr id="6" name="Rounded Rectangle 5"/>
          <p:cNvSpPr/>
          <p:nvPr/>
        </p:nvSpPr>
        <p:spPr>
          <a:xfrm>
            <a:off x="640080" y="1627632"/>
            <a:ext cx="5303520" cy="2932346"/>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Semantic Caching</a:t>
            </a:r>
          </a:p>
          <a:p>
            <a:pPr algn="l">
              <a:lnSpc>
                <a:spcPct val="105000"/>
              </a:lnSpc>
              <a:spcBef>
                <a:spcPts val="0"/>
              </a:spcBef>
              <a:spcAft>
                <a:spcPts val="500"/>
              </a:spcAft>
            </a:pPr>
            <a:r>
              <a:rPr sz="1700" b="0">
                <a:solidFill>
                  <a:srgbClr val="262626"/>
                </a:solidFill>
                <a:latin typeface="Calibri"/>
              </a:rPr>
              <a:t>Semantic caching stores previous queries and LLM answers so that semantically similar prompts can reuse results without a full model call. Unlike traditional key-value caching (which hits only on exact string matches), semantic caching uses embeddings to match queries by intent, not exact wording.</a:t>
            </a:r>
          </a:p>
        </p:txBody>
      </p:sp>
      <p:sp>
        <p:nvSpPr>
          <p:cNvPr id="7" name="Rounded Rectangle 6"/>
          <p:cNvSpPr/>
          <p:nvPr/>
        </p:nvSpPr>
        <p:spPr>
          <a:xfrm>
            <a:off x="6245352" y="1627632"/>
            <a:ext cx="5303520" cy="427024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How it works:</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Convert incoming prompt into a vector embedding.</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Perform a similarity search in a vector database.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If a similar query is found above threshold, return cached answer.</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Otherwise, generate new response and add to cache.</a:t>
            </a:r>
          </a:p>
          <a:p>
            <a:pPr algn="l" marL="146304" indent="-146304">
              <a:lnSpc>
                <a:spcPct val="105000"/>
              </a:lnSpc>
              <a:spcBef>
                <a:spcPts val="0"/>
              </a:spcBef>
              <a:spcAft>
                <a:spcPts val="500"/>
              </a:spcAft>
            </a:pPr>
            <a:r>
              <a:rPr sz="1700" b="0">
                <a:solidFill>
                  <a:srgbClr val="164194"/>
                </a:solidFill>
                <a:latin typeface="Calibri"/>
              </a:rPr>
              <a:t>•  </a:t>
            </a:r>
            <a:r>
              <a:rPr sz="1700" b="0">
                <a:solidFill>
                  <a:srgbClr val="262626"/>
                </a:solidFill>
                <a:latin typeface="Calibri"/>
              </a:rPr>
              <a:t>Hitting the cache is far faster than a full LLM run. A self-hosted semantic cache can answer in ~50 </a:t>
            </a:r>
            <a:r>
              <a:rPr sz="1700" b="0">
                <a:solidFill>
                  <a:srgbClr val="262626"/>
                </a:solidFill>
                <a:latin typeface="Calibri"/>
              </a:rPr>
              <a:t>ms</a:t>
            </a:r>
            <a:r>
              <a:rPr sz="1700" b="0">
                <a:solidFill>
                  <a:srgbClr val="262626"/>
                </a:solidFill>
                <a:latin typeface="Calibri"/>
              </a:rPr>
              <a:t> (or ~200 </a:t>
            </a:r>
            <a:r>
              <a:rPr sz="1700" b="0">
                <a:solidFill>
                  <a:srgbClr val="262626"/>
                </a:solidFill>
                <a:latin typeface="Calibri"/>
              </a:rPr>
              <a:t>ms</a:t>
            </a:r>
            <a:r>
              <a:rPr sz="1700" b="0">
                <a:solidFill>
                  <a:srgbClr val="262626"/>
                </a:solidFill>
                <a:latin typeface="Calibri"/>
              </a:rPr>
              <a:t> via an API call) versus an LLM which might take seconds.</a:t>
            </a:r>
          </a:p>
        </p:txBody>
      </p:sp>
    </p:spTree>
    <p:extLst>
      <p:ext uri="{BB962C8B-B14F-4D97-AF65-F5344CB8AC3E}">
        <p14:creationId xmlns:p14="http://schemas.microsoft.com/office/powerpoint/2010/main" val="594239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BFA4F-C172-A34E-09F7-7AAFF3040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8E937-1CB5-FB74-A3AB-36B4A7888ADD}"/>
              </a:ext>
            </a:extLst>
          </p:cNvPr>
          <p:cNvSpPr>
            <a:spLocks noGrp="1"/>
          </p:cNvSpPr>
          <p:nvPr>
            <p:ph type="title"/>
          </p:nvPr>
        </p:nvSpPr>
        <p:spPr/>
        <p:txBody>
          <a:bodyPr/>
          <a:lstStyle/>
          <a:p>
            <a:r>
              <a:rPr lang="en-US" dirty="0"/>
              <a:t>LLM Optimization Strategies</a:t>
            </a:r>
          </a:p>
        </p:txBody>
      </p:sp>
      <p:sp>
        <p:nvSpPr>
          <p:cNvPr id="4" name="Footer Placeholder 3">
            <a:extLst>
              <a:ext uri="{FF2B5EF4-FFF2-40B4-BE49-F238E27FC236}">
                <a16:creationId xmlns:a16="http://schemas.microsoft.com/office/drawing/2014/main" id="{8F659004-BAD1-FD82-1F5F-B0DCA07C0E12}"/>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995D3A7C-277F-91EC-4520-B34E09ED3812}"/>
              </a:ext>
            </a:extLst>
          </p:cNvPr>
          <p:cNvSpPr>
            <a:spLocks noGrp="1"/>
          </p:cNvSpPr>
          <p:nvPr>
            <p:ph type="sldNum" sz="quarter" idx="14"/>
          </p:nvPr>
        </p:nvSpPr>
        <p:spPr/>
        <p:txBody>
          <a:bodyPr/>
          <a:lstStyle/>
          <a:p>
            <a:fld id="{CE19DD2C-80DA-488C-99A4-6C8CE83C9C30}" type="slidenum">
              <a:rPr lang="en-SG" smtClean="0"/>
              <a:t>23</a:t>
            </a:fld>
            <a:endParaRPr lang="en-SG"/>
          </a:p>
        </p:txBody>
      </p:sp>
      <p:sp>
        <p:nvSpPr>
          <p:cNvPr id="6" name="Rounded Rectangle 5"/>
          <p:cNvSpPr/>
          <p:nvPr/>
        </p:nvSpPr>
        <p:spPr>
          <a:xfrm>
            <a:off x="640080" y="1627632"/>
            <a:ext cx="5303520" cy="237047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Context Management</a:t>
            </a:r>
          </a:p>
          <a:p>
            <a:pPr algn="l">
              <a:lnSpc>
                <a:spcPct val="105000"/>
              </a:lnSpc>
              <a:spcBef>
                <a:spcPts val="0"/>
              </a:spcBef>
              <a:spcAft>
                <a:spcPts val="500"/>
              </a:spcAft>
            </a:pPr>
            <a:r>
              <a:rPr sz="1700" b="0">
                <a:solidFill>
                  <a:srgbClr val="262626"/>
                </a:solidFill>
                <a:latin typeface="Calibri"/>
              </a:rPr>
              <a:t>Feeding long conversation histories or verbose prompts into an LLM is a major source of latency. The more tokens the model must process, the longer it takes to produce a response.</a:t>
            </a:r>
          </a:p>
        </p:txBody>
      </p:sp>
      <p:sp>
        <p:nvSpPr>
          <p:cNvPr id="7" name="Rounded Rectangle 6"/>
          <p:cNvSpPr/>
          <p:nvPr/>
        </p:nvSpPr>
        <p:spPr>
          <a:xfrm>
            <a:off x="6245352" y="1627632"/>
            <a:ext cx="5303520" cy="4270248"/>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Strategies for prompt optimization:</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Rolling Context Windows</a:t>
            </a:r>
            <a:r>
              <a:rPr sz="1700" b="0">
                <a:solidFill>
                  <a:srgbClr val="262626"/>
                </a:solidFill>
                <a:latin typeface="Calibri"/>
              </a:rPr>
              <a:t>: A simple heuristic is to include only the last N turns of dialogue verbatim, and omit or summarize older turns. This creates a sliding window that “forgets” distant history except for a synopsis.</a:t>
            </a:r>
          </a:p>
          <a:p>
            <a:pPr algn="l" marL="146304" indent="-146304">
              <a:lnSpc>
                <a:spcPct val="105000"/>
              </a:lnSpc>
              <a:spcBef>
                <a:spcPts val="0"/>
              </a:spcBef>
              <a:spcAft>
                <a:spcPts val="500"/>
              </a:spcAft>
            </a:pPr>
            <a:r>
              <a:rPr sz="1700" b="0">
                <a:solidFill>
                  <a:srgbClr val="164194"/>
                </a:solidFill>
                <a:latin typeface="Calibri"/>
              </a:rPr>
              <a:t>•  </a:t>
            </a:r>
            <a:r>
              <a:rPr sz="1700" b="1">
                <a:solidFill>
                  <a:srgbClr val="262626"/>
                </a:solidFill>
                <a:latin typeface="Calibri"/>
              </a:rPr>
              <a:t>Prompt Summarization</a:t>
            </a:r>
            <a:r>
              <a:rPr sz="1700" b="0">
                <a:solidFill>
                  <a:srgbClr val="262626"/>
                </a:solidFill>
                <a:latin typeface="Calibri"/>
              </a:rPr>
              <a:t>: Rather than resending the entire chat history each turn, distill older turns into a concise summary. For example, after a few exchanges, a voice agent can replace the detailed transcript of earlier dialogue with a one-sentence summary or extracted facts.</a:t>
            </a:r>
          </a:p>
        </p:txBody>
      </p:sp>
    </p:spTree>
    <p:extLst>
      <p:ext uri="{BB962C8B-B14F-4D97-AF65-F5344CB8AC3E}">
        <p14:creationId xmlns:p14="http://schemas.microsoft.com/office/powerpoint/2010/main" val="2116284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52B88-B6CE-BDE4-4CFD-89C89DA53B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C4474-D254-866D-FD87-BED373F78829}"/>
              </a:ext>
            </a:extLst>
          </p:cNvPr>
          <p:cNvSpPr>
            <a:spLocks noGrp="1"/>
          </p:cNvSpPr>
          <p:nvPr>
            <p:ph type="title"/>
          </p:nvPr>
        </p:nvSpPr>
        <p:spPr/>
        <p:txBody>
          <a:bodyPr/>
          <a:lstStyle/>
          <a:p>
            <a:r>
              <a:rPr lang="en-US" dirty="0"/>
              <a:t>Text-to-Speech (TTS) Optimization</a:t>
            </a:r>
          </a:p>
        </p:txBody>
      </p:sp>
      <p:sp>
        <p:nvSpPr>
          <p:cNvPr id="4" name="Footer Placeholder 3">
            <a:extLst>
              <a:ext uri="{FF2B5EF4-FFF2-40B4-BE49-F238E27FC236}">
                <a16:creationId xmlns:a16="http://schemas.microsoft.com/office/drawing/2014/main" id="{72A6886E-85E8-830C-AAAE-F0B9BDE92C0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5304488E-7BBB-65B3-132B-E7DAF0D020FA}"/>
              </a:ext>
            </a:extLst>
          </p:cNvPr>
          <p:cNvSpPr>
            <a:spLocks noGrp="1"/>
          </p:cNvSpPr>
          <p:nvPr>
            <p:ph type="sldNum" sz="quarter" idx="14"/>
          </p:nvPr>
        </p:nvSpPr>
        <p:spPr/>
        <p:txBody>
          <a:bodyPr/>
          <a:lstStyle/>
          <a:p>
            <a:fld id="{CE19DD2C-80DA-488C-99A4-6C8CE83C9C30}" type="slidenum">
              <a:rPr lang="en-SG" smtClean="0"/>
              <a:t>24</a:t>
            </a:fld>
            <a:endParaRPr lang="en-SG"/>
          </a:p>
        </p:txBody>
      </p:sp>
      <p:sp>
        <p:nvSpPr>
          <p:cNvPr id="6" name="Rounded Rectangle 5"/>
          <p:cNvSpPr/>
          <p:nvPr/>
        </p:nvSpPr>
        <p:spPr>
          <a:xfrm>
            <a:off x="640080" y="1627632"/>
            <a:ext cx="5303520" cy="3325615"/>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Word-Level Timestamps and Interruption Handling</a:t>
            </a:r>
          </a:p>
          <a:p>
            <a:pPr algn="l">
              <a:lnSpc>
                <a:spcPct val="105000"/>
              </a:lnSpc>
              <a:spcBef>
                <a:spcPts val="0"/>
              </a:spcBef>
              <a:spcAft>
                <a:spcPts val="500"/>
              </a:spcAft>
            </a:pPr>
            <a:r>
              <a:rPr sz="1700" b="0">
                <a:solidFill>
                  <a:srgbClr val="262626"/>
                </a:solidFill>
                <a:latin typeface="Calibri"/>
              </a:rPr>
              <a:t>For conversational voice use cases, being able to track what text the user heard is important for maintaining accurate conversation context. This requires that a model generate word-level timestamp metadata in addition to the audio, and that the timestamp data be </a:t>
            </a:r>
            <a:r>
              <a:rPr sz="1700" b="0">
                <a:solidFill>
                  <a:srgbClr val="262626"/>
                </a:solidFill>
                <a:latin typeface="Calibri"/>
              </a:rPr>
              <a:t>reconstructible</a:t>
            </a:r>
            <a:r>
              <a:rPr sz="1700" b="0">
                <a:solidFill>
                  <a:srgbClr val="262626"/>
                </a:solidFill>
                <a:latin typeface="Calibri"/>
              </a:rPr>
              <a:t> backwards to the original input text.</a:t>
            </a:r>
          </a:p>
        </p:txBody>
      </p:sp>
      <p:sp>
        <p:nvSpPr>
          <p:cNvPr id="7" name="Rounded Rectangle 6"/>
          <p:cNvSpPr/>
          <p:nvPr/>
        </p:nvSpPr>
        <p:spPr>
          <a:xfrm>
            <a:off x="6245352" y="1627632"/>
            <a:ext cx="5303520" cy="2849499"/>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This capability is crucial for handling user </a:t>
            </a:r>
            <a:r>
              <a:rPr sz="1700" b="0">
                <a:solidFill>
                  <a:srgbClr val="262626"/>
                </a:solidFill>
                <a:latin typeface="Calibri"/>
              </a:rPr>
              <a:t>interruptions: The</a:t>
            </a:r>
            <a:r>
              <a:rPr sz="1700" b="0">
                <a:solidFill>
                  <a:srgbClr val="262626"/>
                </a:solidFill>
                <a:latin typeface="Calibri"/>
              </a:rPr>
              <a:t> instant the user starts speaking while the agent is talking, the agent should stop its speech. This is table stakes for natural dialogue – we’ve all experienced voice systems that annoyingly keep talking even when we’re trying to interject; that’s what to avoid.</a:t>
            </a:r>
          </a:p>
        </p:txBody>
      </p:sp>
    </p:spTree>
    <p:extLst>
      <p:ext uri="{BB962C8B-B14F-4D97-AF65-F5344CB8AC3E}">
        <p14:creationId xmlns:p14="http://schemas.microsoft.com/office/powerpoint/2010/main" val="1300348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96A1-6AA0-FEA6-48A7-01A1449175F1}"/>
              </a:ext>
            </a:extLst>
          </p:cNvPr>
          <p:cNvSpPr>
            <a:spLocks noGrp="1"/>
          </p:cNvSpPr>
          <p:nvPr>
            <p:ph type="title"/>
          </p:nvPr>
        </p:nvSpPr>
        <p:spPr/>
        <p:txBody>
          <a:bodyPr/>
          <a:lstStyle/>
          <a:p>
            <a:r>
              <a:rPr lang="en-US" dirty="0"/>
              <a:t>Text-to-Speech (TTS) Optimization</a:t>
            </a:r>
          </a:p>
        </p:txBody>
      </p:sp>
      <p:sp>
        <p:nvSpPr>
          <p:cNvPr id="4" name="Footer Placeholder 3">
            <a:extLst>
              <a:ext uri="{FF2B5EF4-FFF2-40B4-BE49-F238E27FC236}">
                <a16:creationId xmlns:a16="http://schemas.microsoft.com/office/drawing/2014/main" id="{93971EA6-FC11-DE0B-E3F5-A74081D7D78F}"/>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4E79BC3E-5ECF-C7F1-D355-E7CE05D998ED}"/>
              </a:ext>
            </a:extLst>
          </p:cNvPr>
          <p:cNvSpPr>
            <a:spLocks noGrp="1"/>
          </p:cNvSpPr>
          <p:nvPr>
            <p:ph type="sldNum" sz="quarter" idx="14"/>
          </p:nvPr>
        </p:nvSpPr>
        <p:spPr/>
        <p:txBody>
          <a:bodyPr/>
          <a:lstStyle/>
          <a:p>
            <a:fld id="{CE19DD2C-80DA-488C-99A4-6C8CE83C9C30}" type="slidenum">
              <a:rPr lang="en-SG" smtClean="0"/>
              <a:t>25</a:t>
            </a:fld>
            <a:endParaRPr lang="en-SG"/>
          </a:p>
        </p:txBody>
      </p:sp>
      <p:sp>
        <p:nvSpPr>
          <p:cNvPr id="6" name="Rounded Rectangle 5"/>
          <p:cNvSpPr/>
          <p:nvPr/>
        </p:nvSpPr>
        <p:spPr>
          <a:xfrm>
            <a:off x="640080" y="1627632"/>
            <a:ext cx="5303520" cy="3325615"/>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0000"/>
              </a:lnSpc>
              <a:spcBef>
                <a:spcPts val="0"/>
              </a:spcBef>
              <a:spcAft>
                <a:spcPts val="400"/>
              </a:spcAft>
            </a:pPr>
            <a:r>
              <a:rPr sz="1750" b="1">
                <a:solidFill>
                  <a:srgbClr val="0E2B63"/>
                </a:solidFill>
                <a:latin typeface="Calibri"/>
              </a:rPr>
              <a:t>Streaming TTS</a:t>
            </a:r>
          </a:p>
          <a:p>
            <a:pPr algn="l">
              <a:lnSpc>
                <a:spcPct val="105000"/>
              </a:lnSpc>
              <a:spcBef>
                <a:spcPts val="0"/>
              </a:spcBef>
              <a:spcAft>
                <a:spcPts val="500"/>
              </a:spcAft>
            </a:pPr>
            <a:r>
              <a:rPr sz="1700" b="0">
                <a:solidFill>
                  <a:srgbClr val="262626"/>
                </a:solidFill>
                <a:latin typeface="Calibri"/>
              </a:rPr>
              <a:t>Streaming text-to-speech is the counterpart to streaming STT. Instead of waiting for the full generated sentence, advanced TTS systems can start synthesizing audio from the first chunk of text and continue as more text comes in. This means as soon as the LLM produces a few words, the agent’s voice can start speaking them.</a:t>
            </a:r>
          </a:p>
        </p:txBody>
      </p:sp>
    </p:spTree>
    <p:extLst>
      <p:ext uri="{BB962C8B-B14F-4D97-AF65-F5344CB8AC3E}">
        <p14:creationId xmlns:p14="http://schemas.microsoft.com/office/powerpoint/2010/main" val="2102998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B378D03-6F1D-345E-C663-1BAEBE8AA3DC}"/>
              </a:ext>
            </a:extLst>
          </p:cNvPr>
          <p:cNvSpPr/>
          <p:nvPr/>
        </p:nvSpPr>
        <p:spPr>
          <a:xfrm>
            <a:off x="737419" y="3730752"/>
            <a:ext cx="1622323" cy="2395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D2F2D4-8338-DB68-7031-6D473C22F415}"/>
              </a:ext>
            </a:extLst>
          </p:cNvPr>
          <p:cNvSpPr>
            <a:spLocks noGrp="1"/>
          </p:cNvSpPr>
          <p:nvPr>
            <p:ph type="title"/>
          </p:nvPr>
        </p:nvSpPr>
        <p:spPr/>
        <p:txBody>
          <a:bodyPr/>
          <a:lstStyle/>
          <a:p>
            <a:r>
              <a:rPr lang="en-US" dirty="0"/>
              <a:t>Approach: Real Time Peer-to-Peer Communication</a:t>
            </a:r>
          </a:p>
        </p:txBody>
      </p:sp>
      <p:sp>
        <p:nvSpPr>
          <p:cNvPr id="3" name="Text Placeholder 2">
            <a:extLst>
              <a:ext uri="{FF2B5EF4-FFF2-40B4-BE49-F238E27FC236}">
                <a16:creationId xmlns:a16="http://schemas.microsoft.com/office/drawing/2014/main" id="{7A763545-C4C4-D3D4-36D4-15CF5FBCEEAB}"/>
              </a:ext>
            </a:extLst>
          </p:cNvPr>
          <p:cNvSpPr>
            <a:spLocks noGrp="1"/>
          </p:cNvSpPr>
          <p:nvPr>
            <p:ph type="body" sz="quarter" idx="11"/>
          </p:nvPr>
        </p:nvSpPr>
        <p:spPr>
          <a:xfrm>
            <a:off x="542018" y="1133517"/>
            <a:ext cx="11345182" cy="4894205"/>
          </a:xfrm>
        </p:spPr>
        <p:txBody>
          <a:bodyPr>
            <a:normAutofit/>
          </a:bodyPr>
          <a:lstStyle/>
          <a:p>
            <a:r>
              <a:rPr lang="en-US" sz="2000" dirty="0"/>
              <a:t>Web Real-Time Communication (WebRTC) is a free open source project providing web browser and mobile applications with real-time communication via APIs.</a:t>
            </a:r>
          </a:p>
          <a:p>
            <a:r>
              <a:rPr lang="en-US" sz="2000" dirty="0"/>
              <a:t>WebSocket network communication protocol to establish a client-server ‘handshake’.</a:t>
            </a:r>
          </a:p>
          <a:p>
            <a:r>
              <a:rPr lang="en-US" sz="2000" dirty="0"/>
              <a:t>Core elements: asynchronous processing and careful management of I/O stream &amp; streaming APIs (i.e. STT/TTS/LLM)</a:t>
            </a:r>
          </a:p>
        </p:txBody>
      </p:sp>
      <p:sp>
        <p:nvSpPr>
          <p:cNvPr id="4" name="Footer Placeholder 3">
            <a:extLst>
              <a:ext uri="{FF2B5EF4-FFF2-40B4-BE49-F238E27FC236}">
                <a16:creationId xmlns:a16="http://schemas.microsoft.com/office/drawing/2014/main" id="{1FDC62B9-FB32-32E0-7F96-27BD1D99B622}"/>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66AB1487-A1F6-D437-65D1-5224F50BA101}"/>
              </a:ext>
            </a:extLst>
          </p:cNvPr>
          <p:cNvSpPr>
            <a:spLocks noGrp="1"/>
          </p:cNvSpPr>
          <p:nvPr>
            <p:ph type="sldNum" sz="quarter" idx="14"/>
          </p:nvPr>
        </p:nvSpPr>
        <p:spPr/>
        <p:txBody>
          <a:bodyPr/>
          <a:lstStyle/>
          <a:p>
            <a:fld id="{CE19DD2C-80DA-488C-99A4-6C8CE83C9C30}" type="slidenum">
              <a:rPr lang="en-SG" smtClean="0"/>
              <a:t>26</a:t>
            </a:fld>
            <a:endParaRPr lang="en-SG"/>
          </a:p>
        </p:txBody>
      </p:sp>
      <p:sp>
        <p:nvSpPr>
          <p:cNvPr id="6" name="TextBox 5">
            <a:extLst>
              <a:ext uri="{FF2B5EF4-FFF2-40B4-BE49-F238E27FC236}">
                <a16:creationId xmlns:a16="http://schemas.microsoft.com/office/drawing/2014/main" id="{63FD5AE8-44DC-0D9D-F4ED-20AE47BF90BF}"/>
              </a:ext>
            </a:extLst>
          </p:cNvPr>
          <p:cNvSpPr txBox="1"/>
          <p:nvPr/>
        </p:nvSpPr>
        <p:spPr>
          <a:xfrm>
            <a:off x="1047135" y="3864077"/>
            <a:ext cx="1135626" cy="369332"/>
          </a:xfrm>
          <a:prstGeom prst="rect">
            <a:avLst/>
          </a:prstGeom>
          <a:solidFill>
            <a:schemeClr val="accent5">
              <a:lumMod val="40000"/>
              <a:lumOff val="60000"/>
            </a:schemeClr>
          </a:solidFill>
        </p:spPr>
        <p:txBody>
          <a:bodyPr wrap="square" rtlCol="0">
            <a:spAutoFit/>
          </a:bodyPr>
          <a:lstStyle/>
          <a:p>
            <a:r>
              <a:rPr lang="en-US" dirty="0"/>
              <a:t>Web</a:t>
            </a:r>
          </a:p>
        </p:txBody>
      </p:sp>
      <p:sp>
        <p:nvSpPr>
          <p:cNvPr id="7" name="TextBox 6">
            <a:extLst>
              <a:ext uri="{FF2B5EF4-FFF2-40B4-BE49-F238E27FC236}">
                <a16:creationId xmlns:a16="http://schemas.microsoft.com/office/drawing/2014/main" id="{BBA776C9-3194-6239-C6F8-622E9671F7D0}"/>
              </a:ext>
            </a:extLst>
          </p:cNvPr>
          <p:cNvSpPr txBox="1"/>
          <p:nvPr/>
        </p:nvSpPr>
        <p:spPr>
          <a:xfrm>
            <a:off x="1047135" y="4393044"/>
            <a:ext cx="1135626" cy="369332"/>
          </a:xfrm>
          <a:prstGeom prst="rect">
            <a:avLst/>
          </a:prstGeom>
          <a:solidFill>
            <a:schemeClr val="accent5">
              <a:lumMod val="40000"/>
              <a:lumOff val="60000"/>
            </a:schemeClr>
          </a:solidFill>
        </p:spPr>
        <p:txBody>
          <a:bodyPr wrap="square" rtlCol="0">
            <a:spAutoFit/>
          </a:bodyPr>
          <a:lstStyle/>
          <a:p>
            <a:r>
              <a:rPr lang="en-US" dirty="0"/>
              <a:t>Mobile</a:t>
            </a:r>
          </a:p>
        </p:txBody>
      </p:sp>
      <p:sp>
        <p:nvSpPr>
          <p:cNvPr id="8" name="TextBox 7">
            <a:extLst>
              <a:ext uri="{FF2B5EF4-FFF2-40B4-BE49-F238E27FC236}">
                <a16:creationId xmlns:a16="http://schemas.microsoft.com/office/drawing/2014/main" id="{9BE27AFD-91FD-F9F1-F0A8-7A7A9C5F78A9}"/>
              </a:ext>
            </a:extLst>
          </p:cNvPr>
          <p:cNvSpPr txBox="1"/>
          <p:nvPr/>
        </p:nvSpPr>
        <p:spPr>
          <a:xfrm>
            <a:off x="1047135" y="4965420"/>
            <a:ext cx="1135626" cy="369332"/>
          </a:xfrm>
          <a:prstGeom prst="rect">
            <a:avLst/>
          </a:prstGeom>
          <a:solidFill>
            <a:schemeClr val="accent5">
              <a:lumMod val="40000"/>
              <a:lumOff val="60000"/>
            </a:schemeClr>
          </a:solidFill>
        </p:spPr>
        <p:txBody>
          <a:bodyPr wrap="square" rtlCol="0">
            <a:spAutoFit/>
          </a:bodyPr>
          <a:lstStyle/>
          <a:p>
            <a:r>
              <a:rPr lang="en-US" dirty="0"/>
              <a:t>Phone</a:t>
            </a:r>
          </a:p>
        </p:txBody>
      </p:sp>
      <p:sp>
        <p:nvSpPr>
          <p:cNvPr id="10" name="TextBox 9">
            <a:extLst>
              <a:ext uri="{FF2B5EF4-FFF2-40B4-BE49-F238E27FC236}">
                <a16:creationId xmlns:a16="http://schemas.microsoft.com/office/drawing/2014/main" id="{21198F0A-1C70-025A-8BC5-D9F9086C4FB6}"/>
              </a:ext>
            </a:extLst>
          </p:cNvPr>
          <p:cNvSpPr txBox="1"/>
          <p:nvPr/>
        </p:nvSpPr>
        <p:spPr>
          <a:xfrm>
            <a:off x="1166725" y="3355848"/>
            <a:ext cx="1197636" cy="369332"/>
          </a:xfrm>
          <a:prstGeom prst="rect">
            <a:avLst/>
          </a:prstGeom>
          <a:noFill/>
        </p:spPr>
        <p:txBody>
          <a:bodyPr wrap="none" rtlCol="0">
            <a:spAutoFit/>
          </a:bodyPr>
          <a:lstStyle/>
          <a:p>
            <a:r>
              <a:rPr lang="en-US" dirty="0"/>
              <a:t>Your Client</a:t>
            </a:r>
          </a:p>
        </p:txBody>
      </p:sp>
      <p:sp>
        <p:nvSpPr>
          <p:cNvPr id="11" name="Rectangle: Rounded Corners 10">
            <a:extLst>
              <a:ext uri="{FF2B5EF4-FFF2-40B4-BE49-F238E27FC236}">
                <a16:creationId xmlns:a16="http://schemas.microsoft.com/office/drawing/2014/main" id="{66DB8A57-1216-78BC-8618-3ED7622F5E3A}"/>
              </a:ext>
            </a:extLst>
          </p:cNvPr>
          <p:cNvSpPr/>
          <p:nvPr/>
        </p:nvSpPr>
        <p:spPr>
          <a:xfrm>
            <a:off x="3185652" y="3803904"/>
            <a:ext cx="1238864" cy="22844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t>LiveKit Cloud</a:t>
            </a:r>
          </a:p>
          <a:p>
            <a:pPr algn="ctr"/>
            <a:r>
              <a:rPr lang="en-US" dirty="0"/>
              <a:t>(or OSS Server)</a:t>
            </a:r>
          </a:p>
        </p:txBody>
      </p:sp>
      <p:cxnSp>
        <p:nvCxnSpPr>
          <p:cNvPr id="13" name="Straight Arrow Connector 12">
            <a:extLst>
              <a:ext uri="{FF2B5EF4-FFF2-40B4-BE49-F238E27FC236}">
                <a16:creationId xmlns:a16="http://schemas.microsoft.com/office/drawing/2014/main" id="{E683A68B-44B3-99C4-3D94-BDEF6F629440}"/>
              </a:ext>
            </a:extLst>
          </p:cNvPr>
          <p:cNvCxnSpPr>
            <a:cxnSpLocks/>
            <a:stCxn id="9" idx="3"/>
          </p:cNvCxnSpPr>
          <p:nvPr/>
        </p:nvCxnSpPr>
        <p:spPr>
          <a:xfrm>
            <a:off x="2359742" y="4950672"/>
            <a:ext cx="816673" cy="147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A1D4071-70C2-1AD7-F3B4-F5FDCB2C34A8}"/>
              </a:ext>
            </a:extLst>
          </p:cNvPr>
          <p:cNvSpPr txBox="1"/>
          <p:nvPr/>
        </p:nvSpPr>
        <p:spPr>
          <a:xfrm>
            <a:off x="2395728" y="4590288"/>
            <a:ext cx="768096" cy="338554"/>
          </a:xfrm>
          <a:prstGeom prst="rect">
            <a:avLst/>
          </a:prstGeom>
          <a:noFill/>
        </p:spPr>
        <p:txBody>
          <a:bodyPr wrap="square" rtlCol="0">
            <a:spAutoFit/>
          </a:bodyPr>
          <a:lstStyle/>
          <a:p>
            <a:pPr algn="ctr"/>
            <a:r>
              <a:rPr lang="en-US" sz="1000" dirty="0"/>
              <a:t>WebRTC</a:t>
            </a:r>
          </a:p>
        </p:txBody>
      </p:sp>
      <p:cxnSp>
        <p:nvCxnSpPr>
          <p:cNvPr id="19" name="Straight Arrow Connector 18">
            <a:extLst>
              <a:ext uri="{FF2B5EF4-FFF2-40B4-BE49-F238E27FC236}">
                <a16:creationId xmlns:a16="http://schemas.microsoft.com/office/drawing/2014/main" id="{BFC1D7EF-85FC-1DB4-9FEB-F85A2C0235AC}"/>
              </a:ext>
            </a:extLst>
          </p:cNvPr>
          <p:cNvCxnSpPr>
            <a:cxnSpLocks/>
          </p:cNvCxnSpPr>
          <p:nvPr/>
        </p:nvCxnSpPr>
        <p:spPr>
          <a:xfrm>
            <a:off x="4588599" y="4952148"/>
            <a:ext cx="68206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1ABCB8E-C9A6-5064-FD0D-6597993E692D}"/>
              </a:ext>
            </a:extLst>
          </p:cNvPr>
          <p:cNvSpPr txBox="1"/>
          <p:nvPr/>
        </p:nvSpPr>
        <p:spPr>
          <a:xfrm>
            <a:off x="4393168" y="4590288"/>
            <a:ext cx="1135626" cy="338554"/>
          </a:xfrm>
          <a:prstGeom prst="rect">
            <a:avLst/>
          </a:prstGeom>
          <a:noFill/>
        </p:spPr>
        <p:txBody>
          <a:bodyPr wrap="square" rtlCol="0">
            <a:spAutoFit/>
          </a:bodyPr>
          <a:lstStyle/>
          <a:p>
            <a:r>
              <a:rPr lang="en-US" sz="1600" dirty="0"/>
              <a:t>WebRTC</a:t>
            </a:r>
          </a:p>
        </p:txBody>
      </p:sp>
      <p:sp>
        <p:nvSpPr>
          <p:cNvPr id="23" name="Rectangle 22">
            <a:extLst>
              <a:ext uri="{FF2B5EF4-FFF2-40B4-BE49-F238E27FC236}">
                <a16:creationId xmlns:a16="http://schemas.microsoft.com/office/drawing/2014/main" id="{68ECDB26-E0DE-1A04-3CFA-5DBEBF310504}"/>
              </a:ext>
            </a:extLst>
          </p:cNvPr>
          <p:cNvSpPr/>
          <p:nvPr/>
        </p:nvSpPr>
        <p:spPr>
          <a:xfrm>
            <a:off x="5357335" y="3730752"/>
            <a:ext cx="1622323" cy="2395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8D7C508-17BB-4BBE-B9C5-C6E728631D1E}"/>
              </a:ext>
            </a:extLst>
          </p:cNvPr>
          <p:cNvSpPr txBox="1"/>
          <p:nvPr/>
        </p:nvSpPr>
        <p:spPr>
          <a:xfrm>
            <a:off x="5600684" y="4562321"/>
            <a:ext cx="1135626" cy="369332"/>
          </a:xfrm>
          <a:prstGeom prst="rect">
            <a:avLst/>
          </a:prstGeom>
          <a:solidFill>
            <a:schemeClr val="accent5">
              <a:lumMod val="40000"/>
              <a:lumOff val="60000"/>
            </a:schemeClr>
          </a:solidFill>
        </p:spPr>
        <p:txBody>
          <a:bodyPr wrap="square" rtlCol="0">
            <a:spAutoFit/>
          </a:bodyPr>
          <a:lstStyle/>
          <a:p>
            <a:r>
              <a:rPr lang="en-US" dirty="0"/>
              <a:t>agent</a:t>
            </a:r>
          </a:p>
        </p:txBody>
      </p:sp>
      <p:sp>
        <p:nvSpPr>
          <p:cNvPr id="25" name="TextBox 24">
            <a:extLst>
              <a:ext uri="{FF2B5EF4-FFF2-40B4-BE49-F238E27FC236}">
                <a16:creationId xmlns:a16="http://schemas.microsoft.com/office/drawing/2014/main" id="{C6FA9365-E898-749A-0F1A-DE187A45C3C7}"/>
              </a:ext>
            </a:extLst>
          </p:cNvPr>
          <p:cNvSpPr txBox="1"/>
          <p:nvPr/>
        </p:nvSpPr>
        <p:spPr>
          <a:xfrm>
            <a:off x="3226880" y="3355848"/>
            <a:ext cx="1094146" cy="369332"/>
          </a:xfrm>
          <a:prstGeom prst="rect">
            <a:avLst/>
          </a:prstGeom>
          <a:noFill/>
        </p:spPr>
        <p:txBody>
          <a:bodyPr wrap="none" rtlCol="0">
            <a:spAutoFit/>
          </a:bodyPr>
          <a:lstStyle/>
          <a:p>
            <a:r>
              <a:rPr lang="en-US" dirty="0"/>
              <a:t>Front End</a:t>
            </a:r>
          </a:p>
        </p:txBody>
      </p:sp>
      <p:sp>
        <p:nvSpPr>
          <p:cNvPr id="26" name="TextBox 25">
            <a:extLst>
              <a:ext uri="{FF2B5EF4-FFF2-40B4-BE49-F238E27FC236}">
                <a16:creationId xmlns:a16="http://schemas.microsoft.com/office/drawing/2014/main" id="{681364CB-3246-C905-CEC9-84DC699B9043}"/>
              </a:ext>
            </a:extLst>
          </p:cNvPr>
          <p:cNvSpPr txBox="1"/>
          <p:nvPr/>
        </p:nvSpPr>
        <p:spPr>
          <a:xfrm>
            <a:off x="6776830" y="3355848"/>
            <a:ext cx="1031051" cy="369332"/>
          </a:xfrm>
          <a:prstGeom prst="rect">
            <a:avLst/>
          </a:prstGeom>
          <a:noFill/>
        </p:spPr>
        <p:txBody>
          <a:bodyPr wrap="none" rtlCol="0">
            <a:spAutoFit/>
          </a:bodyPr>
          <a:lstStyle/>
          <a:p>
            <a:r>
              <a:rPr lang="en-US" dirty="0"/>
              <a:t>Back End</a:t>
            </a:r>
          </a:p>
        </p:txBody>
      </p:sp>
      <p:sp>
        <p:nvSpPr>
          <p:cNvPr id="27" name="Rectangle 26">
            <a:extLst>
              <a:ext uri="{FF2B5EF4-FFF2-40B4-BE49-F238E27FC236}">
                <a16:creationId xmlns:a16="http://schemas.microsoft.com/office/drawing/2014/main" id="{A9AA96C3-ECA1-AFD2-10B9-F3C0C14E975D}"/>
              </a:ext>
            </a:extLst>
          </p:cNvPr>
          <p:cNvSpPr/>
          <p:nvPr/>
        </p:nvSpPr>
        <p:spPr>
          <a:xfrm>
            <a:off x="8417573" y="3730752"/>
            <a:ext cx="1622323" cy="23957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0FCBAA3-425A-BCC7-2794-16D69E320195}"/>
              </a:ext>
            </a:extLst>
          </p:cNvPr>
          <p:cNvSpPr txBox="1"/>
          <p:nvPr/>
        </p:nvSpPr>
        <p:spPr>
          <a:xfrm>
            <a:off x="8727289" y="3808423"/>
            <a:ext cx="1135626" cy="369332"/>
          </a:xfrm>
          <a:prstGeom prst="rect">
            <a:avLst/>
          </a:prstGeom>
          <a:solidFill>
            <a:schemeClr val="accent5">
              <a:lumMod val="40000"/>
              <a:lumOff val="60000"/>
            </a:schemeClr>
          </a:solidFill>
        </p:spPr>
        <p:txBody>
          <a:bodyPr wrap="square" rtlCol="0">
            <a:spAutoFit/>
          </a:bodyPr>
          <a:lstStyle/>
          <a:p>
            <a:r>
              <a:rPr lang="en-US" dirty="0"/>
              <a:t>STT</a:t>
            </a:r>
          </a:p>
        </p:txBody>
      </p:sp>
      <p:sp>
        <p:nvSpPr>
          <p:cNvPr id="29" name="TextBox 28">
            <a:extLst>
              <a:ext uri="{FF2B5EF4-FFF2-40B4-BE49-F238E27FC236}">
                <a16:creationId xmlns:a16="http://schemas.microsoft.com/office/drawing/2014/main" id="{B2C1F2A0-4E3E-73DD-20C0-D970C45EFD32}"/>
              </a:ext>
            </a:extLst>
          </p:cNvPr>
          <p:cNvSpPr txBox="1"/>
          <p:nvPr/>
        </p:nvSpPr>
        <p:spPr>
          <a:xfrm>
            <a:off x="8727289" y="4337390"/>
            <a:ext cx="1135626" cy="369332"/>
          </a:xfrm>
          <a:prstGeom prst="rect">
            <a:avLst/>
          </a:prstGeom>
          <a:solidFill>
            <a:schemeClr val="accent5">
              <a:lumMod val="40000"/>
              <a:lumOff val="60000"/>
            </a:schemeClr>
          </a:solidFill>
        </p:spPr>
        <p:txBody>
          <a:bodyPr wrap="square" rtlCol="0">
            <a:spAutoFit/>
          </a:bodyPr>
          <a:lstStyle/>
          <a:p>
            <a:r>
              <a:rPr lang="en-US" dirty="0"/>
              <a:t>LLM</a:t>
            </a:r>
          </a:p>
        </p:txBody>
      </p:sp>
      <p:sp>
        <p:nvSpPr>
          <p:cNvPr id="30" name="TextBox 29">
            <a:extLst>
              <a:ext uri="{FF2B5EF4-FFF2-40B4-BE49-F238E27FC236}">
                <a16:creationId xmlns:a16="http://schemas.microsoft.com/office/drawing/2014/main" id="{F293CB61-E160-1450-0EF0-F1280889E695}"/>
              </a:ext>
            </a:extLst>
          </p:cNvPr>
          <p:cNvSpPr txBox="1"/>
          <p:nvPr/>
        </p:nvSpPr>
        <p:spPr>
          <a:xfrm>
            <a:off x="8727289" y="4909766"/>
            <a:ext cx="1135626" cy="369332"/>
          </a:xfrm>
          <a:prstGeom prst="rect">
            <a:avLst/>
          </a:prstGeom>
          <a:solidFill>
            <a:schemeClr val="accent5">
              <a:lumMod val="40000"/>
              <a:lumOff val="60000"/>
            </a:schemeClr>
          </a:solidFill>
        </p:spPr>
        <p:txBody>
          <a:bodyPr wrap="square" rtlCol="0">
            <a:spAutoFit/>
          </a:bodyPr>
          <a:lstStyle/>
          <a:p>
            <a:r>
              <a:rPr lang="en-US" dirty="0"/>
              <a:t>TTS</a:t>
            </a:r>
          </a:p>
        </p:txBody>
      </p:sp>
      <p:sp>
        <p:nvSpPr>
          <p:cNvPr id="31" name="TextBox 30">
            <a:extLst>
              <a:ext uri="{FF2B5EF4-FFF2-40B4-BE49-F238E27FC236}">
                <a16:creationId xmlns:a16="http://schemas.microsoft.com/office/drawing/2014/main" id="{B3697363-4214-A86A-6A37-2E3AD0D44B57}"/>
              </a:ext>
            </a:extLst>
          </p:cNvPr>
          <p:cNvSpPr txBox="1"/>
          <p:nvPr/>
        </p:nvSpPr>
        <p:spPr>
          <a:xfrm>
            <a:off x="8714350" y="5438732"/>
            <a:ext cx="1135626" cy="523220"/>
          </a:xfrm>
          <a:prstGeom prst="rect">
            <a:avLst/>
          </a:prstGeom>
          <a:solidFill>
            <a:schemeClr val="accent5">
              <a:lumMod val="40000"/>
              <a:lumOff val="60000"/>
            </a:schemeClr>
          </a:solidFill>
        </p:spPr>
        <p:txBody>
          <a:bodyPr wrap="square" rtlCol="0">
            <a:spAutoFit/>
          </a:bodyPr>
          <a:lstStyle/>
          <a:p>
            <a:r>
              <a:rPr lang="en-US" sz="1400" dirty="0"/>
              <a:t>Multimodal Model</a:t>
            </a:r>
          </a:p>
        </p:txBody>
      </p:sp>
      <p:cxnSp>
        <p:nvCxnSpPr>
          <p:cNvPr id="32" name="Straight Arrow Connector 31">
            <a:extLst>
              <a:ext uri="{FF2B5EF4-FFF2-40B4-BE49-F238E27FC236}">
                <a16:creationId xmlns:a16="http://schemas.microsoft.com/office/drawing/2014/main" id="{6DEC1D4C-805C-1025-4ACB-8D8DC84FD50B}"/>
              </a:ext>
            </a:extLst>
          </p:cNvPr>
          <p:cNvCxnSpPr>
            <a:cxnSpLocks/>
          </p:cNvCxnSpPr>
          <p:nvPr/>
        </p:nvCxnSpPr>
        <p:spPr>
          <a:xfrm>
            <a:off x="6979658" y="4895018"/>
            <a:ext cx="142867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443EC7D-B667-54E9-04F7-08EC0C70F5C6}"/>
              </a:ext>
            </a:extLst>
          </p:cNvPr>
          <p:cNvSpPr txBox="1"/>
          <p:nvPr/>
        </p:nvSpPr>
        <p:spPr>
          <a:xfrm>
            <a:off x="7004304" y="4416552"/>
            <a:ext cx="1280160" cy="338554"/>
          </a:xfrm>
          <a:prstGeom prst="rect">
            <a:avLst/>
          </a:prstGeom>
          <a:noFill/>
        </p:spPr>
        <p:txBody>
          <a:bodyPr wrap="square" rtlCol="0">
            <a:spAutoFit/>
          </a:bodyPr>
          <a:lstStyle/>
          <a:p>
            <a:pPr algn="ctr"/>
            <a:r>
              <a:rPr lang="en-US" sz="1100" dirty="0"/>
              <a:t>HTTP/WebSocket</a:t>
            </a:r>
            <a:endParaRPr lang="en-US" sz="1600" dirty="0"/>
          </a:p>
        </p:txBody>
      </p:sp>
    </p:spTree>
    <p:extLst>
      <p:ext uri="{BB962C8B-B14F-4D97-AF65-F5344CB8AC3E}">
        <p14:creationId xmlns:p14="http://schemas.microsoft.com/office/powerpoint/2010/main" val="1326142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8DAFE-3330-E25F-C970-197BD637D5FA}"/>
              </a:ext>
            </a:extLst>
          </p:cNvPr>
          <p:cNvSpPr>
            <a:spLocks noGrp="1"/>
          </p:cNvSpPr>
          <p:nvPr>
            <p:ph type="title"/>
          </p:nvPr>
        </p:nvSpPr>
        <p:spPr/>
        <p:txBody>
          <a:bodyPr/>
          <a:lstStyle/>
          <a:p>
            <a:r>
              <a:rPr lang="en-US" dirty="0"/>
              <a:t>Connection between Computers</a:t>
            </a:r>
          </a:p>
        </p:txBody>
      </p:sp>
      <p:sp>
        <p:nvSpPr>
          <p:cNvPr id="3" name="Text Placeholder 2">
            <a:extLst>
              <a:ext uri="{FF2B5EF4-FFF2-40B4-BE49-F238E27FC236}">
                <a16:creationId xmlns:a16="http://schemas.microsoft.com/office/drawing/2014/main" id="{41D4D0DC-14D8-ED8F-7F42-C5CA48B9D2C9}"/>
              </a:ext>
            </a:extLst>
          </p:cNvPr>
          <p:cNvSpPr>
            <a:spLocks noGrp="1"/>
          </p:cNvSpPr>
          <p:nvPr>
            <p:ph type="body" sz="quarter" idx="11"/>
          </p:nvPr>
        </p:nvSpPr>
        <p:spPr>
          <a:xfrm>
            <a:off x="542018" y="1245572"/>
            <a:ext cx="10688689" cy="4791607"/>
          </a:xfrm>
        </p:spPr>
        <p:txBody>
          <a:bodyPr>
            <a:normAutofit/>
          </a:bodyPr>
          <a:lstStyle/>
          <a:p>
            <a:r>
              <a:rPr lang="en-US" sz="2000" dirty="0"/>
              <a:t>To optimize the voice call, it depends on the connection between computers.</a:t>
            </a:r>
          </a:p>
          <a:p>
            <a:r>
              <a:rPr lang="en-US" sz="2000" dirty="0"/>
              <a:t>TCP vs UDP.</a:t>
            </a:r>
          </a:p>
        </p:txBody>
      </p:sp>
      <p:sp>
        <p:nvSpPr>
          <p:cNvPr id="4" name="Footer Placeholder 3">
            <a:extLst>
              <a:ext uri="{FF2B5EF4-FFF2-40B4-BE49-F238E27FC236}">
                <a16:creationId xmlns:a16="http://schemas.microsoft.com/office/drawing/2014/main" id="{9F561ECF-79BB-4F56-EFC3-09D53E06FCB9}"/>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A68BE524-8BC6-FDEA-D4C0-588A808A2B44}"/>
              </a:ext>
            </a:extLst>
          </p:cNvPr>
          <p:cNvSpPr>
            <a:spLocks noGrp="1"/>
          </p:cNvSpPr>
          <p:nvPr>
            <p:ph type="sldNum" sz="quarter" idx="14"/>
          </p:nvPr>
        </p:nvSpPr>
        <p:spPr/>
        <p:txBody>
          <a:bodyPr/>
          <a:lstStyle/>
          <a:p>
            <a:fld id="{CE19DD2C-80DA-488C-99A4-6C8CE83C9C30}" type="slidenum">
              <a:rPr lang="en-SG" smtClean="0"/>
              <a:t>27</a:t>
            </a:fld>
            <a:endParaRPr lang="en-SG"/>
          </a:p>
        </p:txBody>
      </p:sp>
      <p:graphicFrame>
        <p:nvGraphicFramePr>
          <p:cNvPr id="6" name="Table 5">
            <a:extLst>
              <a:ext uri="{FF2B5EF4-FFF2-40B4-BE49-F238E27FC236}">
                <a16:creationId xmlns:a16="http://schemas.microsoft.com/office/drawing/2014/main" id="{B20A1D81-9B55-73C7-695C-52867E99DCED}"/>
              </a:ext>
            </a:extLst>
          </p:cNvPr>
          <p:cNvGraphicFramePr>
            <a:graphicFrameLocks noGrp="1"/>
          </p:cNvGraphicFramePr>
          <p:nvPr>
            <p:extLst>
              <p:ext uri="{D42A27DB-BD31-4B8C-83A1-F6EECF244321}">
                <p14:modId xmlns:p14="http://schemas.microsoft.com/office/powerpoint/2010/main" val="3875517052"/>
              </p:ext>
            </p:extLst>
          </p:nvPr>
        </p:nvGraphicFramePr>
        <p:xfrm>
          <a:off x="640080" y="2148840"/>
          <a:ext cx="10908792" cy="4158316"/>
        </p:xfrm>
        <a:graphic>
          <a:graphicData uri="http://schemas.openxmlformats.org/drawingml/2006/table">
            <a:tbl>
              <a:tblPr firstRow="1"/>
              <a:tblGrid>
                <a:gridCol w="1662968">
                  <a:extLst>
                    <a:ext uri="{9D8B030D-6E8A-4147-A177-3AD203B41FA5}">
                      <a16:colId xmlns:a16="http://schemas.microsoft.com/office/drawing/2014/main" val="1134290321"/>
                    </a:ext>
                  </a:extLst>
                </a:gridCol>
                <a:gridCol w="4955130">
                  <a:extLst>
                    <a:ext uri="{9D8B030D-6E8A-4147-A177-3AD203B41FA5}">
                      <a16:colId xmlns:a16="http://schemas.microsoft.com/office/drawing/2014/main" val="1697759521"/>
                    </a:ext>
                  </a:extLst>
                </a:gridCol>
                <a:gridCol w="4290692">
                  <a:extLst>
                    <a:ext uri="{9D8B030D-6E8A-4147-A177-3AD203B41FA5}">
                      <a16:colId xmlns:a16="http://schemas.microsoft.com/office/drawing/2014/main" val="340548597"/>
                    </a:ext>
                  </a:extLst>
                </a:gridCol>
              </a:tblGrid>
              <a:tr h="231274">
                <a:tc>
                  <a:txBody>
                    <a:bodyPr/>
                    <a:lstStyle/>
                    <a:p>
                      <a:pPr>
                        <a:buNone/>
                      </a:pPr>
                      <a:r>
                        <a:rPr lang="en-US" sz="1300" dirty="0" b="1">
                          <a:solidFill>
                            <a:srgbClr val="FFFFFF"/>
                          </a:solidFill>
                        </a:rPr>
                        <a:t>Feature</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sz="1300" b="1" dirty="0">
                          <a:solidFill>
                            <a:srgbClr val="FFFFFF"/>
                          </a:solidFill>
                        </a:rPr>
                        <a:t>TCP</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sz="1300" b="1" dirty="0">
                          <a:solidFill>
                            <a:srgbClr val="FFFFFF"/>
                          </a:solidFill>
                        </a:rPr>
                        <a:t>UDP</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extLst>
                  <a:ext uri="{0D108BD9-81ED-4DB2-BD59-A6C34878D82A}">
                    <a16:rowId xmlns:a16="http://schemas.microsoft.com/office/drawing/2014/main" val="876442243"/>
                  </a:ext>
                </a:extLst>
              </a:tr>
              <a:tr h="607250">
                <a:tc>
                  <a:txBody>
                    <a:bodyPr/>
                    <a:lstStyle/>
                    <a:p>
                      <a:pPr>
                        <a:buNone/>
                      </a:pPr>
                      <a:r>
                        <a:rPr lang="en-US" sz="1300" b="1" dirty="0">
                          <a:solidFill>
                            <a:srgbClr val="262626"/>
                          </a:solidFill>
                        </a:rPr>
                        <a:t>Connection</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a:solidFill>
                            <a:srgbClr val="262626"/>
                          </a:solidFill>
                        </a:rPr>
                        <a:t>Connection-oriented (requires a handshake before data transfer).</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dirty="0">
                          <a:solidFill>
                            <a:srgbClr val="262626"/>
                          </a:solidFill>
                        </a:rPr>
                        <a:t>Connectionless (no handshake, just sends).</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63976193"/>
                  </a:ext>
                </a:extLst>
              </a:tr>
              <a:tr h="607250">
                <a:tc>
                  <a:txBody>
                    <a:bodyPr/>
                    <a:lstStyle/>
                    <a:p>
                      <a:pPr>
                        <a:buNone/>
                      </a:pPr>
                      <a:r>
                        <a:rPr lang="en-US" sz="1300" b="1" dirty="0">
                          <a:solidFill>
                            <a:srgbClr val="262626"/>
                          </a:solidFill>
                        </a:rPr>
                        <a:t>Reliability</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300">
                          <a:solidFill>
                            <a:srgbClr val="262626"/>
                          </a:solidFill>
                        </a:rPr>
                        <a:t>Reliable (guarantees delivery, retransmits lost packets, checks order).</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300" dirty="0">
                          <a:solidFill>
                            <a:srgbClr val="262626"/>
                          </a:solidFill>
                        </a:rPr>
                        <a:t>Unreliable (no guarantee of delivery or order).</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2044146952"/>
                  </a:ext>
                </a:extLst>
              </a:tr>
              <a:tr h="607250">
                <a:tc>
                  <a:txBody>
                    <a:bodyPr/>
                    <a:lstStyle/>
                    <a:p>
                      <a:pPr>
                        <a:buNone/>
                      </a:pPr>
                      <a:r>
                        <a:rPr lang="en-US" sz="1300" b="1" dirty="0">
                          <a:solidFill>
                            <a:srgbClr val="262626"/>
                          </a:solidFill>
                        </a:rPr>
                        <a:t>Speed</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a:solidFill>
                            <a:srgbClr val="262626"/>
                          </a:solidFill>
                        </a:rPr>
                        <a:t>Slower (because of error checking, acknowledgments, retransmissions).</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dirty="0">
                          <a:solidFill>
                            <a:srgbClr val="262626"/>
                          </a:solidFill>
                        </a:rPr>
                        <a:t>Faster (minimal overhead, no retransmission).</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32188032"/>
                  </a:ext>
                </a:extLst>
              </a:tr>
              <a:tr h="419262">
                <a:tc>
                  <a:txBody>
                    <a:bodyPr/>
                    <a:lstStyle/>
                    <a:p>
                      <a:pPr>
                        <a:buNone/>
                      </a:pPr>
                      <a:r>
                        <a:rPr lang="en-US" sz="1300" b="1" dirty="0">
                          <a:solidFill>
                            <a:srgbClr val="262626"/>
                          </a:solidFill>
                        </a:rPr>
                        <a:t>Data Order</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300">
                          <a:solidFill>
                            <a:srgbClr val="262626"/>
                          </a:solidFill>
                        </a:rPr>
                        <a:t>Maintains order of packets.</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300" dirty="0">
                          <a:solidFill>
                            <a:srgbClr val="262626"/>
                          </a:solidFill>
                        </a:rPr>
                        <a:t>No ordering – packets may arrive out of order.</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1976105324"/>
                  </a:ext>
                </a:extLst>
              </a:tr>
              <a:tr h="419262">
                <a:tc>
                  <a:txBody>
                    <a:bodyPr/>
                    <a:lstStyle/>
                    <a:p>
                      <a:pPr>
                        <a:buNone/>
                      </a:pPr>
                      <a:r>
                        <a:rPr lang="en-US" sz="1300" b="1" dirty="0">
                          <a:solidFill>
                            <a:srgbClr val="262626"/>
                          </a:solidFill>
                        </a:rPr>
                        <a:t>Error Checking</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a:solidFill>
                            <a:srgbClr val="262626"/>
                          </a:solidFill>
                        </a:rPr>
                        <a:t>Yes (with error correction).</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dirty="0">
                          <a:solidFill>
                            <a:srgbClr val="262626"/>
                          </a:solidFill>
                        </a:rPr>
                        <a:t>Yes (with checksum), but no correction.</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49286149"/>
                  </a:ext>
                </a:extLst>
              </a:tr>
              <a:tr h="419262">
                <a:tc>
                  <a:txBody>
                    <a:bodyPr/>
                    <a:lstStyle/>
                    <a:p>
                      <a:pPr>
                        <a:buNone/>
                      </a:pPr>
                      <a:r>
                        <a:rPr lang="en-US" sz="1300" b="1" dirty="0">
                          <a:solidFill>
                            <a:srgbClr val="262626"/>
                          </a:solidFill>
                        </a:rPr>
                        <a:t>Overhead</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300">
                          <a:solidFill>
                            <a:srgbClr val="262626"/>
                          </a:solidFill>
                        </a:rPr>
                        <a:t>Higher (because of headers: 20–60 bytes).</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300" dirty="0">
                          <a:solidFill>
                            <a:srgbClr val="262626"/>
                          </a:solidFill>
                        </a:rPr>
                        <a:t>Lower (header: 8 bytes).</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3441770709"/>
                  </a:ext>
                </a:extLst>
              </a:tr>
              <a:tr h="795238">
                <a:tc>
                  <a:txBody>
                    <a:bodyPr/>
                    <a:lstStyle/>
                    <a:p>
                      <a:pPr>
                        <a:buNone/>
                      </a:pPr>
                      <a:r>
                        <a:rPr lang="en-US" sz="1300" b="1" dirty="0">
                          <a:solidFill>
                            <a:srgbClr val="262626"/>
                          </a:solidFill>
                        </a:rPr>
                        <a:t>Use Cases</a:t>
                      </a:r>
                      <a:endParaRPr lang="en-US" sz="1400" dirty="0"/>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dirty="0">
                          <a:solidFill>
                            <a:srgbClr val="262626"/>
                          </a:solidFill>
                        </a:rPr>
                        <a:t>Web browsing (HTTP/HTTPS), email (SMTP/IMAP), file transfers (FTP), remote login (SSH).</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300" dirty="0">
                          <a:solidFill>
                            <a:srgbClr val="262626"/>
                          </a:solidFill>
                        </a:rPr>
                        <a:t>Live streaming, online gaming, VoIP, DNS queries.</a:t>
                      </a:r>
                    </a:p>
                  </a:txBody>
                  <a:tcPr marL="128016" marR="128016" marT="45720" marB="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327623530"/>
                  </a:ext>
                </a:extLst>
              </a:tr>
            </a:tbl>
          </a:graphicData>
        </a:graphic>
      </p:graphicFrame>
    </p:spTree>
    <p:extLst>
      <p:ext uri="{BB962C8B-B14F-4D97-AF65-F5344CB8AC3E}">
        <p14:creationId xmlns:p14="http://schemas.microsoft.com/office/powerpoint/2010/main" val="3710729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2EDA2-1451-1F89-E03F-E72A7AD94F9F}"/>
              </a:ext>
            </a:extLst>
          </p:cNvPr>
          <p:cNvSpPr>
            <a:spLocks noGrp="1"/>
          </p:cNvSpPr>
          <p:nvPr>
            <p:ph type="title"/>
          </p:nvPr>
        </p:nvSpPr>
        <p:spPr/>
        <p:txBody>
          <a:bodyPr/>
          <a:lstStyle/>
          <a:p>
            <a:r>
              <a:rPr lang="en-US" dirty="0"/>
              <a:t>Web Protocols — WebSocket vs WebRTC</a:t>
            </a:r>
          </a:p>
        </p:txBody>
      </p:sp>
      <p:sp>
        <p:nvSpPr>
          <p:cNvPr id="3" name="Text Placeholder 2">
            <a:extLst>
              <a:ext uri="{FF2B5EF4-FFF2-40B4-BE49-F238E27FC236}">
                <a16:creationId xmlns:a16="http://schemas.microsoft.com/office/drawing/2014/main" id="{DA8A1AA1-1222-5A90-AC66-D00B2A726B30}"/>
              </a:ext>
            </a:extLst>
          </p:cNvPr>
          <p:cNvSpPr>
            <a:spLocks noGrp="1"/>
          </p:cNvSpPr>
          <p:nvPr>
            <p:ph type="body" sz="quarter" idx="11"/>
          </p:nvPr>
        </p:nvSpPr>
        <p:spPr/>
        <p:txBody>
          <a:bodyPr>
            <a:normAutofit/>
          </a:bodyPr>
          <a:lstStyle/>
          <a:p>
            <a:r>
              <a:rPr lang="en-US" sz="2000" dirty="0"/>
              <a:t>Higher level protocol on browser</a:t>
            </a:r>
          </a:p>
        </p:txBody>
      </p:sp>
      <p:sp>
        <p:nvSpPr>
          <p:cNvPr id="4" name="Footer Placeholder 3">
            <a:extLst>
              <a:ext uri="{FF2B5EF4-FFF2-40B4-BE49-F238E27FC236}">
                <a16:creationId xmlns:a16="http://schemas.microsoft.com/office/drawing/2014/main" id="{5AEA7078-0F26-8519-B74F-2928531E8CB2}"/>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478D6DE0-8EB2-047C-5886-5DE28CE49318}"/>
              </a:ext>
            </a:extLst>
          </p:cNvPr>
          <p:cNvSpPr>
            <a:spLocks noGrp="1"/>
          </p:cNvSpPr>
          <p:nvPr>
            <p:ph type="sldNum" sz="quarter" idx="14"/>
          </p:nvPr>
        </p:nvSpPr>
        <p:spPr/>
        <p:txBody>
          <a:bodyPr/>
          <a:lstStyle/>
          <a:p>
            <a:fld id="{CE19DD2C-80DA-488C-99A4-6C8CE83C9C30}" type="slidenum">
              <a:rPr lang="en-SG" smtClean="0"/>
              <a:t>28</a:t>
            </a:fld>
            <a:endParaRPr lang="en-SG"/>
          </a:p>
        </p:txBody>
      </p:sp>
      <p:sp>
        <p:nvSpPr>
          <p:cNvPr id="6" name="TextBox 5">
            <a:extLst>
              <a:ext uri="{FF2B5EF4-FFF2-40B4-BE49-F238E27FC236}">
                <a16:creationId xmlns:a16="http://schemas.microsoft.com/office/drawing/2014/main" id="{CA7849E7-05E6-0C56-056C-61F46010789A}"/>
              </a:ext>
            </a:extLst>
          </p:cNvPr>
          <p:cNvSpPr txBox="1"/>
          <p:nvPr/>
        </p:nvSpPr>
        <p:spPr>
          <a:xfrm>
            <a:off x="958708" y="5440680"/>
            <a:ext cx="9341092" cy="646331"/>
          </a:xfrm>
          <a:prstGeom prst="rect">
            <a:avLst/>
          </a:prstGeom>
          <a:solidFill>
            <a:schemeClr val="accent4">
              <a:lumMod val="60000"/>
              <a:lumOff val="40000"/>
            </a:schemeClr>
          </a:solidFill>
        </p:spPr>
        <p:txBody>
          <a:bodyPr wrap="square" rtlCol="0">
            <a:spAutoFit/>
          </a:bodyPr>
          <a:lstStyle/>
          <a:p>
            <a:pPr algn="ctr"/>
            <a:r>
              <a:rPr lang="en-US" dirty="0"/>
              <a:t>Internet Protocol (IP)</a:t>
            </a:r>
          </a:p>
          <a:p>
            <a:pPr algn="ctr"/>
            <a:endParaRPr lang="en-US" dirty="0"/>
          </a:p>
        </p:txBody>
      </p:sp>
      <p:sp>
        <p:nvSpPr>
          <p:cNvPr id="7" name="TextBox 6">
            <a:extLst>
              <a:ext uri="{FF2B5EF4-FFF2-40B4-BE49-F238E27FC236}">
                <a16:creationId xmlns:a16="http://schemas.microsoft.com/office/drawing/2014/main" id="{47AFECB0-8A0E-4C53-0F63-C90047F87421}"/>
              </a:ext>
            </a:extLst>
          </p:cNvPr>
          <p:cNvSpPr txBox="1"/>
          <p:nvPr/>
        </p:nvSpPr>
        <p:spPr>
          <a:xfrm>
            <a:off x="958708" y="4297680"/>
            <a:ext cx="4434796" cy="923330"/>
          </a:xfrm>
          <a:prstGeom prst="rect">
            <a:avLst/>
          </a:prstGeom>
          <a:solidFill>
            <a:schemeClr val="accent5">
              <a:lumMod val="60000"/>
              <a:lumOff val="40000"/>
            </a:schemeClr>
          </a:solidFill>
        </p:spPr>
        <p:txBody>
          <a:bodyPr wrap="square" rtlCol="0">
            <a:spAutoFit/>
          </a:bodyPr>
          <a:lstStyle/>
          <a:p>
            <a:pPr algn="ctr"/>
            <a:r>
              <a:rPr lang="en-US" dirty="0"/>
              <a:t>Transmission Control Protocol</a:t>
            </a:r>
          </a:p>
          <a:p>
            <a:pPr algn="ctr"/>
            <a:r>
              <a:rPr lang="en-US" dirty="0"/>
              <a:t>(TCP)</a:t>
            </a:r>
          </a:p>
          <a:p>
            <a:pPr algn="ctr"/>
            <a:endParaRPr lang="en-US" dirty="0"/>
          </a:p>
        </p:txBody>
      </p:sp>
      <p:sp>
        <p:nvSpPr>
          <p:cNvPr id="8" name="TextBox 7">
            <a:extLst>
              <a:ext uri="{FF2B5EF4-FFF2-40B4-BE49-F238E27FC236}">
                <a16:creationId xmlns:a16="http://schemas.microsoft.com/office/drawing/2014/main" id="{F261E5F3-445E-152F-C307-9BD8BFD23730}"/>
              </a:ext>
            </a:extLst>
          </p:cNvPr>
          <p:cNvSpPr txBox="1"/>
          <p:nvPr/>
        </p:nvSpPr>
        <p:spPr>
          <a:xfrm>
            <a:off x="6048690" y="4297680"/>
            <a:ext cx="4251110" cy="923330"/>
          </a:xfrm>
          <a:prstGeom prst="rect">
            <a:avLst/>
          </a:prstGeom>
          <a:solidFill>
            <a:schemeClr val="accent6">
              <a:lumMod val="60000"/>
              <a:lumOff val="40000"/>
            </a:schemeClr>
          </a:solidFill>
        </p:spPr>
        <p:txBody>
          <a:bodyPr wrap="square" rtlCol="0">
            <a:spAutoFit/>
          </a:bodyPr>
          <a:lstStyle/>
          <a:p>
            <a:pPr algn="ctr"/>
            <a:r>
              <a:rPr lang="en-US" dirty="0"/>
              <a:t>User Datagram Protocol</a:t>
            </a:r>
          </a:p>
          <a:p>
            <a:pPr algn="ctr"/>
            <a:r>
              <a:rPr lang="en-US" dirty="0"/>
              <a:t>(UDP)</a:t>
            </a:r>
          </a:p>
          <a:p>
            <a:pPr algn="ctr"/>
            <a:endParaRPr lang="en-US" dirty="0"/>
          </a:p>
        </p:txBody>
      </p:sp>
      <p:sp>
        <p:nvSpPr>
          <p:cNvPr id="9" name="TextBox 8">
            <a:extLst>
              <a:ext uri="{FF2B5EF4-FFF2-40B4-BE49-F238E27FC236}">
                <a16:creationId xmlns:a16="http://schemas.microsoft.com/office/drawing/2014/main" id="{1469DACA-9331-6015-5CF8-4C55DDB7AA7B}"/>
              </a:ext>
            </a:extLst>
          </p:cNvPr>
          <p:cNvSpPr txBox="1"/>
          <p:nvPr/>
        </p:nvSpPr>
        <p:spPr>
          <a:xfrm>
            <a:off x="958708" y="2882166"/>
            <a:ext cx="2191253" cy="923330"/>
          </a:xfrm>
          <a:prstGeom prst="rect">
            <a:avLst/>
          </a:prstGeom>
          <a:solidFill>
            <a:schemeClr val="accent5">
              <a:lumMod val="60000"/>
              <a:lumOff val="40000"/>
            </a:schemeClr>
          </a:solidFill>
        </p:spPr>
        <p:txBody>
          <a:bodyPr wrap="square" rtlCol="0">
            <a:spAutoFit/>
          </a:bodyPr>
          <a:lstStyle/>
          <a:p>
            <a:pPr algn="ctr"/>
            <a:r>
              <a:rPr lang="en-US" dirty="0"/>
              <a:t>Hypertext Transfer Protocol (HTTP)</a:t>
            </a:r>
          </a:p>
          <a:p>
            <a:pPr algn="ctr"/>
            <a:endParaRPr lang="en-US" dirty="0"/>
          </a:p>
        </p:txBody>
      </p:sp>
      <p:sp>
        <p:nvSpPr>
          <p:cNvPr id="11" name="TextBox 10">
            <a:extLst>
              <a:ext uri="{FF2B5EF4-FFF2-40B4-BE49-F238E27FC236}">
                <a16:creationId xmlns:a16="http://schemas.microsoft.com/office/drawing/2014/main" id="{CE8E70C8-230C-6E05-011C-F6F25D495591}"/>
              </a:ext>
            </a:extLst>
          </p:cNvPr>
          <p:cNvSpPr txBox="1"/>
          <p:nvPr/>
        </p:nvSpPr>
        <p:spPr>
          <a:xfrm>
            <a:off x="3202251" y="2882166"/>
            <a:ext cx="2191253" cy="923330"/>
          </a:xfrm>
          <a:prstGeom prst="rect">
            <a:avLst/>
          </a:prstGeom>
          <a:solidFill>
            <a:schemeClr val="accent5">
              <a:lumMod val="60000"/>
              <a:lumOff val="40000"/>
            </a:schemeClr>
          </a:solidFill>
        </p:spPr>
        <p:txBody>
          <a:bodyPr wrap="square" rtlCol="0">
            <a:spAutoFit/>
          </a:bodyPr>
          <a:lstStyle/>
          <a:p>
            <a:pPr algn="ctr"/>
            <a:r>
              <a:rPr lang="en-US" dirty="0"/>
              <a:t>WebSocket</a:t>
            </a:r>
          </a:p>
          <a:p>
            <a:pPr algn="ctr"/>
            <a:r>
              <a:rPr lang="en-US" dirty="0"/>
              <a:t>(WS)</a:t>
            </a:r>
          </a:p>
          <a:p>
            <a:pPr algn="ctr"/>
            <a:endParaRPr lang="en-US" dirty="0"/>
          </a:p>
        </p:txBody>
      </p:sp>
      <p:sp>
        <p:nvSpPr>
          <p:cNvPr id="12" name="TextBox 11">
            <a:extLst>
              <a:ext uri="{FF2B5EF4-FFF2-40B4-BE49-F238E27FC236}">
                <a16:creationId xmlns:a16="http://schemas.microsoft.com/office/drawing/2014/main" id="{3C416AB5-2701-A222-C35A-1E1B15708F8C}"/>
              </a:ext>
            </a:extLst>
          </p:cNvPr>
          <p:cNvSpPr txBox="1"/>
          <p:nvPr/>
        </p:nvSpPr>
        <p:spPr>
          <a:xfrm>
            <a:off x="6048690" y="2882166"/>
            <a:ext cx="4251110" cy="923330"/>
          </a:xfrm>
          <a:prstGeom prst="rect">
            <a:avLst/>
          </a:prstGeom>
          <a:solidFill>
            <a:schemeClr val="accent6">
              <a:lumMod val="60000"/>
              <a:lumOff val="40000"/>
            </a:schemeClr>
          </a:solidFill>
        </p:spPr>
        <p:txBody>
          <a:bodyPr wrap="square" rtlCol="0">
            <a:spAutoFit/>
          </a:bodyPr>
          <a:lstStyle/>
          <a:p>
            <a:pPr algn="ctr"/>
            <a:r>
              <a:rPr lang="en-US" dirty="0"/>
              <a:t>Web Real-time Communication</a:t>
            </a:r>
          </a:p>
          <a:p>
            <a:pPr algn="ctr"/>
            <a:r>
              <a:rPr lang="en-US" dirty="0"/>
              <a:t>(WebRTC)</a:t>
            </a:r>
          </a:p>
          <a:p>
            <a:pPr algn="ctr"/>
            <a:endParaRPr lang="en-US" dirty="0"/>
          </a:p>
        </p:txBody>
      </p:sp>
      <p:sp>
        <p:nvSpPr>
          <p:cNvPr id="13" name="TextBox 12">
            <a:extLst>
              <a:ext uri="{FF2B5EF4-FFF2-40B4-BE49-F238E27FC236}">
                <a16:creationId xmlns:a16="http://schemas.microsoft.com/office/drawing/2014/main" id="{3999177A-96AF-52F1-633E-B74D2D3F80E8}"/>
              </a:ext>
            </a:extLst>
          </p:cNvPr>
          <p:cNvSpPr txBox="1"/>
          <p:nvPr/>
        </p:nvSpPr>
        <p:spPr>
          <a:xfrm>
            <a:off x="639159" y="2559000"/>
            <a:ext cx="9844325" cy="1477328"/>
          </a:xfrm>
          <a:prstGeom prst="rect">
            <a:avLst/>
          </a:prstGeom>
          <a:noFill/>
          <a:ln>
            <a:solidFill>
              <a:schemeClr val="tx1"/>
            </a:solidFill>
          </a:ln>
        </p:spPr>
        <p:txBody>
          <a:bodyPr wrap="square" rtlCol="0">
            <a:spAutoFit/>
          </a:bodyPr>
          <a:lstStyle/>
          <a:p>
            <a:pPr algn="ctr"/>
            <a:r>
              <a:rPr lang="en-US" dirty="0"/>
              <a:t>Browser</a:t>
            </a:r>
          </a:p>
          <a:p>
            <a:pPr algn="ctr"/>
            <a:endParaRPr lang="en-US" dirty="0"/>
          </a:p>
          <a:p>
            <a:pPr algn="ctr"/>
            <a:endParaRPr lang="en-US" dirty="0"/>
          </a:p>
          <a:p>
            <a:pPr algn="ctr"/>
            <a:endParaRPr lang="en-US" dirty="0"/>
          </a:p>
          <a:p>
            <a:pPr algn="ctr"/>
            <a:endParaRPr lang="en-US" dirty="0"/>
          </a:p>
        </p:txBody>
      </p:sp>
    </p:spTree>
    <p:extLst>
      <p:ext uri="{BB962C8B-B14F-4D97-AF65-F5344CB8AC3E}">
        <p14:creationId xmlns:p14="http://schemas.microsoft.com/office/powerpoint/2010/main" val="849386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D062-8F71-B7E3-4433-C6914D146F24}"/>
              </a:ext>
            </a:extLst>
          </p:cNvPr>
          <p:cNvSpPr>
            <a:spLocks noGrp="1"/>
          </p:cNvSpPr>
          <p:nvPr>
            <p:ph type="title"/>
          </p:nvPr>
        </p:nvSpPr>
        <p:spPr/>
        <p:txBody>
          <a:bodyPr/>
          <a:lstStyle/>
          <a:p>
            <a:r>
              <a:rPr lang="en-US" dirty="0"/>
              <a:t>Importance in Voice Agent</a:t>
            </a:r>
          </a:p>
        </p:txBody>
      </p:sp>
      <p:sp>
        <p:nvSpPr>
          <p:cNvPr id="4" name="Footer Placeholder 3">
            <a:extLst>
              <a:ext uri="{FF2B5EF4-FFF2-40B4-BE49-F238E27FC236}">
                <a16:creationId xmlns:a16="http://schemas.microsoft.com/office/drawing/2014/main" id="{2CBBA1E2-8187-6BA5-18BF-BCFA6D39A2A2}"/>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8DE15B05-3E26-C995-93CA-6BFD54C7E8D8}"/>
              </a:ext>
            </a:extLst>
          </p:cNvPr>
          <p:cNvSpPr>
            <a:spLocks noGrp="1"/>
          </p:cNvSpPr>
          <p:nvPr>
            <p:ph type="sldNum" sz="quarter" idx="14"/>
          </p:nvPr>
        </p:nvSpPr>
        <p:spPr/>
        <p:txBody>
          <a:bodyPr/>
          <a:lstStyle/>
          <a:p>
            <a:fld id="{CE19DD2C-80DA-488C-99A4-6C8CE83C9C30}" type="slidenum">
              <a:rPr lang="en-SG" smtClean="0"/>
              <a:t>29</a:t>
            </a:fld>
            <a:endParaRPr lang="en-SG"/>
          </a:p>
        </p:txBody>
      </p:sp>
      <p:sp>
        <p:nvSpPr>
          <p:cNvPr id="6" name="TextBox 5"/>
          <p:cNvSpPr txBox="1"/>
          <p:nvPr/>
        </p:nvSpPr>
        <p:spPr>
          <a:xfrm>
            <a:off x="640080" y="1207008"/>
            <a:ext cx="10908792" cy="365760"/>
          </a:xfrm>
          <a:prstGeom prst="rect">
            <a:avLst/>
          </a:prstGeom>
          <a:noFill/>
        </p:spPr>
        <p:txBody>
          <a:bodyPr wrap="square" lIns="0" rIns="0" tIns="0" bIns="0" anchor="t">
            <a:spAutoFit/>
          </a:bodyPr>
          <a:lstStyle/>
          <a:p>
            <a:pPr algn="l">
              <a:spcBef>
                <a:spcPts val="0"/>
              </a:spcBef>
              <a:spcAft>
                <a:spcPts val="0"/>
              </a:spcAft>
            </a:pPr>
            <a:r>
              <a:rPr sz="1500" b="1" i="0">
                <a:solidFill>
                  <a:srgbClr val="164194"/>
                </a:solidFill>
                <a:latin typeface="Calibri"/>
              </a:rPr>
              <a:t>Why real-time protocols matter</a:t>
            </a:r>
          </a:p>
        </p:txBody>
      </p:sp>
      <p:sp>
        <p:nvSpPr>
          <p:cNvPr id="7" name="Rounded Rectangle 6"/>
          <p:cNvSpPr/>
          <p:nvPr/>
        </p:nvSpPr>
        <p:spPr>
          <a:xfrm>
            <a:off x="640080" y="1627632"/>
            <a:ext cx="5303520" cy="1677809"/>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Enables real-time interaction: Both are essential for a voice agent to engage in a dynamic, back-and-forth conversation rather than a rigid, one-question-at-a-time exchange.</a:t>
            </a:r>
          </a:p>
        </p:txBody>
      </p:sp>
      <p:sp>
        <p:nvSpPr>
          <p:cNvPr id="8" name="Rounded Rectangle 7"/>
          <p:cNvSpPr/>
          <p:nvPr/>
        </p:nvSpPr>
        <p:spPr>
          <a:xfrm>
            <a:off x="6245352" y="1627632"/>
            <a:ext cx="5303520" cy="2068372"/>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Improves user experience: Effective turn detection, particularly context-aware models, avoids abrupt interruptions and awkward silences, leading to more natural and efficient communication.</a:t>
            </a:r>
          </a:p>
        </p:txBody>
      </p:sp>
      <p:sp>
        <p:nvSpPr>
          <p:cNvPr id="9" name="Rounded Rectangle 8"/>
          <p:cNvSpPr/>
          <p:nvPr/>
        </p:nvSpPr>
        <p:spPr>
          <a:xfrm>
            <a:off x="6245352" y="3897172"/>
            <a:ext cx="5303520" cy="1677809"/>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lnSpc>
                <a:spcPct val="105000"/>
              </a:lnSpc>
              <a:spcBef>
                <a:spcPts val="0"/>
              </a:spcBef>
              <a:spcAft>
                <a:spcPts val="500"/>
              </a:spcAft>
            </a:pPr>
            <a:r>
              <a:rPr sz="1700" b="0">
                <a:solidFill>
                  <a:srgbClr val="262626"/>
                </a:solidFill>
                <a:latin typeface="Calibri"/>
              </a:rPr>
              <a:t>Cost reduction: Accurate VAD can prevent processing and sending large amounts of voiceless audio to expensive speech-to-text pipelines.</a:t>
            </a:r>
          </a:p>
        </p:txBody>
      </p:sp>
    </p:spTree>
    <p:extLst>
      <p:ext uri="{BB962C8B-B14F-4D97-AF65-F5344CB8AC3E}">
        <p14:creationId xmlns:p14="http://schemas.microsoft.com/office/powerpoint/2010/main" val="96986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BB602-9430-E15C-7604-0F9C13064444}"/>
              </a:ext>
            </a:extLst>
          </p:cNvPr>
          <p:cNvSpPr>
            <a:spLocks noGrp="1"/>
          </p:cNvSpPr>
          <p:nvPr>
            <p:ph type="title"/>
          </p:nvPr>
        </p:nvSpPr>
        <p:spPr/>
        <p:txBody>
          <a:bodyPr/>
          <a:lstStyle/>
          <a:p>
            <a:r>
              <a:rPr lang="en-US" dirty="0"/>
              <a:t>AI Voice Agent Use Cases</a:t>
            </a:r>
          </a:p>
        </p:txBody>
      </p:sp>
      <p:sp>
        <p:nvSpPr>
          <p:cNvPr id="4" name="Footer Placeholder 3">
            <a:extLst>
              <a:ext uri="{FF2B5EF4-FFF2-40B4-BE49-F238E27FC236}">
                <a16:creationId xmlns:a16="http://schemas.microsoft.com/office/drawing/2014/main" id="{1E95913D-4C8F-5BF1-1815-C6B7046FB29B}"/>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35F53722-6511-654F-A42B-E78A869B3497}"/>
              </a:ext>
            </a:extLst>
          </p:cNvPr>
          <p:cNvSpPr>
            <a:spLocks noGrp="1"/>
          </p:cNvSpPr>
          <p:nvPr>
            <p:ph type="sldNum" sz="quarter" idx="14"/>
          </p:nvPr>
        </p:nvSpPr>
        <p:spPr/>
        <p:txBody>
          <a:bodyPr/>
          <a:lstStyle/>
          <a:p>
            <a:fld id="{CE19DD2C-80DA-488C-99A4-6C8CE83C9C30}" type="slidenum">
              <a:rPr lang="en-SG" smtClean="0"/>
              <a:t>30</a:t>
            </a:fld>
            <a:endParaRPr lang="en-SG"/>
          </a:p>
        </p:txBody>
      </p:sp>
      <p:graphicFrame>
        <p:nvGraphicFramePr>
          <p:cNvPr id="6" name="Table 5">
            <a:extLst>
              <a:ext uri="{FF2B5EF4-FFF2-40B4-BE49-F238E27FC236}">
                <a16:creationId xmlns:a16="http://schemas.microsoft.com/office/drawing/2014/main" id="{2C22AFEC-BCFF-D181-B3B1-B2D7D1F1941A}"/>
              </a:ext>
            </a:extLst>
          </p:cNvPr>
          <p:cNvGraphicFramePr>
            <a:graphicFrameLocks noGrp="1"/>
          </p:cNvGraphicFramePr>
          <p:nvPr>
            <p:extLst>
              <p:ext uri="{D42A27DB-BD31-4B8C-83A1-F6EECF244321}">
                <p14:modId xmlns:p14="http://schemas.microsoft.com/office/powerpoint/2010/main" val="3336356075"/>
              </p:ext>
            </p:extLst>
          </p:nvPr>
        </p:nvGraphicFramePr>
        <p:xfrm>
          <a:off x="640080" y="1417320"/>
          <a:ext cx="10908792" cy="4206240"/>
        </p:xfrm>
        <a:graphic>
          <a:graphicData uri="http://schemas.openxmlformats.org/drawingml/2006/table">
            <a:tbl>
              <a:tblPr firstRow="1"/>
              <a:tblGrid>
                <a:gridCol w="3636264">
                  <a:extLst>
                    <a:ext uri="{9D8B030D-6E8A-4147-A177-3AD203B41FA5}">
                      <a16:colId xmlns:a16="http://schemas.microsoft.com/office/drawing/2014/main" val="797815055"/>
                    </a:ext>
                  </a:extLst>
                </a:gridCol>
                <a:gridCol w="3636264">
                  <a:extLst>
                    <a:ext uri="{9D8B030D-6E8A-4147-A177-3AD203B41FA5}">
                      <a16:colId xmlns:a16="http://schemas.microsoft.com/office/drawing/2014/main" val="3532627070"/>
                    </a:ext>
                  </a:extLst>
                </a:gridCol>
                <a:gridCol w="3636264">
                  <a:extLst>
                    <a:ext uri="{9D8B030D-6E8A-4147-A177-3AD203B41FA5}">
                      <a16:colId xmlns:a16="http://schemas.microsoft.com/office/drawing/2014/main" val="1515493227"/>
                    </a:ext>
                  </a:extLst>
                </a:gridCol>
              </a:tblGrid>
              <a:tr h="0">
                <a:tc>
                  <a:txBody>
                    <a:bodyPr/>
                    <a:lstStyle/>
                    <a:p>
                      <a:pPr>
                        <a:buNone/>
                      </a:pPr>
                      <a:r>
                        <a:rPr lang="en-US" b="1" sz="1700">
                          <a:solidFill>
                            <a:srgbClr val="FFFFFF"/>
                          </a:solidFill>
                        </a:rPr>
                        <a:t>Type</a:t>
                      </a:r>
                      <a:endParaRPr lang="en-US"/>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b="1" sz="1700">
                          <a:solidFill>
                            <a:srgbClr val="FFFFFF"/>
                          </a:solidFill>
                        </a:rPr>
                        <a:t>Purpose</a:t>
                      </a:r>
                      <a:endParaRPr lang="en-US"/>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tc>
                  <a:txBody>
                    <a:bodyPr/>
                    <a:lstStyle/>
                    <a:p>
                      <a:pPr>
                        <a:buNone/>
                      </a:pPr>
                      <a:r>
                        <a:rPr lang="en-US" b="1" dirty="0" sz="1700">
                          <a:solidFill>
                            <a:srgbClr val="FFFFFF"/>
                          </a:solidFill>
                        </a:rPr>
                        <a:t>Example Capabilities</a:t>
                      </a:r>
                      <a:endParaRPr lang="en-US" dirty="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64194"/>
                    </a:solidFill>
                  </a:tcPr>
                </a:tc>
                <a:extLst>
                  <a:ext uri="{0D108BD9-81ED-4DB2-BD59-A6C34878D82A}">
                    <a16:rowId xmlns:a16="http://schemas.microsoft.com/office/drawing/2014/main" val="3780650952"/>
                  </a:ext>
                </a:extLst>
              </a:tr>
              <a:tr h="0">
                <a:tc>
                  <a:txBody>
                    <a:bodyPr/>
                    <a:lstStyle/>
                    <a:p>
                      <a:pPr>
                        <a:buNone/>
                      </a:pPr>
                      <a:r>
                        <a:rPr lang="en-US" b="1" dirty="0" sz="1700">
                          <a:solidFill>
                            <a:srgbClr val="262626"/>
                          </a:solidFill>
                        </a:rPr>
                        <a:t>Virtual Assistants</a:t>
                      </a:r>
                      <a:endParaRPr lang="en-US" dirty="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700">
                          <a:solidFill>
                            <a:srgbClr val="262626"/>
                          </a:solidFill>
                        </a:rPr>
                        <a:t>General-purpose agents handling diverse tasks across domains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dirty="0" sz="1700">
                          <a:solidFill>
                            <a:srgbClr val="262626"/>
                          </a:solidFill>
                        </a:rPr>
                        <a:t>Siri, Alexa, enterprise personal assistants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971288733"/>
                  </a:ext>
                </a:extLst>
              </a:tr>
              <a:tr h="0">
                <a:tc>
                  <a:txBody>
                    <a:bodyPr/>
                    <a:lstStyle/>
                    <a:p>
                      <a:pPr>
                        <a:buNone/>
                      </a:pPr>
                      <a:r>
                        <a:rPr lang="en-US" b="1" sz="1700">
                          <a:solidFill>
                            <a:srgbClr val="262626"/>
                          </a:solidFill>
                        </a:rPr>
                        <a:t>Customer Service Agents</a:t>
                      </a:r>
                      <a:endParaRPr lang="en-US"/>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700">
                          <a:solidFill>
                            <a:srgbClr val="262626"/>
                          </a:solidFill>
                        </a:rPr>
                        <a:t>Provide product support, troubleshooting, and escalation</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dirty="0" sz="1700">
                          <a:solidFill>
                            <a:srgbClr val="262626"/>
                          </a:solidFill>
                        </a:rPr>
                        <a:t>Handle FAQs, detect frustration, transfer to human agent</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173177972"/>
                  </a:ext>
                </a:extLst>
              </a:tr>
              <a:tr h="0">
                <a:tc>
                  <a:txBody>
                    <a:bodyPr/>
                    <a:lstStyle/>
                    <a:p>
                      <a:pPr>
                        <a:buNone/>
                      </a:pPr>
                      <a:r>
                        <a:rPr lang="en-US" b="1" sz="1700">
                          <a:solidFill>
                            <a:srgbClr val="262626"/>
                          </a:solidFill>
                        </a:rPr>
                        <a:t>Appointment Schedulers</a:t>
                      </a:r>
                      <a:endParaRPr lang="en-US"/>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700">
                          <a:solidFill>
                            <a:srgbClr val="262626"/>
                          </a:solidFill>
                        </a:rPr>
                        <a:t>Manage calendars and bookings efficiently</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dirty="0" sz="1700">
                          <a:solidFill>
                            <a:srgbClr val="262626"/>
                          </a:solidFill>
                        </a:rPr>
                        <a:t>Schedule meetings, confirm appointments, send reminders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58432966"/>
                  </a:ext>
                </a:extLst>
              </a:tr>
              <a:tr h="0">
                <a:tc>
                  <a:txBody>
                    <a:bodyPr/>
                    <a:lstStyle/>
                    <a:p>
                      <a:pPr>
                        <a:buNone/>
                      </a:pPr>
                      <a:r>
                        <a:rPr lang="en-US" b="1" dirty="0" sz="1700">
                          <a:solidFill>
                            <a:srgbClr val="262626"/>
                          </a:solidFill>
                        </a:rPr>
                        <a:t>Information Retrievers</a:t>
                      </a:r>
                      <a:endParaRPr lang="en-US" dirty="0"/>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700">
                          <a:solidFill>
                            <a:srgbClr val="262626"/>
                          </a:solidFill>
                        </a:rPr>
                        <a:t>Deliver targeted information from internal or public data</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dirty="0" sz="1700">
                          <a:solidFill>
                            <a:srgbClr val="262626"/>
                          </a:solidFill>
                        </a:rPr>
                        <a:t>Access knowledge bases, databases, or documents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861252225"/>
                  </a:ext>
                </a:extLst>
              </a:tr>
              <a:tr h="0">
                <a:tc>
                  <a:txBody>
                    <a:bodyPr/>
                    <a:lstStyle/>
                    <a:p>
                      <a:pPr>
                        <a:buNone/>
                      </a:pPr>
                      <a:r>
                        <a:rPr lang="en-US" b="1" sz="1700">
                          <a:solidFill>
                            <a:srgbClr val="262626"/>
                          </a:solidFill>
                        </a:rPr>
                        <a:t>Transactional Agents</a:t>
                      </a:r>
                      <a:endParaRPr lang="en-US"/>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sz="1700">
                          <a:solidFill>
                            <a:srgbClr val="262626"/>
                          </a:solidFill>
                        </a:rPr>
                        <a:t>Execute business transactions and workflows</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US" dirty="0" sz="1700">
                          <a:solidFill>
                            <a:srgbClr val="262626"/>
                          </a:solidFill>
                        </a:rPr>
                        <a:t>Process payments, bookings, or orders with backend integration</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038538181"/>
                  </a:ext>
                </a:extLst>
              </a:tr>
              <a:tr h="0">
                <a:tc>
                  <a:txBody>
                    <a:bodyPr/>
                    <a:lstStyle/>
                    <a:p>
                      <a:pPr>
                        <a:buNone/>
                      </a:pPr>
                      <a:r>
                        <a:rPr lang="en-US" b="1" sz="1700">
                          <a:solidFill>
                            <a:srgbClr val="262626"/>
                          </a:solidFill>
                        </a:rPr>
                        <a:t>Industry-Specialized Agents</a:t>
                      </a:r>
                      <a:endParaRPr lang="en-US"/>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sz="1700">
                          <a:solidFill>
                            <a:srgbClr val="262626"/>
                          </a:solidFill>
                        </a:rPr>
                        <a:t>Designed for specific sectors and terminology</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tc>
                  <a:txBody>
                    <a:bodyPr/>
                    <a:lstStyle/>
                    <a:p>
                      <a:pPr>
                        <a:buNone/>
                      </a:pPr>
                      <a:r>
                        <a:rPr lang="en-US" dirty="0" sz="1700">
                          <a:solidFill>
                            <a:srgbClr val="262626"/>
                          </a:solidFill>
                        </a:rPr>
                        <a:t>Healthcare scheduling, financial advisory, logistics coordination</a:t>
                      </a:r>
                    </a:p>
                  </a:txBody>
                  <a:tcPr anchor="ctr" marL="128016" marR="128016" marT="45720" marB="4572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F6FA"/>
                    </a:solidFill>
                  </a:tcPr>
                </a:tc>
                <a:extLst>
                  <a:ext uri="{0D108BD9-81ED-4DB2-BD59-A6C34878D82A}">
                    <a16:rowId xmlns:a16="http://schemas.microsoft.com/office/drawing/2014/main" val="626365961"/>
                  </a:ext>
                </a:extLst>
              </a:tr>
            </a:tbl>
          </a:graphicData>
        </a:graphic>
      </p:graphicFrame>
    </p:spTree>
    <p:extLst>
      <p:ext uri="{BB962C8B-B14F-4D97-AF65-F5344CB8AC3E}">
        <p14:creationId xmlns:p14="http://schemas.microsoft.com/office/powerpoint/2010/main" val="515909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222A1-CAB4-531E-D2EE-955F64A570CC}"/>
              </a:ext>
            </a:extLst>
          </p:cNvPr>
          <p:cNvSpPr>
            <a:spLocks noGrp="1"/>
          </p:cNvSpPr>
          <p:nvPr>
            <p:ph type="title"/>
          </p:nvPr>
        </p:nvSpPr>
        <p:spPr/>
        <p:txBody>
          <a:bodyPr/>
          <a:lstStyle/>
          <a:p>
            <a:r>
              <a:rPr lang="en-SG" dirty="0"/>
              <a:t>References</a:t>
            </a:r>
          </a:p>
        </p:txBody>
      </p:sp>
      <p:sp>
        <p:nvSpPr>
          <p:cNvPr id="3" name="Text Placeholder 2">
            <a:extLst>
              <a:ext uri="{FF2B5EF4-FFF2-40B4-BE49-F238E27FC236}">
                <a16:creationId xmlns:a16="http://schemas.microsoft.com/office/drawing/2014/main" id="{C3D150AC-8FBE-FE32-73FC-FBBA80B56B9E}"/>
              </a:ext>
            </a:extLst>
          </p:cNvPr>
          <p:cNvSpPr>
            <a:spLocks noGrp="1"/>
          </p:cNvSpPr>
          <p:nvPr>
            <p:ph type="body" sz="quarter" idx="11"/>
          </p:nvPr>
        </p:nvSpPr>
        <p:spPr>
          <a:xfrm>
            <a:off x="542018" y="1562095"/>
          </a:xfrm>
        </p:spPr>
        <p:txBody>
          <a:bodyPr>
            <a:normAutofit/>
          </a:bodyPr>
          <a:lstStyle/>
          <a:p>
            <a:r>
              <a:rPr lang="en-SG" sz="1800" b="0">
                <a:hlinkClick r:id="rId2"/>
              </a:rPr>
              <a:t>https://www.voicespin.com/glossary/voice-activity-detection/</a:t>
            </a:r>
            <a:endParaRPr lang="en-SG" sz="2800" b="0"/>
          </a:p>
          <a:p>
            <a:r>
              <a:rPr lang="en-US" sz="1800">
                <a:ea typeface="Avenir Book" charset="0"/>
                <a:cs typeface="Avenir Book" charset="0"/>
                <a:hlinkClick r:id="rId7"/>
              </a:rPr>
              <a:t>https://www.youtube.com/watch?v=xWhI8RkRSGQ&amp;t=60s</a:t>
            </a:r>
            <a:endParaRPr lang="en-SG" dirty="0"/>
          </a:p>
          <a:p>
            <a:r>
              <a:rPr lang="en-SG" sz="1800" b="0">
                <a:hlinkClick r:id="rId2"/>
              </a:rPr>
              <a:t>Deepgram (2024). Guide to Voice AI Agents. </a:t>
            </a:r>
            <a:r>
              <a:rPr sz="1800">
                <a:hlinkClick r:id="rId3"/>
              </a:rPr>
              <a:t>https://deepgram.com/</a:t>
            </a:r>
            <a:endParaRPr lang="en-SG" sz="2800" b="0"/>
          </a:p>
          <a:p>
            <a:r>
              <a:rPr lang="en-SG" sz="1800" b="0">
                <a:hlinkClick r:id="rId2"/>
              </a:rPr>
              <a:t>LiveKit. Building voice agents. </a:t>
            </a:r>
            <a:r>
              <a:rPr sz="1800">
                <a:hlinkClick r:id="rId4"/>
              </a:rPr>
              <a:t>https://docs.livekit.io/agents/</a:t>
            </a:r>
            <a:endParaRPr lang="en-SG" sz="2800" b="0"/>
          </a:p>
          <a:p>
            <a:r>
              <a:rPr lang="en-SG" sz="1800" b="0">
                <a:hlinkClick r:id="rId2"/>
              </a:rPr>
              <a:t>Silero VAD (voice activity detection). </a:t>
            </a:r>
            <a:r>
              <a:rPr sz="1800">
                <a:hlinkClick r:id="rId5"/>
              </a:rPr>
              <a:t>https://github.com/snakers4/silero-vad</a:t>
            </a:r>
            <a:endParaRPr lang="en-SG" sz="2800" b="0"/>
          </a:p>
          <a:p>
            <a:r>
              <a:rPr lang="en-SG" sz="1800" b="0">
                <a:hlinkClick r:id="rId2"/>
              </a:rPr>
              <a:t>WebRTC — real-time communication for the web. </a:t>
            </a:r>
            <a:r>
              <a:rPr sz="1800">
                <a:hlinkClick r:id="rId6"/>
              </a:rPr>
              <a:t>https://webrtc.org/</a:t>
            </a:r>
            <a:endParaRPr lang="en-SG" sz="2800" b="0"/>
          </a:p>
        </p:txBody>
      </p:sp>
      <p:sp>
        <p:nvSpPr>
          <p:cNvPr id="5" name="Footer Placeholder 4">
            <a:extLst>
              <a:ext uri="{FF2B5EF4-FFF2-40B4-BE49-F238E27FC236}">
                <a16:creationId xmlns:a16="http://schemas.microsoft.com/office/drawing/2014/main" id="{72823A2C-B0B0-637F-1709-C3ECF194BA00}"/>
              </a:ext>
            </a:extLst>
          </p:cNvPr>
          <p:cNvSpPr>
            <a:spLocks noGrp="1"/>
          </p:cNvSpPr>
          <p:nvPr>
            <p:ph type="ftr" sz="quarter" idx="13"/>
          </p:nvPr>
        </p:nvSpPr>
        <p:spPr/>
        <p:txBody>
          <a:bodyPr/>
          <a:lstStyle/>
          <a:p>
            <a:r>
              <a:rPr lang="it-IT"/>
              <a:t>ITI121 Generative AI - PDC in Generative AI &amp; Deep Learning</a:t>
            </a:r>
            <a:endParaRPr lang="en-SG"/>
          </a:p>
        </p:txBody>
      </p:sp>
      <p:sp>
        <p:nvSpPr>
          <p:cNvPr id="6" name="Slide Number Placeholder 5">
            <a:extLst>
              <a:ext uri="{FF2B5EF4-FFF2-40B4-BE49-F238E27FC236}">
                <a16:creationId xmlns:a16="http://schemas.microsoft.com/office/drawing/2014/main" id="{0F062F5A-251B-4E6A-11E7-41964510E39B}"/>
              </a:ext>
            </a:extLst>
          </p:cNvPr>
          <p:cNvSpPr>
            <a:spLocks noGrp="1"/>
          </p:cNvSpPr>
          <p:nvPr>
            <p:ph type="sldNum" sz="quarter" idx="14"/>
          </p:nvPr>
        </p:nvSpPr>
        <p:spPr/>
        <p:txBody>
          <a:bodyPr/>
          <a:lstStyle/>
          <a:p>
            <a:fld id="{CE19DD2C-80DA-488C-99A4-6C8CE83C9C30}" type="slidenum">
              <a:rPr lang="en-SG" smtClean="0"/>
              <a:t>31</a:t>
            </a:fld>
            <a:endParaRPr lang="en-SG"/>
          </a:p>
        </p:txBody>
      </p:sp>
    </p:spTree>
    <p:extLst>
      <p:ext uri="{BB962C8B-B14F-4D97-AF65-F5344CB8AC3E}">
        <p14:creationId xmlns:p14="http://schemas.microsoft.com/office/powerpoint/2010/main" val="2767485149"/>
      </p:ext>
    </p:extLst>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Foundations: From Sound to Meaning</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TextBox 5"/>
          <p:cNvSpPr txBox="1"/>
          <p:nvPr/>
        </p:nvSpPr>
        <p:spPr>
          <a:xfrm>
            <a:off x="640080" y="1188720"/>
            <a:ext cx="10908792" cy="365760"/>
          </a:xfrm>
          <a:prstGeom prst="rect">
            <a:avLst/>
          </a:prstGeom>
          <a:noFill/>
        </p:spPr>
        <p:txBody>
          <a:bodyPr wrap="square" lIns="0" rIns="0" tIns="0" bIns="0" anchor="t">
            <a:spAutoFit/>
          </a:bodyPr>
          <a:lstStyle/>
          <a:p>
            <a:pPr algn="l">
              <a:spcBef>
                <a:spcPts val="0"/>
              </a:spcBef>
              <a:spcAft>
                <a:spcPts val="0"/>
              </a:spcAft>
            </a:pPr>
            <a:r>
              <a:rPr sz="1500" b="1" i="0">
                <a:solidFill>
                  <a:srgbClr val="164194"/>
                </a:solidFill>
                <a:latin typeface="Calibri"/>
              </a:rPr>
              <a:t>Every voice agent runs the same five stages — the next slides open each box</a:t>
            </a:r>
          </a:p>
        </p:txBody>
      </p:sp>
      <p:sp>
        <p:nvSpPr>
          <p:cNvPr id="7" name="Rounded Rectangle 6"/>
          <p:cNvSpPr/>
          <p:nvPr/>
        </p:nvSpPr>
        <p:spPr>
          <a:xfrm>
            <a:off x="640080" y="1874519"/>
            <a:ext cx="1984248" cy="141732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500"/>
              </a:spcAft>
            </a:pPr>
            <a:r>
              <a:rPr sz="1300" b="1" i="0">
                <a:solidFill>
                  <a:srgbClr val="0E2B63"/>
                </a:solidFill>
                <a:latin typeface="Calibri"/>
              </a:rPr>
              <a:t>1  Capture</a:t>
            </a:r>
          </a:p>
          <a:p>
            <a:pPr algn="l">
              <a:lnSpc>
                <a:spcPct val="100000"/>
              </a:lnSpc>
              <a:spcBef>
                <a:spcPts val="0"/>
              </a:spcBef>
              <a:spcAft>
                <a:spcPts val="0"/>
              </a:spcAft>
            </a:pPr>
            <a:r>
              <a:rPr sz="1100" b="0" i="0">
                <a:solidFill>
                  <a:srgbClr val="262626"/>
                </a:solidFill>
                <a:latin typeface="Calibri"/>
              </a:rPr>
              <a:t>Microphone picks up an analog signal and digitises it</a:t>
            </a:r>
          </a:p>
        </p:txBody>
      </p:sp>
      <p:cxnSp>
        <p:nvCxnSpPr>
          <p:cNvPr id="8" name="Connector 7"/>
          <p:cNvCxnSpPr/>
          <p:nvPr/>
        </p:nvCxnSpPr>
        <p:spPr>
          <a:xfrm>
            <a:off x="2651760" y="2578608"/>
            <a:ext cx="192024"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71215" y="1874519"/>
            <a:ext cx="1984248" cy="1417320"/>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500"/>
              </a:spcAft>
            </a:pPr>
            <a:r>
              <a:rPr sz="1300" b="1" i="0">
                <a:solidFill>
                  <a:srgbClr val="0E2B63"/>
                </a:solidFill>
                <a:latin typeface="Calibri"/>
              </a:rPr>
              <a:t>2  Features</a:t>
            </a:r>
          </a:p>
          <a:p>
            <a:pPr algn="l">
              <a:lnSpc>
                <a:spcPct val="100000"/>
              </a:lnSpc>
              <a:spcBef>
                <a:spcPts val="0"/>
              </a:spcBef>
              <a:spcAft>
                <a:spcPts val="0"/>
              </a:spcAft>
            </a:pPr>
            <a:r>
              <a:rPr sz="1100" b="0" i="0">
                <a:solidFill>
                  <a:srgbClr val="262626"/>
                </a:solidFill>
                <a:latin typeface="Calibri"/>
              </a:rPr>
              <a:t>FFT / MFCC turn the signal into a spectrogram</a:t>
            </a:r>
          </a:p>
        </p:txBody>
      </p:sp>
      <p:cxnSp>
        <p:nvCxnSpPr>
          <p:cNvPr id="10" name="Connector 9"/>
          <p:cNvCxnSpPr/>
          <p:nvPr/>
        </p:nvCxnSpPr>
        <p:spPr>
          <a:xfrm>
            <a:off x="4882896" y="2578608"/>
            <a:ext cx="192024"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02352" y="1874519"/>
            <a:ext cx="1984248" cy="141732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500"/>
              </a:spcAft>
            </a:pPr>
            <a:r>
              <a:rPr sz="1300" b="1" i="0">
                <a:solidFill>
                  <a:srgbClr val="0E2B63"/>
                </a:solidFill>
                <a:latin typeface="Calibri"/>
              </a:rPr>
              <a:t>3  Recognise</a:t>
            </a:r>
          </a:p>
          <a:p>
            <a:pPr algn="l">
              <a:lnSpc>
                <a:spcPct val="100000"/>
              </a:lnSpc>
              <a:spcBef>
                <a:spcPts val="0"/>
              </a:spcBef>
              <a:spcAft>
                <a:spcPts val="0"/>
              </a:spcAft>
            </a:pPr>
            <a:r>
              <a:rPr sz="1100" b="0" i="0">
                <a:solidFill>
                  <a:srgbClr val="262626"/>
                </a:solidFill>
                <a:latin typeface="Calibri"/>
              </a:rPr>
              <a:t>ASR maps features to phonemes, then to text</a:t>
            </a:r>
          </a:p>
        </p:txBody>
      </p:sp>
      <p:cxnSp>
        <p:nvCxnSpPr>
          <p:cNvPr id="12" name="Connector 11"/>
          <p:cNvCxnSpPr/>
          <p:nvPr/>
        </p:nvCxnSpPr>
        <p:spPr>
          <a:xfrm>
            <a:off x="7114032" y="2578608"/>
            <a:ext cx="192024"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33488" y="1874519"/>
            <a:ext cx="1984248" cy="1417320"/>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500"/>
              </a:spcAft>
            </a:pPr>
            <a:r>
              <a:rPr sz="1300" b="1" i="0">
                <a:solidFill>
                  <a:srgbClr val="0E2B63"/>
                </a:solidFill>
                <a:latin typeface="Calibri"/>
              </a:rPr>
              <a:t>4  Reason</a:t>
            </a:r>
          </a:p>
          <a:p>
            <a:pPr algn="l">
              <a:lnSpc>
                <a:spcPct val="100000"/>
              </a:lnSpc>
              <a:spcBef>
                <a:spcPts val="0"/>
              </a:spcBef>
              <a:spcAft>
                <a:spcPts val="0"/>
              </a:spcAft>
            </a:pPr>
            <a:r>
              <a:rPr sz="1100" b="0" i="0">
                <a:solidFill>
                  <a:srgbClr val="262626"/>
                </a:solidFill>
                <a:latin typeface="Calibri"/>
              </a:rPr>
              <a:t>The LLM agent perceives, reasons and decides an action</a:t>
            </a:r>
          </a:p>
        </p:txBody>
      </p:sp>
      <p:cxnSp>
        <p:nvCxnSpPr>
          <p:cNvPr id="14" name="Connector 13"/>
          <p:cNvCxnSpPr/>
          <p:nvPr/>
        </p:nvCxnSpPr>
        <p:spPr>
          <a:xfrm>
            <a:off x="9345167" y="2578608"/>
            <a:ext cx="192025"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564624" y="1874519"/>
            <a:ext cx="1984248" cy="141732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500"/>
              </a:spcAft>
            </a:pPr>
            <a:r>
              <a:rPr sz="1300" b="1" i="0">
                <a:solidFill>
                  <a:srgbClr val="0E2B63"/>
                </a:solidFill>
                <a:latin typeface="Calibri"/>
              </a:rPr>
              <a:t>5  Speak</a:t>
            </a:r>
          </a:p>
          <a:p>
            <a:pPr algn="l">
              <a:lnSpc>
                <a:spcPct val="100000"/>
              </a:lnSpc>
              <a:spcBef>
                <a:spcPts val="0"/>
              </a:spcBef>
              <a:spcAft>
                <a:spcPts val="0"/>
              </a:spcAft>
            </a:pPr>
            <a:r>
              <a:rPr sz="1100" b="0" i="0">
                <a:solidFill>
                  <a:srgbClr val="262626"/>
                </a:solidFill>
                <a:latin typeface="Calibri"/>
              </a:rPr>
              <a:t>TTS turns the reply back into a natural waveform</a:t>
            </a:r>
          </a:p>
        </p:txBody>
      </p:sp>
      <p:sp>
        <p:nvSpPr>
          <p:cNvPr id="16" name="Rounded Rectangle 15"/>
          <p:cNvSpPr/>
          <p:nvPr/>
        </p:nvSpPr>
        <p:spPr>
          <a:xfrm>
            <a:off x="640080" y="3611880"/>
            <a:ext cx="10908792" cy="86868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5000"/>
              </a:lnSpc>
              <a:spcBef>
                <a:spcPts val="0"/>
              </a:spcBef>
              <a:spcAft>
                <a:spcPts val="0"/>
              </a:spcAft>
            </a:pPr>
            <a:r>
              <a:rPr sz="1300" b="1">
                <a:solidFill>
                  <a:srgbClr val="0E2B63"/>
                </a:solidFill>
                <a:latin typeface="Calibri"/>
              </a:rPr>
              <a:t>Latency is the sum of all five. </a:t>
            </a:r>
            <a:r>
              <a:rPr sz="1300" b="0">
                <a:solidFill>
                  <a:srgbClr val="262626"/>
                </a:solidFill>
                <a:latin typeface="Calibri"/>
              </a:rPr>
              <a:t>Each stage adds delay, so every optimisation later in this lecture — streaming STT, fast first tokens, streaming TTS — is an attack on one of these boxes.</a:t>
            </a:r>
          </a:p>
        </p:txBody>
      </p:sp>
      <p:sp>
        <p:nvSpPr>
          <p:cNvPr id="17" name="TextBox 16"/>
          <p:cNvSpPr txBox="1"/>
          <p:nvPr/>
        </p:nvSpPr>
        <p:spPr>
          <a:xfrm>
            <a:off x="640080" y="4709160"/>
            <a:ext cx="10908792" cy="822960"/>
          </a:xfrm>
          <a:prstGeom prst="rect">
            <a:avLst/>
          </a:prstGeom>
          <a:noFill/>
        </p:spPr>
        <p:txBody>
          <a:bodyPr wrap="square" lIns="0" rIns="0" tIns="0" bIns="0" anchor="t">
            <a:spAutoFit/>
          </a:bodyPr>
          <a:lstStyle/>
          <a:p>
            <a:pPr algn="l">
              <a:spcBef>
                <a:spcPts val="0"/>
              </a:spcBef>
              <a:spcAft>
                <a:spcPts val="500"/>
              </a:spcAft>
            </a:pPr>
            <a:r>
              <a:rPr sz="1300" b="1" i="0">
                <a:solidFill>
                  <a:srgbClr val="0E2B63"/>
                </a:solidFill>
                <a:latin typeface="Calibri"/>
              </a:rPr>
              <a:t>Two ways to build it</a:t>
            </a:r>
          </a:p>
          <a:p>
            <a:pPr algn="l">
              <a:spcBef>
                <a:spcPts val="0"/>
              </a:spcBef>
              <a:spcAft>
                <a:spcPts val="300"/>
              </a:spcAft>
            </a:pPr>
            <a:r>
              <a:rPr sz="1250" b="1">
                <a:solidFill>
                  <a:srgbClr val="164194"/>
                </a:solidFill>
                <a:latin typeface="Calibri"/>
              </a:rPr>
              <a:t>Cascaded pipeline: </a:t>
            </a:r>
            <a:r>
              <a:rPr sz="1250" b="0">
                <a:solidFill>
                  <a:srgbClr val="262626"/>
                </a:solidFill>
                <a:latin typeface="Calibri"/>
              </a:rPr>
              <a:t>separate STT → LLM → TTS services — flexible, easier to debug, more latency.</a:t>
            </a:r>
          </a:p>
          <a:p>
            <a:pPr algn="l">
              <a:spcBef>
                <a:spcPts val="0"/>
              </a:spcBef>
              <a:spcAft>
                <a:spcPts val="0"/>
              </a:spcAft>
            </a:pPr>
            <a:r>
              <a:rPr sz="1250" b="1">
                <a:solidFill>
                  <a:srgbClr val="164194"/>
                </a:solidFill>
                <a:latin typeface="Calibri"/>
              </a:rPr>
              <a:t>Speech-to-speech: </a:t>
            </a:r>
            <a:r>
              <a:rPr sz="1250" b="0">
                <a:solidFill>
                  <a:srgbClr val="262626"/>
                </a:solidFill>
                <a:latin typeface="Calibri"/>
              </a:rPr>
              <a:t>one real-time multimodal model — lower latency, less control over each step.</a:t>
            </a:r>
          </a:p>
        </p:txBody>
      </p:sp>
      <p:sp>
        <p:nvSpPr>
          <p:cNvPr id="18" name="TextBox 17"/>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1: Speech Feature Extraction</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TextBox 5"/>
          <p:cNvSpPr txBox="1"/>
          <p:nvPr/>
        </p:nvSpPr>
        <p:spPr>
          <a:xfrm>
            <a:off x="640080" y="1645920"/>
            <a:ext cx="4160520" cy="3291840"/>
          </a:xfrm>
          <a:prstGeom prst="rect">
            <a:avLst/>
          </a:prstGeom>
          <a:noFill/>
        </p:spPr>
        <p:txBody>
          <a:bodyPr wrap="square" lIns="0" rIns="0" tIns="0" bIns="0" anchor="t">
            <a:spAutoFit/>
          </a:bodyPr>
          <a:lstStyle/>
          <a:p>
            <a:pPr algn="l">
              <a:lnSpc>
                <a:spcPct val="105000"/>
              </a:lnSpc>
              <a:spcBef>
                <a:spcPts val="0"/>
              </a:spcBef>
              <a:spcAft>
                <a:spcPts val="1200"/>
              </a:spcAft>
            </a:pPr>
            <a:r>
              <a:rPr sz="1350" b="0" i="0">
                <a:solidFill>
                  <a:srgbClr val="262626"/>
                </a:solidFill>
                <a:latin typeface="Calibri"/>
              </a:rPr>
              <a:t>Speech reaches the microphone as an analog wave. Nothing downstream can read it until it is digitised and reduced to features.</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Digitisation is the prerequisite for every later step.</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Fast Fourier Transform (FFT) or Mel-frequency cepstral coefficients (MFCC) extract the parts of the signal that carry meaning.</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The result is a spectrogram — frequency content over time.</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ASR models read these features, never the raw audio.</a:t>
            </a:r>
          </a:p>
        </p:txBody>
      </p:sp>
      <p:pic>
        <p:nvPicPr>
          <p:cNvPr id="7" name="Picture 6" descr="f-000.png"/>
          <p:cNvPicPr>
            <a:picLocks noChangeAspect="1"/>
          </p:cNvPicPr>
          <p:nvPr/>
        </p:nvPicPr>
        <p:blipFill>
          <a:blip r:embed="rId2"/>
          <a:stretch>
            <a:fillRect/>
          </a:stretch>
        </p:blipFill>
        <p:spPr>
          <a:xfrm>
            <a:off x="5120640" y="1656899"/>
            <a:ext cx="6428232" cy="3224160"/>
          </a:xfrm>
          <a:prstGeom prst="rect">
            <a:avLst/>
          </a:prstGeom>
        </p:spPr>
      </p:pic>
      <p:sp>
        <p:nvSpPr>
          <p:cNvPr id="8" name="TextBox 7"/>
          <p:cNvSpPr txBox="1"/>
          <p:nvPr/>
        </p:nvSpPr>
        <p:spPr>
          <a:xfrm>
            <a:off x="5120640" y="5029200"/>
            <a:ext cx="6428232" cy="274320"/>
          </a:xfrm>
          <a:prstGeom prst="rect">
            <a:avLst/>
          </a:prstGeom>
          <a:noFill/>
        </p:spPr>
        <p:txBody>
          <a:bodyPr wrap="square" lIns="0" rIns="0" tIns="0" bIns="0" anchor="t">
            <a:spAutoFit/>
          </a:bodyPr>
          <a:lstStyle/>
          <a:p>
            <a:pPr algn="ctr">
              <a:spcBef>
                <a:spcPts val="0"/>
              </a:spcBef>
              <a:spcAft>
                <a:spcPts val="0"/>
              </a:spcAft>
            </a:pPr>
            <a:r>
              <a:rPr sz="1050" b="0" i="0">
                <a:solidFill>
                  <a:srgbClr val="808080"/>
                </a:solidFill>
                <a:latin typeface="Calibri"/>
              </a:rPr>
              <a:t>Image source: Deepgram, “Guide to Voice AI Agents” (2024)</a:t>
            </a:r>
          </a:p>
        </p:txBody>
      </p:sp>
      <p:sp>
        <p:nvSpPr>
          <p:cNvPr id="9" name="TextBox 8"/>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a Spectrogram</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pic>
        <p:nvPicPr>
          <p:cNvPr id="6" name="Picture 5" descr="f-001.png"/>
          <p:cNvPicPr>
            <a:picLocks noChangeAspect="1"/>
          </p:cNvPicPr>
          <p:nvPr/>
        </p:nvPicPr>
        <p:blipFill>
          <a:blip r:embed="rId2"/>
          <a:stretch>
            <a:fillRect/>
          </a:stretch>
        </p:blipFill>
        <p:spPr>
          <a:xfrm>
            <a:off x="2432304" y="1520632"/>
            <a:ext cx="6903720" cy="2765174"/>
          </a:xfrm>
          <a:prstGeom prst="rect">
            <a:avLst/>
          </a:prstGeom>
        </p:spPr>
      </p:pic>
      <p:sp>
        <p:nvSpPr>
          <p:cNvPr id="7" name="TextBox 6"/>
          <p:cNvSpPr txBox="1"/>
          <p:nvPr/>
        </p:nvSpPr>
        <p:spPr>
          <a:xfrm>
            <a:off x="2432304" y="4389120"/>
            <a:ext cx="6903720" cy="274320"/>
          </a:xfrm>
          <a:prstGeom prst="rect">
            <a:avLst/>
          </a:prstGeom>
          <a:noFill/>
        </p:spPr>
        <p:txBody>
          <a:bodyPr wrap="square" lIns="0" rIns="0" tIns="0" bIns="0" anchor="t">
            <a:spAutoFit/>
          </a:bodyPr>
          <a:lstStyle/>
          <a:p>
            <a:pPr algn="ctr">
              <a:spcBef>
                <a:spcPts val="0"/>
              </a:spcBef>
              <a:spcAft>
                <a:spcPts val="0"/>
              </a:spcAft>
            </a:pPr>
            <a:r>
              <a:rPr sz="1050" b="0" i="0">
                <a:solidFill>
                  <a:srgbClr val="808080"/>
                </a:solidFill>
                <a:latin typeface="Calibri"/>
              </a:rPr>
              <a:t>Image source: Deepgram, “Guide to Voice AI Agents” (2024)</a:t>
            </a:r>
          </a:p>
        </p:txBody>
      </p:sp>
      <p:sp>
        <p:nvSpPr>
          <p:cNvPr id="8" name="Rounded Rectangle 7"/>
          <p:cNvSpPr/>
          <p:nvPr/>
        </p:nvSpPr>
        <p:spPr>
          <a:xfrm>
            <a:off x="640080" y="4754880"/>
            <a:ext cx="3438144" cy="8686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95000"/>
              </a:lnSpc>
              <a:spcBef>
                <a:spcPts val="0"/>
              </a:spcBef>
              <a:spcAft>
                <a:spcPts val="300"/>
              </a:spcAft>
            </a:pPr>
            <a:r>
              <a:rPr sz="1250" b="1" i="0">
                <a:solidFill>
                  <a:srgbClr val="0E2B63"/>
                </a:solidFill>
                <a:latin typeface="Calibri"/>
              </a:rPr>
              <a:t>X axis — time</a:t>
            </a:r>
          </a:p>
          <a:p>
            <a:pPr algn="l">
              <a:lnSpc>
                <a:spcPct val="100000"/>
              </a:lnSpc>
              <a:spcBef>
                <a:spcPts val="0"/>
              </a:spcBef>
              <a:spcAft>
                <a:spcPts val="0"/>
              </a:spcAft>
            </a:pPr>
            <a:r>
              <a:rPr sz="1100" b="0" i="0">
                <a:solidFill>
                  <a:srgbClr val="262626"/>
                </a:solidFill>
                <a:latin typeface="Calibri"/>
              </a:rPr>
              <a:t>How the sound unfolds, left to right.</a:t>
            </a:r>
          </a:p>
        </p:txBody>
      </p:sp>
      <p:sp>
        <p:nvSpPr>
          <p:cNvPr id="9" name="Rounded Rectangle 8"/>
          <p:cNvSpPr/>
          <p:nvPr/>
        </p:nvSpPr>
        <p:spPr>
          <a:xfrm>
            <a:off x="4370832" y="4754880"/>
            <a:ext cx="3438144" cy="8686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95000"/>
              </a:lnSpc>
              <a:spcBef>
                <a:spcPts val="0"/>
              </a:spcBef>
              <a:spcAft>
                <a:spcPts val="300"/>
              </a:spcAft>
            </a:pPr>
            <a:r>
              <a:rPr sz="1250" b="1" i="0">
                <a:solidFill>
                  <a:srgbClr val="0E2B63"/>
                </a:solidFill>
                <a:latin typeface="Calibri"/>
              </a:rPr>
              <a:t>Y axis — frequency</a:t>
            </a:r>
          </a:p>
          <a:p>
            <a:pPr algn="l">
              <a:lnSpc>
                <a:spcPct val="100000"/>
              </a:lnSpc>
              <a:spcBef>
                <a:spcPts val="0"/>
              </a:spcBef>
              <a:spcAft>
                <a:spcPts val="0"/>
              </a:spcAft>
            </a:pPr>
            <a:r>
              <a:rPr sz="1100" b="0" i="0">
                <a:solidFill>
                  <a:srgbClr val="262626"/>
                </a:solidFill>
                <a:latin typeface="Calibri"/>
              </a:rPr>
              <a:t>Pitch content, low at the bottom, high at the top.</a:t>
            </a:r>
          </a:p>
        </p:txBody>
      </p:sp>
      <p:sp>
        <p:nvSpPr>
          <p:cNvPr id="10" name="Rounded Rectangle 9"/>
          <p:cNvSpPr/>
          <p:nvPr/>
        </p:nvSpPr>
        <p:spPr>
          <a:xfrm>
            <a:off x="8101583" y="4754880"/>
            <a:ext cx="3438144" cy="8686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95000"/>
              </a:lnSpc>
              <a:spcBef>
                <a:spcPts val="0"/>
              </a:spcBef>
              <a:spcAft>
                <a:spcPts val="300"/>
              </a:spcAft>
            </a:pPr>
            <a:r>
              <a:rPr sz="1250" b="1" i="0">
                <a:solidFill>
                  <a:srgbClr val="0E2B63"/>
                </a:solidFill>
                <a:latin typeface="Calibri"/>
              </a:rPr>
              <a:t>Colour — intensity</a:t>
            </a:r>
          </a:p>
          <a:p>
            <a:pPr algn="l">
              <a:lnSpc>
                <a:spcPct val="100000"/>
              </a:lnSpc>
              <a:spcBef>
                <a:spcPts val="0"/>
              </a:spcBef>
              <a:spcAft>
                <a:spcPts val="0"/>
              </a:spcAft>
            </a:pPr>
            <a:r>
              <a:rPr sz="1100" b="0" i="0">
                <a:solidFill>
                  <a:srgbClr val="262626"/>
                </a:solidFill>
                <a:latin typeface="Calibri"/>
              </a:rPr>
              <a:t>The third dimension: how loud each frequency 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2: Inside ASR (Speech → Text)</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TextBox 5"/>
          <p:cNvSpPr txBox="1"/>
          <p:nvPr/>
        </p:nvSpPr>
        <p:spPr>
          <a:xfrm>
            <a:off x="640080" y="1645920"/>
            <a:ext cx="4434840" cy="3200400"/>
          </a:xfrm>
          <a:prstGeom prst="rect">
            <a:avLst/>
          </a:prstGeom>
          <a:noFill/>
        </p:spPr>
        <p:txBody>
          <a:bodyPr wrap="square" lIns="0" rIns="0" tIns="0" bIns="0" anchor="t">
            <a:spAutoFit/>
          </a:bodyPr>
          <a:lstStyle/>
          <a:p>
            <a:pPr algn="l">
              <a:lnSpc>
                <a:spcPct val="105000"/>
              </a:lnSpc>
              <a:spcBef>
                <a:spcPts val="0"/>
              </a:spcBef>
              <a:spcAft>
                <a:spcPts val="1000"/>
              </a:spcAft>
            </a:pPr>
            <a:r>
              <a:rPr sz="1350" b="1" i="0">
                <a:solidFill>
                  <a:srgbClr val="0E2B63"/>
                </a:solidFill>
                <a:latin typeface="Calibri"/>
              </a:rPr>
              <a:t>Automatic Speech Recognition converts spoken words into written text.</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Traditional ASR: an acoustic model turns spectrogram features into phonemes — the smallest units that tell words apart.</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A language model then predicts the most likely text for that phoneme sequence.</a:t>
            </a:r>
          </a:p>
          <a:p>
            <a:pPr algn="l" marL="192024" indent="-192024">
              <a:lnSpc>
                <a:spcPct val="103000"/>
              </a:lnSpc>
              <a:spcBef>
                <a:spcPts val="0"/>
              </a:spcBef>
              <a:spcAft>
                <a:spcPts val="900"/>
              </a:spcAft>
            </a:pPr>
            <a:r>
              <a:rPr sz="1350" b="0">
                <a:solidFill>
                  <a:srgbClr val="164194"/>
                </a:solidFill>
                <a:latin typeface="Calibri"/>
              </a:rPr>
              <a:t>•   </a:t>
            </a:r>
            <a:r>
              <a:rPr sz="1350" b="0">
                <a:solidFill>
                  <a:srgbClr val="262626"/>
                </a:solidFill>
                <a:latin typeface="Calibri"/>
              </a:rPr>
              <a:t>Modern ASR is end-to-end deep learning, mostly transformer-based (Whisper, Nova, Deepgram).</a:t>
            </a:r>
          </a:p>
        </p:txBody>
      </p:sp>
      <p:sp>
        <p:nvSpPr>
          <p:cNvPr id="7" name="Rounded Rectangle 6"/>
          <p:cNvSpPr/>
          <p:nvPr/>
        </p:nvSpPr>
        <p:spPr>
          <a:xfrm>
            <a:off x="640080" y="4617720"/>
            <a:ext cx="4434840" cy="868680"/>
          </a:xfrm>
          <a:prstGeom prst="roundRect">
            <a:avLst>
              <a:gd name="adj" fmla="val 7000"/>
            </a:avLst>
          </a:prstGeom>
          <a:solidFill>
            <a:srgbClr val="FFFFFF"/>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0000"/>
              </a:lnSpc>
              <a:spcBef>
                <a:spcPts val="0"/>
              </a:spcBef>
              <a:spcAft>
                <a:spcPts val="0"/>
              </a:spcAft>
            </a:pPr>
            <a:r>
              <a:rPr sz="1250" b="1">
                <a:solidFill>
                  <a:srgbClr val="164194"/>
                </a:solidFill>
                <a:latin typeface="Calibri"/>
              </a:rPr>
              <a:t>Phonemes matter: </a:t>
            </a:r>
            <a:r>
              <a:rPr sz="1250" b="0">
                <a:solidFill>
                  <a:srgbClr val="262626"/>
                </a:solidFill>
                <a:latin typeface="Calibri"/>
              </a:rPr>
              <a:t>sat, cat and rat differ only in their first phoneme.</a:t>
            </a:r>
          </a:p>
        </p:txBody>
      </p:sp>
      <p:pic>
        <p:nvPicPr>
          <p:cNvPr id="8" name="Picture 7" descr="f-002.png"/>
          <p:cNvPicPr>
            <a:picLocks noChangeAspect="1"/>
          </p:cNvPicPr>
          <p:nvPr/>
        </p:nvPicPr>
        <p:blipFill>
          <a:blip r:embed="rId2"/>
          <a:stretch>
            <a:fillRect/>
          </a:stretch>
        </p:blipFill>
        <p:spPr>
          <a:xfrm>
            <a:off x="5394960" y="1656836"/>
            <a:ext cx="6153912" cy="3087127"/>
          </a:xfrm>
          <a:prstGeom prst="rect">
            <a:avLst/>
          </a:prstGeom>
        </p:spPr>
      </p:pic>
      <p:sp>
        <p:nvSpPr>
          <p:cNvPr id="9" name="TextBox 8"/>
          <p:cNvSpPr txBox="1"/>
          <p:nvPr/>
        </p:nvSpPr>
        <p:spPr>
          <a:xfrm>
            <a:off x="5394960" y="4892040"/>
            <a:ext cx="6153912" cy="274320"/>
          </a:xfrm>
          <a:prstGeom prst="rect">
            <a:avLst/>
          </a:prstGeom>
          <a:noFill/>
        </p:spPr>
        <p:txBody>
          <a:bodyPr wrap="square" lIns="0" rIns="0" tIns="0" bIns="0" anchor="t">
            <a:spAutoFit/>
          </a:bodyPr>
          <a:lstStyle/>
          <a:p>
            <a:pPr algn="ctr">
              <a:spcBef>
                <a:spcPts val="0"/>
              </a:spcBef>
              <a:spcAft>
                <a:spcPts val="0"/>
              </a:spcAft>
            </a:pPr>
            <a:r>
              <a:rPr sz="1050" b="0" i="0">
                <a:solidFill>
                  <a:srgbClr val="808080"/>
                </a:solidFill>
                <a:latin typeface="Calibri"/>
              </a:rPr>
              <a:t>Image source: Deepgram, “Guide to Voice AI Agents” (2024)</a:t>
            </a:r>
          </a:p>
        </p:txBody>
      </p:sp>
      <p:sp>
        <p:nvSpPr>
          <p:cNvPr id="10" name="TextBox 9"/>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Stage 3: Inside TTS (Text → Speech)</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TextBox 5"/>
          <p:cNvSpPr txBox="1"/>
          <p:nvPr/>
        </p:nvSpPr>
        <p:spPr>
          <a:xfrm>
            <a:off x="640080" y="1627632"/>
            <a:ext cx="4709160" cy="2286000"/>
          </a:xfrm>
          <a:prstGeom prst="rect">
            <a:avLst/>
          </a:prstGeom>
          <a:noFill/>
        </p:spPr>
        <p:txBody>
          <a:bodyPr wrap="square" lIns="0" rIns="0" tIns="0" bIns="0" anchor="t">
            <a:spAutoFit/>
          </a:bodyPr>
          <a:lstStyle/>
          <a:p>
            <a:pPr algn="l">
              <a:lnSpc>
                <a:spcPct val="105000"/>
              </a:lnSpc>
              <a:spcBef>
                <a:spcPts val="0"/>
              </a:spcBef>
              <a:spcAft>
                <a:spcPts val="1000"/>
              </a:spcAft>
            </a:pPr>
            <a:r>
              <a:rPr sz="1350" b="1" i="0">
                <a:solidFill>
                  <a:srgbClr val="0E2B63"/>
                </a:solidFill>
                <a:latin typeface="Calibri"/>
              </a:rPr>
              <a:t>Speech synthesis is speech recognition run backwards.</a:t>
            </a:r>
          </a:p>
          <a:p>
            <a:pPr algn="l" marL="192024" indent="-192024">
              <a:lnSpc>
                <a:spcPct val="103000"/>
              </a:lnSpc>
              <a:spcBef>
                <a:spcPts val="0"/>
              </a:spcBef>
              <a:spcAft>
                <a:spcPts val="900"/>
              </a:spcAft>
            </a:pPr>
            <a:r>
              <a:rPr sz="1300" b="0">
                <a:solidFill>
                  <a:srgbClr val="164194"/>
                </a:solidFill>
                <a:latin typeface="Calibri"/>
              </a:rPr>
              <a:t>•   </a:t>
            </a:r>
            <a:r>
              <a:rPr sz="1300" b="0">
                <a:solidFill>
                  <a:srgbClr val="262626"/>
                </a:solidFill>
                <a:latin typeface="Calibri"/>
              </a:rPr>
              <a:t>A language model converts the text into a phoneme sequence.</a:t>
            </a:r>
          </a:p>
          <a:p>
            <a:pPr algn="l" marL="192024" indent="-192024">
              <a:lnSpc>
                <a:spcPct val="103000"/>
              </a:lnSpc>
              <a:spcBef>
                <a:spcPts val="0"/>
              </a:spcBef>
              <a:spcAft>
                <a:spcPts val="900"/>
              </a:spcAft>
            </a:pPr>
            <a:r>
              <a:rPr sz="1300" b="0">
                <a:solidFill>
                  <a:srgbClr val="164194"/>
                </a:solidFill>
                <a:latin typeface="Calibri"/>
              </a:rPr>
              <a:t>•   </a:t>
            </a:r>
            <a:r>
              <a:rPr sz="1300" b="0">
                <a:solidFill>
                  <a:srgbClr val="262626"/>
                </a:solidFill>
                <a:latin typeface="Calibri"/>
              </a:rPr>
              <a:t>An acoustic model turns phonemes into acoustic features, handling prosody, intonation and stress.</a:t>
            </a:r>
          </a:p>
          <a:p>
            <a:pPr algn="l" marL="192024" indent="-192024">
              <a:lnSpc>
                <a:spcPct val="103000"/>
              </a:lnSpc>
              <a:spcBef>
                <a:spcPts val="0"/>
              </a:spcBef>
              <a:spcAft>
                <a:spcPts val="900"/>
              </a:spcAft>
            </a:pPr>
            <a:r>
              <a:rPr sz="1300" b="0">
                <a:solidFill>
                  <a:srgbClr val="164194"/>
                </a:solidFill>
                <a:latin typeface="Calibri"/>
              </a:rPr>
              <a:t>•   </a:t>
            </a:r>
            <a:r>
              <a:rPr sz="1300" b="0">
                <a:solidFill>
                  <a:srgbClr val="262626"/>
                </a:solidFill>
                <a:latin typeface="Calibri"/>
              </a:rPr>
              <a:t>A vocoder synthesises the final sound waveform.</a:t>
            </a:r>
          </a:p>
        </p:txBody>
      </p:sp>
      <p:sp>
        <p:nvSpPr>
          <p:cNvPr id="7" name="Rounded Rectangle 6"/>
          <p:cNvSpPr/>
          <p:nvPr/>
        </p:nvSpPr>
        <p:spPr>
          <a:xfrm>
            <a:off x="640080" y="4160520"/>
            <a:ext cx="2212848"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250" b="1" i="0">
                <a:solidFill>
                  <a:srgbClr val="0E2B63"/>
                </a:solidFill>
                <a:latin typeface="Calibri"/>
              </a:rPr>
              <a:t>Unit selection</a:t>
            </a:r>
          </a:p>
          <a:p>
            <a:pPr algn="l">
              <a:lnSpc>
                <a:spcPct val="100000"/>
              </a:lnSpc>
              <a:spcBef>
                <a:spcPts val="0"/>
              </a:spcBef>
              <a:spcAft>
                <a:spcPts val="0"/>
              </a:spcAft>
            </a:pPr>
            <a:r>
              <a:rPr sz="1050" b="0" i="0">
                <a:solidFill>
                  <a:srgbClr val="262626"/>
                </a:solidFill>
                <a:latin typeface="Calibri"/>
              </a:rPr>
              <a:t>Stitches together pre-recorded units voiced by a real actor — phonemes, diphones or whole words.</a:t>
            </a:r>
          </a:p>
        </p:txBody>
      </p:sp>
      <p:sp>
        <p:nvSpPr>
          <p:cNvPr id="8" name="Rounded Rectangle 7"/>
          <p:cNvSpPr/>
          <p:nvPr/>
        </p:nvSpPr>
        <p:spPr>
          <a:xfrm>
            <a:off x="3127248" y="4160520"/>
            <a:ext cx="2212848"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250" b="1" i="0">
                <a:solidFill>
                  <a:srgbClr val="0E2B63"/>
                </a:solidFill>
                <a:latin typeface="Calibri"/>
              </a:rPr>
              <a:t>Parametric synthesis</a:t>
            </a:r>
          </a:p>
          <a:p>
            <a:pPr algn="l">
              <a:lnSpc>
                <a:spcPct val="100000"/>
              </a:lnSpc>
              <a:spcBef>
                <a:spcPts val="0"/>
              </a:spcBef>
              <a:spcAft>
                <a:spcPts val="0"/>
              </a:spcAft>
            </a:pPr>
            <a:r>
              <a:rPr sz="1050" b="0" i="0">
                <a:solidFill>
                  <a:srgbClr val="262626"/>
                </a:solidFill>
                <a:latin typeface="Calibri"/>
              </a:rPr>
              <a:t>Generates the acoustic features directly, so any voice or style can be produced.</a:t>
            </a:r>
          </a:p>
        </p:txBody>
      </p:sp>
      <p:pic>
        <p:nvPicPr>
          <p:cNvPr id="9" name="Picture 8" descr="f-003.png"/>
          <p:cNvPicPr>
            <a:picLocks noChangeAspect="1"/>
          </p:cNvPicPr>
          <p:nvPr/>
        </p:nvPicPr>
        <p:blipFill>
          <a:blip r:embed="rId2"/>
          <a:stretch>
            <a:fillRect/>
          </a:stretch>
        </p:blipFill>
        <p:spPr>
          <a:xfrm>
            <a:off x="5669280" y="1634271"/>
            <a:ext cx="5879592" cy="3278561"/>
          </a:xfrm>
          <a:prstGeom prst="rect">
            <a:avLst/>
          </a:prstGeom>
        </p:spPr>
      </p:pic>
      <p:sp>
        <p:nvSpPr>
          <p:cNvPr id="10" name="TextBox 9"/>
          <p:cNvSpPr txBox="1"/>
          <p:nvPr/>
        </p:nvSpPr>
        <p:spPr>
          <a:xfrm>
            <a:off x="5669280" y="5047488"/>
            <a:ext cx="5879592" cy="274320"/>
          </a:xfrm>
          <a:prstGeom prst="rect">
            <a:avLst/>
          </a:prstGeom>
          <a:noFill/>
        </p:spPr>
        <p:txBody>
          <a:bodyPr wrap="square" lIns="0" rIns="0" tIns="0" bIns="0" anchor="t">
            <a:spAutoFit/>
          </a:bodyPr>
          <a:lstStyle/>
          <a:p>
            <a:pPr algn="ctr">
              <a:spcBef>
                <a:spcPts val="0"/>
              </a:spcBef>
              <a:spcAft>
                <a:spcPts val="0"/>
              </a:spcAft>
            </a:pPr>
            <a:r>
              <a:rPr sz="1050" b="0" i="0">
                <a:solidFill>
                  <a:srgbClr val="808080"/>
                </a:solidFill>
                <a:latin typeface="Calibri"/>
              </a:rPr>
              <a:t>Image source: Deepgram, “Guide to Voice AI Agents” (2024)</a:t>
            </a:r>
          </a:p>
        </p:txBody>
      </p:sp>
      <p:sp>
        <p:nvSpPr>
          <p:cNvPr id="11" name="TextBox 10"/>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Algorithms Behind Speech AI</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Rounded Rectangle 5"/>
          <p:cNvSpPr/>
          <p:nvPr/>
        </p:nvSpPr>
        <p:spPr>
          <a:xfrm>
            <a:off x="640080" y="1645920"/>
            <a:ext cx="5349240" cy="123444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spcBef>
                <a:spcPts val="0"/>
              </a:spcBef>
              <a:spcAft>
                <a:spcPts val="400"/>
              </a:spcAft>
            </a:pPr>
            <a:r>
              <a:rPr sz="1300" b="1">
                <a:solidFill>
                  <a:srgbClr val="0E2B63"/>
                </a:solidFill>
                <a:latin typeface="Calibri"/>
              </a:rPr>
              <a:t>Hidden Markov Models   </a:t>
            </a:r>
            <a:r>
              <a:rPr sz="1300" b="0">
                <a:solidFill>
                  <a:srgbClr val="595959"/>
                </a:solidFill>
                <a:latin typeface="Calibri"/>
              </a:rPr>
              <a:t>Historical</a:t>
            </a:r>
          </a:p>
          <a:p>
            <a:pPr algn="l">
              <a:lnSpc>
                <a:spcPct val="100000"/>
              </a:lnSpc>
              <a:spcBef>
                <a:spcPts val="0"/>
              </a:spcBef>
              <a:spcAft>
                <a:spcPts val="0"/>
              </a:spcAft>
            </a:pPr>
            <a:r>
              <a:rPr sz="1100" b="0" i="0">
                <a:solidFill>
                  <a:srgbClr val="262626"/>
                </a:solidFill>
                <a:latin typeface="Calibri"/>
              </a:rPr>
              <a:t>Modelled speech as transitions between hidden states (phonemes) linked to acoustic observations. Strong on sequence, weak on complex, high-dimensional data.</a:t>
            </a:r>
          </a:p>
        </p:txBody>
      </p:sp>
      <p:sp>
        <p:nvSpPr>
          <p:cNvPr id="7" name="Rounded Rectangle 6"/>
          <p:cNvSpPr/>
          <p:nvPr/>
        </p:nvSpPr>
        <p:spPr>
          <a:xfrm>
            <a:off x="640080" y="2990088"/>
            <a:ext cx="5349240" cy="123444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spcBef>
                <a:spcPts val="0"/>
              </a:spcBef>
              <a:spcAft>
                <a:spcPts val="400"/>
              </a:spcAft>
            </a:pPr>
            <a:r>
              <a:rPr sz="1300" b="1">
                <a:solidFill>
                  <a:srgbClr val="0E2B63"/>
                </a:solidFill>
                <a:latin typeface="Calibri"/>
              </a:rPr>
              <a:t>Convolutional Neural Networks   </a:t>
            </a:r>
            <a:r>
              <a:rPr sz="1300" b="0">
                <a:solidFill>
                  <a:srgbClr val="595959"/>
                </a:solidFill>
                <a:latin typeface="Calibri"/>
              </a:rPr>
              <a:t>Feature extraction</a:t>
            </a:r>
          </a:p>
          <a:p>
            <a:pPr algn="l">
              <a:lnSpc>
                <a:spcPct val="100000"/>
              </a:lnSpc>
              <a:spcBef>
                <a:spcPts val="0"/>
              </a:spcBef>
              <a:spcAft>
                <a:spcPts val="0"/>
              </a:spcAft>
            </a:pPr>
            <a:r>
              <a:rPr sz="1100" b="0" i="0">
                <a:solidFill>
                  <a:srgbClr val="262626"/>
                </a:solidFill>
                <a:latin typeface="Calibri"/>
              </a:rPr>
              <a:t>Read spectrograms like images and capture spectral and temporal patterns together — a large accuracy gain over statistical models.</a:t>
            </a:r>
          </a:p>
        </p:txBody>
      </p:sp>
      <p:sp>
        <p:nvSpPr>
          <p:cNvPr id="8" name="Rounded Rectangle 7"/>
          <p:cNvSpPr/>
          <p:nvPr/>
        </p:nvSpPr>
        <p:spPr>
          <a:xfrm>
            <a:off x="640080" y="4334256"/>
            <a:ext cx="5349240" cy="123444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spcBef>
                <a:spcPts val="0"/>
              </a:spcBef>
              <a:spcAft>
                <a:spcPts val="400"/>
              </a:spcAft>
            </a:pPr>
            <a:r>
              <a:rPr sz="1300" b="1">
                <a:solidFill>
                  <a:srgbClr val="0E2B63"/>
                </a:solidFill>
                <a:latin typeface="Calibri"/>
              </a:rPr>
              <a:t>Transformers   </a:t>
            </a:r>
            <a:r>
              <a:rPr sz="1300" b="0">
                <a:solidFill>
                  <a:srgbClr val="595959"/>
                </a:solidFill>
                <a:latin typeface="Calibri"/>
              </a:rPr>
              <a:t>Today’s standard</a:t>
            </a:r>
          </a:p>
          <a:p>
            <a:pPr algn="l">
              <a:lnSpc>
                <a:spcPct val="100000"/>
              </a:lnSpc>
              <a:spcBef>
                <a:spcPts val="0"/>
              </a:spcBef>
              <a:spcAft>
                <a:spcPts val="0"/>
              </a:spcAft>
            </a:pPr>
            <a:r>
              <a:rPr sz="1100" b="0" i="0">
                <a:solidFill>
                  <a:srgbClr val="262626"/>
                </a:solidFill>
                <a:latin typeface="Calibri"/>
              </a:rPr>
              <a:t>Self-attention processes the whole sequence at once. The encoder captures the audio, the decoder predicts text; reverse it and you get synthesis.</a:t>
            </a:r>
          </a:p>
        </p:txBody>
      </p:sp>
      <p:pic>
        <p:nvPicPr>
          <p:cNvPr id="9" name="Picture 8" descr="f-005.png"/>
          <p:cNvPicPr>
            <a:picLocks noChangeAspect="1"/>
          </p:cNvPicPr>
          <p:nvPr/>
        </p:nvPicPr>
        <p:blipFill>
          <a:blip r:embed="rId2"/>
          <a:stretch>
            <a:fillRect/>
          </a:stretch>
        </p:blipFill>
        <p:spPr>
          <a:xfrm>
            <a:off x="6359445" y="1645920"/>
            <a:ext cx="5139340" cy="3337560"/>
          </a:xfrm>
          <a:prstGeom prst="rect">
            <a:avLst/>
          </a:prstGeom>
        </p:spPr>
      </p:pic>
      <p:sp>
        <p:nvSpPr>
          <p:cNvPr id="10" name="TextBox 9"/>
          <p:cNvSpPr txBox="1"/>
          <p:nvPr/>
        </p:nvSpPr>
        <p:spPr>
          <a:xfrm>
            <a:off x="6309360" y="5102352"/>
            <a:ext cx="5239512" cy="274320"/>
          </a:xfrm>
          <a:prstGeom prst="rect">
            <a:avLst/>
          </a:prstGeom>
          <a:noFill/>
        </p:spPr>
        <p:txBody>
          <a:bodyPr wrap="square" lIns="0" rIns="0" tIns="0" bIns="0" anchor="t">
            <a:spAutoFit/>
          </a:bodyPr>
          <a:lstStyle/>
          <a:p>
            <a:pPr algn="ctr">
              <a:spcBef>
                <a:spcPts val="0"/>
              </a:spcBef>
              <a:spcAft>
                <a:spcPts val="0"/>
              </a:spcAft>
            </a:pPr>
            <a:r>
              <a:rPr sz="1000" b="0" i="0">
                <a:solidFill>
                  <a:srgbClr val="808080"/>
                </a:solidFill>
                <a:latin typeface="Calibri"/>
              </a:rPr>
              <a:t>Transformer architecture for speech recognition. Image source: Deepgram, “Guide to Voice AI Agents” (2024)</a:t>
            </a:r>
          </a:p>
        </p:txBody>
      </p:sp>
      <p:sp>
        <p:nvSpPr>
          <p:cNvPr id="11" name="TextBox 10"/>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Makes It an Agent: Perceive → Reason → Act</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Rounded Rectangle 5"/>
          <p:cNvSpPr/>
          <p:nvPr/>
        </p:nvSpPr>
        <p:spPr>
          <a:xfrm>
            <a:off x="640080" y="1783080"/>
            <a:ext cx="3438144" cy="19659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500" b="1" i="0">
                <a:solidFill>
                  <a:srgbClr val="0E2B63"/>
                </a:solidFill>
                <a:latin typeface="Calibri"/>
              </a:rPr>
              <a:t>PERCEIVE</a:t>
            </a:r>
          </a:p>
          <a:p>
            <a:pPr algn="l">
              <a:lnSpc>
                <a:spcPct val="100000"/>
              </a:lnSpc>
              <a:spcBef>
                <a:spcPts val="0"/>
              </a:spcBef>
              <a:spcAft>
                <a:spcPts val="600"/>
              </a:spcAft>
            </a:pPr>
            <a:r>
              <a:rPr sz="1150" b="1" i="0">
                <a:solidFill>
                  <a:srgbClr val="164194"/>
                </a:solidFill>
                <a:latin typeface="Calibri"/>
              </a:rPr>
              <a:t>Gather input from the environment</a:t>
            </a:r>
          </a:p>
          <a:p>
            <a:pPr algn="l">
              <a:lnSpc>
                <a:spcPct val="102000"/>
              </a:lnSpc>
              <a:spcBef>
                <a:spcPts val="0"/>
              </a:spcBef>
              <a:spcAft>
                <a:spcPts val="0"/>
              </a:spcAft>
            </a:pPr>
            <a:r>
              <a:rPr sz="1150" b="0" i="0">
                <a:solidFill>
                  <a:srgbClr val="262626"/>
                </a:solidFill>
                <a:latin typeface="Calibri"/>
              </a:rPr>
              <a:t>Audio and text for most agents; multimodal models add images and video. A unimodal LLM only sees text.</a:t>
            </a:r>
          </a:p>
        </p:txBody>
      </p:sp>
      <p:cxnSp>
        <p:nvCxnSpPr>
          <p:cNvPr id="7" name="Connector 6"/>
          <p:cNvCxnSpPr/>
          <p:nvPr/>
        </p:nvCxnSpPr>
        <p:spPr>
          <a:xfrm>
            <a:off x="4105656" y="2761488"/>
            <a:ext cx="201168"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70832" y="1783080"/>
            <a:ext cx="3438144" cy="1965960"/>
          </a:xfrm>
          <a:prstGeom prst="roundRect">
            <a:avLst>
              <a:gd name="adj" fmla="val 7000"/>
            </a:avLst>
          </a:prstGeom>
          <a:solidFill>
            <a:srgbClr val="164194"/>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500" b="1" i="0">
                <a:solidFill>
                  <a:srgbClr val="FFFFFF"/>
                </a:solidFill>
                <a:latin typeface="Calibri"/>
              </a:rPr>
              <a:t>REASON</a:t>
            </a:r>
          </a:p>
          <a:p>
            <a:pPr algn="l">
              <a:lnSpc>
                <a:spcPct val="100000"/>
              </a:lnSpc>
              <a:spcBef>
                <a:spcPts val="0"/>
              </a:spcBef>
              <a:spcAft>
                <a:spcPts val="600"/>
              </a:spcAft>
            </a:pPr>
            <a:r>
              <a:rPr sz="1150" b="1" i="0">
                <a:solidFill>
                  <a:srgbClr val="C9D7F0"/>
                </a:solidFill>
                <a:latin typeface="Calibri"/>
              </a:rPr>
              <a:t>Interpret the input and plan</a:t>
            </a:r>
          </a:p>
          <a:p>
            <a:pPr algn="l">
              <a:lnSpc>
                <a:spcPct val="102000"/>
              </a:lnSpc>
              <a:spcBef>
                <a:spcPts val="0"/>
              </a:spcBef>
              <a:spcAft>
                <a:spcPts val="0"/>
              </a:spcAft>
            </a:pPr>
            <a:r>
              <a:rPr sz="1150" b="0" i="0">
                <a:solidFill>
                  <a:srgbClr val="FFFFFF"/>
                </a:solidFill>
                <a:latin typeface="Calibri"/>
              </a:rPr>
              <a:t>Work out user intent and form a response or an action plan. Chain-of-thought handles multi-step queries.</a:t>
            </a:r>
          </a:p>
        </p:txBody>
      </p:sp>
      <p:cxnSp>
        <p:nvCxnSpPr>
          <p:cNvPr id="9" name="Connector 8"/>
          <p:cNvCxnSpPr/>
          <p:nvPr/>
        </p:nvCxnSpPr>
        <p:spPr>
          <a:xfrm>
            <a:off x="7836408" y="2761488"/>
            <a:ext cx="201167" cy="0"/>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101583" y="1783080"/>
            <a:ext cx="3438144" cy="19659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500" b="1" i="0">
                <a:solidFill>
                  <a:srgbClr val="0E2B63"/>
                </a:solidFill>
                <a:latin typeface="Calibri"/>
              </a:rPr>
              <a:t>ACT</a:t>
            </a:r>
          </a:p>
          <a:p>
            <a:pPr algn="l">
              <a:lnSpc>
                <a:spcPct val="100000"/>
              </a:lnSpc>
              <a:spcBef>
                <a:spcPts val="0"/>
              </a:spcBef>
              <a:spcAft>
                <a:spcPts val="600"/>
              </a:spcAft>
            </a:pPr>
            <a:r>
              <a:rPr sz="1150" b="1" i="0">
                <a:solidFill>
                  <a:srgbClr val="164194"/>
                </a:solidFill>
                <a:latin typeface="Calibri"/>
              </a:rPr>
              <a:t>Answer, or do the task</a:t>
            </a:r>
          </a:p>
          <a:p>
            <a:pPr algn="l">
              <a:lnSpc>
                <a:spcPct val="102000"/>
              </a:lnSpc>
              <a:spcBef>
                <a:spcPts val="0"/>
              </a:spcBef>
              <a:spcAft>
                <a:spcPts val="0"/>
              </a:spcAft>
            </a:pPr>
            <a:r>
              <a:rPr sz="1150" b="0" i="0">
                <a:solidFill>
                  <a:srgbClr val="262626"/>
                </a:solidFill>
                <a:latin typeface="Calibri"/>
              </a:rPr>
              <a:t>Speak the reply, or call a tool — search, calculator, external API, RAG — then loop back until the goal is met.</a:t>
            </a:r>
          </a:p>
        </p:txBody>
      </p:sp>
      <p:cxnSp>
        <p:nvCxnSpPr>
          <p:cNvPr id="11" name="Connector 10"/>
          <p:cNvCxnSpPr/>
          <p:nvPr/>
        </p:nvCxnSpPr>
        <p:spPr>
          <a:xfrm>
            <a:off x="11539728" y="3749039"/>
            <a:ext cx="0" cy="475489"/>
          </a:xfrm>
          <a:prstGeom prst="line">
            <a:avLst/>
          </a:prstGeom>
          <a:ln w="22225">
            <a:solidFill>
              <a:srgbClr val="16419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85800" y="4224528"/>
            <a:ext cx="10853928" cy="0"/>
          </a:xfrm>
          <a:prstGeom prst="line">
            <a:avLst/>
          </a:prstGeom>
          <a:ln w="22225">
            <a:solidFill>
              <a:srgbClr val="16419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85800" y="3776472"/>
            <a:ext cx="0" cy="448056"/>
          </a:xfrm>
          <a:prstGeom prst="line">
            <a:avLst/>
          </a:prstGeom>
          <a:ln w="22225">
            <a:solidFill>
              <a:srgbClr val="16419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279392"/>
            <a:ext cx="3291840" cy="274320"/>
          </a:xfrm>
          <a:prstGeom prst="rect">
            <a:avLst/>
          </a:prstGeom>
          <a:noFill/>
        </p:spPr>
        <p:txBody>
          <a:bodyPr wrap="square" lIns="0" rIns="0" tIns="0" bIns="0" anchor="t">
            <a:spAutoFit/>
          </a:bodyPr>
          <a:lstStyle/>
          <a:p>
            <a:pPr algn="ctr">
              <a:spcBef>
                <a:spcPts val="0"/>
              </a:spcBef>
              <a:spcAft>
                <a:spcPts val="0"/>
              </a:spcAft>
            </a:pPr>
            <a:r>
              <a:rPr sz="1100" b="0" i="1">
                <a:solidFill>
                  <a:srgbClr val="595959"/>
                </a:solidFill>
                <a:latin typeface="Calibri"/>
              </a:rPr>
              <a:t>iterate until the task is done</a:t>
            </a:r>
          </a:p>
        </p:txBody>
      </p:sp>
      <p:sp>
        <p:nvSpPr>
          <p:cNvPr id="15" name="Rounded Rectangle 14"/>
          <p:cNvSpPr/>
          <p:nvPr/>
        </p:nvSpPr>
        <p:spPr>
          <a:xfrm>
            <a:off x="640080" y="4663440"/>
            <a:ext cx="10908792" cy="868680"/>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5000"/>
              </a:lnSpc>
              <a:spcBef>
                <a:spcPts val="0"/>
              </a:spcBef>
              <a:spcAft>
                <a:spcPts val="0"/>
              </a:spcAft>
            </a:pPr>
            <a:r>
              <a:rPr sz="1300" b="1">
                <a:solidFill>
                  <a:srgbClr val="0E2B63"/>
                </a:solidFill>
                <a:latin typeface="Calibri"/>
              </a:rPr>
              <a:t>This is the difference: </a:t>
            </a:r>
            <a:r>
              <a:rPr sz="1300" b="0">
                <a:solidFill>
                  <a:srgbClr val="262626"/>
                </a:solidFill>
                <a:latin typeface="Calibri"/>
              </a:rPr>
              <a:t>a virtual assistant answers one question; an agent plans and executes multi-step work with little human oversight — booking, escalating, updating a record.</a:t>
            </a:r>
          </a:p>
        </p:txBody>
      </p:sp>
      <p:sp>
        <p:nvSpPr>
          <p:cNvPr id="16" name="TextBox 15"/>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Why Voice Agents Are Client–Server</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TextBox 5"/>
          <p:cNvSpPr txBox="1"/>
          <p:nvPr/>
        </p:nvSpPr>
        <p:spPr>
          <a:xfrm>
            <a:off x="640080" y="1645920"/>
            <a:ext cx="4846320" cy="3291840"/>
          </a:xfrm>
          <a:prstGeom prst="rect">
            <a:avLst/>
          </a:prstGeom>
          <a:noFill/>
        </p:spPr>
        <p:txBody>
          <a:bodyPr wrap="square" lIns="0" rIns="0" tIns="0" bIns="0" anchor="t">
            <a:spAutoFit/>
          </a:bodyPr>
          <a:lstStyle/>
          <a:p>
            <a:pPr algn="l">
              <a:lnSpc>
                <a:spcPct val="105000"/>
              </a:lnSpc>
              <a:spcBef>
                <a:spcPts val="0"/>
              </a:spcBef>
              <a:spcAft>
                <a:spcPts val="1000"/>
              </a:spcAft>
            </a:pPr>
            <a:r>
              <a:rPr sz="1350" b="1" i="0">
                <a:solidFill>
                  <a:srgbClr val="0E2B63"/>
                </a:solidFill>
                <a:latin typeface="Calibri"/>
              </a:rPr>
              <a:t>The client captures, the server thinks.</a:t>
            </a:r>
          </a:p>
          <a:p>
            <a:pPr algn="l" marL="192024" indent="-192024">
              <a:lnSpc>
                <a:spcPct val="103000"/>
              </a:lnSpc>
              <a:spcBef>
                <a:spcPts val="0"/>
              </a:spcBef>
              <a:spcAft>
                <a:spcPts val="900"/>
              </a:spcAft>
            </a:pPr>
            <a:r>
              <a:rPr sz="1250" b="0">
                <a:solidFill>
                  <a:srgbClr val="164194"/>
                </a:solidFill>
                <a:latin typeface="Calibri"/>
              </a:rPr>
              <a:t>•   </a:t>
            </a:r>
            <a:r>
              <a:rPr sz="1250" b="0">
                <a:solidFill>
                  <a:srgbClr val="262626"/>
                </a:solidFill>
                <a:latin typeface="Calibri"/>
              </a:rPr>
              <a:t>Clients vary: web browser, phone app, smart speaker, telephone line. Each captures speech and relays it immediately.</a:t>
            </a:r>
          </a:p>
          <a:p>
            <a:pPr algn="l" marL="192024" indent="-192024">
              <a:lnSpc>
                <a:spcPct val="103000"/>
              </a:lnSpc>
              <a:spcBef>
                <a:spcPts val="0"/>
              </a:spcBef>
              <a:spcAft>
                <a:spcPts val="900"/>
              </a:spcAft>
            </a:pPr>
            <a:r>
              <a:rPr sz="1250" b="0">
                <a:solidFill>
                  <a:srgbClr val="164194"/>
                </a:solidFill>
                <a:latin typeface="Calibri"/>
              </a:rPr>
              <a:t>•   </a:t>
            </a:r>
            <a:r>
              <a:rPr sz="1250" b="0">
                <a:solidFill>
                  <a:srgbClr val="262626"/>
                </a:solidFill>
                <a:latin typeface="Calibri"/>
              </a:rPr>
              <a:t>The models are far too heavy to run on the device, so the work moves to the server.</a:t>
            </a:r>
          </a:p>
          <a:p>
            <a:pPr algn="l" marL="192024" indent="-192024">
              <a:lnSpc>
                <a:spcPct val="103000"/>
              </a:lnSpc>
              <a:spcBef>
                <a:spcPts val="0"/>
              </a:spcBef>
              <a:spcAft>
                <a:spcPts val="900"/>
              </a:spcAft>
            </a:pPr>
            <a:r>
              <a:rPr sz="1250" b="0">
                <a:solidFill>
                  <a:srgbClr val="164194"/>
                </a:solidFill>
                <a:latin typeface="Calibri"/>
              </a:rPr>
              <a:t>•   </a:t>
            </a:r>
            <a:r>
              <a:rPr sz="1250" b="0">
                <a:solidFill>
                  <a:srgbClr val="262626"/>
                </a:solidFill>
                <a:latin typeface="Calibri"/>
              </a:rPr>
              <a:t>Clients still handle anything that needs a screen — forms, authentication, confirmations.</a:t>
            </a:r>
          </a:p>
        </p:txBody>
      </p:sp>
      <p:sp>
        <p:nvSpPr>
          <p:cNvPr id="7" name="Rounded Rectangle 6"/>
          <p:cNvSpPr/>
          <p:nvPr/>
        </p:nvSpPr>
        <p:spPr>
          <a:xfrm>
            <a:off x="640080" y="4343400"/>
            <a:ext cx="4846320" cy="1143000"/>
          </a:xfrm>
          <a:prstGeom prst="roundRect">
            <a:avLst>
              <a:gd name="adj" fmla="val 7000"/>
            </a:avLst>
          </a:prstGeom>
          <a:solidFill>
            <a:srgbClr val="FFFFFF"/>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250" b="1" i="0">
                <a:solidFill>
                  <a:srgbClr val="164194"/>
                </a:solidFill>
                <a:latin typeface="Calibri"/>
              </a:rPr>
              <a:t>The link must be full-duplex and real time</a:t>
            </a:r>
          </a:p>
          <a:p>
            <a:pPr algn="l">
              <a:lnSpc>
                <a:spcPct val="100000"/>
              </a:lnSpc>
              <a:spcBef>
                <a:spcPts val="0"/>
              </a:spcBef>
              <a:spcAft>
                <a:spcPts val="0"/>
              </a:spcAft>
            </a:pPr>
            <a:r>
              <a:rPr sz="1100" b="0" i="0">
                <a:solidFill>
                  <a:srgbClr val="262626"/>
                </a:solidFill>
                <a:latin typeface="Calibri"/>
              </a:rPr>
              <a:t>VoIP suits phone-style deployments; WebRTC suits the browser. Client and server must speak the same protocol.</a:t>
            </a:r>
          </a:p>
        </p:txBody>
      </p:sp>
      <p:pic>
        <p:nvPicPr>
          <p:cNvPr id="8" name="Picture 7" descr="f-007.png"/>
          <p:cNvPicPr>
            <a:picLocks noChangeAspect="1"/>
          </p:cNvPicPr>
          <p:nvPr/>
        </p:nvPicPr>
        <p:blipFill>
          <a:blip r:embed="rId2"/>
          <a:stretch>
            <a:fillRect/>
          </a:stretch>
        </p:blipFill>
        <p:spPr>
          <a:xfrm>
            <a:off x="5806440" y="1691640"/>
            <a:ext cx="5742432" cy="2691765"/>
          </a:xfrm>
          <a:prstGeom prst="rect">
            <a:avLst/>
          </a:prstGeom>
        </p:spPr>
      </p:pic>
      <p:sp>
        <p:nvSpPr>
          <p:cNvPr id="9" name="TextBox 8"/>
          <p:cNvSpPr txBox="1"/>
          <p:nvPr/>
        </p:nvSpPr>
        <p:spPr>
          <a:xfrm>
            <a:off x="5806440" y="4617720"/>
            <a:ext cx="5742432" cy="274320"/>
          </a:xfrm>
          <a:prstGeom prst="rect">
            <a:avLst/>
          </a:prstGeom>
          <a:noFill/>
        </p:spPr>
        <p:txBody>
          <a:bodyPr wrap="square" lIns="0" rIns="0" tIns="0" bIns="0" anchor="t">
            <a:spAutoFit/>
          </a:bodyPr>
          <a:lstStyle/>
          <a:p>
            <a:pPr algn="ctr">
              <a:spcBef>
                <a:spcPts val="0"/>
              </a:spcBef>
              <a:spcAft>
                <a:spcPts val="0"/>
              </a:spcAft>
            </a:pPr>
            <a:r>
              <a:rPr sz="1050" b="0" i="0">
                <a:solidFill>
                  <a:srgbClr val="808080"/>
                </a:solidFill>
                <a:latin typeface="Calibri"/>
              </a:rPr>
              <a:t>Image source: Deepgram, “Guide to Voice AI Agents” (2024)</a:t>
            </a:r>
          </a:p>
        </p:txBody>
      </p:sp>
      <p:sp>
        <p:nvSpPr>
          <p:cNvPr id="10" name="TextBox 9"/>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Inside the Server: Three Services</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Rounded Rectangle 5"/>
          <p:cNvSpPr/>
          <p:nvPr/>
        </p:nvSpPr>
        <p:spPr>
          <a:xfrm>
            <a:off x="640080" y="1691640"/>
            <a:ext cx="5212080"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95000"/>
              </a:lnSpc>
              <a:spcBef>
                <a:spcPts val="0"/>
              </a:spcBef>
              <a:spcAft>
                <a:spcPts val="400"/>
              </a:spcAft>
            </a:pPr>
            <a:r>
              <a:rPr sz="1300" b="1" i="0">
                <a:solidFill>
                  <a:srgbClr val="0E2B63"/>
                </a:solidFill>
                <a:latin typeface="Calibri"/>
              </a:rPr>
              <a:t>Transcription Service</a:t>
            </a:r>
          </a:p>
          <a:p>
            <a:pPr algn="l">
              <a:lnSpc>
                <a:spcPct val="100000"/>
              </a:lnSpc>
              <a:spcBef>
                <a:spcPts val="0"/>
              </a:spcBef>
              <a:spcAft>
                <a:spcPts val="0"/>
              </a:spcAft>
            </a:pPr>
            <a:r>
              <a:rPr sz="1150" b="0" i="0">
                <a:solidFill>
                  <a:srgbClr val="262626"/>
                </a:solidFill>
                <a:latin typeface="Calibri"/>
              </a:rPr>
              <a:t>ASR turns the incoming speech into text the system can act on.</a:t>
            </a:r>
          </a:p>
        </p:txBody>
      </p:sp>
      <p:sp>
        <p:nvSpPr>
          <p:cNvPr id="7" name="Rounded Rectangle 6"/>
          <p:cNvSpPr/>
          <p:nvPr/>
        </p:nvSpPr>
        <p:spPr>
          <a:xfrm>
            <a:off x="640080" y="2852928"/>
            <a:ext cx="5212080"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95000"/>
              </a:lnSpc>
              <a:spcBef>
                <a:spcPts val="0"/>
              </a:spcBef>
              <a:spcAft>
                <a:spcPts val="400"/>
              </a:spcAft>
            </a:pPr>
            <a:r>
              <a:rPr sz="1300" b="1" i="0">
                <a:solidFill>
                  <a:srgbClr val="0E2B63"/>
                </a:solidFill>
                <a:latin typeface="Calibri"/>
              </a:rPr>
              <a:t>Model Service</a:t>
            </a:r>
          </a:p>
          <a:p>
            <a:pPr algn="l">
              <a:lnSpc>
                <a:spcPct val="100000"/>
              </a:lnSpc>
              <a:spcBef>
                <a:spcPts val="0"/>
              </a:spcBef>
              <a:spcAft>
                <a:spcPts val="0"/>
              </a:spcAft>
            </a:pPr>
            <a:r>
              <a:rPr sz="1150" b="0" i="0">
                <a:solidFill>
                  <a:srgbClr val="262626"/>
                </a:solidFill>
                <a:latin typeface="Calibri"/>
              </a:rPr>
              <a:t>The LLM or multimodal model — the cognitive engine that understands the request, plans and decides.</a:t>
            </a:r>
          </a:p>
        </p:txBody>
      </p:sp>
      <p:sp>
        <p:nvSpPr>
          <p:cNvPr id="8" name="Rounded Rectangle 7"/>
          <p:cNvSpPr/>
          <p:nvPr/>
        </p:nvSpPr>
        <p:spPr>
          <a:xfrm>
            <a:off x="640080" y="4014216"/>
            <a:ext cx="5212080" cy="105156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95000"/>
              </a:lnSpc>
              <a:spcBef>
                <a:spcPts val="0"/>
              </a:spcBef>
              <a:spcAft>
                <a:spcPts val="400"/>
              </a:spcAft>
            </a:pPr>
            <a:r>
              <a:rPr sz="1300" b="1" i="0">
                <a:solidFill>
                  <a:srgbClr val="0E2B63"/>
                </a:solidFill>
                <a:latin typeface="Calibri"/>
              </a:rPr>
              <a:t>Voice Service</a:t>
            </a:r>
          </a:p>
          <a:p>
            <a:pPr algn="l">
              <a:lnSpc>
                <a:spcPct val="100000"/>
              </a:lnSpc>
              <a:spcBef>
                <a:spcPts val="0"/>
              </a:spcBef>
              <a:spcAft>
                <a:spcPts val="0"/>
              </a:spcAft>
            </a:pPr>
            <a:r>
              <a:rPr sz="1150" b="0" i="0">
                <a:solidFill>
                  <a:srgbClr val="262626"/>
                </a:solidFill>
                <a:latin typeface="Calibri"/>
              </a:rPr>
              <a:t>TTS turns the textual answer back into speech for the user to hear.</a:t>
            </a:r>
          </a:p>
        </p:txBody>
      </p:sp>
      <p:sp>
        <p:nvSpPr>
          <p:cNvPr id="9" name="Rounded Rectangle 8"/>
          <p:cNvSpPr/>
          <p:nvPr/>
        </p:nvSpPr>
        <p:spPr>
          <a:xfrm>
            <a:off x="640080" y="5257800"/>
            <a:ext cx="5212080" cy="54864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0000"/>
              </a:lnSpc>
              <a:spcBef>
                <a:spcPts val="0"/>
              </a:spcBef>
              <a:spcAft>
                <a:spcPts val="0"/>
              </a:spcAft>
            </a:pPr>
            <a:r>
              <a:rPr sz="1150" b="0" i="0">
                <a:solidFill>
                  <a:srgbClr val="595959"/>
                </a:solidFill>
                <a:latin typeface="Calibri"/>
              </a:rPr>
              <a:t>Behind them sit databases for user data and GPUs for the heavy models.</a:t>
            </a:r>
          </a:p>
        </p:txBody>
      </p:sp>
      <p:pic>
        <p:nvPicPr>
          <p:cNvPr id="10" name="Picture 9" descr="f-008.png"/>
          <p:cNvPicPr>
            <a:picLocks noChangeAspect="1"/>
          </p:cNvPicPr>
          <p:nvPr/>
        </p:nvPicPr>
        <p:blipFill>
          <a:blip r:embed="rId2"/>
          <a:stretch>
            <a:fillRect/>
          </a:stretch>
        </p:blipFill>
        <p:spPr>
          <a:xfrm>
            <a:off x="6080960" y="1691640"/>
            <a:ext cx="5467711" cy="2926080"/>
          </a:xfrm>
          <a:prstGeom prst="rect">
            <a:avLst/>
          </a:prstGeom>
        </p:spPr>
      </p:pic>
      <p:sp>
        <p:nvSpPr>
          <p:cNvPr id="11" name="TextBox 10"/>
          <p:cNvSpPr txBox="1"/>
          <p:nvPr/>
        </p:nvSpPr>
        <p:spPr>
          <a:xfrm>
            <a:off x="6080760" y="4709160"/>
            <a:ext cx="5468112" cy="274320"/>
          </a:xfrm>
          <a:prstGeom prst="rect">
            <a:avLst/>
          </a:prstGeom>
          <a:noFill/>
        </p:spPr>
        <p:txBody>
          <a:bodyPr wrap="square" lIns="0" rIns="0" tIns="0" bIns="0" anchor="t">
            <a:spAutoFit/>
          </a:bodyPr>
          <a:lstStyle/>
          <a:p>
            <a:pPr algn="ctr">
              <a:spcBef>
                <a:spcPts val="0"/>
              </a:spcBef>
              <a:spcAft>
                <a:spcPts val="0"/>
              </a:spcAft>
            </a:pPr>
            <a:r>
              <a:rPr sz="1050" b="0" i="0">
                <a:solidFill>
                  <a:srgbClr val="808080"/>
                </a:solidFill>
                <a:latin typeface="Calibri"/>
              </a:rPr>
              <a:t>Image source: Deepgram, “Guide to Voice AI Agents” (2024)</a:t>
            </a:r>
          </a:p>
        </p:txBody>
      </p:sp>
      <p:sp>
        <p:nvSpPr>
          <p:cNvPr id="12" name="TextBox 11"/>
          <p:cNvSpPr txBox="1"/>
          <p:nvPr/>
        </p:nvSpPr>
        <p:spPr>
          <a:xfrm>
            <a:off x="640080" y="59893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Measuring a Voice Agent: Objective Metrics</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Rounded Rectangle 5"/>
          <p:cNvSpPr/>
          <p:nvPr/>
        </p:nvSpPr>
        <p:spPr>
          <a:xfrm>
            <a:off x="640080" y="1691640"/>
            <a:ext cx="5349240" cy="228600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600"/>
              </a:spcAft>
            </a:pPr>
            <a:r>
              <a:rPr sz="1400" b="1" i="0">
                <a:solidFill>
                  <a:srgbClr val="0E2B63"/>
                </a:solidFill>
                <a:latin typeface="Calibri"/>
              </a:rPr>
              <a:t>Word Error Rate (WER)</a:t>
            </a:r>
          </a:p>
          <a:p>
            <a:pPr algn="l">
              <a:lnSpc>
                <a:spcPct val="100000"/>
              </a:lnSpc>
              <a:spcBef>
                <a:spcPts val="0"/>
              </a:spcBef>
              <a:spcAft>
                <a:spcPts val="800"/>
              </a:spcAft>
            </a:pPr>
            <a:r>
              <a:rPr sz="1150" b="0" i="0">
                <a:solidFill>
                  <a:srgbClr val="262626"/>
                </a:solidFill>
                <a:latin typeface="Calibri"/>
              </a:rPr>
              <a:t>How closely the transcript matches what was actually said — the core accuracy measure for ASR.</a:t>
            </a:r>
          </a:p>
        </p:txBody>
      </p:sp>
      <p:sp>
        <p:nvSpPr>
          <p:cNvPr id="7" name="Rounded Rectangle 6"/>
          <p:cNvSpPr/>
          <p:nvPr/>
        </p:nvSpPr>
        <p:spPr>
          <a:xfrm>
            <a:off x="960120" y="2788920"/>
            <a:ext cx="4709160" cy="640080"/>
          </a:xfrm>
          <a:prstGeom prst="roundRect">
            <a:avLst>
              <a:gd name="adj" fmla="val 7000"/>
            </a:avLst>
          </a:prstGeom>
          <a:solidFill>
            <a:srgbClr val="FFFFFF"/>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ctr">
              <a:spcBef>
                <a:spcPts val="0"/>
              </a:spcBef>
              <a:spcAft>
                <a:spcPts val="0"/>
              </a:spcAft>
            </a:pPr>
            <a:r>
              <a:rPr sz="1250" b="1" i="0">
                <a:solidFill>
                  <a:srgbClr val="164194"/>
                </a:solidFill>
                <a:latin typeface="Calibri"/>
              </a:rPr>
              <a:t>WER = (Substitutions + Insertions + Deletions) ÷ Total words</a:t>
            </a:r>
          </a:p>
        </p:txBody>
      </p:sp>
      <p:sp>
        <p:nvSpPr>
          <p:cNvPr id="8" name="TextBox 7"/>
          <p:cNvSpPr txBox="1"/>
          <p:nvPr/>
        </p:nvSpPr>
        <p:spPr>
          <a:xfrm>
            <a:off x="960120" y="3520440"/>
            <a:ext cx="4709160" cy="365760"/>
          </a:xfrm>
          <a:prstGeom prst="rect">
            <a:avLst/>
          </a:prstGeom>
          <a:noFill/>
        </p:spPr>
        <p:txBody>
          <a:bodyPr wrap="square" lIns="0" rIns="0" tIns="0" bIns="0" anchor="t">
            <a:spAutoFit/>
          </a:bodyPr>
          <a:lstStyle/>
          <a:p>
            <a:pPr algn="l">
              <a:spcBef>
                <a:spcPts val="0"/>
              </a:spcBef>
              <a:spcAft>
                <a:spcPts val="0"/>
              </a:spcAft>
            </a:pPr>
            <a:r>
              <a:rPr sz="1100" b="0" i="0">
                <a:solidFill>
                  <a:srgbClr val="595959"/>
                </a:solidFill>
                <a:latin typeface="Calibri"/>
              </a:rPr>
              <a:t>Variants: Sentence Error Rate (SER) and Character Error Rate (CER).</a:t>
            </a:r>
          </a:p>
        </p:txBody>
      </p:sp>
      <p:sp>
        <p:nvSpPr>
          <p:cNvPr id="9" name="Rounded Rectangle 8"/>
          <p:cNvSpPr/>
          <p:nvPr/>
        </p:nvSpPr>
        <p:spPr>
          <a:xfrm>
            <a:off x="6199632" y="1691640"/>
            <a:ext cx="5349240" cy="1051560"/>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400" b="1" i="0">
                <a:solidFill>
                  <a:srgbClr val="0E2B63"/>
                </a:solidFill>
                <a:latin typeface="Calibri"/>
              </a:rPr>
              <a:t>Real-Time Factor (RTF)</a:t>
            </a:r>
          </a:p>
          <a:p>
            <a:pPr algn="l">
              <a:lnSpc>
                <a:spcPct val="100000"/>
              </a:lnSpc>
              <a:spcBef>
                <a:spcPts val="0"/>
              </a:spcBef>
              <a:spcAft>
                <a:spcPts val="0"/>
              </a:spcAft>
            </a:pPr>
            <a:r>
              <a:rPr sz="1150" b="0">
                <a:solidFill>
                  <a:srgbClr val="262626"/>
                </a:solidFill>
                <a:latin typeface="Calibri"/>
              </a:rPr>
              <a:t>Processing time ÷ audio duration. </a:t>
            </a:r>
            <a:r>
              <a:rPr sz="1150" b="1">
                <a:solidFill>
                  <a:srgbClr val="164194"/>
                </a:solidFill>
                <a:latin typeface="Calibri"/>
              </a:rPr>
              <a:t>RTF below 1.0 means the system keeps up with live speech</a:t>
            </a:r>
            <a:r>
              <a:rPr sz="1150" b="0">
                <a:solidFill>
                  <a:srgbClr val="262626"/>
                </a:solidFill>
                <a:latin typeface="Calibri"/>
              </a:rPr>
              <a:t> — essential for conversation.</a:t>
            </a:r>
          </a:p>
        </p:txBody>
      </p:sp>
      <p:sp>
        <p:nvSpPr>
          <p:cNvPr id="10" name="Rounded Rectangle 9"/>
          <p:cNvSpPr/>
          <p:nvPr/>
        </p:nvSpPr>
        <p:spPr>
          <a:xfrm>
            <a:off x="6199632" y="2926080"/>
            <a:ext cx="5349240" cy="1051560"/>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400" b="1" i="0">
                <a:solidFill>
                  <a:srgbClr val="0E2B63"/>
                </a:solidFill>
                <a:latin typeface="Calibri"/>
              </a:rPr>
              <a:t>Mel-Cepstral Distortion (MCD)</a:t>
            </a:r>
          </a:p>
          <a:p>
            <a:pPr algn="l">
              <a:lnSpc>
                <a:spcPct val="100000"/>
              </a:lnSpc>
              <a:spcBef>
                <a:spcPts val="0"/>
              </a:spcBef>
              <a:spcAft>
                <a:spcPts val="0"/>
              </a:spcAft>
            </a:pPr>
            <a:r>
              <a:rPr sz="1150" b="0" i="0">
                <a:solidFill>
                  <a:srgbClr val="262626"/>
                </a:solidFill>
                <a:latin typeface="Calibri"/>
              </a:rPr>
              <a:t>Compares the spectral properties of synthesised speech against real speech — an objective stand-in for “does it sound right?”.</a:t>
            </a:r>
          </a:p>
        </p:txBody>
      </p:sp>
      <p:sp>
        <p:nvSpPr>
          <p:cNvPr id="11" name="Rounded Rectangle 10"/>
          <p:cNvSpPr/>
          <p:nvPr/>
        </p:nvSpPr>
        <p:spPr>
          <a:xfrm>
            <a:off x="640080" y="4251960"/>
            <a:ext cx="10908792" cy="77724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0000"/>
              </a:lnSpc>
              <a:spcBef>
                <a:spcPts val="0"/>
              </a:spcBef>
              <a:spcAft>
                <a:spcPts val="0"/>
              </a:spcAft>
            </a:pPr>
            <a:r>
              <a:rPr sz="1250" b="1">
                <a:solidFill>
                  <a:srgbClr val="0E2B63"/>
                </a:solidFill>
                <a:latin typeface="Calibri"/>
              </a:rPr>
              <a:t>Measure the stack, not just the model: </a:t>
            </a:r>
            <a:r>
              <a:rPr sz="1250" b="0">
                <a:solidFill>
                  <a:srgbClr val="262626"/>
                </a:solidFill>
                <a:latin typeface="Calibri"/>
              </a:rPr>
              <a:t>WER for the ears, RTF for the clock, MCD for the voice — plus the voice-to-voice latency budget from earlier in this lecture.</a:t>
            </a:r>
          </a:p>
        </p:txBody>
      </p:sp>
      <p:sp>
        <p:nvSpPr>
          <p:cNvPr id="12" name="TextBox 11"/>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Subjective Metrics and Benchmarks</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Rounded Rectangle 5"/>
          <p:cNvSpPr/>
          <p:nvPr/>
        </p:nvSpPr>
        <p:spPr>
          <a:xfrm>
            <a:off x="640080" y="1645920"/>
            <a:ext cx="3438144" cy="137160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Naturalness</a:t>
            </a:r>
          </a:p>
          <a:p>
            <a:pPr algn="l">
              <a:lnSpc>
                <a:spcPct val="100000"/>
              </a:lnSpc>
              <a:spcBef>
                <a:spcPts val="0"/>
              </a:spcBef>
              <a:spcAft>
                <a:spcPts val="0"/>
              </a:spcAft>
            </a:pPr>
            <a:r>
              <a:rPr sz="1100" b="0" i="0">
                <a:solidFill>
                  <a:srgbClr val="262626"/>
                </a:solidFill>
                <a:latin typeface="Calibri"/>
              </a:rPr>
              <a:t>Listener ratings of how human and how intelligible the output sounds. Standardised listening tests with diverse participants reduce bias.</a:t>
            </a:r>
          </a:p>
        </p:txBody>
      </p:sp>
      <p:sp>
        <p:nvSpPr>
          <p:cNvPr id="7" name="Rounded Rectangle 6"/>
          <p:cNvSpPr/>
          <p:nvPr/>
        </p:nvSpPr>
        <p:spPr>
          <a:xfrm>
            <a:off x="4370832" y="1645920"/>
            <a:ext cx="3438144" cy="137160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Mean Opinion Score</a:t>
            </a:r>
          </a:p>
          <a:p>
            <a:pPr algn="l">
              <a:lnSpc>
                <a:spcPct val="100000"/>
              </a:lnSpc>
              <a:spcBef>
                <a:spcPts val="0"/>
              </a:spcBef>
              <a:spcAft>
                <a:spcPts val="0"/>
              </a:spcAft>
            </a:pPr>
            <a:r>
              <a:rPr sz="1100" b="0" i="0">
                <a:solidFill>
                  <a:srgbClr val="262626"/>
                </a:solidFill>
                <a:latin typeface="Calibri"/>
              </a:rPr>
              <a:t>Listeners rate a TTS sample from 1 (poor) to 5 (excellent); the average is the MOS.</a:t>
            </a:r>
          </a:p>
        </p:txBody>
      </p:sp>
      <p:sp>
        <p:nvSpPr>
          <p:cNvPr id="8" name="Rounded Rectangle 7"/>
          <p:cNvSpPr/>
          <p:nvPr/>
        </p:nvSpPr>
        <p:spPr>
          <a:xfrm>
            <a:off x="8101583" y="1645920"/>
            <a:ext cx="3438144" cy="137160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Human evaluation</a:t>
            </a:r>
          </a:p>
          <a:p>
            <a:pPr algn="l">
              <a:lnSpc>
                <a:spcPct val="100000"/>
              </a:lnSpc>
              <a:spcBef>
                <a:spcPts val="0"/>
              </a:spcBef>
              <a:spcAft>
                <a:spcPts val="0"/>
              </a:spcAft>
            </a:pPr>
            <a:r>
              <a:rPr sz="1100" b="0" i="0">
                <a:solidFill>
                  <a:srgbClr val="262626"/>
                </a:solidFill>
                <a:latin typeface="Calibri"/>
              </a:rPr>
              <a:t>Task completion rate and feedback quality — the closest thing to “was the agent actually useful?”</a:t>
            </a:r>
          </a:p>
        </p:txBody>
      </p:sp>
      <p:sp>
        <p:nvSpPr>
          <p:cNvPr id="9" name="TextBox 8"/>
          <p:cNvSpPr txBox="1"/>
          <p:nvPr/>
        </p:nvSpPr>
        <p:spPr>
          <a:xfrm>
            <a:off x="4370832" y="3246120"/>
            <a:ext cx="3438144" cy="274320"/>
          </a:xfrm>
          <a:prstGeom prst="rect">
            <a:avLst/>
          </a:prstGeom>
          <a:noFill/>
        </p:spPr>
        <p:txBody>
          <a:bodyPr wrap="square" lIns="0" rIns="0" tIns="0" bIns="0" anchor="t">
            <a:spAutoFit/>
          </a:bodyPr>
          <a:lstStyle/>
          <a:p>
            <a:pPr algn="l">
              <a:spcBef>
                <a:spcPts val="0"/>
              </a:spcBef>
              <a:spcAft>
                <a:spcPts val="0"/>
              </a:spcAft>
            </a:pPr>
            <a:r>
              <a:rPr sz="1100" b="1" i="0">
                <a:solidFill>
                  <a:srgbClr val="595959"/>
                </a:solidFill>
                <a:latin typeface="Calibri"/>
              </a:rPr>
              <a:t>MOS scale</a:t>
            </a:r>
          </a:p>
        </p:txBody>
      </p:sp>
      <p:sp>
        <p:nvSpPr>
          <p:cNvPr id="10" name="Rounded Rectangle 9"/>
          <p:cNvSpPr/>
          <p:nvPr/>
        </p:nvSpPr>
        <p:spPr>
          <a:xfrm>
            <a:off x="4370832" y="3520440"/>
            <a:ext cx="566928" cy="384048"/>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82296" bIns="82296"/>
          <a:lstStyle/>
          <a:p>
            <a:pPr algn="ctr">
              <a:spcBef>
                <a:spcPts val="0"/>
              </a:spcBef>
              <a:spcAft>
                <a:spcPts val="0"/>
              </a:spcAft>
            </a:pPr>
            <a:r>
              <a:rPr sz="1200" b="1" i="0">
                <a:solidFill>
                  <a:srgbClr val="0E2B63"/>
                </a:solidFill>
                <a:latin typeface="Calibri"/>
              </a:rPr>
              <a:t>1</a:t>
            </a:r>
          </a:p>
        </p:txBody>
      </p:sp>
      <p:sp>
        <p:nvSpPr>
          <p:cNvPr id="11" name="Rounded Rectangle 10"/>
          <p:cNvSpPr/>
          <p:nvPr/>
        </p:nvSpPr>
        <p:spPr>
          <a:xfrm>
            <a:off x="5065776" y="3520440"/>
            <a:ext cx="566928" cy="384048"/>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82296" bIns="82296"/>
          <a:lstStyle/>
          <a:p>
            <a:pPr algn="ctr">
              <a:spcBef>
                <a:spcPts val="0"/>
              </a:spcBef>
              <a:spcAft>
                <a:spcPts val="0"/>
              </a:spcAft>
            </a:pPr>
            <a:r>
              <a:rPr sz="1200" b="1" i="0">
                <a:solidFill>
                  <a:srgbClr val="0E2B63"/>
                </a:solidFill>
                <a:latin typeface="Calibri"/>
              </a:rPr>
              <a:t>2</a:t>
            </a:r>
          </a:p>
        </p:txBody>
      </p:sp>
      <p:sp>
        <p:nvSpPr>
          <p:cNvPr id="12" name="Rounded Rectangle 11"/>
          <p:cNvSpPr/>
          <p:nvPr/>
        </p:nvSpPr>
        <p:spPr>
          <a:xfrm>
            <a:off x="5760720" y="3520440"/>
            <a:ext cx="566928" cy="384048"/>
          </a:xfrm>
          <a:prstGeom prst="roundRect">
            <a:avLst>
              <a:gd name="adj" fmla="val 7000"/>
            </a:avLst>
          </a:prstGeom>
          <a:solidFill>
            <a:srgbClr val="F4F6FA"/>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82296" bIns="82296"/>
          <a:lstStyle/>
          <a:p>
            <a:pPr algn="ctr">
              <a:spcBef>
                <a:spcPts val="0"/>
              </a:spcBef>
              <a:spcAft>
                <a:spcPts val="0"/>
              </a:spcAft>
            </a:pPr>
            <a:r>
              <a:rPr sz="1200" b="1" i="0">
                <a:solidFill>
                  <a:srgbClr val="0E2B63"/>
                </a:solidFill>
                <a:latin typeface="Calibri"/>
              </a:rPr>
              <a:t>3</a:t>
            </a:r>
          </a:p>
        </p:txBody>
      </p:sp>
      <p:sp>
        <p:nvSpPr>
          <p:cNvPr id="13" name="Rounded Rectangle 12"/>
          <p:cNvSpPr/>
          <p:nvPr/>
        </p:nvSpPr>
        <p:spPr>
          <a:xfrm>
            <a:off x="6455664" y="3520440"/>
            <a:ext cx="566928" cy="384048"/>
          </a:xfrm>
          <a:prstGeom prst="roundRect">
            <a:avLst>
              <a:gd name="adj" fmla="val 7000"/>
            </a:avLst>
          </a:prstGeom>
          <a:solidFill>
            <a:srgbClr val="164194"/>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82296" bIns="82296"/>
          <a:lstStyle/>
          <a:p>
            <a:pPr algn="ctr">
              <a:spcBef>
                <a:spcPts val="0"/>
              </a:spcBef>
              <a:spcAft>
                <a:spcPts val="0"/>
              </a:spcAft>
            </a:pPr>
            <a:r>
              <a:rPr sz="1200" b="1" i="0">
                <a:solidFill>
                  <a:srgbClr val="FFFFFF"/>
                </a:solidFill>
                <a:latin typeface="Calibri"/>
              </a:rPr>
              <a:t>4</a:t>
            </a:r>
          </a:p>
        </p:txBody>
      </p:sp>
      <p:sp>
        <p:nvSpPr>
          <p:cNvPr id="14" name="Rounded Rectangle 13"/>
          <p:cNvSpPr/>
          <p:nvPr/>
        </p:nvSpPr>
        <p:spPr>
          <a:xfrm>
            <a:off x="7150607" y="3520440"/>
            <a:ext cx="566928" cy="384048"/>
          </a:xfrm>
          <a:prstGeom prst="roundRect">
            <a:avLst>
              <a:gd name="adj" fmla="val 7000"/>
            </a:avLst>
          </a:prstGeom>
          <a:solidFill>
            <a:srgbClr val="164194"/>
          </a:solidFill>
          <a:ln w="12700">
            <a:solidFill>
              <a:srgbClr val="164194"/>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82296" bIns="82296"/>
          <a:lstStyle/>
          <a:p>
            <a:pPr algn="ctr">
              <a:spcBef>
                <a:spcPts val="0"/>
              </a:spcBef>
              <a:spcAft>
                <a:spcPts val="0"/>
              </a:spcAft>
            </a:pPr>
            <a:r>
              <a:rPr sz="1200" b="1" i="0">
                <a:solidFill>
                  <a:srgbClr val="FFFFFF"/>
                </a:solidFill>
                <a:latin typeface="Calibri"/>
              </a:rPr>
              <a:t>5</a:t>
            </a:r>
          </a:p>
        </p:txBody>
      </p:sp>
      <p:sp>
        <p:nvSpPr>
          <p:cNvPr id="15" name="TextBox 14"/>
          <p:cNvSpPr txBox="1"/>
          <p:nvPr/>
        </p:nvSpPr>
        <p:spPr>
          <a:xfrm>
            <a:off x="640080" y="4160520"/>
            <a:ext cx="10908792" cy="274320"/>
          </a:xfrm>
          <a:prstGeom prst="rect">
            <a:avLst/>
          </a:prstGeom>
          <a:noFill/>
        </p:spPr>
        <p:txBody>
          <a:bodyPr wrap="square" lIns="0" rIns="0" tIns="0" bIns="0" anchor="t">
            <a:spAutoFit/>
          </a:bodyPr>
          <a:lstStyle/>
          <a:p>
            <a:pPr algn="l">
              <a:spcBef>
                <a:spcPts val="0"/>
              </a:spcBef>
              <a:spcAft>
                <a:spcPts val="0"/>
              </a:spcAft>
            </a:pPr>
            <a:r>
              <a:rPr sz="1300" b="1" i="0">
                <a:solidFill>
                  <a:srgbClr val="0E2B63"/>
                </a:solidFill>
                <a:latin typeface="Calibri"/>
              </a:rPr>
              <a:t>Benchmarks used to compare systems</a:t>
            </a:r>
          </a:p>
        </p:txBody>
      </p:sp>
      <p:sp>
        <p:nvSpPr>
          <p:cNvPr id="16" name="Rounded Rectangle 15"/>
          <p:cNvSpPr/>
          <p:nvPr/>
        </p:nvSpPr>
        <p:spPr>
          <a:xfrm>
            <a:off x="640080" y="4526280"/>
            <a:ext cx="1984248" cy="105156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ctr">
              <a:lnSpc>
                <a:spcPct val="95000"/>
              </a:lnSpc>
              <a:spcBef>
                <a:spcPts val="0"/>
              </a:spcBef>
              <a:spcAft>
                <a:spcPts val="400"/>
              </a:spcAft>
            </a:pPr>
            <a:r>
              <a:rPr sz="1250" b="1" i="0">
                <a:solidFill>
                  <a:srgbClr val="164194"/>
                </a:solidFill>
                <a:latin typeface="Calibri"/>
              </a:rPr>
              <a:t>GLUE</a:t>
            </a:r>
          </a:p>
          <a:p>
            <a:pPr algn="ctr">
              <a:lnSpc>
                <a:spcPct val="95000"/>
              </a:lnSpc>
              <a:spcBef>
                <a:spcPts val="0"/>
              </a:spcBef>
              <a:spcAft>
                <a:spcPts val="0"/>
              </a:spcAft>
            </a:pPr>
            <a:r>
              <a:rPr sz="1000" b="0" i="0">
                <a:solidFill>
                  <a:srgbClr val="595959"/>
                </a:solidFill>
                <a:latin typeface="Calibri"/>
              </a:rPr>
              <a:t>General language understanding of the LLM behind the agent</a:t>
            </a:r>
          </a:p>
        </p:txBody>
      </p:sp>
      <p:sp>
        <p:nvSpPr>
          <p:cNvPr id="17" name="Rounded Rectangle 16"/>
          <p:cNvSpPr/>
          <p:nvPr/>
        </p:nvSpPr>
        <p:spPr>
          <a:xfrm>
            <a:off x="2871215" y="4526280"/>
            <a:ext cx="1984248" cy="105156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ctr">
              <a:lnSpc>
                <a:spcPct val="95000"/>
              </a:lnSpc>
              <a:spcBef>
                <a:spcPts val="0"/>
              </a:spcBef>
              <a:spcAft>
                <a:spcPts val="400"/>
              </a:spcAft>
            </a:pPr>
            <a:r>
              <a:rPr sz="1250" b="1" i="0">
                <a:solidFill>
                  <a:srgbClr val="164194"/>
                </a:solidFill>
                <a:latin typeface="Calibri"/>
              </a:rPr>
              <a:t>ASR-GLUE</a:t>
            </a:r>
          </a:p>
          <a:p>
            <a:pPr algn="ctr">
              <a:lnSpc>
                <a:spcPct val="95000"/>
              </a:lnSpc>
              <a:spcBef>
                <a:spcPts val="0"/>
              </a:spcBef>
              <a:spcAft>
                <a:spcPts val="0"/>
              </a:spcAft>
            </a:pPr>
            <a:r>
              <a:rPr sz="1000" b="0" i="0">
                <a:solidFill>
                  <a:srgbClr val="595959"/>
                </a:solidFill>
                <a:latin typeface="Calibri"/>
              </a:rPr>
              <a:t>Speech tasks: translation, emotion recognition and more</a:t>
            </a:r>
          </a:p>
        </p:txBody>
      </p:sp>
      <p:sp>
        <p:nvSpPr>
          <p:cNvPr id="18" name="Rounded Rectangle 17"/>
          <p:cNvSpPr/>
          <p:nvPr/>
        </p:nvSpPr>
        <p:spPr>
          <a:xfrm>
            <a:off x="5102352" y="4526280"/>
            <a:ext cx="1984248" cy="105156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ctr">
              <a:lnSpc>
                <a:spcPct val="95000"/>
              </a:lnSpc>
              <a:spcBef>
                <a:spcPts val="0"/>
              </a:spcBef>
              <a:spcAft>
                <a:spcPts val="400"/>
              </a:spcAft>
            </a:pPr>
            <a:r>
              <a:rPr sz="1250" b="1" i="0">
                <a:solidFill>
                  <a:srgbClr val="164194"/>
                </a:solidFill>
                <a:latin typeface="Calibri"/>
              </a:rPr>
              <a:t>AgentBench</a:t>
            </a:r>
          </a:p>
          <a:p>
            <a:pPr algn="ctr">
              <a:lnSpc>
                <a:spcPct val="95000"/>
              </a:lnSpc>
              <a:spcBef>
                <a:spcPts val="0"/>
              </a:spcBef>
              <a:spcAft>
                <a:spcPts val="0"/>
              </a:spcAft>
            </a:pPr>
            <a:r>
              <a:rPr sz="1000" b="0" i="0">
                <a:solidFill>
                  <a:srgbClr val="595959"/>
                </a:solidFill>
                <a:latin typeface="Calibri"/>
              </a:rPr>
              <a:t>Eight environments testing reasoning and decision-making</a:t>
            </a:r>
          </a:p>
        </p:txBody>
      </p:sp>
      <p:sp>
        <p:nvSpPr>
          <p:cNvPr id="19" name="Rounded Rectangle 18"/>
          <p:cNvSpPr/>
          <p:nvPr/>
        </p:nvSpPr>
        <p:spPr>
          <a:xfrm>
            <a:off x="7333488" y="4526280"/>
            <a:ext cx="1984248" cy="105156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ctr">
              <a:lnSpc>
                <a:spcPct val="95000"/>
              </a:lnSpc>
              <a:spcBef>
                <a:spcPts val="0"/>
              </a:spcBef>
              <a:spcAft>
                <a:spcPts val="400"/>
              </a:spcAft>
            </a:pPr>
            <a:r>
              <a:rPr sz="1250" b="1" i="0">
                <a:solidFill>
                  <a:srgbClr val="164194"/>
                </a:solidFill>
                <a:latin typeface="Calibri"/>
              </a:rPr>
              <a:t>OmniACT</a:t>
            </a:r>
          </a:p>
          <a:p>
            <a:pPr algn="ctr">
              <a:lnSpc>
                <a:spcPct val="95000"/>
              </a:lnSpc>
              <a:spcBef>
                <a:spcPts val="0"/>
              </a:spcBef>
              <a:spcAft>
                <a:spcPts val="0"/>
              </a:spcAft>
            </a:pPr>
            <a:r>
              <a:rPr sz="1000" b="0" i="0">
                <a:solidFill>
                  <a:srgbClr val="595959"/>
                </a:solidFill>
                <a:latin typeface="Calibri"/>
              </a:rPr>
              <a:t>Agent performance on digital, on-screen tasks</a:t>
            </a:r>
          </a:p>
        </p:txBody>
      </p:sp>
      <p:sp>
        <p:nvSpPr>
          <p:cNvPr id="20" name="Rounded Rectangle 19"/>
          <p:cNvSpPr/>
          <p:nvPr/>
        </p:nvSpPr>
        <p:spPr>
          <a:xfrm>
            <a:off x="9564624" y="4526280"/>
            <a:ext cx="1984248" cy="1051560"/>
          </a:xfrm>
          <a:prstGeom prst="roundRect">
            <a:avLst>
              <a:gd name="adj" fmla="val 7000"/>
            </a:avLst>
          </a:prstGeom>
          <a:solidFill>
            <a:srgbClr val="FFFFFF"/>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ctr">
              <a:lnSpc>
                <a:spcPct val="95000"/>
              </a:lnSpc>
              <a:spcBef>
                <a:spcPts val="0"/>
              </a:spcBef>
              <a:spcAft>
                <a:spcPts val="400"/>
              </a:spcAft>
            </a:pPr>
            <a:r>
              <a:rPr sz="1250" b="1" i="0">
                <a:solidFill>
                  <a:srgbClr val="164194"/>
                </a:solidFill>
                <a:latin typeface="Calibri"/>
              </a:rPr>
              <a:t>LJSpeech</a:t>
            </a:r>
          </a:p>
          <a:p>
            <a:pPr algn="ctr">
              <a:lnSpc>
                <a:spcPct val="95000"/>
              </a:lnSpc>
              <a:spcBef>
                <a:spcPts val="0"/>
              </a:spcBef>
              <a:spcAft>
                <a:spcPts val="0"/>
              </a:spcAft>
            </a:pPr>
            <a:r>
              <a:rPr sz="1000" b="0" i="0">
                <a:solidFill>
                  <a:srgbClr val="595959"/>
                </a:solidFill>
                <a:latin typeface="Calibri"/>
              </a:rPr>
              <a:t>24 hours of single-speaker audio for evaluating TTS</a:t>
            </a:r>
          </a:p>
        </p:txBody>
      </p:sp>
      <p:sp>
        <p:nvSpPr>
          <p:cNvPr id="21" name="TextBox 20"/>
          <p:cNvSpPr txBox="1"/>
          <p:nvPr/>
        </p:nvSpPr>
        <p:spPr>
          <a:xfrm>
            <a:off x="640080" y="576072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Handling and Privacy</a:t>
            </a:r>
          </a:p>
        </p:txBody>
      </p:sp>
      <p:sp>
        <p:nvSpPr>
          <p:cNvPr id="4" name="Footer Placeholder 3">
            <a:extLst>
              <a:ext uri="{FF2B5EF4-FFF2-40B4-BE49-F238E27FC236}">
                <a16:creationId xmlns:a16="http://schemas.microsoft.com/office/drawing/2014/main" id="{D7CA8E28-71D4-AF86-AEE8-3D1BF03EBE95}"/>
              </a:ext>
            </a:extLst>
          </p:cNvPr>
          <p:cNvSpPr>
            <a:spLocks noGrp="1"/>
          </p:cNvSpPr>
          <p:nvPr>
            <p:ph type="ftr" sz="quarter" idx="13"/>
          </p:nvPr>
        </p:nvSpPr>
        <p:spPr/>
        <p:txBody>
          <a:bodyPr/>
          <a:lstStyle/>
          <a:p>
            <a:pPr algn="l"/>
            <a:r>
              <a:rPr lang="it-IT"/>
              <a:t>ITI121 Generative AI - PDC in Generative AI &amp; Deep Learning</a:t>
            </a:r>
            <a:endParaRPr lang="en-SG" dirty="0"/>
          </a:p>
        </p:txBody>
      </p:sp>
      <p:sp>
        <p:nvSpPr>
          <p:cNvPr id="5" name="Slide Number Placeholder 4">
            <a:extLst>
              <a:ext uri="{FF2B5EF4-FFF2-40B4-BE49-F238E27FC236}">
                <a16:creationId xmlns:a16="http://schemas.microsoft.com/office/drawing/2014/main" id="{D729D61F-7892-71FF-B210-00255CD1DC11}"/>
              </a:ext>
            </a:extLst>
          </p:cNvPr>
          <p:cNvSpPr>
            <a:spLocks noGrp="1"/>
          </p:cNvSpPr>
          <p:nvPr>
            <p:ph type="sldNum" sz="quarter" idx="14"/>
          </p:nvPr>
        </p:nvSpPr>
        <p:spPr/>
        <p:txBody>
          <a:bodyPr/>
          <a:lstStyle/>
          <a:p>
            <a:fld id="{CE19DD2C-80DA-488C-99A4-6C8CE83C9C30}" type="slidenum">
              <a:rPr lang="en-SG" smtClean="0"/>
              <a:t>12</a:t>
            </a:fld>
            <a:endParaRPr lang="en-SG"/>
          </a:p>
        </p:txBody>
      </p:sp>
      <p:sp>
        <p:nvSpPr>
          <p:cNvPr id="6" name="Rounded Rectangle 5"/>
          <p:cNvSpPr/>
          <p:nvPr/>
        </p:nvSpPr>
        <p:spPr>
          <a:xfrm>
            <a:off x="640080" y="1691640"/>
            <a:ext cx="3438144"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Data collection</a:t>
            </a:r>
          </a:p>
          <a:p>
            <a:pPr algn="l">
              <a:lnSpc>
                <a:spcPct val="100000"/>
              </a:lnSpc>
              <a:spcBef>
                <a:spcPts val="0"/>
              </a:spcBef>
              <a:spcAft>
                <a:spcPts val="0"/>
              </a:spcAft>
            </a:pPr>
            <a:r>
              <a:rPr sz="1100" b="0" i="0">
                <a:solidFill>
                  <a:srgbClr val="262626"/>
                </a:solidFill>
                <a:latin typeface="Calibri"/>
              </a:rPr>
              <a:t>Voice, biometrics, preferences, location and interaction history. Say what you collect and get explicit consent.</a:t>
            </a:r>
          </a:p>
        </p:txBody>
      </p:sp>
      <p:sp>
        <p:nvSpPr>
          <p:cNvPr id="7" name="Rounded Rectangle 6"/>
          <p:cNvSpPr/>
          <p:nvPr/>
        </p:nvSpPr>
        <p:spPr>
          <a:xfrm>
            <a:off x="4370832" y="1691640"/>
            <a:ext cx="3438144"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Data processing</a:t>
            </a:r>
          </a:p>
          <a:p>
            <a:pPr algn="l">
              <a:lnSpc>
                <a:spcPct val="100000"/>
              </a:lnSpc>
              <a:spcBef>
                <a:spcPts val="0"/>
              </a:spcBef>
              <a:spcAft>
                <a:spcPts val="0"/>
              </a:spcAft>
            </a:pPr>
            <a:r>
              <a:rPr sz="1100" b="0" i="0">
                <a:solidFill>
                  <a:srgbClr val="262626"/>
                </a:solidFill>
                <a:latin typeface="Calibri"/>
              </a:rPr>
              <a:t>Audio to text, noise filtering, intent detection. Anonymise where you can without breaking the service.</a:t>
            </a:r>
          </a:p>
        </p:txBody>
      </p:sp>
      <p:sp>
        <p:nvSpPr>
          <p:cNvPr id="8" name="Rounded Rectangle 7"/>
          <p:cNvSpPr/>
          <p:nvPr/>
        </p:nvSpPr>
        <p:spPr>
          <a:xfrm>
            <a:off x="8101583" y="1691640"/>
            <a:ext cx="3438144"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Data storage</a:t>
            </a:r>
          </a:p>
          <a:p>
            <a:pPr algn="l">
              <a:lnSpc>
                <a:spcPct val="100000"/>
              </a:lnSpc>
              <a:spcBef>
                <a:spcPts val="0"/>
              </a:spcBef>
              <a:spcAft>
                <a:spcPts val="0"/>
              </a:spcAft>
            </a:pPr>
            <a:r>
              <a:rPr sz="1100" b="0" i="0">
                <a:solidFill>
                  <a:srgbClr val="262626"/>
                </a:solidFill>
                <a:latin typeface="Calibri"/>
              </a:rPr>
              <a:t>Decide what is kept — raw audio or text — and enforce a lifecycle policy so nothing outlives its purpose.</a:t>
            </a:r>
          </a:p>
        </p:txBody>
      </p:sp>
      <p:sp>
        <p:nvSpPr>
          <p:cNvPr id="9" name="Rounded Rectangle 8"/>
          <p:cNvSpPr/>
          <p:nvPr/>
        </p:nvSpPr>
        <p:spPr>
          <a:xfrm>
            <a:off x="640080" y="3291840"/>
            <a:ext cx="3438144"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Privacy concerns</a:t>
            </a:r>
          </a:p>
          <a:p>
            <a:pPr algn="l">
              <a:lnSpc>
                <a:spcPct val="100000"/>
              </a:lnSpc>
              <a:spcBef>
                <a:spcPts val="0"/>
              </a:spcBef>
              <a:spcAft>
                <a:spcPts val="0"/>
              </a:spcAft>
            </a:pPr>
            <a:r>
              <a:rPr sz="1100" b="0" i="0">
                <a:solidFill>
                  <a:srgbClr val="262626"/>
                </a:solidFill>
                <a:latin typeface="Calibri"/>
              </a:rPr>
              <a:t>Publish how data is used, control access, and let users see, correct or delete their data.</a:t>
            </a:r>
          </a:p>
        </p:txBody>
      </p:sp>
      <p:sp>
        <p:nvSpPr>
          <p:cNvPr id="10" name="Rounded Rectangle 9"/>
          <p:cNvSpPr/>
          <p:nvPr/>
        </p:nvSpPr>
        <p:spPr>
          <a:xfrm>
            <a:off x="4370832" y="3291840"/>
            <a:ext cx="3438144"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Security measures</a:t>
            </a:r>
          </a:p>
          <a:p>
            <a:pPr algn="l">
              <a:lnSpc>
                <a:spcPct val="100000"/>
              </a:lnSpc>
              <a:spcBef>
                <a:spcPts val="0"/>
              </a:spcBef>
              <a:spcAft>
                <a:spcPts val="0"/>
              </a:spcAft>
            </a:pPr>
            <a:r>
              <a:rPr sz="1100" b="0" i="0">
                <a:solidFill>
                  <a:srgbClr val="262626"/>
                </a:solidFill>
                <a:latin typeface="Calibri"/>
              </a:rPr>
              <a:t>Encryption and authentication, plus network and application security and regular penetration testing.</a:t>
            </a:r>
          </a:p>
        </p:txBody>
      </p:sp>
      <p:sp>
        <p:nvSpPr>
          <p:cNvPr id="11" name="Rounded Rectangle 10"/>
          <p:cNvSpPr/>
          <p:nvPr/>
        </p:nvSpPr>
        <p:spPr>
          <a:xfrm>
            <a:off x="8101583" y="3291840"/>
            <a:ext cx="3438144" cy="1325880"/>
          </a:xfrm>
          <a:prstGeom prst="roundRect">
            <a:avLst>
              <a:gd name="adj" fmla="val 7000"/>
            </a:avLst>
          </a:prstGeom>
          <a:solidFill>
            <a:srgbClr val="E9EEF8"/>
          </a:solidFill>
          <a:ln w="12700">
            <a:solidFill>
              <a:srgbClr val="C3D0EA"/>
            </a:solid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82296" bIns="82296"/>
          <a:lstStyle/>
          <a:p>
            <a:pPr algn="l">
              <a:lnSpc>
                <a:spcPct val="95000"/>
              </a:lnSpc>
              <a:spcBef>
                <a:spcPts val="0"/>
              </a:spcBef>
              <a:spcAft>
                <a:spcPts val="400"/>
              </a:spcAft>
            </a:pPr>
            <a:r>
              <a:rPr sz="1300" b="1" i="0">
                <a:solidFill>
                  <a:srgbClr val="0E2B63"/>
                </a:solidFill>
                <a:latin typeface="Calibri"/>
              </a:rPr>
              <a:t>Regulatory compliance</a:t>
            </a:r>
          </a:p>
          <a:p>
            <a:pPr algn="l">
              <a:lnSpc>
                <a:spcPct val="100000"/>
              </a:lnSpc>
              <a:spcBef>
                <a:spcPts val="0"/>
              </a:spcBef>
              <a:spcAft>
                <a:spcPts val="0"/>
              </a:spcAft>
            </a:pPr>
            <a:r>
              <a:rPr sz="1100" b="0" i="0">
                <a:solidFill>
                  <a:srgbClr val="262626"/>
                </a:solidFill>
                <a:latin typeface="Calibri"/>
              </a:rPr>
              <a:t>GDPR, CCPA and the Privacy Act. Design for privacy from the start rather than retro-fitting it.</a:t>
            </a:r>
          </a:p>
        </p:txBody>
      </p:sp>
      <p:sp>
        <p:nvSpPr>
          <p:cNvPr id="12" name="Rounded Rectangle 11"/>
          <p:cNvSpPr/>
          <p:nvPr/>
        </p:nvSpPr>
        <p:spPr>
          <a:xfrm>
            <a:off x="640080" y="4892040"/>
            <a:ext cx="10908792" cy="685800"/>
          </a:xfrm>
          <a:prstGeom prst="roundRect">
            <a:avLst>
              <a:gd name="adj" fmla="val 7000"/>
            </a:avLst>
          </a:prstGeom>
          <a:solidFill>
            <a:srgbClr val="FFFFFF"/>
          </a:solidFill>
          <a:ln w="12700">
            <a:solidFill>
              <a:srgbClr val="E30613"/>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82296" bIns="82296"/>
          <a:lstStyle/>
          <a:p>
            <a:pPr algn="l">
              <a:lnSpc>
                <a:spcPct val="100000"/>
              </a:lnSpc>
              <a:spcBef>
                <a:spcPts val="0"/>
              </a:spcBef>
              <a:spcAft>
                <a:spcPts val="0"/>
              </a:spcAft>
            </a:pPr>
            <a:r>
              <a:rPr sz="1250" b="1">
                <a:solidFill>
                  <a:srgbClr val="E30613"/>
                </a:solidFill>
                <a:latin typeface="Calibri"/>
              </a:rPr>
              <a:t>Voice is biometric data. </a:t>
            </a:r>
            <a:r>
              <a:rPr sz="1250" b="0">
                <a:solidFill>
                  <a:srgbClr val="262626"/>
                </a:solidFill>
                <a:latin typeface="Calibri"/>
              </a:rPr>
              <a:t>A recording identifies the speaker, so consent, retention limits and encryption are not optional extras — they are part of the design.</a:t>
            </a:r>
          </a:p>
        </p:txBody>
      </p:sp>
      <p:sp>
        <p:nvSpPr>
          <p:cNvPr id="13" name="TextBox 12"/>
          <p:cNvSpPr txBox="1"/>
          <p:nvPr/>
        </p:nvSpPr>
        <p:spPr>
          <a:xfrm>
            <a:off x="640080" y="5897880"/>
            <a:ext cx="10908792" cy="274320"/>
          </a:xfrm>
          <a:prstGeom prst="rect">
            <a:avLst/>
          </a:prstGeom>
          <a:noFill/>
        </p:spPr>
        <p:txBody>
          <a:bodyPr wrap="square" lIns="0" rIns="0" tIns="0" bIns="0" anchor="t">
            <a:spAutoFit/>
          </a:bodyPr>
          <a:lstStyle/>
          <a:p>
            <a:pPr algn="l">
              <a:spcBef>
                <a:spcPts val="0"/>
              </a:spcBef>
              <a:spcAft>
                <a:spcPts val="0"/>
              </a:spcAft>
            </a:pPr>
            <a:r>
              <a:rPr sz="1050" b="0" i="0">
                <a:solidFill>
                  <a:srgbClr val="808080"/>
                </a:solidFill>
                <a:latin typeface="Calibri"/>
              </a:rPr>
              <a:t>Content adapted from: Deepgram — “Guide to Voice AI Agents” (2024)</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EN 129(23) A19">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83bdb4-0a8f-43d2-a24f-e17275a3121b" xsi:nil="true"/>
    <SharedWithUsers xmlns="f64e7450-eb76-4305-9aaa-c7c2fda4733e">
      <UserInfo>
        <DisplayName/>
        <AccountId xsi:nil="true"/>
        <AccountType/>
      </UserInfo>
    </SharedWithUsers>
    <lcf76f155ced4ddcb4097134ff3c332f xmlns="f64e7450-eb76-4305-9aaa-c7c2fda4733e">
      <Terms xmlns="http://schemas.microsoft.com/office/infopath/2007/PartnerControls"/>
    </lcf76f155ced4ddcb4097134ff3c332f>
    <Owner xmlns="f64e7450-eb76-4305-9aaa-c7c2fda4733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E6AFF6A4F3FF49931B55B041F99EFA" ma:contentTypeVersion="23" ma:contentTypeDescription="Create a new document." ma:contentTypeScope="" ma:versionID="61a0eef3450023d494e2ceffcbf7e3df">
  <xsd:schema xmlns:xsd="http://www.w3.org/2001/XMLSchema" xmlns:xs="http://www.w3.org/2001/XMLSchema" xmlns:p="http://schemas.microsoft.com/office/2006/metadata/properties" xmlns:ns2="f64e7450-eb76-4305-9aaa-c7c2fda4733e" xmlns:ns3="1483bdb4-0a8f-43d2-a24f-e17275a3121b" xmlns:ns4="cdc4170c-4545-48f7-871b-33920ecd5df3" targetNamespace="http://schemas.microsoft.com/office/2006/metadata/properties" ma:root="true" ma:fieldsID="dcf00dde415673dc76d9a86cc65b0522" ns2:_="" ns3:_="" ns4:_="">
    <xsd:import namespace="f64e7450-eb76-4305-9aaa-c7c2fda4733e"/>
    <xsd:import namespace="1483bdb4-0a8f-43d2-a24f-e17275a3121b"/>
    <xsd:import namespace="cdc4170c-4545-48f7-871b-33920ecd5df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LengthInSeconds" minOccurs="0"/>
                <xsd:element ref="ns2:SharedWithUsers" minOccurs="0"/>
                <xsd:element ref="ns2:Owner" minOccurs="0"/>
                <xsd:element ref="ns4: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e7450-eb76-4305-9aaa-c7c2fda473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f58e8660-d7f0-40dc-9355-39c17cfe3e0a"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SharedWithUsers" ma:index="19" nillable="true" ma:displayName="Shared With" ma:list="UserInfo" ma:SearchPeopleOnly="false"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0" nillable="true" ma:displayName="Owner" ma:internalName="Owner" ma:readOnly="false">
      <xsd:simpleType>
        <xsd:restriction base="dms:Text">
          <xsd:maxLength value="255"/>
        </xsd:restrictio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83bdb4-0a8f-43d2-a24f-e17275a3121b"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07bdc7dd-b19c-4daa-ac60-4cc2365c7a3f}" ma:internalName="TaxCatchAll" ma:showField="CatchAllData" ma:web="1483bdb4-0a8f-43d2-a24f-e17275a3121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dc4170c-4545-48f7-871b-33920ecd5df3" elementFormDefault="qualified">
    <xsd:import namespace="http://schemas.microsoft.com/office/2006/documentManagement/types"/>
    <xsd:import namespace="http://schemas.microsoft.com/office/infopath/2007/PartnerControls"/>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4823A8-D13E-443D-AF76-75DA2E9EFDDD}">
  <ds:schemaRefs>
    <ds:schemaRef ds:uri="http://schemas.microsoft.com/office/2006/metadata/properties"/>
    <ds:schemaRef ds:uri="http://schemas.microsoft.com/office/infopath/2007/PartnerControls"/>
    <ds:schemaRef ds:uri="1483bdb4-0a8f-43d2-a24f-e17275a3121b"/>
    <ds:schemaRef ds:uri="f64e7450-eb76-4305-9aaa-c7c2fda4733e"/>
  </ds:schemaRefs>
</ds:datastoreItem>
</file>

<file path=customXml/itemProps2.xml><?xml version="1.0" encoding="utf-8"?>
<ds:datastoreItem xmlns:ds="http://schemas.openxmlformats.org/officeDocument/2006/customXml" ds:itemID="{BA923E17-E709-4E48-9BD1-C688FFB5E7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e7450-eb76-4305-9aaa-c7c2fda4733e"/>
    <ds:schemaRef ds:uri="1483bdb4-0a8f-43d2-a24f-e17275a3121b"/>
    <ds:schemaRef ds:uri="cdc4170c-4545-48f7-871b-33920ecd5d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0EE154-A736-456D-A3E2-277453621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SEN 129(23) A19</Template>
  <TotalTime>9767</TotalTime>
  <Words>3360</Words>
  <Application>Microsoft Office PowerPoint</Application>
  <PresentationFormat>Widescreen</PresentationFormat>
  <Paragraphs>422</Paragraphs>
  <Slides>31</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Arvo</vt:lpstr>
      <vt:lpstr>Avenir Book</vt:lpstr>
      <vt:lpstr>Aptos</vt:lpstr>
      <vt:lpstr>Arial</vt:lpstr>
      <vt:lpstr>Calibri</vt:lpstr>
      <vt:lpstr>Calibri Light</vt:lpstr>
      <vt:lpstr>Roboto</vt:lpstr>
      <vt:lpstr>SEN 129(23) A19</vt:lpstr>
      <vt:lpstr>PowerPoint Presentation</vt:lpstr>
      <vt:lpstr>Learning Outcomes</vt:lpstr>
      <vt:lpstr>What is an AI Voice Agent?</vt:lpstr>
      <vt:lpstr>Voice Agent Stack Components</vt:lpstr>
      <vt:lpstr>Examples Providers: TTS/LLM/STT Pipeline</vt:lpstr>
      <vt:lpstr>Examples Providers: TTS/LLM/STT Pipeline(real time)</vt:lpstr>
      <vt:lpstr>AI Voice Agent — Call Management</vt:lpstr>
      <vt:lpstr>Core Components of Call Management</vt:lpstr>
      <vt:lpstr>Call Flow Architecture</vt:lpstr>
      <vt:lpstr>Voice Activity Detection (VAD)</vt:lpstr>
      <vt:lpstr>Barge-In &amp; Turn-Taking Control</vt:lpstr>
      <vt:lpstr>Turn-Taking Management</vt:lpstr>
      <vt:lpstr>Call Session &amp; State Management</vt:lpstr>
      <vt:lpstr>Challenges in Implementing AI Voice Bots</vt:lpstr>
      <vt:lpstr>Challenges in Implementing AI Voice Bots</vt:lpstr>
      <vt:lpstr>Understanding Voice-to-Voice Latency</vt:lpstr>
      <vt:lpstr>Latency Lower Bounds</vt:lpstr>
      <vt:lpstr>Speech-to-Text (STT) Optimization</vt:lpstr>
      <vt:lpstr>Speech-to-Text (STT) Optimization</vt:lpstr>
      <vt:lpstr>LLM Optimization Strategies</vt:lpstr>
      <vt:lpstr>LLM Optimization Strategies</vt:lpstr>
      <vt:lpstr>LLM Optimization Strategies</vt:lpstr>
      <vt:lpstr>LLM Optimization Strategies</vt:lpstr>
      <vt:lpstr>Text-to-Speech (TTS) Optimization</vt:lpstr>
      <vt:lpstr>Text-to-Speech (TTS) Optimization</vt:lpstr>
      <vt:lpstr>Approach: Real Time Peer-to-Peer Communication</vt:lpstr>
      <vt:lpstr>Connection between Computers</vt:lpstr>
      <vt:lpstr>Web Protocols-WebSocket Vs WebRTC</vt:lpstr>
      <vt:lpstr>Importance in Voice Agent</vt:lpstr>
      <vt:lpstr>AI Voice Agent Use Cases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creator>Kheng Kok Mar</dc:creator>
  <cp:lastModifiedBy>chee hong wee</cp:lastModifiedBy>
  <cp:revision>63</cp:revision>
  <dcterms:created xsi:type="dcterms:W3CDTF">2023-04-05T14:55:09Z</dcterms:created>
  <dcterms:modified xsi:type="dcterms:W3CDTF">2025-11-09T09:43:18Z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0x0101009FE6AFF6A4F3FF49931B55B041F99EFA</vt:lpwstr>
  </property>
  <property fmtid="{D5CDD505-2E9C-101B-9397-08002B2CF9AE}" pid="3" name="MSIP_Label_babe128f-e2ab-4b18-9c62-301caee5e80a_Enabled">
    <vt:lpwstr>true</vt:lpwstr>
  </property>
  <property fmtid="{D5CDD505-2E9C-101B-9397-08002B2CF9AE}" pid="4" name="MSIP_Label_babe128f-e2ab-4b18-9c62-301caee5e80a_SetDate">
    <vt:lpwstr>2023-05-30T04:02:35Z</vt:lpwstr>
  </property>
  <property fmtid="{D5CDD505-2E9C-101B-9397-08002B2CF9AE}" pid="5" name="MSIP_Label_babe128f-e2ab-4b18-9c62-301caee5e80a_Method">
    <vt:lpwstr>Privileged</vt:lpwstr>
  </property>
  <property fmtid="{D5CDD505-2E9C-101B-9397-08002B2CF9AE}" pid="6" name="MSIP_Label_babe128f-e2ab-4b18-9c62-301caee5e80a_Name">
    <vt:lpwstr>OFFICIAL [OPEN]</vt:lpwstr>
  </property>
  <property fmtid="{D5CDD505-2E9C-101B-9397-08002B2CF9AE}" pid="7" name="MSIP_Label_babe128f-e2ab-4b18-9c62-301caee5e80a_SiteId">
    <vt:lpwstr>243ebaed-00d0-4690-a7dc-75893b0d9f98</vt:lpwstr>
  </property>
  <property fmtid="{D5CDD505-2E9C-101B-9397-08002B2CF9AE}" pid="8" name="MSIP_Label_babe128f-e2ab-4b18-9c62-301caee5e80a_ActionId">
    <vt:lpwstr>3c58ffe5-4c8c-497d-b23e-0c1208da03ba</vt:lpwstr>
  </property>
  <property fmtid="{D5CDD505-2E9C-101B-9397-08002B2CF9AE}" pid="9" name="MSIP_Label_babe128f-e2ab-4b18-9c62-301caee5e80a_ContentBits">
    <vt:lpwstr>1</vt:lpwstr>
  </property>
  <property fmtid="{D5CDD505-2E9C-101B-9397-08002B2CF9AE}" pid="10" name="MediaServiceImageTags">
    <vt:lpwstr/>
  </property>
</Properties>
</file>