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22"/>
  </p:notesMasterIdLst>
  <p:handoutMasterIdLst>
    <p:handoutMasterId r:id="rId23"/>
  </p:handoutMasterIdLst>
  <p:sldIdLst>
    <p:sldId id="419" r:id="rId5"/>
    <p:sldId id="402" r:id="rId6"/>
    <p:sldId id="458" r:id="rId7"/>
    <p:sldId id="473" r:id="rId8"/>
    <p:sldId id="480" r:id="rId9"/>
    <p:sldId id="474" r:id="rId10"/>
    <p:sldId id="475" r:id="rId11"/>
    <p:sldId id="476" r:id="rId12"/>
    <p:sldId id="478" r:id="rId13"/>
    <p:sldId id="479" r:id="rId14"/>
    <p:sldId id="477" r:id="rId15"/>
    <p:sldId id="481" r:id="rId16"/>
    <p:sldId id="483" r:id="rId17"/>
    <p:sldId id="482" r:id="rId18"/>
    <p:sldId id="471" r:id="rId19"/>
    <p:sldId id="472" r:id="rId20"/>
    <p:sldId id="40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D7AA8-B633-43EA-B803-6478153F3BD7}" v="3" dt="2025-03-21T02:00:42.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65" autoAdjust="0"/>
    <p:restoredTop sz="81081" autoAdjust="0"/>
  </p:normalViewPr>
  <p:slideViewPr>
    <p:cSldViewPr snapToGrid="0">
      <p:cViewPr varScale="1">
        <p:scale>
          <a:sx n="70" d="100"/>
          <a:sy n="70" d="100"/>
        </p:scale>
        <p:origin x="14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ng Kok MAR (NYP)" userId="62030f1a-a95b-4c33-86e6-478100d64ee1" providerId="ADAL" clId="{58ED7AA8-B633-43EA-B803-6478153F3BD7}"/>
    <pc:docChg chg="undo custSel addSld delSld modSld">
      <pc:chgData name="Kheng Kok MAR (NYP)" userId="62030f1a-a95b-4c33-86e6-478100d64ee1" providerId="ADAL" clId="{58ED7AA8-B633-43EA-B803-6478153F3BD7}" dt="2025-03-21T05:00:48.584" v="153" actId="5793"/>
      <pc:docMkLst>
        <pc:docMk/>
      </pc:docMkLst>
      <pc:sldChg chg="del">
        <pc:chgData name="Kheng Kok MAR (NYP)" userId="62030f1a-a95b-4c33-86e6-478100d64ee1" providerId="ADAL" clId="{58ED7AA8-B633-43EA-B803-6478153F3BD7}" dt="2025-03-21T04:59:58.739" v="136" actId="47"/>
        <pc:sldMkLst>
          <pc:docMk/>
          <pc:sldMk cId="2600293482" sldId="262"/>
        </pc:sldMkLst>
      </pc:sldChg>
      <pc:sldChg chg="del">
        <pc:chgData name="Kheng Kok MAR (NYP)" userId="62030f1a-a95b-4c33-86e6-478100d64ee1" providerId="ADAL" clId="{58ED7AA8-B633-43EA-B803-6478153F3BD7}" dt="2025-03-21T04:59:46.679" v="135" actId="47"/>
        <pc:sldMkLst>
          <pc:docMk/>
          <pc:sldMk cId="2807024801" sldId="295"/>
        </pc:sldMkLst>
      </pc:sldChg>
      <pc:sldChg chg="del">
        <pc:chgData name="Kheng Kok MAR (NYP)" userId="62030f1a-a95b-4c33-86e6-478100d64ee1" providerId="ADAL" clId="{58ED7AA8-B633-43EA-B803-6478153F3BD7}" dt="2025-03-21T04:59:46.679" v="135" actId="47"/>
        <pc:sldMkLst>
          <pc:docMk/>
          <pc:sldMk cId="2933152867" sldId="299"/>
        </pc:sldMkLst>
      </pc:sldChg>
      <pc:sldChg chg="del">
        <pc:chgData name="Kheng Kok MAR (NYP)" userId="62030f1a-a95b-4c33-86e6-478100d64ee1" providerId="ADAL" clId="{58ED7AA8-B633-43EA-B803-6478153F3BD7}" dt="2025-03-21T04:59:46.679" v="135" actId="47"/>
        <pc:sldMkLst>
          <pc:docMk/>
          <pc:sldMk cId="3250412498" sldId="300"/>
        </pc:sldMkLst>
      </pc:sldChg>
      <pc:sldChg chg="del">
        <pc:chgData name="Kheng Kok MAR (NYP)" userId="62030f1a-a95b-4c33-86e6-478100d64ee1" providerId="ADAL" clId="{58ED7AA8-B633-43EA-B803-6478153F3BD7}" dt="2025-03-21T04:59:46.679" v="135" actId="47"/>
        <pc:sldMkLst>
          <pc:docMk/>
          <pc:sldMk cId="1619976221" sldId="301"/>
        </pc:sldMkLst>
      </pc:sldChg>
      <pc:sldChg chg="del">
        <pc:chgData name="Kheng Kok MAR (NYP)" userId="62030f1a-a95b-4c33-86e6-478100d64ee1" providerId="ADAL" clId="{58ED7AA8-B633-43EA-B803-6478153F3BD7}" dt="2025-03-21T04:59:46.679" v="135" actId="47"/>
        <pc:sldMkLst>
          <pc:docMk/>
          <pc:sldMk cId="4234809244" sldId="302"/>
        </pc:sldMkLst>
      </pc:sldChg>
      <pc:sldChg chg="del">
        <pc:chgData name="Kheng Kok MAR (NYP)" userId="62030f1a-a95b-4c33-86e6-478100d64ee1" providerId="ADAL" clId="{58ED7AA8-B633-43EA-B803-6478153F3BD7}" dt="2025-03-21T04:59:46.679" v="135" actId="47"/>
        <pc:sldMkLst>
          <pc:docMk/>
          <pc:sldMk cId="2070489917" sldId="303"/>
        </pc:sldMkLst>
      </pc:sldChg>
      <pc:sldChg chg="del">
        <pc:chgData name="Kheng Kok MAR (NYP)" userId="62030f1a-a95b-4c33-86e6-478100d64ee1" providerId="ADAL" clId="{58ED7AA8-B633-43EA-B803-6478153F3BD7}" dt="2025-03-21T04:59:46.679" v="135" actId="47"/>
        <pc:sldMkLst>
          <pc:docMk/>
          <pc:sldMk cId="1766828700" sldId="320"/>
        </pc:sldMkLst>
      </pc:sldChg>
      <pc:sldChg chg="del">
        <pc:chgData name="Kheng Kok MAR (NYP)" userId="62030f1a-a95b-4c33-86e6-478100d64ee1" providerId="ADAL" clId="{58ED7AA8-B633-43EA-B803-6478153F3BD7}" dt="2025-03-21T04:59:46.679" v="135" actId="47"/>
        <pc:sldMkLst>
          <pc:docMk/>
          <pc:sldMk cId="3880737323" sldId="321"/>
        </pc:sldMkLst>
      </pc:sldChg>
      <pc:sldChg chg="del">
        <pc:chgData name="Kheng Kok MAR (NYP)" userId="62030f1a-a95b-4c33-86e6-478100d64ee1" providerId="ADAL" clId="{58ED7AA8-B633-43EA-B803-6478153F3BD7}" dt="2025-03-21T04:59:46.679" v="135" actId="47"/>
        <pc:sldMkLst>
          <pc:docMk/>
          <pc:sldMk cId="3392206436" sldId="322"/>
        </pc:sldMkLst>
      </pc:sldChg>
      <pc:sldChg chg="del">
        <pc:chgData name="Kheng Kok MAR (NYP)" userId="62030f1a-a95b-4c33-86e6-478100d64ee1" providerId="ADAL" clId="{58ED7AA8-B633-43EA-B803-6478153F3BD7}" dt="2025-03-21T04:59:46.679" v="135" actId="47"/>
        <pc:sldMkLst>
          <pc:docMk/>
          <pc:sldMk cId="3132682470" sldId="323"/>
        </pc:sldMkLst>
      </pc:sldChg>
      <pc:sldChg chg="del">
        <pc:chgData name="Kheng Kok MAR (NYP)" userId="62030f1a-a95b-4c33-86e6-478100d64ee1" providerId="ADAL" clId="{58ED7AA8-B633-43EA-B803-6478153F3BD7}" dt="2025-03-21T04:59:46.679" v="135" actId="47"/>
        <pc:sldMkLst>
          <pc:docMk/>
          <pc:sldMk cId="3169862212" sldId="324"/>
        </pc:sldMkLst>
      </pc:sldChg>
      <pc:sldChg chg="del">
        <pc:chgData name="Kheng Kok MAR (NYP)" userId="62030f1a-a95b-4c33-86e6-478100d64ee1" providerId="ADAL" clId="{58ED7AA8-B633-43EA-B803-6478153F3BD7}" dt="2025-03-21T04:59:46.679" v="135" actId="47"/>
        <pc:sldMkLst>
          <pc:docMk/>
          <pc:sldMk cId="4009347987" sldId="325"/>
        </pc:sldMkLst>
      </pc:sldChg>
      <pc:sldChg chg="del">
        <pc:chgData name="Kheng Kok MAR (NYP)" userId="62030f1a-a95b-4c33-86e6-478100d64ee1" providerId="ADAL" clId="{58ED7AA8-B633-43EA-B803-6478153F3BD7}" dt="2025-03-21T05:00:10.423" v="138" actId="47"/>
        <pc:sldMkLst>
          <pc:docMk/>
          <pc:sldMk cId="1255300212" sldId="327"/>
        </pc:sldMkLst>
      </pc:sldChg>
      <pc:sldChg chg="del">
        <pc:chgData name="Kheng Kok MAR (NYP)" userId="62030f1a-a95b-4c33-86e6-478100d64ee1" providerId="ADAL" clId="{58ED7AA8-B633-43EA-B803-6478153F3BD7}" dt="2025-03-21T04:59:58.739" v="136" actId="47"/>
        <pc:sldMkLst>
          <pc:docMk/>
          <pc:sldMk cId="1320550275" sldId="328"/>
        </pc:sldMkLst>
      </pc:sldChg>
      <pc:sldChg chg="del">
        <pc:chgData name="Kheng Kok MAR (NYP)" userId="62030f1a-a95b-4c33-86e6-478100d64ee1" providerId="ADAL" clId="{58ED7AA8-B633-43EA-B803-6478153F3BD7}" dt="2025-03-21T04:59:58.739" v="136" actId="47"/>
        <pc:sldMkLst>
          <pc:docMk/>
          <pc:sldMk cId="916683871" sldId="329"/>
        </pc:sldMkLst>
      </pc:sldChg>
      <pc:sldChg chg="del">
        <pc:chgData name="Kheng Kok MAR (NYP)" userId="62030f1a-a95b-4c33-86e6-478100d64ee1" providerId="ADAL" clId="{58ED7AA8-B633-43EA-B803-6478153F3BD7}" dt="2025-03-21T04:59:58.739" v="136" actId="47"/>
        <pc:sldMkLst>
          <pc:docMk/>
          <pc:sldMk cId="3836926012" sldId="330"/>
        </pc:sldMkLst>
      </pc:sldChg>
      <pc:sldChg chg="del">
        <pc:chgData name="Kheng Kok MAR (NYP)" userId="62030f1a-a95b-4c33-86e6-478100d64ee1" providerId="ADAL" clId="{58ED7AA8-B633-43EA-B803-6478153F3BD7}" dt="2025-03-21T04:59:58.739" v="136" actId="47"/>
        <pc:sldMkLst>
          <pc:docMk/>
          <pc:sldMk cId="1005339390" sldId="331"/>
        </pc:sldMkLst>
      </pc:sldChg>
      <pc:sldChg chg="del">
        <pc:chgData name="Kheng Kok MAR (NYP)" userId="62030f1a-a95b-4c33-86e6-478100d64ee1" providerId="ADAL" clId="{58ED7AA8-B633-43EA-B803-6478153F3BD7}" dt="2025-03-21T04:59:58.739" v="136" actId="47"/>
        <pc:sldMkLst>
          <pc:docMk/>
          <pc:sldMk cId="3761206000" sldId="333"/>
        </pc:sldMkLst>
      </pc:sldChg>
      <pc:sldChg chg="del">
        <pc:chgData name="Kheng Kok MAR (NYP)" userId="62030f1a-a95b-4c33-86e6-478100d64ee1" providerId="ADAL" clId="{58ED7AA8-B633-43EA-B803-6478153F3BD7}" dt="2025-03-21T04:59:58.739" v="136" actId="47"/>
        <pc:sldMkLst>
          <pc:docMk/>
          <pc:sldMk cId="1070237463" sldId="334"/>
        </pc:sldMkLst>
      </pc:sldChg>
      <pc:sldChg chg="del">
        <pc:chgData name="Kheng Kok MAR (NYP)" userId="62030f1a-a95b-4c33-86e6-478100d64ee1" providerId="ADAL" clId="{58ED7AA8-B633-43EA-B803-6478153F3BD7}" dt="2025-03-21T04:59:58.739" v="136" actId="47"/>
        <pc:sldMkLst>
          <pc:docMk/>
          <pc:sldMk cId="1769685483" sldId="335"/>
        </pc:sldMkLst>
      </pc:sldChg>
      <pc:sldChg chg="del">
        <pc:chgData name="Kheng Kok MAR (NYP)" userId="62030f1a-a95b-4c33-86e6-478100d64ee1" providerId="ADAL" clId="{58ED7AA8-B633-43EA-B803-6478153F3BD7}" dt="2025-03-21T04:59:58.739" v="136" actId="47"/>
        <pc:sldMkLst>
          <pc:docMk/>
          <pc:sldMk cId="781151514" sldId="336"/>
        </pc:sldMkLst>
      </pc:sldChg>
      <pc:sldChg chg="del">
        <pc:chgData name="Kheng Kok MAR (NYP)" userId="62030f1a-a95b-4c33-86e6-478100d64ee1" providerId="ADAL" clId="{58ED7AA8-B633-43EA-B803-6478153F3BD7}" dt="2025-03-21T04:59:58.739" v="136" actId="47"/>
        <pc:sldMkLst>
          <pc:docMk/>
          <pc:sldMk cId="4181970323" sldId="337"/>
        </pc:sldMkLst>
      </pc:sldChg>
      <pc:sldChg chg="del">
        <pc:chgData name="Kheng Kok MAR (NYP)" userId="62030f1a-a95b-4c33-86e6-478100d64ee1" providerId="ADAL" clId="{58ED7AA8-B633-43EA-B803-6478153F3BD7}" dt="2025-03-21T04:59:58.739" v="136" actId="47"/>
        <pc:sldMkLst>
          <pc:docMk/>
          <pc:sldMk cId="3715183010" sldId="338"/>
        </pc:sldMkLst>
      </pc:sldChg>
      <pc:sldChg chg="del">
        <pc:chgData name="Kheng Kok MAR (NYP)" userId="62030f1a-a95b-4c33-86e6-478100d64ee1" providerId="ADAL" clId="{58ED7AA8-B633-43EA-B803-6478153F3BD7}" dt="2025-03-21T04:59:58.739" v="136" actId="47"/>
        <pc:sldMkLst>
          <pc:docMk/>
          <pc:sldMk cId="807812468" sldId="339"/>
        </pc:sldMkLst>
      </pc:sldChg>
      <pc:sldChg chg="del">
        <pc:chgData name="Kheng Kok MAR (NYP)" userId="62030f1a-a95b-4c33-86e6-478100d64ee1" providerId="ADAL" clId="{58ED7AA8-B633-43EA-B803-6478153F3BD7}" dt="2025-03-21T05:00:06.595" v="137" actId="47"/>
        <pc:sldMkLst>
          <pc:docMk/>
          <pc:sldMk cId="3114733694" sldId="340"/>
        </pc:sldMkLst>
      </pc:sldChg>
      <pc:sldChg chg="del">
        <pc:chgData name="Kheng Kok MAR (NYP)" userId="62030f1a-a95b-4c33-86e6-478100d64ee1" providerId="ADAL" clId="{58ED7AA8-B633-43EA-B803-6478153F3BD7}" dt="2025-03-21T05:00:06.595" v="137" actId="47"/>
        <pc:sldMkLst>
          <pc:docMk/>
          <pc:sldMk cId="3020918737" sldId="341"/>
        </pc:sldMkLst>
      </pc:sldChg>
      <pc:sldChg chg="del">
        <pc:chgData name="Kheng Kok MAR (NYP)" userId="62030f1a-a95b-4c33-86e6-478100d64ee1" providerId="ADAL" clId="{58ED7AA8-B633-43EA-B803-6478153F3BD7}" dt="2025-03-21T05:00:06.595" v="137" actId="47"/>
        <pc:sldMkLst>
          <pc:docMk/>
          <pc:sldMk cId="4113745265" sldId="343"/>
        </pc:sldMkLst>
      </pc:sldChg>
      <pc:sldChg chg="del">
        <pc:chgData name="Kheng Kok MAR (NYP)" userId="62030f1a-a95b-4c33-86e6-478100d64ee1" providerId="ADAL" clId="{58ED7AA8-B633-43EA-B803-6478153F3BD7}" dt="2025-03-21T05:00:06.595" v="137" actId="47"/>
        <pc:sldMkLst>
          <pc:docMk/>
          <pc:sldMk cId="3711056098" sldId="345"/>
        </pc:sldMkLst>
      </pc:sldChg>
      <pc:sldChg chg="del">
        <pc:chgData name="Kheng Kok MAR (NYP)" userId="62030f1a-a95b-4c33-86e6-478100d64ee1" providerId="ADAL" clId="{58ED7AA8-B633-43EA-B803-6478153F3BD7}" dt="2025-03-21T05:00:06.595" v="137" actId="47"/>
        <pc:sldMkLst>
          <pc:docMk/>
          <pc:sldMk cId="1008210905" sldId="346"/>
        </pc:sldMkLst>
      </pc:sldChg>
      <pc:sldChg chg="del">
        <pc:chgData name="Kheng Kok MAR (NYP)" userId="62030f1a-a95b-4c33-86e6-478100d64ee1" providerId="ADAL" clId="{58ED7AA8-B633-43EA-B803-6478153F3BD7}" dt="2025-03-21T05:00:06.595" v="137" actId="47"/>
        <pc:sldMkLst>
          <pc:docMk/>
          <pc:sldMk cId="3922411213" sldId="347"/>
        </pc:sldMkLst>
      </pc:sldChg>
      <pc:sldChg chg="del">
        <pc:chgData name="Kheng Kok MAR (NYP)" userId="62030f1a-a95b-4c33-86e6-478100d64ee1" providerId="ADAL" clId="{58ED7AA8-B633-43EA-B803-6478153F3BD7}" dt="2025-03-21T05:00:06.595" v="137" actId="47"/>
        <pc:sldMkLst>
          <pc:docMk/>
          <pc:sldMk cId="2930374708" sldId="349"/>
        </pc:sldMkLst>
      </pc:sldChg>
      <pc:sldChg chg="del">
        <pc:chgData name="Kheng Kok MAR (NYP)" userId="62030f1a-a95b-4c33-86e6-478100d64ee1" providerId="ADAL" clId="{58ED7AA8-B633-43EA-B803-6478153F3BD7}" dt="2025-03-21T05:00:06.595" v="137" actId="47"/>
        <pc:sldMkLst>
          <pc:docMk/>
          <pc:sldMk cId="1062503712" sldId="353"/>
        </pc:sldMkLst>
      </pc:sldChg>
      <pc:sldChg chg="del">
        <pc:chgData name="Kheng Kok MAR (NYP)" userId="62030f1a-a95b-4c33-86e6-478100d64ee1" providerId="ADAL" clId="{58ED7AA8-B633-43EA-B803-6478153F3BD7}" dt="2025-03-21T05:00:06.595" v="137" actId="47"/>
        <pc:sldMkLst>
          <pc:docMk/>
          <pc:sldMk cId="2186340524" sldId="354"/>
        </pc:sldMkLst>
      </pc:sldChg>
      <pc:sldChg chg="del">
        <pc:chgData name="Kheng Kok MAR (NYP)" userId="62030f1a-a95b-4c33-86e6-478100d64ee1" providerId="ADAL" clId="{58ED7AA8-B633-43EA-B803-6478153F3BD7}" dt="2025-03-21T05:00:06.595" v="137" actId="47"/>
        <pc:sldMkLst>
          <pc:docMk/>
          <pc:sldMk cId="2351436070" sldId="358"/>
        </pc:sldMkLst>
      </pc:sldChg>
      <pc:sldChg chg="del">
        <pc:chgData name="Kheng Kok MAR (NYP)" userId="62030f1a-a95b-4c33-86e6-478100d64ee1" providerId="ADAL" clId="{58ED7AA8-B633-43EA-B803-6478153F3BD7}" dt="2025-03-21T05:00:06.595" v="137" actId="47"/>
        <pc:sldMkLst>
          <pc:docMk/>
          <pc:sldMk cId="3516845528" sldId="359"/>
        </pc:sldMkLst>
      </pc:sldChg>
      <pc:sldChg chg="del">
        <pc:chgData name="Kheng Kok MAR (NYP)" userId="62030f1a-a95b-4c33-86e6-478100d64ee1" providerId="ADAL" clId="{58ED7AA8-B633-43EA-B803-6478153F3BD7}" dt="2025-03-21T05:00:06.595" v="137" actId="47"/>
        <pc:sldMkLst>
          <pc:docMk/>
          <pc:sldMk cId="2606275055" sldId="366"/>
        </pc:sldMkLst>
      </pc:sldChg>
      <pc:sldChg chg="del">
        <pc:chgData name="Kheng Kok MAR (NYP)" userId="62030f1a-a95b-4c33-86e6-478100d64ee1" providerId="ADAL" clId="{58ED7AA8-B633-43EA-B803-6478153F3BD7}" dt="2025-03-21T05:00:06.595" v="137" actId="47"/>
        <pc:sldMkLst>
          <pc:docMk/>
          <pc:sldMk cId="3873997129" sldId="368"/>
        </pc:sldMkLst>
      </pc:sldChg>
      <pc:sldChg chg="del">
        <pc:chgData name="Kheng Kok MAR (NYP)" userId="62030f1a-a95b-4c33-86e6-478100d64ee1" providerId="ADAL" clId="{58ED7AA8-B633-43EA-B803-6478153F3BD7}" dt="2025-03-21T05:00:06.595" v="137" actId="47"/>
        <pc:sldMkLst>
          <pc:docMk/>
          <pc:sldMk cId="196573934" sldId="369"/>
        </pc:sldMkLst>
      </pc:sldChg>
      <pc:sldChg chg="del">
        <pc:chgData name="Kheng Kok MAR (NYP)" userId="62030f1a-a95b-4c33-86e6-478100d64ee1" providerId="ADAL" clId="{58ED7AA8-B633-43EA-B803-6478153F3BD7}" dt="2025-03-21T05:00:06.595" v="137" actId="47"/>
        <pc:sldMkLst>
          <pc:docMk/>
          <pc:sldMk cId="3624530038" sldId="370"/>
        </pc:sldMkLst>
      </pc:sldChg>
      <pc:sldChg chg="del">
        <pc:chgData name="Kheng Kok MAR (NYP)" userId="62030f1a-a95b-4c33-86e6-478100d64ee1" providerId="ADAL" clId="{58ED7AA8-B633-43EA-B803-6478153F3BD7}" dt="2025-03-21T05:00:06.595" v="137" actId="47"/>
        <pc:sldMkLst>
          <pc:docMk/>
          <pc:sldMk cId="2836799505" sldId="372"/>
        </pc:sldMkLst>
      </pc:sldChg>
      <pc:sldChg chg="del">
        <pc:chgData name="Kheng Kok MAR (NYP)" userId="62030f1a-a95b-4c33-86e6-478100d64ee1" providerId="ADAL" clId="{58ED7AA8-B633-43EA-B803-6478153F3BD7}" dt="2025-03-21T05:00:12.373" v="139" actId="47"/>
        <pc:sldMkLst>
          <pc:docMk/>
          <pc:sldMk cId="2712846146" sldId="373"/>
        </pc:sldMkLst>
      </pc:sldChg>
      <pc:sldChg chg="del">
        <pc:chgData name="Kheng Kok MAR (NYP)" userId="62030f1a-a95b-4c33-86e6-478100d64ee1" providerId="ADAL" clId="{58ED7AA8-B633-43EA-B803-6478153F3BD7}" dt="2025-03-21T05:00:06.595" v="137" actId="47"/>
        <pc:sldMkLst>
          <pc:docMk/>
          <pc:sldMk cId="2931830914" sldId="374"/>
        </pc:sldMkLst>
      </pc:sldChg>
      <pc:sldChg chg="del">
        <pc:chgData name="Kheng Kok MAR (NYP)" userId="62030f1a-a95b-4c33-86e6-478100d64ee1" providerId="ADAL" clId="{58ED7AA8-B633-43EA-B803-6478153F3BD7}" dt="2025-03-21T05:00:06.595" v="137" actId="47"/>
        <pc:sldMkLst>
          <pc:docMk/>
          <pc:sldMk cId="799979536" sldId="375"/>
        </pc:sldMkLst>
      </pc:sldChg>
      <pc:sldChg chg="del">
        <pc:chgData name="Kheng Kok MAR (NYP)" userId="62030f1a-a95b-4c33-86e6-478100d64ee1" providerId="ADAL" clId="{58ED7AA8-B633-43EA-B803-6478153F3BD7}" dt="2025-03-21T05:00:10.423" v="138" actId="47"/>
        <pc:sldMkLst>
          <pc:docMk/>
          <pc:sldMk cId="2780781574" sldId="377"/>
        </pc:sldMkLst>
      </pc:sldChg>
      <pc:sldChg chg="del">
        <pc:chgData name="Kheng Kok MAR (NYP)" userId="62030f1a-a95b-4c33-86e6-478100d64ee1" providerId="ADAL" clId="{58ED7AA8-B633-43EA-B803-6478153F3BD7}" dt="2025-03-21T05:00:06.595" v="137" actId="47"/>
        <pc:sldMkLst>
          <pc:docMk/>
          <pc:sldMk cId="1274829805" sldId="378"/>
        </pc:sldMkLst>
      </pc:sldChg>
      <pc:sldChg chg="del">
        <pc:chgData name="Kheng Kok MAR (NYP)" userId="62030f1a-a95b-4c33-86e6-478100d64ee1" providerId="ADAL" clId="{58ED7AA8-B633-43EA-B803-6478153F3BD7}" dt="2025-03-21T04:59:46.679" v="135" actId="47"/>
        <pc:sldMkLst>
          <pc:docMk/>
          <pc:sldMk cId="1802167371" sldId="379"/>
        </pc:sldMkLst>
      </pc:sldChg>
      <pc:sldChg chg="del">
        <pc:chgData name="Kheng Kok MAR (NYP)" userId="62030f1a-a95b-4c33-86e6-478100d64ee1" providerId="ADAL" clId="{58ED7AA8-B633-43EA-B803-6478153F3BD7}" dt="2025-03-21T04:59:46.679" v="135" actId="47"/>
        <pc:sldMkLst>
          <pc:docMk/>
          <pc:sldMk cId="2990305848" sldId="380"/>
        </pc:sldMkLst>
      </pc:sldChg>
      <pc:sldChg chg="del">
        <pc:chgData name="Kheng Kok MAR (NYP)" userId="62030f1a-a95b-4c33-86e6-478100d64ee1" providerId="ADAL" clId="{58ED7AA8-B633-43EA-B803-6478153F3BD7}" dt="2025-03-21T04:59:58.739" v="136" actId="47"/>
        <pc:sldMkLst>
          <pc:docMk/>
          <pc:sldMk cId="3422701620" sldId="381"/>
        </pc:sldMkLst>
      </pc:sldChg>
      <pc:sldChg chg="del">
        <pc:chgData name="Kheng Kok MAR (NYP)" userId="62030f1a-a95b-4c33-86e6-478100d64ee1" providerId="ADAL" clId="{58ED7AA8-B633-43EA-B803-6478153F3BD7}" dt="2025-03-21T05:00:06.595" v="137" actId="47"/>
        <pc:sldMkLst>
          <pc:docMk/>
          <pc:sldMk cId="2680813618" sldId="383"/>
        </pc:sldMkLst>
      </pc:sldChg>
      <pc:sldChg chg="del">
        <pc:chgData name="Kheng Kok MAR (NYP)" userId="62030f1a-a95b-4c33-86e6-478100d64ee1" providerId="ADAL" clId="{58ED7AA8-B633-43EA-B803-6478153F3BD7}" dt="2025-03-21T05:00:06.595" v="137" actId="47"/>
        <pc:sldMkLst>
          <pc:docMk/>
          <pc:sldMk cId="3875934704" sldId="384"/>
        </pc:sldMkLst>
      </pc:sldChg>
      <pc:sldChg chg="del">
        <pc:chgData name="Kheng Kok MAR (NYP)" userId="62030f1a-a95b-4c33-86e6-478100d64ee1" providerId="ADAL" clId="{58ED7AA8-B633-43EA-B803-6478153F3BD7}" dt="2025-03-21T05:00:06.595" v="137" actId="47"/>
        <pc:sldMkLst>
          <pc:docMk/>
          <pc:sldMk cId="2619453085" sldId="385"/>
        </pc:sldMkLst>
      </pc:sldChg>
      <pc:sldChg chg="del">
        <pc:chgData name="Kheng Kok MAR (NYP)" userId="62030f1a-a95b-4c33-86e6-478100d64ee1" providerId="ADAL" clId="{58ED7AA8-B633-43EA-B803-6478153F3BD7}" dt="2025-03-21T05:00:06.595" v="137" actId="47"/>
        <pc:sldMkLst>
          <pc:docMk/>
          <pc:sldMk cId="4041534699" sldId="386"/>
        </pc:sldMkLst>
      </pc:sldChg>
      <pc:sldChg chg="del">
        <pc:chgData name="Kheng Kok MAR (NYP)" userId="62030f1a-a95b-4c33-86e6-478100d64ee1" providerId="ADAL" clId="{58ED7AA8-B633-43EA-B803-6478153F3BD7}" dt="2025-03-21T05:00:06.595" v="137" actId="47"/>
        <pc:sldMkLst>
          <pc:docMk/>
          <pc:sldMk cId="3434463523" sldId="387"/>
        </pc:sldMkLst>
      </pc:sldChg>
      <pc:sldChg chg="del">
        <pc:chgData name="Kheng Kok MAR (NYP)" userId="62030f1a-a95b-4c33-86e6-478100d64ee1" providerId="ADAL" clId="{58ED7AA8-B633-43EA-B803-6478153F3BD7}" dt="2025-03-21T05:00:06.595" v="137" actId="47"/>
        <pc:sldMkLst>
          <pc:docMk/>
          <pc:sldMk cId="3273044271" sldId="388"/>
        </pc:sldMkLst>
      </pc:sldChg>
      <pc:sldChg chg="del">
        <pc:chgData name="Kheng Kok MAR (NYP)" userId="62030f1a-a95b-4c33-86e6-478100d64ee1" providerId="ADAL" clId="{58ED7AA8-B633-43EA-B803-6478153F3BD7}" dt="2025-03-21T05:00:06.595" v="137" actId="47"/>
        <pc:sldMkLst>
          <pc:docMk/>
          <pc:sldMk cId="2594403404" sldId="389"/>
        </pc:sldMkLst>
      </pc:sldChg>
      <pc:sldChg chg="del">
        <pc:chgData name="Kheng Kok MAR (NYP)" userId="62030f1a-a95b-4c33-86e6-478100d64ee1" providerId="ADAL" clId="{58ED7AA8-B633-43EA-B803-6478153F3BD7}" dt="2025-03-21T05:00:06.595" v="137" actId="47"/>
        <pc:sldMkLst>
          <pc:docMk/>
          <pc:sldMk cId="2584676501" sldId="390"/>
        </pc:sldMkLst>
      </pc:sldChg>
      <pc:sldChg chg="del">
        <pc:chgData name="Kheng Kok MAR (NYP)" userId="62030f1a-a95b-4c33-86e6-478100d64ee1" providerId="ADAL" clId="{58ED7AA8-B633-43EA-B803-6478153F3BD7}" dt="2025-03-21T05:00:06.595" v="137" actId="47"/>
        <pc:sldMkLst>
          <pc:docMk/>
          <pc:sldMk cId="4048104730" sldId="391"/>
        </pc:sldMkLst>
      </pc:sldChg>
      <pc:sldChg chg="del">
        <pc:chgData name="Kheng Kok MAR (NYP)" userId="62030f1a-a95b-4c33-86e6-478100d64ee1" providerId="ADAL" clId="{58ED7AA8-B633-43EA-B803-6478153F3BD7}" dt="2025-03-21T05:00:06.595" v="137" actId="47"/>
        <pc:sldMkLst>
          <pc:docMk/>
          <pc:sldMk cId="761234270" sldId="392"/>
        </pc:sldMkLst>
      </pc:sldChg>
      <pc:sldChg chg="del">
        <pc:chgData name="Kheng Kok MAR (NYP)" userId="62030f1a-a95b-4c33-86e6-478100d64ee1" providerId="ADAL" clId="{58ED7AA8-B633-43EA-B803-6478153F3BD7}" dt="2025-03-21T05:00:06.595" v="137" actId="47"/>
        <pc:sldMkLst>
          <pc:docMk/>
          <pc:sldMk cId="3140442699" sldId="393"/>
        </pc:sldMkLst>
      </pc:sldChg>
      <pc:sldChg chg="del">
        <pc:chgData name="Kheng Kok MAR (NYP)" userId="62030f1a-a95b-4c33-86e6-478100d64ee1" providerId="ADAL" clId="{58ED7AA8-B633-43EA-B803-6478153F3BD7}" dt="2025-03-21T05:00:06.595" v="137" actId="47"/>
        <pc:sldMkLst>
          <pc:docMk/>
          <pc:sldMk cId="2799622941" sldId="394"/>
        </pc:sldMkLst>
      </pc:sldChg>
      <pc:sldChg chg="del">
        <pc:chgData name="Kheng Kok MAR (NYP)" userId="62030f1a-a95b-4c33-86e6-478100d64ee1" providerId="ADAL" clId="{58ED7AA8-B633-43EA-B803-6478153F3BD7}" dt="2025-03-21T05:00:06.595" v="137" actId="47"/>
        <pc:sldMkLst>
          <pc:docMk/>
          <pc:sldMk cId="2213993344" sldId="395"/>
        </pc:sldMkLst>
      </pc:sldChg>
      <pc:sldChg chg="del">
        <pc:chgData name="Kheng Kok MAR (NYP)" userId="62030f1a-a95b-4c33-86e6-478100d64ee1" providerId="ADAL" clId="{58ED7AA8-B633-43EA-B803-6478153F3BD7}" dt="2025-03-21T05:00:06.595" v="137" actId="47"/>
        <pc:sldMkLst>
          <pc:docMk/>
          <pc:sldMk cId="1879657340" sldId="396"/>
        </pc:sldMkLst>
      </pc:sldChg>
      <pc:sldChg chg="del">
        <pc:chgData name="Kheng Kok MAR (NYP)" userId="62030f1a-a95b-4c33-86e6-478100d64ee1" providerId="ADAL" clId="{58ED7AA8-B633-43EA-B803-6478153F3BD7}" dt="2025-03-21T05:00:06.595" v="137" actId="47"/>
        <pc:sldMkLst>
          <pc:docMk/>
          <pc:sldMk cId="227410163" sldId="397"/>
        </pc:sldMkLst>
      </pc:sldChg>
      <pc:sldChg chg="del">
        <pc:chgData name="Kheng Kok MAR (NYP)" userId="62030f1a-a95b-4c33-86e6-478100d64ee1" providerId="ADAL" clId="{58ED7AA8-B633-43EA-B803-6478153F3BD7}" dt="2025-03-21T05:00:06.595" v="137" actId="47"/>
        <pc:sldMkLst>
          <pc:docMk/>
          <pc:sldMk cId="353696741" sldId="398"/>
        </pc:sldMkLst>
      </pc:sldChg>
      <pc:sldChg chg="del">
        <pc:chgData name="Kheng Kok MAR (NYP)" userId="62030f1a-a95b-4c33-86e6-478100d64ee1" providerId="ADAL" clId="{58ED7AA8-B633-43EA-B803-6478153F3BD7}" dt="2025-03-21T05:00:06.595" v="137" actId="47"/>
        <pc:sldMkLst>
          <pc:docMk/>
          <pc:sldMk cId="3929622885" sldId="399"/>
        </pc:sldMkLst>
      </pc:sldChg>
      <pc:sldChg chg="del">
        <pc:chgData name="Kheng Kok MAR (NYP)" userId="62030f1a-a95b-4c33-86e6-478100d64ee1" providerId="ADAL" clId="{58ED7AA8-B633-43EA-B803-6478153F3BD7}" dt="2025-03-21T05:00:06.595" v="137" actId="47"/>
        <pc:sldMkLst>
          <pc:docMk/>
          <pc:sldMk cId="3406082339" sldId="400"/>
        </pc:sldMkLst>
      </pc:sldChg>
      <pc:sldChg chg="del">
        <pc:chgData name="Kheng Kok MAR (NYP)" userId="62030f1a-a95b-4c33-86e6-478100d64ee1" providerId="ADAL" clId="{58ED7AA8-B633-43EA-B803-6478153F3BD7}" dt="2025-03-21T05:00:06.595" v="137" actId="47"/>
        <pc:sldMkLst>
          <pc:docMk/>
          <pc:sldMk cId="1068316888" sldId="401"/>
        </pc:sldMkLst>
      </pc:sldChg>
      <pc:sldChg chg="modSp add mod">
        <pc:chgData name="Kheng Kok MAR (NYP)" userId="62030f1a-a95b-4c33-86e6-478100d64ee1" providerId="ADAL" clId="{58ED7AA8-B633-43EA-B803-6478153F3BD7}" dt="2025-03-21T04:59:24.160" v="134" actId="20577"/>
        <pc:sldMkLst>
          <pc:docMk/>
          <pc:sldMk cId="3155291161" sldId="402"/>
        </pc:sldMkLst>
        <pc:spChg chg="mod">
          <ac:chgData name="Kheng Kok MAR (NYP)" userId="62030f1a-a95b-4c33-86e6-478100d64ee1" providerId="ADAL" clId="{58ED7AA8-B633-43EA-B803-6478153F3BD7}" dt="2025-03-21T02:00:47.977" v="73" actId="20577"/>
          <ac:spMkLst>
            <pc:docMk/>
            <pc:sldMk cId="3155291161" sldId="402"/>
            <ac:spMk id="2" creationId="{A1D871B1-6C5D-3259-B42A-793ADF2CE90C}"/>
          </ac:spMkLst>
        </pc:spChg>
        <pc:spChg chg="mod">
          <ac:chgData name="Kheng Kok MAR (NYP)" userId="62030f1a-a95b-4c33-86e6-478100d64ee1" providerId="ADAL" clId="{58ED7AA8-B633-43EA-B803-6478153F3BD7}" dt="2025-03-21T04:59:24.160" v="134" actId="20577"/>
          <ac:spMkLst>
            <pc:docMk/>
            <pc:sldMk cId="3155291161" sldId="402"/>
            <ac:spMk id="3" creationId="{DD3B9174-B1BD-7F76-160C-AB73246A18B4}"/>
          </ac:spMkLst>
        </pc:spChg>
      </pc:sldChg>
      <pc:sldChg chg="modSp add del mod">
        <pc:chgData name="Kheng Kok MAR (NYP)" userId="62030f1a-a95b-4c33-86e6-478100d64ee1" providerId="ADAL" clId="{58ED7AA8-B633-43EA-B803-6478153F3BD7}" dt="2025-03-21T02:00:27.386" v="55"/>
        <pc:sldMkLst>
          <pc:docMk/>
          <pc:sldMk cId="3498333577" sldId="402"/>
        </pc:sldMkLst>
        <pc:spChg chg="mod">
          <ac:chgData name="Kheng Kok MAR (NYP)" userId="62030f1a-a95b-4c33-86e6-478100d64ee1" providerId="ADAL" clId="{58ED7AA8-B633-43EA-B803-6478153F3BD7}" dt="2025-03-21T02:00:26.988" v="54" actId="20577"/>
          <ac:spMkLst>
            <pc:docMk/>
            <pc:sldMk cId="3498333577" sldId="402"/>
            <ac:spMk id="2" creationId="{7E5DD8B0-3B00-B572-9211-A9127DBB9BE1}"/>
          </ac:spMkLst>
        </pc:spChg>
      </pc:sldChg>
      <pc:sldChg chg="modSp new mod">
        <pc:chgData name="Kheng Kok MAR (NYP)" userId="62030f1a-a95b-4c33-86e6-478100d64ee1" providerId="ADAL" clId="{58ED7AA8-B633-43EA-B803-6478153F3BD7}" dt="2025-03-21T05:00:48.584" v="153" actId="5793"/>
        <pc:sldMkLst>
          <pc:docMk/>
          <pc:sldMk cId="2767485149" sldId="403"/>
        </pc:sldMkLst>
        <pc:spChg chg="mod">
          <ac:chgData name="Kheng Kok MAR (NYP)" userId="62030f1a-a95b-4c33-86e6-478100d64ee1" providerId="ADAL" clId="{58ED7AA8-B633-43EA-B803-6478153F3BD7}" dt="2025-03-21T05:00:24.783" v="150" actId="20577"/>
          <ac:spMkLst>
            <pc:docMk/>
            <pc:sldMk cId="2767485149" sldId="403"/>
            <ac:spMk id="2" creationId="{B6D222A1-CAB4-531E-D2EE-955F64A570CC}"/>
          </ac:spMkLst>
        </pc:spChg>
        <pc:spChg chg="mod">
          <ac:chgData name="Kheng Kok MAR (NYP)" userId="62030f1a-a95b-4c33-86e6-478100d64ee1" providerId="ADAL" clId="{58ED7AA8-B633-43EA-B803-6478153F3BD7}" dt="2025-03-21T05:00:48.584" v="153" actId="5793"/>
          <ac:spMkLst>
            <pc:docMk/>
            <pc:sldMk cId="2767485149" sldId="403"/>
            <ac:spMk id="3" creationId="{C3D150AC-8FBE-FE32-73FC-FBBA80B56B9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4A07A7-A8F7-B72E-4B74-261D7D3F95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57972104-C5D7-9142-35F7-AC28827A37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D3F652-CB33-4F60-88E9-6D8C7BBE5615}" type="datetimeFigureOut">
              <a:rPr lang="en-SG" smtClean="0"/>
              <a:t>13/10/2025</a:t>
            </a:fld>
            <a:endParaRPr lang="en-SG"/>
          </a:p>
        </p:txBody>
      </p:sp>
      <p:sp>
        <p:nvSpPr>
          <p:cNvPr id="4" name="Footer Placeholder 3">
            <a:extLst>
              <a:ext uri="{FF2B5EF4-FFF2-40B4-BE49-F238E27FC236}">
                <a16:creationId xmlns:a16="http://schemas.microsoft.com/office/drawing/2014/main" id="{82843AF6-21A3-F929-ED7C-7B438738C7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E12D10-68BD-CCCD-9552-0B6E039E3D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B006ED-B046-4917-A165-CAAD7C0FC909}" type="slidenum">
              <a:rPr lang="en-SG" smtClean="0"/>
              <a:t>‹#›</a:t>
            </a:fld>
            <a:endParaRPr lang="en-SG"/>
          </a:p>
        </p:txBody>
      </p:sp>
    </p:spTree>
    <p:extLst>
      <p:ext uri="{BB962C8B-B14F-4D97-AF65-F5344CB8AC3E}">
        <p14:creationId xmlns:p14="http://schemas.microsoft.com/office/powerpoint/2010/main" val="416877492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13/10/2025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EA3C9-6A75-1ACC-B9DD-02E47A419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233F7-84E0-CA0A-1620-DED80B3EE9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9403095-1979-EB07-19FD-93E4CD1C3DE9}"/>
              </a:ext>
            </a:extLst>
          </p:cNvPr>
          <p:cNvSpPr>
            <a:spLocks noGrp="1"/>
          </p:cNvSpPr>
          <p:nvPr>
            <p:ph type="body" idx="1"/>
          </p:nvPr>
        </p:nvSpPr>
        <p:spPr/>
        <p:txBody>
          <a:bodyPr/>
          <a:lstStyle/>
          <a:p>
            <a:r>
              <a:rPr lang="en-GB" dirty="0"/>
              <a:t>https://www.slideshare.net/slideshow/generativeaifundamentals-and-large-language-models/265130205#15</a:t>
            </a:r>
          </a:p>
        </p:txBody>
      </p:sp>
      <p:sp>
        <p:nvSpPr>
          <p:cNvPr id="4" name="Footer Placeholder 3">
            <a:extLst>
              <a:ext uri="{FF2B5EF4-FFF2-40B4-BE49-F238E27FC236}">
                <a16:creationId xmlns:a16="http://schemas.microsoft.com/office/drawing/2014/main" id="{D2CC96F3-C312-2C6E-327B-F0FB26E09927}"/>
              </a:ext>
            </a:extLst>
          </p:cNvPr>
          <p:cNvSpPr>
            <a:spLocks noGrp="1"/>
          </p:cNvSpPr>
          <p:nvPr>
            <p:ph type="ftr" sz="quarter" idx="4"/>
          </p:nvPr>
        </p:nvSpPr>
        <p:spPr/>
        <p:txBody>
          <a:bodyPr/>
          <a:lstStyle/>
          <a:p>
            <a:endParaRPr lang="en-SG"/>
          </a:p>
        </p:txBody>
      </p:sp>
    </p:spTree>
    <p:extLst>
      <p:ext uri="{BB962C8B-B14F-4D97-AF65-F5344CB8AC3E}">
        <p14:creationId xmlns:p14="http://schemas.microsoft.com/office/powerpoint/2010/main" val="4028276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SG"/>
          </a:p>
        </p:txBody>
      </p:sp>
      <p:sp>
        <p:nvSpPr>
          <p:cNvPr id="5" name="Slide Number Placeholder 4"/>
          <p:cNvSpPr>
            <a:spLocks noGrp="1"/>
          </p:cNvSpPr>
          <p:nvPr>
            <p:ph type="sldNum" sz="quarter" idx="5"/>
          </p:nvPr>
        </p:nvSpPr>
        <p:spPr/>
        <p:txBody>
          <a:bodyPr/>
          <a:lstStyle/>
          <a:p>
            <a:fld id="{0740DD26-C564-4A3C-8398-FE9A3FA1B74B}" type="slidenum">
              <a:rPr lang="en-SG" smtClean="0"/>
              <a:t>4</a:t>
            </a:fld>
            <a:endParaRPr lang="en-SG"/>
          </a:p>
        </p:txBody>
      </p:sp>
    </p:spTree>
    <p:extLst>
      <p:ext uri="{BB962C8B-B14F-4D97-AF65-F5344CB8AC3E}">
        <p14:creationId xmlns:p14="http://schemas.microsoft.com/office/powerpoint/2010/main" val="3028125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r>
              <a:rPr lang="it-IT"/>
              <a:t>ITI122 Generative AI - PDC in Deep Learning &amp; AI Applications</a:t>
            </a:r>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30229"/>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
        <p:nvSpPr>
          <p:cNvPr id="6" name="Footer Placeholder 5">
            <a:extLst>
              <a:ext uri="{FF2B5EF4-FFF2-40B4-BE49-F238E27FC236}">
                <a16:creationId xmlns:a16="http://schemas.microsoft.com/office/drawing/2014/main" id="{9BE200EA-5608-25F7-9D16-8618AB8F1329}"/>
              </a:ext>
            </a:extLst>
          </p:cNvPr>
          <p:cNvSpPr>
            <a:spLocks noGrp="1"/>
          </p:cNvSpPr>
          <p:nvPr>
            <p:ph type="ftr" sz="quarter" idx="13"/>
          </p:nvPr>
        </p:nvSpPr>
        <p:spPr>
          <a:xfrm>
            <a:off x="542018" y="6492875"/>
            <a:ext cx="4114800" cy="365125"/>
          </a:xfrm>
        </p:spPr>
        <p:txBody>
          <a:bodyPr/>
          <a:lstStyle/>
          <a:p>
            <a:pPr algn="l"/>
            <a:r>
              <a:rPr lang="it-IT"/>
              <a:t>ITI122 Generative AI - PDC in Deep Learning &amp; AI Applications</a:t>
            </a:r>
            <a:endParaRPr lang="en-SG" dirty="0"/>
          </a:p>
        </p:txBody>
      </p:sp>
      <p:sp>
        <p:nvSpPr>
          <p:cNvPr id="7" name="Slide Number Placeholder 6">
            <a:extLst>
              <a:ext uri="{FF2B5EF4-FFF2-40B4-BE49-F238E27FC236}">
                <a16:creationId xmlns:a16="http://schemas.microsoft.com/office/drawing/2014/main" id="{934C0804-8576-3D7C-894B-CB09C4D33808}"/>
              </a:ext>
            </a:extLst>
          </p:cNvPr>
          <p:cNvSpPr>
            <a:spLocks noGrp="1"/>
          </p:cNvSpPr>
          <p:nvPr>
            <p:ph type="sldNum" sz="quarter" idx="14"/>
          </p:nvPr>
        </p:nvSpPr>
        <p:spPr>
          <a:xfrm>
            <a:off x="8610600" y="6492874"/>
            <a:ext cx="2743200" cy="365125"/>
          </a:xfrm>
        </p:spPr>
        <p:txBody>
          <a:bodyPr/>
          <a:lstStyle/>
          <a:p>
            <a:fld id="{CE19DD2C-80DA-488C-99A4-6C8CE83C9C30}" type="slidenum">
              <a:rPr lang="en-SG" smtClean="0"/>
              <a:t>‹#›</a:t>
            </a:fld>
            <a:endParaRPr lang="en-SG"/>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0C6C-FDE3-C662-2486-197F1D3B3A34}"/>
              </a:ext>
            </a:extLst>
          </p:cNvPr>
          <p:cNvPicPr>
            <a:picLocks noChangeAspect="1"/>
          </p:cNvPicPr>
          <p:nvPr userDrawn="1"/>
        </p:nvPicPr>
        <p:blipFill>
          <a:blip r:embed="rId2"/>
          <a:srcRect/>
          <a:stretch/>
        </p:blipFill>
        <p:spPr>
          <a:xfrm>
            <a:off x="0" y="0"/>
            <a:ext cx="12192000" cy="6858000"/>
          </a:xfrm>
          <a:prstGeom prst="rect">
            <a:avLst/>
          </a:prstGeom>
        </p:spPr>
      </p:pic>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356323" y="1528131"/>
            <a:ext cx="5337923" cy="1866872"/>
          </a:xfrm>
          <a:prstGeom prst="rect">
            <a:avLst/>
          </a:prstGeom>
        </p:spPr>
        <p:txBody>
          <a:bodyPr/>
          <a:lstStyle>
            <a:lvl1pPr>
              <a:lnSpc>
                <a:spcPct val="80000"/>
              </a:lnSpc>
              <a:defRPr sz="6667" b="1">
                <a:solidFill>
                  <a:schemeClr val="tx1"/>
                </a:solidFill>
              </a:defRPr>
            </a:lvl1pPr>
          </a:lstStyle>
          <a:p>
            <a:pPr lvl="0"/>
            <a:endParaRPr lang="en-SG" dirty="0"/>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356323" y="3549449"/>
            <a:ext cx="4813671" cy="999104"/>
          </a:xfrm>
          <a:prstGeom prst="rect">
            <a:avLst/>
          </a:prstGeom>
        </p:spPr>
        <p:txBody>
          <a:bodyPr/>
          <a:lstStyle>
            <a:lvl1pPr>
              <a:defRPr sz="1867" b="0">
                <a:solidFill>
                  <a:schemeClr val="tx1"/>
                </a:solidFill>
              </a:defRPr>
            </a:lvl1pPr>
          </a:lstStyle>
          <a:p>
            <a:pPr lvl="0"/>
            <a:endParaRPr lang="en-SG" dirty="0"/>
          </a:p>
        </p:txBody>
      </p:sp>
      <p:sp>
        <p:nvSpPr>
          <p:cNvPr id="18" name="Rectangle 1">
            <a:extLst>
              <a:ext uri="{FF2B5EF4-FFF2-40B4-BE49-F238E27FC236}">
                <a16:creationId xmlns:a16="http://schemas.microsoft.com/office/drawing/2014/main" id="{B0011CE1-EDBF-46B7-9599-4FD9FCE16C51}"/>
              </a:ext>
            </a:extLst>
          </p:cNvPr>
          <p:cNvSpPr/>
          <p:nvPr userDrawn="1"/>
        </p:nvSpPr>
        <p:spPr>
          <a:xfrm rot="2871830">
            <a:off x="6936865" y="138470"/>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547" y="393707"/>
            <a:ext cx="2822077" cy="584956"/>
          </a:xfrm>
          <a:prstGeom prst="rect">
            <a:avLst/>
          </a:prstGeom>
        </p:spPr>
      </p:pic>
      <p:sp>
        <p:nvSpPr>
          <p:cNvPr id="2" name="Isosceles Triangle 2">
            <a:extLst>
              <a:ext uri="{FF2B5EF4-FFF2-40B4-BE49-F238E27FC236}">
                <a16:creationId xmlns:a16="http://schemas.microsoft.com/office/drawing/2014/main" id="{A15BFF93-6482-1724-38DE-4828529F78E7}"/>
              </a:ext>
            </a:extLst>
          </p:cNvPr>
          <p:cNvSpPr/>
          <p:nvPr userDrawn="1"/>
        </p:nvSpPr>
        <p:spPr>
          <a:xfrm rot="16200000">
            <a:off x="10798933" y="5465604"/>
            <a:ext cx="1375097" cy="141319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 name="connsiteX0" fmla="*/ 0 w 1062123"/>
              <a:gd name="connsiteY0" fmla="*/ 1219442 h 1219442"/>
              <a:gd name="connsiteX1" fmla="*/ 3853 w 1062123"/>
              <a:gd name="connsiteY1" fmla="*/ 0 h 1219442"/>
              <a:gd name="connsiteX2" fmla="*/ 1062123 w 1062123"/>
              <a:gd name="connsiteY2" fmla="*/ 1131336 h 1219442"/>
              <a:gd name="connsiteX3" fmla="*/ 0 w 106212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31902 w 1058464"/>
              <a:gd name="connsiteY0" fmla="*/ 1131335 h 1132395"/>
              <a:gd name="connsiteX1" fmla="*/ 36 w 1058464"/>
              <a:gd name="connsiteY1" fmla="*/ 0 h 1132395"/>
              <a:gd name="connsiteX2" fmla="*/ 1058306 w 1058464"/>
              <a:gd name="connsiteY2" fmla="*/ 1131336 h 1132395"/>
              <a:gd name="connsiteX3" fmla="*/ 31902 w 1058464"/>
              <a:gd name="connsiteY3" fmla="*/ 1131335 h 1132395"/>
              <a:gd name="connsiteX0" fmla="*/ 5810 w 1032372"/>
              <a:gd name="connsiteY0" fmla="*/ 1074182 h 1075242"/>
              <a:gd name="connsiteX1" fmla="*/ 137 w 1032372"/>
              <a:gd name="connsiteY1" fmla="*/ 0 h 1075242"/>
              <a:gd name="connsiteX2" fmla="*/ 1032214 w 1032372"/>
              <a:gd name="connsiteY2" fmla="*/ 1074183 h 1075242"/>
              <a:gd name="connsiteX3" fmla="*/ 5810 w 1032372"/>
              <a:gd name="connsiteY3" fmla="*/ 1074182 h 1075242"/>
              <a:gd name="connsiteX0" fmla="*/ 1200 w 1032523"/>
              <a:gd name="connsiteY0" fmla="*/ 1078945 h 1078945"/>
              <a:gd name="connsiteX1" fmla="*/ 289 w 1032523"/>
              <a:gd name="connsiteY1" fmla="*/ 0 h 1078945"/>
              <a:gd name="connsiteX2" fmla="*/ 1032366 w 1032523"/>
              <a:gd name="connsiteY2" fmla="*/ 1074183 h 1078945"/>
              <a:gd name="connsiteX3" fmla="*/ 1200 w 1032523"/>
              <a:gd name="connsiteY3" fmla="*/ 1078945 h 1078945"/>
              <a:gd name="connsiteX0" fmla="*/ 0 w 1031323"/>
              <a:gd name="connsiteY0" fmla="*/ 1059895 h 1059895"/>
              <a:gd name="connsiteX1" fmla="*/ 1470 w 1031323"/>
              <a:gd name="connsiteY1" fmla="*/ 0 h 1059895"/>
              <a:gd name="connsiteX2" fmla="*/ 1031166 w 1031323"/>
              <a:gd name="connsiteY2" fmla="*/ 1055133 h 1059895"/>
              <a:gd name="connsiteX3" fmla="*/ 0 w 1031323"/>
              <a:gd name="connsiteY3" fmla="*/ 1059895 h 1059895"/>
            </a:gdLst>
            <a:ahLst/>
            <a:cxnLst>
              <a:cxn ang="0">
                <a:pos x="connsiteX0" y="connsiteY0"/>
              </a:cxn>
              <a:cxn ang="0">
                <a:pos x="connsiteX1" y="connsiteY1"/>
              </a:cxn>
              <a:cxn ang="0">
                <a:pos x="connsiteX2" y="connsiteY2"/>
              </a:cxn>
              <a:cxn ang="0">
                <a:pos x="connsiteX3" y="connsiteY3"/>
              </a:cxn>
            </a:cxnLst>
            <a:rect l="l" t="t" r="r" b="b"/>
            <a:pathLst>
              <a:path w="1031323" h="1059895">
                <a:moveTo>
                  <a:pt x="0" y="1059895"/>
                </a:moveTo>
                <a:cubicBezTo>
                  <a:pt x="1284" y="650874"/>
                  <a:pt x="186" y="409021"/>
                  <a:pt x="1470" y="0"/>
                </a:cubicBezTo>
                <a:cubicBezTo>
                  <a:pt x="354227" y="377112"/>
                  <a:pt x="1042740" y="1051880"/>
                  <a:pt x="1031166" y="1055133"/>
                </a:cubicBezTo>
                <a:cubicBezTo>
                  <a:pt x="1043043" y="1057517"/>
                  <a:pt x="381029" y="1059895"/>
                  <a:pt x="0" y="1059895"/>
                </a:cubicBezTo>
                <a:close/>
              </a:path>
            </a:pathLst>
          </a:cu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4" name="Rectangle 11">
            <a:extLst>
              <a:ext uri="{FF2B5EF4-FFF2-40B4-BE49-F238E27FC236}">
                <a16:creationId xmlns:a16="http://schemas.microsoft.com/office/drawing/2014/main" id="{F51460D6-F294-9FEC-8A11-8E4DE73D906F}"/>
              </a:ext>
            </a:extLst>
          </p:cNvPr>
          <p:cNvSpPr/>
          <p:nvPr userDrawn="1"/>
        </p:nvSpPr>
        <p:spPr>
          <a:xfrm rot="13500000">
            <a:off x="11360201" y="5062314"/>
            <a:ext cx="311071" cy="2220841"/>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 name="connsiteX0" fmla="*/ 712 w 205183"/>
              <a:gd name="connsiteY0" fmla="*/ 149617 h 1368402"/>
              <a:gd name="connsiteX1" fmla="*/ 195553 w 205183"/>
              <a:gd name="connsiteY1" fmla="*/ 0 h 1368402"/>
              <a:gd name="connsiteX2" fmla="*/ 204992 w 205183"/>
              <a:gd name="connsiteY2" fmla="*/ 1368402 h 1368402"/>
              <a:gd name="connsiteX3" fmla="*/ 557 w 205183"/>
              <a:gd name="connsiteY3" fmla="*/ 1213519 h 1368402"/>
              <a:gd name="connsiteX4" fmla="*/ 712 w 205183"/>
              <a:gd name="connsiteY4" fmla="*/ 149617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213519 h 1368402"/>
              <a:gd name="connsiteX4" fmla="*/ 0 w 207533"/>
              <a:gd name="connsiteY4" fmla="*/ 174342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175058 h 1368402"/>
              <a:gd name="connsiteX4" fmla="*/ 0 w 207533"/>
              <a:gd name="connsiteY4" fmla="*/ 174342 h 1368402"/>
              <a:gd name="connsiteX0" fmla="*/ 0 w 209045"/>
              <a:gd name="connsiteY0" fmla="*/ 174342 h 1358786"/>
              <a:gd name="connsiteX1" fmla="*/ 197903 w 209045"/>
              <a:gd name="connsiteY1" fmla="*/ 0 h 1358786"/>
              <a:gd name="connsiteX2" fmla="*/ 208872 w 209045"/>
              <a:gd name="connsiteY2" fmla="*/ 1358786 h 1358786"/>
              <a:gd name="connsiteX3" fmla="*/ 2907 w 209045"/>
              <a:gd name="connsiteY3" fmla="*/ 1175058 h 1358786"/>
              <a:gd name="connsiteX4" fmla="*/ 0 w 209045"/>
              <a:gd name="connsiteY4" fmla="*/ 174342 h 1358786"/>
              <a:gd name="connsiteX0" fmla="*/ 0 w 212106"/>
              <a:gd name="connsiteY0" fmla="*/ 185331 h 1358786"/>
              <a:gd name="connsiteX1" fmla="*/ 200964 w 212106"/>
              <a:gd name="connsiteY1" fmla="*/ 0 h 1358786"/>
              <a:gd name="connsiteX2" fmla="*/ 211933 w 212106"/>
              <a:gd name="connsiteY2" fmla="*/ 1358786 h 1358786"/>
              <a:gd name="connsiteX3" fmla="*/ 5968 w 212106"/>
              <a:gd name="connsiteY3" fmla="*/ 1175058 h 1358786"/>
              <a:gd name="connsiteX4" fmla="*/ 0 w 212106"/>
              <a:gd name="connsiteY4" fmla="*/ 185331 h 135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06" h="1358786">
                <a:moveTo>
                  <a:pt x="0" y="185331"/>
                </a:moveTo>
                <a:cubicBezTo>
                  <a:pt x="63586" y="119586"/>
                  <a:pt x="137378" y="65745"/>
                  <a:pt x="200964" y="0"/>
                </a:cubicBezTo>
                <a:cubicBezTo>
                  <a:pt x="199037" y="439312"/>
                  <a:pt x="213860" y="919474"/>
                  <a:pt x="211933" y="1358786"/>
                </a:cubicBezTo>
                <a:lnTo>
                  <a:pt x="5968" y="1175058"/>
                </a:lnTo>
                <a:cubicBezTo>
                  <a:pt x="3976" y="818471"/>
                  <a:pt x="1992" y="541918"/>
                  <a:pt x="0" y="185331"/>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5" name="Freeform: Shape 4">
            <a:extLst>
              <a:ext uri="{FF2B5EF4-FFF2-40B4-BE49-F238E27FC236}">
                <a16:creationId xmlns:a16="http://schemas.microsoft.com/office/drawing/2014/main" id="{D00AA2F6-9E32-1951-916C-8943096E1C7C}"/>
              </a:ext>
            </a:extLst>
          </p:cNvPr>
          <p:cNvSpPr/>
          <p:nvPr userDrawn="1"/>
        </p:nvSpPr>
        <p:spPr>
          <a:xfrm>
            <a:off x="1058466" y="3902882"/>
            <a:ext cx="5774133" cy="2955801"/>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 name="connsiteX0" fmla="*/ 0 w 5165070"/>
              <a:gd name="connsiteY0" fmla="*/ 2254611 h 2255788"/>
              <a:gd name="connsiteX1" fmla="*/ 2953502 w 5165070"/>
              <a:gd name="connsiteY1" fmla="*/ 0 h 2255788"/>
              <a:gd name="connsiteX2" fmla="*/ 5165070 w 5165070"/>
              <a:gd name="connsiteY2" fmla="*/ 2255788 h 2255788"/>
              <a:gd name="connsiteX3" fmla="*/ 0 w 5165070"/>
              <a:gd name="connsiteY3" fmla="*/ 2254611 h 2255788"/>
              <a:gd name="connsiteX0" fmla="*/ 0 w 5138640"/>
              <a:gd name="connsiteY0" fmla="*/ 2241741 h 2255788"/>
              <a:gd name="connsiteX1" fmla="*/ 2927072 w 5138640"/>
              <a:gd name="connsiteY1" fmla="*/ 0 h 2255788"/>
              <a:gd name="connsiteX2" fmla="*/ 5138640 w 5138640"/>
              <a:gd name="connsiteY2" fmla="*/ 2255788 h 2255788"/>
              <a:gd name="connsiteX3" fmla="*/ 0 w 5138640"/>
              <a:gd name="connsiteY3" fmla="*/ 2241741 h 2255788"/>
              <a:gd name="connsiteX0" fmla="*/ 0 w 5149967"/>
              <a:gd name="connsiteY0" fmla="*/ 2251394 h 2255788"/>
              <a:gd name="connsiteX1" fmla="*/ 2938399 w 5149967"/>
              <a:gd name="connsiteY1" fmla="*/ 0 h 2255788"/>
              <a:gd name="connsiteX2" fmla="*/ 5149967 w 5149967"/>
              <a:gd name="connsiteY2" fmla="*/ 2255788 h 2255788"/>
              <a:gd name="connsiteX3" fmla="*/ 0 w 5149967"/>
              <a:gd name="connsiteY3" fmla="*/ 2251394 h 2255788"/>
              <a:gd name="connsiteX0" fmla="*/ 0 w 5161294"/>
              <a:gd name="connsiteY0" fmla="*/ 2251394 h 2255788"/>
              <a:gd name="connsiteX1" fmla="*/ 2949726 w 5161294"/>
              <a:gd name="connsiteY1" fmla="*/ 0 h 2255788"/>
              <a:gd name="connsiteX2" fmla="*/ 5161294 w 5161294"/>
              <a:gd name="connsiteY2" fmla="*/ 2255788 h 2255788"/>
              <a:gd name="connsiteX3" fmla="*/ 0 w 5161294"/>
              <a:gd name="connsiteY3" fmla="*/ 2251394 h 2255788"/>
              <a:gd name="connsiteX0" fmla="*/ 0 w 5161294"/>
              <a:gd name="connsiteY0" fmla="*/ 2246568 h 2250962"/>
              <a:gd name="connsiteX1" fmla="*/ 2955391 w 5161294"/>
              <a:gd name="connsiteY1" fmla="*/ 0 h 2250962"/>
              <a:gd name="connsiteX2" fmla="*/ 5161294 w 5161294"/>
              <a:gd name="connsiteY2" fmla="*/ 2250962 h 2250962"/>
              <a:gd name="connsiteX3" fmla="*/ 0 w 5161294"/>
              <a:gd name="connsiteY3" fmla="*/ 2246568 h 2250962"/>
              <a:gd name="connsiteX0" fmla="*/ 0 w 5149967"/>
              <a:gd name="connsiteY0" fmla="*/ 2246568 h 2246568"/>
              <a:gd name="connsiteX1" fmla="*/ 2955391 w 5149967"/>
              <a:gd name="connsiteY1" fmla="*/ 0 h 2246568"/>
              <a:gd name="connsiteX2" fmla="*/ 5149967 w 5149967"/>
              <a:gd name="connsiteY2" fmla="*/ 2243722 h 2246568"/>
              <a:gd name="connsiteX3" fmla="*/ 0 w 5149967"/>
              <a:gd name="connsiteY3" fmla="*/ 2246568 h 2246568"/>
            </a:gdLst>
            <a:ahLst/>
            <a:cxnLst>
              <a:cxn ang="0">
                <a:pos x="connsiteX0" y="connsiteY0"/>
              </a:cxn>
              <a:cxn ang="0">
                <a:pos x="connsiteX1" y="connsiteY1"/>
              </a:cxn>
              <a:cxn ang="0">
                <a:pos x="connsiteX2" y="connsiteY2"/>
              </a:cxn>
              <a:cxn ang="0">
                <a:pos x="connsiteX3" y="connsiteY3"/>
              </a:cxn>
            </a:cxnLst>
            <a:rect l="l" t="t" r="r" b="b"/>
            <a:pathLst>
              <a:path w="5149967" h="2246568">
                <a:moveTo>
                  <a:pt x="0" y="2246568"/>
                </a:moveTo>
                <a:lnTo>
                  <a:pt x="2955391" y="0"/>
                </a:lnTo>
                <a:lnTo>
                  <a:pt x="5149967" y="2243722"/>
                </a:lnTo>
                <a:lnTo>
                  <a:pt x="0" y="2246568"/>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ID" sz="1400" b="1" dirty="0"/>
              <a:t> </a:t>
            </a:r>
          </a:p>
        </p:txBody>
      </p:sp>
    </p:spTree>
    <p:extLst>
      <p:ext uri="{BB962C8B-B14F-4D97-AF65-F5344CB8AC3E}">
        <p14:creationId xmlns:p14="http://schemas.microsoft.com/office/powerpoint/2010/main" val="1551198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ITI122 Generative AI - PDC in Deep Learning &amp; AI Applications</a:t>
            </a:r>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5" r:id="rId15"/>
    <p:sldLayoutId id="2147483696" r:id="rId16"/>
    <p:sldLayoutId id="2147483697" r:id="rId17"/>
    <p:sldLayoutId id="2147483698" r:id="rId18"/>
    <p:sldLayoutId id="2147483699" r:id="rId19"/>
    <p:sldLayoutId id="2147483700" r:id="rId20"/>
    <p:sldLayoutId id="2147483701"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www.llamaindex.ai/blog/a-cheat-sheet-and-some-recipes-for-building-advanced-rag-803a9d94c41b" TargetMode="External"/><Relationship Id="rId2" Type="http://schemas.openxmlformats.org/officeDocument/2006/relationships/hyperlink" Target="https://medium.com/@yugank.aman/advanced-rag-techniques-0c283aacf5ba"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85A33-1C05-0A99-DEA3-DBBDF06F2471}"/>
              </a:ext>
            </a:extLst>
          </p:cNvPr>
          <p:cNvSpPr>
            <a:spLocks noGrp="1"/>
          </p:cNvSpPr>
          <p:nvPr>
            <p:ph type="body" sz="quarter" idx="12"/>
          </p:nvPr>
        </p:nvSpPr>
        <p:spPr>
          <a:xfrm>
            <a:off x="203270" y="1076562"/>
            <a:ext cx="7222766" cy="1613597"/>
          </a:xfrm>
        </p:spPr>
        <p:txBody>
          <a:bodyPr>
            <a:noAutofit/>
          </a:bodyPr>
          <a:lstStyle/>
          <a:p>
            <a:pPr marL="0" indent="0">
              <a:lnSpc>
                <a:spcPct val="110000"/>
              </a:lnSpc>
              <a:spcAft>
                <a:spcPts val="600"/>
              </a:spcAft>
              <a:buNone/>
            </a:pPr>
            <a:r>
              <a:rPr lang="en-SG" sz="4400" dirty="0"/>
              <a:t>Generative AI:</a:t>
            </a:r>
          </a:p>
          <a:p>
            <a:pPr marL="0" indent="0">
              <a:lnSpc>
                <a:spcPct val="110000"/>
              </a:lnSpc>
              <a:spcAft>
                <a:spcPts val="600"/>
              </a:spcAft>
              <a:buNone/>
            </a:pPr>
            <a:r>
              <a:rPr lang="en-SG" sz="4400" dirty="0"/>
              <a:t>Agentic AI- Single Agent</a:t>
            </a:r>
          </a:p>
        </p:txBody>
      </p:sp>
    </p:spTree>
    <p:extLst>
      <p:ext uri="{BB962C8B-B14F-4D97-AF65-F5344CB8AC3E}">
        <p14:creationId xmlns:p14="http://schemas.microsoft.com/office/powerpoint/2010/main" val="3496168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F5240-7FB9-719D-31A3-9285D2702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871B1-6C5D-3259-B42A-793ADF2CE90C}"/>
              </a:ext>
            </a:extLst>
          </p:cNvPr>
          <p:cNvSpPr>
            <a:spLocks noGrp="1"/>
          </p:cNvSpPr>
          <p:nvPr>
            <p:ph type="title"/>
          </p:nvPr>
        </p:nvSpPr>
        <p:spPr/>
        <p:txBody>
          <a:bodyPr/>
          <a:lstStyle/>
          <a:p>
            <a:r>
              <a:rPr lang="en-GB" dirty="0"/>
              <a:t>Learning Outcomes</a:t>
            </a:r>
          </a:p>
        </p:txBody>
      </p:sp>
      <p:sp>
        <p:nvSpPr>
          <p:cNvPr id="3" name="Text Placeholder 2">
            <a:extLst>
              <a:ext uri="{FF2B5EF4-FFF2-40B4-BE49-F238E27FC236}">
                <a16:creationId xmlns:a16="http://schemas.microsoft.com/office/drawing/2014/main" id="{DD3B9174-B1BD-7F76-160C-AB73246A18B4}"/>
              </a:ext>
            </a:extLst>
          </p:cNvPr>
          <p:cNvSpPr>
            <a:spLocks noGrp="1"/>
          </p:cNvSpPr>
          <p:nvPr>
            <p:ph type="body" sz="quarter" idx="11"/>
          </p:nvPr>
        </p:nvSpPr>
        <p:spPr/>
        <p:txBody>
          <a:bodyPr>
            <a:normAutofit/>
          </a:bodyPr>
          <a:lstStyle/>
          <a:p>
            <a:pPr marL="0" indent="0">
              <a:buNone/>
            </a:pP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Upon completion of this session, the learners should be able to:</a:t>
            </a:r>
          </a:p>
          <a:p>
            <a:r>
              <a:rPr lang="en-US" b="0" i="0" dirty="0">
                <a:solidFill>
                  <a:srgbClr val="212529"/>
                </a:solidFill>
                <a:effectLst/>
                <a:ea typeface="Roboto" panose="02000000000000000000" pitchFamily="2" charset="0"/>
                <a:cs typeface="Roboto" panose="02000000000000000000" pitchFamily="2" charset="0"/>
              </a:rPr>
              <a:t>Explain what Agentic AI is and why it matters.</a:t>
            </a:r>
          </a:p>
          <a:p>
            <a:r>
              <a:rPr lang="en-US" b="0" i="0" dirty="0">
                <a:solidFill>
                  <a:srgbClr val="212529"/>
                </a:solidFill>
                <a:effectLst/>
                <a:ea typeface="Roboto" panose="02000000000000000000" pitchFamily="2" charset="0"/>
                <a:cs typeface="Roboto" panose="02000000000000000000" pitchFamily="2" charset="0"/>
              </a:rPr>
              <a:t>Differentiate between a standard LLM application and Agentic AI systems.</a:t>
            </a:r>
          </a:p>
          <a:p>
            <a:r>
              <a:rPr lang="en-US" b="0" i="0" dirty="0">
                <a:solidFill>
                  <a:srgbClr val="212529"/>
                </a:solidFill>
                <a:effectLst/>
                <a:ea typeface="Roboto" panose="02000000000000000000" pitchFamily="2" charset="0"/>
                <a:cs typeface="Roboto" panose="02000000000000000000" pitchFamily="2" charset="0"/>
              </a:rPr>
              <a:t>Understand the technical design of a single-agent system.</a:t>
            </a:r>
          </a:p>
          <a:p>
            <a:r>
              <a:rPr lang="en-US" b="0" i="0" dirty="0">
                <a:solidFill>
                  <a:srgbClr val="212529"/>
                </a:solidFill>
                <a:effectLst/>
                <a:ea typeface="Roboto" panose="02000000000000000000" pitchFamily="2" charset="0"/>
                <a:cs typeface="Roboto" panose="02000000000000000000" pitchFamily="2" charset="0"/>
              </a:rPr>
              <a:t>Implement basic single-agent workflows using modern AI frameworks.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ITI122 Generative AI - PDC in Deep Learning &amp; AI Applications</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extLst>
      <p:ext uri="{BB962C8B-B14F-4D97-AF65-F5344CB8AC3E}">
        <p14:creationId xmlns:p14="http://schemas.microsoft.com/office/powerpoint/2010/main" val="3155291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7B11F-9E19-A54E-98FA-6DA57AAAC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A8F21-4462-83F6-CC7A-81802F1F9345}"/>
              </a:ext>
            </a:extLst>
          </p:cNvPr>
          <p:cNvSpPr>
            <a:spLocks noGrp="1"/>
          </p:cNvSpPr>
          <p:nvPr>
            <p:ph type="title"/>
          </p:nvPr>
        </p:nvSpPr>
        <p:spPr/>
        <p:txBody>
          <a:bodyPr/>
          <a:lstStyle/>
          <a:p>
            <a:r>
              <a:rPr lang="it-IT" dirty="0"/>
              <a:t>Agentic AI vs. generative AI</a:t>
            </a:r>
            <a:endParaRPr lang="en-US" dirty="0"/>
          </a:p>
        </p:txBody>
      </p:sp>
      <p:sp>
        <p:nvSpPr>
          <p:cNvPr id="3" name="Text Placeholder 2">
            <a:extLst>
              <a:ext uri="{FF2B5EF4-FFF2-40B4-BE49-F238E27FC236}">
                <a16:creationId xmlns:a16="http://schemas.microsoft.com/office/drawing/2014/main" id="{F948DC14-A72C-6238-74D1-7ACA174B130E}"/>
              </a:ext>
            </a:extLst>
          </p:cNvPr>
          <p:cNvSpPr>
            <a:spLocks noGrp="1"/>
          </p:cNvSpPr>
          <p:nvPr>
            <p:ph type="body" sz="quarter" idx="11"/>
          </p:nvPr>
        </p:nvSpPr>
        <p:spPr>
          <a:xfrm>
            <a:off x="598094" y="1080521"/>
            <a:ext cx="9991934" cy="5222941"/>
          </a:xfrm>
        </p:spPr>
        <p:txBody>
          <a:bodyPr>
            <a:noAutofit/>
          </a:bodyPr>
          <a:lstStyle/>
          <a:p>
            <a:pPr marL="0" indent="0">
              <a:buNone/>
            </a:pPr>
            <a:r>
              <a:rPr lang="en-US" dirty="0"/>
              <a:t>Agentic AI and generative AI share a foundation but serve different purposes. </a:t>
            </a:r>
            <a:r>
              <a:rPr lang="en-US" b="1" dirty="0"/>
              <a:t>Generative AI focuses on producing new content based on patterns in data</a:t>
            </a:r>
            <a:r>
              <a:rPr lang="en-US" dirty="0"/>
              <a:t>. It helps write text, create images, or suggest ideas by responding directly to prompts. Once it delivers a result, its job is done until the next prompt comes along.</a:t>
            </a:r>
          </a:p>
          <a:p>
            <a:pPr marL="0" indent="0">
              <a:buNone/>
            </a:pPr>
            <a:r>
              <a:rPr lang="en-US" b="1" dirty="0"/>
              <a:t>Agentic AI builds on these generative abilities but has more independence to execute on goal-oriented action</a:t>
            </a:r>
            <a:r>
              <a:rPr lang="en-US" dirty="0"/>
              <a:t>. An AI agent doesn’t stop after generating a single output in response to a prompt—it continues to iterate on its own outputs to carry out key tasks and learn from the results. While generative AI helps create, agentic AI helps act. This distinction shapes how each fits into daily work.</a:t>
            </a:r>
          </a:p>
        </p:txBody>
      </p:sp>
      <p:sp>
        <p:nvSpPr>
          <p:cNvPr id="4" name="Footer Placeholder 3">
            <a:extLst>
              <a:ext uri="{FF2B5EF4-FFF2-40B4-BE49-F238E27FC236}">
                <a16:creationId xmlns:a16="http://schemas.microsoft.com/office/drawing/2014/main" id="{D87C0EE2-C9B6-BD6B-D561-EEA9490A2EEC}"/>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029E00C2-B309-2265-292E-8F0AFD88AF93}"/>
              </a:ext>
            </a:extLst>
          </p:cNvPr>
          <p:cNvSpPr>
            <a:spLocks noGrp="1"/>
          </p:cNvSpPr>
          <p:nvPr>
            <p:ph type="sldNum" sz="quarter" idx="14"/>
          </p:nvPr>
        </p:nvSpPr>
        <p:spPr/>
        <p:txBody>
          <a:bodyPr/>
          <a:lstStyle/>
          <a:p>
            <a:fld id="{CE19DD2C-80DA-488C-99A4-6C8CE83C9C30}" type="slidenum">
              <a:rPr lang="en-SG" smtClean="0"/>
              <a:t>3</a:t>
            </a:fld>
            <a:endParaRPr lang="en-SG"/>
          </a:p>
        </p:txBody>
      </p:sp>
    </p:spTree>
    <p:extLst>
      <p:ext uri="{BB962C8B-B14F-4D97-AF65-F5344CB8AC3E}">
        <p14:creationId xmlns:p14="http://schemas.microsoft.com/office/powerpoint/2010/main" val="3152675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3A62A-D675-D395-90AC-15B868CBA457}"/>
              </a:ext>
            </a:extLst>
          </p:cNvPr>
          <p:cNvSpPr>
            <a:spLocks noGrp="1"/>
          </p:cNvSpPr>
          <p:nvPr>
            <p:ph type="title"/>
          </p:nvPr>
        </p:nvSpPr>
        <p:spPr/>
        <p:txBody>
          <a:bodyPr/>
          <a:lstStyle/>
          <a:p>
            <a:r>
              <a:rPr lang="en-US" dirty="0"/>
              <a:t>Overview of Agentic AI</a:t>
            </a:r>
          </a:p>
        </p:txBody>
      </p:sp>
      <p:sp>
        <p:nvSpPr>
          <p:cNvPr id="3" name="Text Placeholder 2">
            <a:extLst>
              <a:ext uri="{FF2B5EF4-FFF2-40B4-BE49-F238E27FC236}">
                <a16:creationId xmlns:a16="http://schemas.microsoft.com/office/drawing/2014/main" id="{0E81A90A-8C02-19B0-4A01-BF2737F5ED3C}"/>
              </a:ext>
            </a:extLst>
          </p:cNvPr>
          <p:cNvSpPr>
            <a:spLocks noGrp="1"/>
          </p:cNvSpPr>
          <p:nvPr>
            <p:ph type="body" sz="quarter" idx="11"/>
          </p:nvPr>
        </p:nvSpPr>
        <p:spPr>
          <a:xfrm>
            <a:off x="598094" y="1239602"/>
            <a:ext cx="11042651" cy="4791607"/>
          </a:xfrm>
        </p:spPr>
        <p:txBody>
          <a:bodyPr/>
          <a:lstStyle/>
          <a:p>
            <a:pPr marL="0" indent="0">
              <a:buNone/>
            </a:pPr>
            <a:r>
              <a:rPr lang="en-US" dirty="0"/>
              <a:t>Agentic AI refers to AI systems that act autonomously, not just passively respond to user prompts. Unlike simple LLM-based chat apps, agentic AI systems:</a:t>
            </a:r>
          </a:p>
          <a:p>
            <a:r>
              <a:rPr lang="en-US" b="1" dirty="0"/>
              <a:t>Perceive</a:t>
            </a:r>
            <a:r>
              <a:rPr lang="en-US" dirty="0"/>
              <a:t> the environment (input data, tools, APIs).</a:t>
            </a:r>
          </a:p>
          <a:p>
            <a:r>
              <a:rPr lang="en-US" b="1" dirty="0"/>
              <a:t>Reason</a:t>
            </a:r>
            <a:r>
              <a:rPr lang="en-US" dirty="0"/>
              <a:t> about objectives and constraints.</a:t>
            </a:r>
          </a:p>
          <a:p>
            <a:r>
              <a:rPr lang="en-US" b="1" dirty="0"/>
              <a:t>Plan</a:t>
            </a:r>
            <a:r>
              <a:rPr lang="en-US" dirty="0"/>
              <a:t> steps toward achieving a goal.</a:t>
            </a:r>
          </a:p>
          <a:p>
            <a:r>
              <a:rPr lang="en-US" b="1" dirty="0"/>
              <a:t>Act</a:t>
            </a:r>
            <a:r>
              <a:rPr lang="en-US" dirty="0"/>
              <a:t> by executing tasks, using tools, and gathering more information if needed.</a:t>
            </a:r>
          </a:p>
          <a:p>
            <a:pPr marL="0" indent="0">
              <a:buNone/>
            </a:pPr>
            <a:r>
              <a:rPr lang="en-US" dirty="0"/>
              <a:t>A simple representation:</a:t>
            </a:r>
          </a:p>
        </p:txBody>
      </p:sp>
      <p:sp>
        <p:nvSpPr>
          <p:cNvPr id="4" name="Footer Placeholder 3">
            <a:extLst>
              <a:ext uri="{FF2B5EF4-FFF2-40B4-BE49-F238E27FC236}">
                <a16:creationId xmlns:a16="http://schemas.microsoft.com/office/drawing/2014/main" id="{7FDA72AF-A3DC-7CBF-6BD1-D766DAFACF39}"/>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E866FB85-DBC6-0FAC-37B2-636D82EEB9CC}"/>
              </a:ext>
            </a:extLst>
          </p:cNvPr>
          <p:cNvSpPr>
            <a:spLocks noGrp="1"/>
          </p:cNvSpPr>
          <p:nvPr>
            <p:ph type="sldNum" sz="quarter" idx="14"/>
          </p:nvPr>
        </p:nvSpPr>
        <p:spPr/>
        <p:txBody>
          <a:bodyPr/>
          <a:lstStyle/>
          <a:p>
            <a:fld id="{CE19DD2C-80DA-488C-99A4-6C8CE83C9C30}" type="slidenum">
              <a:rPr lang="en-SG" smtClean="0"/>
              <a:t>4</a:t>
            </a:fld>
            <a:endParaRPr lang="en-SG"/>
          </a:p>
        </p:txBody>
      </p:sp>
      <p:sp>
        <p:nvSpPr>
          <p:cNvPr id="7" name="TextBox 6">
            <a:extLst>
              <a:ext uri="{FF2B5EF4-FFF2-40B4-BE49-F238E27FC236}">
                <a16:creationId xmlns:a16="http://schemas.microsoft.com/office/drawing/2014/main" id="{7024BBFA-CE21-7AF7-EA87-AF7FC0C64354}"/>
              </a:ext>
            </a:extLst>
          </p:cNvPr>
          <p:cNvSpPr txBox="1"/>
          <p:nvPr/>
        </p:nvSpPr>
        <p:spPr>
          <a:xfrm>
            <a:off x="2105891" y="5846543"/>
            <a:ext cx="7329054" cy="369332"/>
          </a:xfrm>
          <a:prstGeom prst="rect">
            <a:avLst/>
          </a:prstGeom>
          <a:noFill/>
        </p:spPr>
        <p:txBody>
          <a:bodyPr wrap="square">
            <a:spAutoFit/>
          </a:bodyPr>
          <a:lstStyle/>
          <a:p>
            <a:r>
              <a:rPr lang="en-US" dirty="0"/>
              <a:t>Perception → Reasoning → Planning → Action → Reflection → Repeat</a:t>
            </a:r>
          </a:p>
        </p:txBody>
      </p:sp>
    </p:spTree>
    <p:extLst>
      <p:ext uri="{BB962C8B-B14F-4D97-AF65-F5344CB8AC3E}">
        <p14:creationId xmlns:p14="http://schemas.microsoft.com/office/powerpoint/2010/main" val="2303227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4B641-B32B-7CDA-AB61-FAC8A39DB0BB}"/>
              </a:ext>
            </a:extLst>
          </p:cNvPr>
          <p:cNvSpPr>
            <a:spLocks noGrp="1"/>
          </p:cNvSpPr>
          <p:nvPr>
            <p:ph type="title"/>
          </p:nvPr>
        </p:nvSpPr>
        <p:spPr/>
        <p:txBody>
          <a:bodyPr/>
          <a:lstStyle/>
          <a:p>
            <a:r>
              <a:rPr lang="en-US" dirty="0"/>
              <a:t>Overview of Agentic AI</a:t>
            </a:r>
          </a:p>
        </p:txBody>
      </p:sp>
      <p:sp>
        <p:nvSpPr>
          <p:cNvPr id="3" name="Text Placeholder 2">
            <a:extLst>
              <a:ext uri="{FF2B5EF4-FFF2-40B4-BE49-F238E27FC236}">
                <a16:creationId xmlns:a16="http://schemas.microsoft.com/office/drawing/2014/main" id="{0169CAE3-C961-E77E-358D-17A89C034D7B}"/>
              </a:ext>
            </a:extLst>
          </p:cNvPr>
          <p:cNvSpPr>
            <a:spLocks noGrp="1"/>
          </p:cNvSpPr>
          <p:nvPr>
            <p:ph type="body" sz="quarter" idx="11"/>
          </p:nvPr>
        </p:nvSpPr>
        <p:spPr>
          <a:xfrm>
            <a:off x="591027" y="1166880"/>
            <a:ext cx="11042651" cy="4791607"/>
          </a:xfrm>
        </p:spPr>
        <p:txBody>
          <a:bodyPr/>
          <a:lstStyle/>
          <a:p>
            <a:r>
              <a:rPr lang="en-US" dirty="0">
                <a:highlight>
                  <a:srgbClr val="00FF00"/>
                </a:highlight>
              </a:rPr>
              <a:t>Anything that can be viewed as perceiving its environment through sensors </a:t>
            </a:r>
            <a:r>
              <a:rPr lang="en-US" dirty="0"/>
              <a:t>and </a:t>
            </a:r>
            <a:r>
              <a:rPr lang="en-US" dirty="0">
                <a:highlight>
                  <a:srgbClr val="FFFF00"/>
                </a:highlight>
              </a:rPr>
              <a:t>acting upon that environment through actuators</a:t>
            </a:r>
            <a:r>
              <a:rPr lang="en-US" dirty="0"/>
              <a:t>.</a:t>
            </a:r>
          </a:p>
          <a:p>
            <a:endParaRPr lang="en-US" dirty="0"/>
          </a:p>
        </p:txBody>
      </p:sp>
      <p:sp>
        <p:nvSpPr>
          <p:cNvPr id="4" name="Footer Placeholder 3">
            <a:extLst>
              <a:ext uri="{FF2B5EF4-FFF2-40B4-BE49-F238E27FC236}">
                <a16:creationId xmlns:a16="http://schemas.microsoft.com/office/drawing/2014/main" id="{2A613A6A-01B0-F4EE-DF23-247981BB0DA6}"/>
              </a:ext>
            </a:extLst>
          </p:cNvPr>
          <p:cNvSpPr>
            <a:spLocks noGrp="1"/>
          </p:cNvSpPr>
          <p:nvPr>
            <p:ph type="ftr" sz="quarter" idx="13"/>
          </p:nvPr>
        </p:nvSpPr>
        <p:spPr>
          <a:xfrm>
            <a:off x="351181" y="6506248"/>
            <a:ext cx="4114800" cy="365125"/>
          </a:xfrm>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4A9A8DB4-8A8A-C3F9-B8AB-45040848FDFB}"/>
              </a:ext>
            </a:extLst>
          </p:cNvPr>
          <p:cNvSpPr>
            <a:spLocks noGrp="1"/>
          </p:cNvSpPr>
          <p:nvPr>
            <p:ph type="sldNum" sz="quarter" idx="14"/>
          </p:nvPr>
        </p:nvSpPr>
        <p:spPr/>
        <p:txBody>
          <a:bodyPr/>
          <a:lstStyle/>
          <a:p>
            <a:fld id="{CE19DD2C-80DA-488C-99A4-6C8CE83C9C30}" type="slidenum">
              <a:rPr lang="en-SG" smtClean="0"/>
              <a:t>5</a:t>
            </a:fld>
            <a:endParaRPr lang="en-SG"/>
          </a:p>
        </p:txBody>
      </p:sp>
      <p:sp>
        <p:nvSpPr>
          <p:cNvPr id="7" name="TextBox 6">
            <a:extLst>
              <a:ext uri="{FF2B5EF4-FFF2-40B4-BE49-F238E27FC236}">
                <a16:creationId xmlns:a16="http://schemas.microsoft.com/office/drawing/2014/main" id="{EAD52E8F-DDC0-D799-89AF-9B652C60E0E9}"/>
              </a:ext>
            </a:extLst>
          </p:cNvPr>
          <p:cNvSpPr txBox="1"/>
          <p:nvPr/>
        </p:nvSpPr>
        <p:spPr>
          <a:xfrm>
            <a:off x="4592105" y="3349313"/>
            <a:ext cx="1600200" cy="646331"/>
          </a:xfrm>
          <a:prstGeom prst="rect">
            <a:avLst/>
          </a:prstGeom>
          <a:solidFill>
            <a:schemeClr val="accent2"/>
          </a:solidFill>
        </p:spPr>
        <p:txBody>
          <a:bodyPr wrap="square" rtlCol="0">
            <a:spAutoFit/>
          </a:bodyPr>
          <a:lstStyle/>
          <a:p>
            <a:pPr algn="ctr"/>
            <a:r>
              <a:rPr lang="en-US" dirty="0"/>
              <a:t>Agent</a:t>
            </a:r>
          </a:p>
          <a:p>
            <a:pPr algn="ctr"/>
            <a:endParaRPr lang="en-US" dirty="0"/>
          </a:p>
        </p:txBody>
      </p:sp>
      <p:sp>
        <p:nvSpPr>
          <p:cNvPr id="8" name="TextBox 7">
            <a:extLst>
              <a:ext uri="{FF2B5EF4-FFF2-40B4-BE49-F238E27FC236}">
                <a16:creationId xmlns:a16="http://schemas.microsoft.com/office/drawing/2014/main" id="{7CA7C4AB-E737-9126-E2F1-C3089FC01EEA}"/>
              </a:ext>
            </a:extLst>
          </p:cNvPr>
          <p:cNvSpPr txBox="1"/>
          <p:nvPr/>
        </p:nvSpPr>
        <p:spPr>
          <a:xfrm>
            <a:off x="2256181" y="2245755"/>
            <a:ext cx="2209800" cy="646331"/>
          </a:xfrm>
          <a:prstGeom prst="rect">
            <a:avLst/>
          </a:prstGeom>
          <a:solidFill>
            <a:schemeClr val="bg1">
              <a:lumMod val="85000"/>
            </a:schemeClr>
          </a:solidFill>
        </p:spPr>
        <p:txBody>
          <a:bodyPr wrap="square" rtlCol="0">
            <a:spAutoFit/>
          </a:bodyPr>
          <a:lstStyle/>
          <a:p>
            <a:pPr algn="ctr"/>
            <a:r>
              <a:rPr lang="en-US" dirty="0"/>
              <a:t>Abilities</a:t>
            </a:r>
          </a:p>
          <a:p>
            <a:pPr algn="ctr"/>
            <a:endParaRPr lang="en-US" dirty="0"/>
          </a:p>
        </p:txBody>
      </p:sp>
      <p:sp>
        <p:nvSpPr>
          <p:cNvPr id="9" name="TextBox 8">
            <a:extLst>
              <a:ext uri="{FF2B5EF4-FFF2-40B4-BE49-F238E27FC236}">
                <a16:creationId xmlns:a16="http://schemas.microsoft.com/office/drawing/2014/main" id="{DF7856F0-B7CA-52A0-E040-2461988A6833}"/>
              </a:ext>
            </a:extLst>
          </p:cNvPr>
          <p:cNvSpPr txBox="1"/>
          <p:nvPr/>
        </p:nvSpPr>
        <p:spPr>
          <a:xfrm>
            <a:off x="6907009" y="2245755"/>
            <a:ext cx="2209800" cy="646331"/>
          </a:xfrm>
          <a:prstGeom prst="rect">
            <a:avLst/>
          </a:prstGeom>
          <a:solidFill>
            <a:schemeClr val="bg1">
              <a:lumMod val="85000"/>
            </a:schemeClr>
          </a:solidFill>
        </p:spPr>
        <p:txBody>
          <a:bodyPr wrap="square" rtlCol="0">
            <a:spAutoFit/>
          </a:bodyPr>
          <a:lstStyle/>
          <a:p>
            <a:pPr algn="ctr"/>
            <a:r>
              <a:rPr lang="en-US" dirty="0"/>
              <a:t>Goals/Preferences</a:t>
            </a:r>
          </a:p>
          <a:p>
            <a:pPr algn="ctr"/>
            <a:endParaRPr lang="en-US" dirty="0"/>
          </a:p>
        </p:txBody>
      </p:sp>
      <p:sp>
        <p:nvSpPr>
          <p:cNvPr id="10" name="TextBox 9">
            <a:extLst>
              <a:ext uri="{FF2B5EF4-FFF2-40B4-BE49-F238E27FC236}">
                <a16:creationId xmlns:a16="http://schemas.microsoft.com/office/drawing/2014/main" id="{BDB2C2D7-BB84-A784-D769-D61D8574DD19}"/>
              </a:ext>
            </a:extLst>
          </p:cNvPr>
          <p:cNvSpPr txBox="1"/>
          <p:nvPr/>
        </p:nvSpPr>
        <p:spPr>
          <a:xfrm>
            <a:off x="4586850" y="2245755"/>
            <a:ext cx="2209800" cy="646331"/>
          </a:xfrm>
          <a:prstGeom prst="rect">
            <a:avLst/>
          </a:prstGeom>
          <a:solidFill>
            <a:schemeClr val="bg1">
              <a:lumMod val="85000"/>
            </a:schemeClr>
          </a:solidFill>
        </p:spPr>
        <p:txBody>
          <a:bodyPr wrap="square" rtlCol="0">
            <a:spAutoFit/>
          </a:bodyPr>
          <a:lstStyle/>
          <a:p>
            <a:pPr algn="ctr"/>
            <a:r>
              <a:rPr lang="en-US" dirty="0"/>
              <a:t>Prior Knowledge</a:t>
            </a:r>
          </a:p>
          <a:p>
            <a:pPr algn="ctr"/>
            <a:endParaRPr lang="en-US" dirty="0"/>
          </a:p>
        </p:txBody>
      </p:sp>
      <p:sp>
        <p:nvSpPr>
          <p:cNvPr id="11" name="Right Brace 10">
            <a:extLst>
              <a:ext uri="{FF2B5EF4-FFF2-40B4-BE49-F238E27FC236}">
                <a16:creationId xmlns:a16="http://schemas.microsoft.com/office/drawing/2014/main" id="{3ADAA927-F0BA-B628-5333-68C6F50F76C2}"/>
              </a:ext>
            </a:extLst>
          </p:cNvPr>
          <p:cNvSpPr/>
          <p:nvPr/>
        </p:nvSpPr>
        <p:spPr bwMode="auto">
          <a:xfrm rot="5400000">
            <a:off x="5114995" y="-195328"/>
            <a:ext cx="457226" cy="6632055"/>
          </a:xfrm>
          <a:prstGeom prst="rightBrace">
            <a:avLst/>
          </a:prstGeom>
          <a:no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endParaRPr kumimoji="0" lang="en-US" sz="3600" b="1" i="0" u="none" strike="noStrike" cap="none" normalizeH="0" baseline="0" dirty="0">
              <a:ln>
                <a:noFill/>
              </a:ln>
              <a:solidFill>
                <a:schemeClr val="bg1"/>
              </a:solidFill>
              <a:effectLst/>
              <a:latin typeface="Arial" panose="020B0604020202020204" pitchFamily="34" charset="0"/>
            </a:endParaRPr>
          </a:p>
        </p:txBody>
      </p:sp>
      <p:sp>
        <p:nvSpPr>
          <p:cNvPr id="12" name="Thought Bubble: Cloud 11">
            <a:extLst>
              <a:ext uri="{FF2B5EF4-FFF2-40B4-BE49-F238E27FC236}">
                <a16:creationId xmlns:a16="http://schemas.microsoft.com/office/drawing/2014/main" id="{AE1699E9-F726-2136-F406-715C77EB7A54}"/>
              </a:ext>
            </a:extLst>
          </p:cNvPr>
          <p:cNvSpPr/>
          <p:nvPr/>
        </p:nvSpPr>
        <p:spPr bwMode="auto">
          <a:xfrm>
            <a:off x="5312094" y="4980690"/>
            <a:ext cx="2928349" cy="1410218"/>
          </a:xfrm>
          <a:prstGeom prst="cloudCallout">
            <a:avLst>
              <a:gd name="adj1" fmla="val 3212"/>
              <a:gd name="adj2" fmla="val 51121"/>
            </a:avLst>
          </a:prstGeom>
          <a:noFill/>
          <a:ln w="9525" cap="flat" cmpd="sng" algn="ctr">
            <a:solidFill>
              <a:schemeClr val="accent6">
                <a:lumMod val="50000"/>
              </a:schemeClr>
            </a:solidFill>
            <a:prstDash val="solid"/>
            <a:round/>
            <a:headEnd type="none" w="med" len="med"/>
            <a:tailEnd type="non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r>
              <a:rPr lang="en-US" dirty="0">
                <a:latin typeface="Arial" panose="020B0604020202020204" pitchFamily="34" charset="0"/>
              </a:rPr>
              <a:t>Environment</a:t>
            </a:r>
          </a:p>
          <a:p>
            <a:pPr marL="742950" marR="0" indent="-285750" algn="ctr" defTabSz="914400" rtl="0" eaLnBrk="0" fontAlgn="base" latinLnBrk="0" hangingPunct="0">
              <a:lnSpc>
                <a:spcPct val="90000"/>
              </a:lnSpc>
              <a:spcBef>
                <a:spcPct val="20000"/>
              </a:spcBef>
              <a:spcAft>
                <a:spcPct val="0"/>
              </a:spcAft>
              <a:buClrTx/>
              <a:buSzTx/>
              <a:buFontTx/>
              <a:buNone/>
            </a:pPr>
            <a:endParaRPr kumimoji="0" lang="en-US" sz="2000" i="0" u="none" strike="noStrike" cap="none" normalizeH="0" baseline="0" dirty="0">
              <a:ln>
                <a:noFill/>
              </a:ln>
              <a:effectLst/>
              <a:latin typeface="Arial" panose="020B0604020202020204" pitchFamily="34" charset="0"/>
            </a:endParaRPr>
          </a:p>
          <a:p>
            <a:pPr marL="742950" marR="0" indent="-285750" algn="ctr" defTabSz="914400" rtl="0" eaLnBrk="0" fontAlgn="base" latinLnBrk="0" hangingPunct="0">
              <a:lnSpc>
                <a:spcPct val="90000"/>
              </a:lnSpc>
              <a:spcBef>
                <a:spcPct val="20000"/>
              </a:spcBef>
              <a:spcAft>
                <a:spcPct val="0"/>
              </a:spcAft>
              <a:buClrTx/>
              <a:buSzTx/>
              <a:buFontTx/>
              <a:buNone/>
            </a:pPr>
            <a:endParaRPr kumimoji="0" lang="en-US" sz="2000" i="0" u="none" strike="noStrike" cap="none" normalizeH="0" baseline="0" dirty="0">
              <a:ln>
                <a:noFill/>
              </a:ln>
              <a:effectLst/>
              <a:latin typeface="Arial" panose="020B0604020202020204" pitchFamily="34" charset="0"/>
            </a:endParaRPr>
          </a:p>
        </p:txBody>
      </p:sp>
      <p:sp>
        <p:nvSpPr>
          <p:cNvPr id="13" name="Freeform: Shape 12">
            <a:extLst>
              <a:ext uri="{FF2B5EF4-FFF2-40B4-BE49-F238E27FC236}">
                <a16:creationId xmlns:a16="http://schemas.microsoft.com/office/drawing/2014/main" id="{00313ED3-02C6-05A8-AEEC-6F5924F077C6}"/>
              </a:ext>
            </a:extLst>
          </p:cNvPr>
          <p:cNvSpPr/>
          <p:nvPr/>
        </p:nvSpPr>
        <p:spPr bwMode="auto">
          <a:xfrm>
            <a:off x="6101939" y="3877132"/>
            <a:ext cx="2654891" cy="1410218"/>
          </a:xfrm>
          <a:custGeom>
            <a:avLst/>
            <a:gdLst>
              <a:gd name="connsiteX0" fmla="*/ 0 w 1812930"/>
              <a:gd name="connsiteY0" fmla="*/ 0 h 1341414"/>
              <a:gd name="connsiteX1" fmla="*/ 1734207 w 1812930"/>
              <a:gd name="connsiteY1" fmla="*/ 362607 h 1341414"/>
              <a:gd name="connsiteX2" fmla="*/ 1513490 w 1812930"/>
              <a:gd name="connsiteY2" fmla="*/ 1245476 h 1341414"/>
              <a:gd name="connsiteX3" fmla="*/ 1481959 w 1812930"/>
              <a:gd name="connsiteY3" fmla="*/ 1277007 h 1341414"/>
            </a:gdLst>
            <a:ahLst/>
            <a:cxnLst>
              <a:cxn ang="0">
                <a:pos x="connsiteX0" y="connsiteY0"/>
              </a:cxn>
              <a:cxn ang="0">
                <a:pos x="connsiteX1" y="connsiteY1"/>
              </a:cxn>
              <a:cxn ang="0">
                <a:pos x="connsiteX2" y="connsiteY2"/>
              </a:cxn>
              <a:cxn ang="0">
                <a:pos x="connsiteX3" y="connsiteY3"/>
              </a:cxn>
            </a:cxnLst>
            <a:rect l="l" t="t" r="r" b="b"/>
            <a:pathLst>
              <a:path w="1812930" h="1341414">
                <a:moveTo>
                  <a:pt x="0" y="0"/>
                </a:moveTo>
                <a:cubicBezTo>
                  <a:pt x="740979" y="77514"/>
                  <a:pt x="1481959" y="155028"/>
                  <a:pt x="1734207" y="362607"/>
                </a:cubicBezTo>
                <a:cubicBezTo>
                  <a:pt x="1986455" y="570186"/>
                  <a:pt x="1555531" y="1093076"/>
                  <a:pt x="1513490" y="1245476"/>
                </a:cubicBezTo>
                <a:cubicBezTo>
                  <a:pt x="1471449" y="1397876"/>
                  <a:pt x="1476704" y="1337441"/>
                  <a:pt x="1481959" y="1277007"/>
                </a:cubicBezTo>
              </a:path>
            </a:pathLst>
          </a:custGeom>
          <a:noFill/>
          <a:ln w="28575" cap="flat" cmpd="sng" algn="ctr">
            <a:solidFill>
              <a:schemeClr val="accent1"/>
            </a:solidFill>
            <a:prstDash val="solid"/>
            <a:round/>
            <a:headEnd type="none" w="med" len="med"/>
            <a:tailEnd type="triangl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endParaRPr kumimoji="0" lang="en-US" sz="3600" b="1" i="0" u="none" strike="noStrike" cap="none" normalizeH="0" baseline="0" dirty="0">
              <a:ln>
                <a:noFill/>
              </a:ln>
              <a:solidFill>
                <a:schemeClr val="bg1"/>
              </a:solidFill>
              <a:effectLst/>
              <a:latin typeface="Arial" panose="020B0604020202020204" pitchFamily="34" charset="0"/>
            </a:endParaRPr>
          </a:p>
        </p:txBody>
      </p:sp>
      <p:sp>
        <p:nvSpPr>
          <p:cNvPr id="14" name="TextBox 13">
            <a:extLst>
              <a:ext uri="{FF2B5EF4-FFF2-40B4-BE49-F238E27FC236}">
                <a16:creationId xmlns:a16="http://schemas.microsoft.com/office/drawing/2014/main" id="{45F7FDE8-2D8F-70BA-EEFE-D17F725F2B96}"/>
              </a:ext>
            </a:extLst>
          </p:cNvPr>
          <p:cNvSpPr txBox="1"/>
          <p:nvPr/>
        </p:nvSpPr>
        <p:spPr>
          <a:xfrm>
            <a:off x="1335879" y="4879027"/>
            <a:ext cx="2209800" cy="646331"/>
          </a:xfrm>
          <a:prstGeom prst="rect">
            <a:avLst/>
          </a:prstGeom>
          <a:solidFill>
            <a:schemeClr val="tx2">
              <a:lumMod val="40000"/>
              <a:lumOff val="60000"/>
            </a:schemeClr>
          </a:solidFill>
        </p:spPr>
        <p:txBody>
          <a:bodyPr wrap="square" rtlCol="0">
            <a:spAutoFit/>
          </a:bodyPr>
          <a:lstStyle/>
          <a:p>
            <a:pPr algn="ctr"/>
            <a:r>
              <a:rPr lang="en-US" dirty="0"/>
              <a:t>Observations</a:t>
            </a:r>
          </a:p>
          <a:p>
            <a:pPr algn="ctr"/>
            <a:endParaRPr lang="en-US" dirty="0"/>
          </a:p>
        </p:txBody>
      </p:sp>
      <p:sp>
        <p:nvSpPr>
          <p:cNvPr id="15" name="TextBox 14">
            <a:extLst>
              <a:ext uri="{FF2B5EF4-FFF2-40B4-BE49-F238E27FC236}">
                <a16:creationId xmlns:a16="http://schemas.microsoft.com/office/drawing/2014/main" id="{CCAFD53D-FB7B-D849-778B-7D7809CD467A}"/>
              </a:ext>
            </a:extLst>
          </p:cNvPr>
          <p:cNvSpPr txBox="1"/>
          <p:nvPr/>
        </p:nvSpPr>
        <p:spPr>
          <a:xfrm>
            <a:off x="1547168" y="5290277"/>
            <a:ext cx="2209800" cy="646331"/>
          </a:xfrm>
          <a:prstGeom prst="rect">
            <a:avLst/>
          </a:prstGeom>
          <a:solidFill>
            <a:schemeClr val="bg1">
              <a:lumMod val="85000"/>
            </a:schemeClr>
          </a:solidFill>
        </p:spPr>
        <p:txBody>
          <a:bodyPr wrap="square" rtlCol="0">
            <a:spAutoFit/>
          </a:bodyPr>
          <a:lstStyle/>
          <a:p>
            <a:pPr algn="ctr"/>
            <a:r>
              <a:rPr lang="en-US" dirty="0"/>
              <a:t>Past Experiences</a:t>
            </a:r>
          </a:p>
          <a:p>
            <a:pPr algn="ctr"/>
            <a:endParaRPr lang="en-US" dirty="0"/>
          </a:p>
        </p:txBody>
      </p:sp>
      <p:sp>
        <p:nvSpPr>
          <p:cNvPr id="16" name="TextBox 15">
            <a:extLst>
              <a:ext uri="{FF2B5EF4-FFF2-40B4-BE49-F238E27FC236}">
                <a16:creationId xmlns:a16="http://schemas.microsoft.com/office/drawing/2014/main" id="{29A0871C-C20A-6B0F-DCBD-A9C3883072C2}"/>
              </a:ext>
            </a:extLst>
          </p:cNvPr>
          <p:cNvSpPr txBox="1"/>
          <p:nvPr/>
        </p:nvSpPr>
        <p:spPr>
          <a:xfrm>
            <a:off x="2766750" y="3913357"/>
            <a:ext cx="765979" cy="369332"/>
          </a:xfrm>
          <a:prstGeom prst="rect">
            <a:avLst/>
          </a:prstGeom>
          <a:solidFill>
            <a:srgbClr val="8EFA00"/>
          </a:solidFill>
        </p:spPr>
        <p:txBody>
          <a:bodyPr wrap="none" rtlCol="0">
            <a:spAutoFit/>
          </a:bodyPr>
          <a:lstStyle/>
          <a:p>
            <a:r>
              <a:rPr lang="en-US" dirty="0"/>
              <a:t>DATA</a:t>
            </a:r>
          </a:p>
        </p:txBody>
      </p:sp>
      <p:sp>
        <p:nvSpPr>
          <p:cNvPr id="17" name="Freeform: Shape 16">
            <a:extLst>
              <a:ext uri="{FF2B5EF4-FFF2-40B4-BE49-F238E27FC236}">
                <a16:creationId xmlns:a16="http://schemas.microsoft.com/office/drawing/2014/main" id="{DBCC70EA-F398-2CBE-1FF7-F1364F68AAAE}"/>
              </a:ext>
            </a:extLst>
          </p:cNvPr>
          <p:cNvSpPr/>
          <p:nvPr/>
        </p:nvSpPr>
        <p:spPr bwMode="auto">
          <a:xfrm>
            <a:off x="3356005" y="3445441"/>
            <a:ext cx="2460120" cy="2552538"/>
          </a:xfrm>
          <a:custGeom>
            <a:avLst/>
            <a:gdLst>
              <a:gd name="connsiteX0" fmla="*/ 2460120 w 2460120"/>
              <a:gd name="connsiteY0" fmla="*/ 2552538 h 2552538"/>
              <a:gd name="connsiteX1" fmla="*/ 867802 w 2460120"/>
              <a:gd name="connsiteY1" fmla="*/ 2331821 h 2552538"/>
              <a:gd name="connsiteX2" fmla="*/ 126823 w 2460120"/>
              <a:gd name="connsiteY2" fmla="*/ 1748496 h 2552538"/>
              <a:gd name="connsiteX3" fmla="*/ 699 w 2460120"/>
              <a:gd name="connsiteY3" fmla="*/ 1117876 h 2552538"/>
              <a:gd name="connsiteX4" fmla="*/ 95292 w 2460120"/>
              <a:gd name="connsiteY4" fmla="*/ 629145 h 2552538"/>
              <a:gd name="connsiteX5" fmla="*/ 457899 w 2460120"/>
              <a:gd name="connsiteY5" fmla="*/ 282303 h 2552538"/>
              <a:gd name="connsiteX6" fmla="*/ 930865 w 2460120"/>
              <a:gd name="connsiteY6" fmla="*/ 30055 h 2552538"/>
              <a:gd name="connsiteX7" fmla="*/ 1451127 w 2460120"/>
              <a:gd name="connsiteY7" fmla="*/ 14290 h 255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0120" h="2552538">
                <a:moveTo>
                  <a:pt x="2460120" y="2552538"/>
                </a:moveTo>
                <a:cubicBezTo>
                  <a:pt x="1858402" y="2509183"/>
                  <a:pt x="1256685" y="2465828"/>
                  <a:pt x="867802" y="2331821"/>
                </a:cubicBezTo>
                <a:cubicBezTo>
                  <a:pt x="478919" y="2197814"/>
                  <a:pt x="271340" y="1950820"/>
                  <a:pt x="126823" y="1748496"/>
                </a:cubicBezTo>
                <a:cubicBezTo>
                  <a:pt x="-17694" y="1546172"/>
                  <a:pt x="5954" y="1304434"/>
                  <a:pt x="699" y="1117876"/>
                </a:cubicBezTo>
                <a:cubicBezTo>
                  <a:pt x="-4556" y="931318"/>
                  <a:pt x="19092" y="768407"/>
                  <a:pt x="95292" y="629145"/>
                </a:cubicBezTo>
                <a:cubicBezTo>
                  <a:pt x="171492" y="489883"/>
                  <a:pt x="318637" y="382151"/>
                  <a:pt x="457899" y="282303"/>
                </a:cubicBezTo>
                <a:cubicBezTo>
                  <a:pt x="597161" y="182455"/>
                  <a:pt x="765327" y="74724"/>
                  <a:pt x="930865" y="30055"/>
                </a:cubicBezTo>
                <a:cubicBezTo>
                  <a:pt x="1096403" y="-14614"/>
                  <a:pt x="1273765" y="-162"/>
                  <a:pt x="1451127" y="14290"/>
                </a:cubicBezTo>
              </a:path>
            </a:pathLst>
          </a:custGeom>
          <a:noFill/>
          <a:ln w="38100" cap="flat" cmpd="sng" algn="ctr">
            <a:solidFill>
              <a:srgbClr val="FF0000"/>
            </a:solidFill>
            <a:prstDash val="solid"/>
            <a:round/>
            <a:headEnd type="none" w="med" len="med"/>
            <a:tailEnd type="triangl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endParaRPr kumimoji="0" lang="en-US" sz="3600" b="1" i="0" u="none" strike="noStrike" cap="none" normalizeH="0" baseline="0">
              <a:ln>
                <a:noFill/>
              </a:ln>
              <a:solidFill>
                <a:schemeClr val="bg1"/>
              </a:solidFill>
              <a:effectLst/>
              <a:latin typeface="Arial" panose="020B0604020202020204" pitchFamily="34" charset="0"/>
            </a:endParaRPr>
          </a:p>
        </p:txBody>
      </p:sp>
      <p:sp>
        <p:nvSpPr>
          <p:cNvPr id="18" name="Freeform: Shape 17">
            <a:extLst>
              <a:ext uri="{FF2B5EF4-FFF2-40B4-BE49-F238E27FC236}">
                <a16:creationId xmlns:a16="http://schemas.microsoft.com/office/drawing/2014/main" id="{B3FD595B-B4EF-58EA-0E34-98BE79387091}"/>
              </a:ext>
            </a:extLst>
          </p:cNvPr>
          <p:cNvSpPr/>
          <p:nvPr/>
        </p:nvSpPr>
        <p:spPr bwMode="auto">
          <a:xfrm>
            <a:off x="3419093" y="3703765"/>
            <a:ext cx="2460120" cy="2552538"/>
          </a:xfrm>
          <a:custGeom>
            <a:avLst/>
            <a:gdLst>
              <a:gd name="connsiteX0" fmla="*/ 2460120 w 2460120"/>
              <a:gd name="connsiteY0" fmla="*/ 2552538 h 2552538"/>
              <a:gd name="connsiteX1" fmla="*/ 867802 w 2460120"/>
              <a:gd name="connsiteY1" fmla="*/ 2331821 h 2552538"/>
              <a:gd name="connsiteX2" fmla="*/ 126823 w 2460120"/>
              <a:gd name="connsiteY2" fmla="*/ 1748496 h 2552538"/>
              <a:gd name="connsiteX3" fmla="*/ 699 w 2460120"/>
              <a:gd name="connsiteY3" fmla="*/ 1117876 h 2552538"/>
              <a:gd name="connsiteX4" fmla="*/ 95292 w 2460120"/>
              <a:gd name="connsiteY4" fmla="*/ 629145 h 2552538"/>
              <a:gd name="connsiteX5" fmla="*/ 457899 w 2460120"/>
              <a:gd name="connsiteY5" fmla="*/ 282303 h 2552538"/>
              <a:gd name="connsiteX6" fmla="*/ 930865 w 2460120"/>
              <a:gd name="connsiteY6" fmla="*/ 30055 h 2552538"/>
              <a:gd name="connsiteX7" fmla="*/ 1451127 w 2460120"/>
              <a:gd name="connsiteY7" fmla="*/ 14290 h 255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0120" h="2552538">
                <a:moveTo>
                  <a:pt x="2460120" y="2552538"/>
                </a:moveTo>
                <a:cubicBezTo>
                  <a:pt x="1858402" y="2509183"/>
                  <a:pt x="1256685" y="2465828"/>
                  <a:pt x="867802" y="2331821"/>
                </a:cubicBezTo>
                <a:cubicBezTo>
                  <a:pt x="478919" y="2197814"/>
                  <a:pt x="271340" y="1950820"/>
                  <a:pt x="126823" y="1748496"/>
                </a:cubicBezTo>
                <a:cubicBezTo>
                  <a:pt x="-17694" y="1546172"/>
                  <a:pt x="5954" y="1304434"/>
                  <a:pt x="699" y="1117876"/>
                </a:cubicBezTo>
                <a:cubicBezTo>
                  <a:pt x="-4556" y="931318"/>
                  <a:pt x="19092" y="768407"/>
                  <a:pt x="95292" y="629145"/>
                </a:cubicBezTo>
                <a:cubicBezTo>
                  <a:pt x="171492" y="489883"/>
                  <a:pt x="318637" y="382151"/>
                  <a:pt x="457899" y="282303"/>
                </a:cubicBezTo>
                <a:cubicBezTo>
                  <a:pt x="597161" y="182455"/>
                  <a:pt x="765327" y="74724"/>
                  <a:pt x="930865" y="30055"/>
                </a:cubicBezTo>
                <a:cubicBezTo>
                  <a:pt x="1096403" y="-14614"/>
                  <a:pt x="1273765" y="-162"/>
                  <a:pt x="1451127" y="14290"/>
                </a:cubicBezTo>
              </a:path>
            </a:pathLst>
          </a:custGeom>
          <a:noFill/>
          <a:ln w="38100" cap="flat" cmpd="sng" algn="ctr">
            <a:solidFill>
              <a:srgbClr val="FF0000"/>
            </a:solidFill>
            <a:prstDash val="solid"/>
            <a:round/>
            <a:headEnd type="none" w="med" len="med"/>
            <a:tailEnd type="triangl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endParaRPr kumimoji="0" lang="en-US" sz="3600" b="1" i="0" u="none" strike="noStrike" cap="none" normalizeH="0" baseline="0">
              <a:ln>
                <a:noFill/>
              </a:ln>
              <a:solidFill>
                <a:schemeClr val="bg1"/>
              </a:solidFill>
              <a:effectLst/>
              <a:latin typeface="Arial" panose="020B0604020202020204" pitchFamily="34" charset="0"/>
            </a:endParaRPr>
          </a:p>
        </p:txBody>
      </p:sp>
      <p:sp>
        <p:nvSpPr>
          <p:cNvPr id="19" name="TextBox 18">
            <a:extLst>
              <a:ext uri="{FF2B5EF4-FFF2-40B4-BE49-F238E27FC236}">
                <a16:creationId xmlns:a16="http://schemas.microsoft.com/office/drawing/2014/main" id="{3FD25831-21EF-F225-3615-7B0259D27570}"/>
              </a:ext>
            </a:extLst>
          </p:cNvPr>
          <p:cNvSpPr txBox="1"/>
          <p:nvPr/>
        </p:nvSpPr>
        <p:spPr>
          <a:xfrm>
            <a:off x="4316208" y="5525358"/>
            <a:ext cx="773159" cy="369332"/>
          </a:xfrm>
          <a:prstGeom prst="rect">
            <a:avLst/>
          </a:prstGeom>
          <a:noFill/>
        </p:spPr>
        <p:txBody>
          <a:bodyPr wrap="square" rtlCol="0">
            <a:spAutoFit/>
          </a:bodyPr>
          <a:lstStyle/>
          <a:p>
            <a:r>
              <a:rPr lang="en-US" dirty="0"/>
              <a:t>tool</a:t>
            </a:r>
          </a:p>
        </p:txBody>
      </p:sp>
      <p:sp>
        <p:nvSpPr>
          <p:cNvPr id="20" name="TextBox 19">
            <a:extLst>
              <a:ext uri="{FF2B5EF4-FFF2-40B4-BE49-F238E27FC236}">
                <a16:creationId xmlns:a16="http://schemas.microsoft.com/office/drawing/2014/main" id="{1ED84757-899A-C503-0782-62FE0AD5DFB9}"/>
              </a:ext>
            </a:extLst>
          </p:cNvPr>
          <p:cNvSpPr txBox="1"/>
          <p:nvPr/>
        </p:nvSpPr>
        <p:spPr>
          <a:xfrm>
            <a:off x="4120812" y="5983099"/>
            <a:ext cx="773159" cy="369332"/>
          </a:xfrm>
          <a:prstGeom prst="rect">
            <a:avLst/>
          </a:prstGeom>
          <a:noFill/>
        </p:spPr>
        <p:txBody>
          <a:bodyPr wrap="square" rtlCol="0">
            <a:spAutoFit/>
          </a:bodyPr>
          <a:lstStyle/>
          <a:p>
            <a:r>
              <a:rPr lang="en-US" dirty="0"/>
              <a:t>tool</a:t>
            </a:r>
          </a:p>
        </p:txBody>
      </p:sp>
      <p:sp>
        <p:nvSpPr>
          <p:cNvPr id="21" name="TextBox 20">
            <a:extLst>
              <a:ext uri="{FF2B5EF4-FFF2-40B4-BE49-F238E27FC236}">
                <a16:creationId xmlns:a16="http://schemas.microsoft.com/office/drawing/2014/main" id="{06D7BEFC-D421-2F57-F82A-6F10F921AE76}"/>
              </a:ext>
            </a:extLst>
          </p:cNvPr>
          <p:cNvSpPr txBox="1"/>
          <p:nvPr/>
        </p:nvSpPr>
        <p:spPr>
          <a:xfrm>
            <a:off x="4022548" y="5078054"/>
            <a:ext cx="1078257" cy="369332"/>
          </a:xfrm>
          <a:prstGeom prst="rect">
            <a:avLst/>
          </a:prstGeom>
          <a:noFill/>
        </p:spPr>
        <p:txBody>
          <a:bodyPr wrap="square" rtlCol="0">
            <a:spAutoFit/>
          </a:bodyPr>
          <a:lstStyle/>
          <a:p>
            <a:r>
              <a:rPr lang="en-US" dirty="0"/>
              <a:t>TOOLS</a:t>
            </a:r>
          </a:p>
        </p:txBody>
      </p:sp>
      <p:sp>
        <p:nvSpPr>
          <p:cNvPr id="22" name="TextBox 21">
            <a:extLst>
              <a:ext uri="{FF2B5EF4-FFF2-40B4-BE49-F238E27FC236}">
                <a16:creationId xmlns:a16="http://schemas.microsoft.com/office/drawing/2014/main" id="{8ABF2971-911A-D3EA-4697-64D7F1A3B076}"/>
              </a:ext>
            </a:extLst>
          </p:cNvPr>
          <p:cNvSpPr txBox="1"/>
          <p:nvPr/>
        </p:nvSpPr>
        <p:spPr>
          <a:xfrm>
            <a:off x="7983671" y="3672478"/>
            <a:ext cx="1285538" cy="369332"/>
          </a:xfrm>
          <a:prstGeom prst="rect">
            <a:avLst/>
          </a:prstGeom>
          <a:solidFill>
            <a:srgbClr val="FFFF00"/>
          </a:solidFill>
        </p:spPr>
        <p:txBody>
          <a:bodyPr wrap="square" rtlCol="0">
            <a:spAutoFit/>
          </a:bodyPr>
          <a:lstStyle/>
          <a:p>
            <a:r>
              <a:rPr lang="en-US" dirty="0"/>
              <a:t>ACTION</a:t>
            </a:r>
          </a:p>
        </p:txBody>
      </p:sp>
      <p:sp>
        <p:nvSpPr>
          <p:cNvPr id="23" name="TextBox 22">
            <a:extLst>
              <a:ext uri="{FF2B5EF4-FFF2-40B4-BE49-F238E27FC236}">
                <a16:creationId xmlns:a16="http://schemas.microsoft.com/office/drawing/2014/main" id="{74B91D0B-A497-FABD-A84F-6CEE23316A8C}"/>
              </a:ext>
            </a:extLst>
          </p:cNvPr>
          <p:cNvSpPr txBox="1"/>
          <p:nvPr/>
        </p:nvSpPr>
        <p:spPr>
          <a:xfrm>
            <a:off x="4995340" y="2774723"/>
            <a:ext cx="633507" cy="369332"/>
          </a:xfrm>
          <a:prstGeom prst="rect">
            <a:avLst/>
          </a:prstGeom>
          <a:noFill/>
        </p:spPr>
        <p:txBody>
          <a:bodyPr wrap="none" rtlCol="0">
            <a:spAutoFit/>
          </a:bodyPr>
          <a:lstStyle/>
          <a:p>
            <a:r>
              <a:rPr lang="en-US" dirty="0"/>
              <a:t>LLM</a:t>
            </a:r>
          </a:p>
        </p:txBody>
      </p:sp>
      <p:sp>
        <p:nvSpPr>
          <p:cNvPr id="24" name="TextBox 23">
            <a:extLst>
              <a:ext uri="{FF2B5EF4-FFF2-40B4-BE49-F238E27FC236}">
                <a16:creationId xmlns:a16="http://schemas.microsoft.com/office/drawing/2014/main" id="{ED10E78A-3F7E-1179-D499-52C8AAF08616}"/>
              </a:ext>
            </a:extLst>
          </p:cNvPr>
          <p:cNvSpPr txBox="1"/>
          <p:nvPr/>
        </p:nvSpPr>
        <p:spPr>
          <a:xfrm>
            <a:off x="8626440" y="4913259"/>
            <a:ext cx="1078257" cy="369332"/>
          </a:xfrm>
          <a:prstGeom prst="rect">
            <a:avLst/>
          </a:prstGeom>
          <a:noFill/>
        </p:spPr>
        <p:txBody>
          <a:bodyPr wrap="square" rtlCol="0">
            <a:spAutoFit/>
          </a:bodyPr>
          <a:lstStyle/>
          <a:p>
            <a:r>
              <a:rPr lang="en-US" dirty="0"/>
              <a:t>TOOLS</a:t>
            </a:r>
          </a:p>
        </p:txBody>
      </p:sp>
      <p:sp>
        <p:nvSpPr>
          <p:cNvPr id="26" name="TextBox 25">
            <a:extLst>
              <a:ext uri="{FF2B5EF4-FFF2-40B4-BE49-F238E27FC236}">
                <a16:creationId xmlns:a16="http://schemas.microsoft.com/office/drawing/2014/main" id="{B49921E6-6D17-1FD5-0F69-DAEAF8AFA93B}"/>
              </a:ext>
            </a:extLst>
          </p:cNvPr>
          <p:cNvSpPr txBox="1"/>
          <p:nvPr/>
        </p:nvSpPr>
        <p:spPr>
          <a:xfrm>
            <a:off x="1140650" y="4013655"/>
            <a:ext cx="1267488" cy="369332"/>
          </a:xfrm>
          <a:prstGeom prst="rect">
            <a:avLst/>
          </a:prstGeom>
          <a:noFill/>
        </p:spPr>
        <p:txBody>
          <a:bodyPr wrap="square">
            <a:spAutoFit/>
          </a:bodyPr>
          <a:lstStyle/>
          <a:p>
            <a:r>
              <a:rPr lang="en-US" b="1" dirty="0"/>
              <a:t>Perceive</a:t>
            </a:r>
            <a:endParaRPr lang="en-US" dirty="0"/>
          </a:p>
        </p:txBody>
      </p:sp>
      <p:sp>
        <p:nvSpPr>
          <p:cNvPr id="28" name="TextBox 27">
            <a:extLst>
              <a:ext uri="{FF2B5EF4-FFF2-40B4-BE49-F238E27FC236}">
                <a16:creationId xmlns:a16="http://schemas.microsoft.com/office/drawing/2014/main" id="{82A03202-691F-AB2E-7443-88CAF66E7366}"/>
              </a:ext>
            </a:extLst>
          </p:cNvPr>
          <p:cNvSpPr txBox="1"/>
          <p:nvPr/>
        </p:nvSpPr>
        <p:spPr>
          <a:xfrm>
            <a:off x="5733334" y="2814926"/>
            <a:ext cx="2126632" cy="369332"/>
          </a:xfrm>
          <a:prstGeom prst="rect">
            <a:avLst/>
          </a:prstGeom>
          <a:noFill/>
        </p:spPr>
        <p:txBody>
          <a:bodyPr wrap="square">
            <a:spAutoFit/>
          </a:bodyPr>
          <a:lstStyle/>
          <a:p>
            <a:r>
              <a:rPr lang="en-US" b="1" dirty="0"/>
              <a:t>Reason/Plan</a:t>
            </a:r>
            <a:endParaRPr lang="en-US" dirty="0"/>
          </a:p>
        </p:txBody>
      </p:sp>
    </p:spTree>
    <p:extLst>
      <p:ext uri="{BB962C8B-B14F-4D97-AF65-F5344CB8AC3E}">
        <p14:creationId xmlns:p14="http://schemas.microsoft.com/office/powerpoint/2010/main" val="889257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B89A4-FB54-7F59-2BC1-BF2908BD72CF}"/>
              </a:ext>
            </a:extLst>
          </p:cNvPr>
          <p:cNvSpPr>
            <a:spLocks noGrp="1"/>
          </p:cNvSpPr>
          <p:nvPr>
            <p:ph type="title"/>
          </p:nvPr>
        </p:nvSpPr>
        <p:spPr/>
        <p:txBody>
          <a:bodyPr/>
          <a:lstStyle/>
          <a:p>
            <a:r>
              <a:rPr lang="en-US" dirty="0"/>
              <a:t>Overview of Agentic AI</a:t>
            </a:r>
          </a:p>
        </p:txBody>
      </p:sp>
      <p:sp>
        <p:nvSpPr>
          <p:cNvPr id="3" name="Text Placeholder 2">
            <a:extLst>
              <a:ext uri="{FF2B5EF4-FFF2-40B4-BE49-F238E27FC236}">
                <a16:creationId xmlns:a16="http://schemas.microsoft.com/office/drawing/2014/main" id="{B14915A8-4161-20B7-D7DA-869029E886E4}"/>
              </a:ext>
            </a:extLst>
          </p:cNvPr>
          <p:cNvSpPr>
            <a:spLocks noGrp="1"/>
          </p:cNvSpPr>
          <p:nvPr>
            <p:ph type="body" sz="quarter" idx="11"/>
          </p:nvPr>
        </p:nvSpPr>
        <p:spPr>
          <a:xfrm>
            <a:off x="551395" y="1174167"/>
            <a:ext cx="11042651" cy="5318707"/>
          </a:xfrm>
        </p:spPr>
        <p:txBody>
          <a:bodyPr>
            <a:normAutofit fontScale="85000" lnSpcReduction="20000"/>
          </a:bodyPr>
          <a:lstStyle/>
          <a:p>
            <a:pPr marL="0" indent="0">
              <a:buNone/>
            </a:pPr>
            <a:r>
              <a:rPr lang="en-US" sz="3300" b="1" dirty="0"/>
              <a:t>Key Concepts</a:t>
            </a:r>
          </a:p>
          <a:p>
            <a:r>
              <a:rPr lang="en-US" sz="3300" b="1" dirty="0"/>
              <a:t>Autonomy:</a:t>
            </a:r>
            <a:r>
              <a:rPr lang="en-US" sz="3300" dirty="0"/>
              <a:t> Executes tasks with minimal human intervention.</a:t>
            </a:r>
          </a:p>
          <a:p>
            <a:r>
              <a:rPr lang="en-US" sz="3300" b="1" dirty="0"/>
              <a:t>Tool Use:</a:t>
            </a:r>
            <a:r>
              <a:rPr lang="en-US" sz="3300" dirty="0"/>
              <a:t> Can call APIs, run code, or control external software.</a:t>
            </a:r>
          </a:p>
          <a:p>
            <a:r>
              <a:rPr lang="en-US" sz="3300" b="1" dirty="0"/>
              <a:t>Memory:</a:t>
            </a:r>
            <a:r>
              <a:rPr lang="en-US" sz="3300" dirty="0"/>
              <a:t> Maintains context across multiple steps or tasks.</a:t>
            </a:r>
          </a:p>
          <a:p>
            <a:r>
              <a:rPr lang="en-US" sz="3300" b="1" dirty="0"/>
              <a:t>Reflection:</a:t>
            </a:r>
            <a:r>
              <a:rPr lang="en-US" sz="3300" dirty="0"/>
              <a:t> Learns from mistakes to improve performance.</a:t>
            </a:r>
          </a:p>
          <a:p>
            <a:r>
              <a:rPr lang="en-US" sz="3300" b="1" dirty="0"/>
              <a:t>Goal-Oriented:</a:t>
            </a:r>
            <a:r>
              <a:rPr lang="en-US" sz="3300" dirty="0"/>
              <a:t> Works toward an outcome rather than just answering questions.</a:t>
            </a:r>
          </a:p>
          <a:p>
            <a:pPr marL="0" indent="0">
              <a:buNone/>
            </a:pPr>
            <a:r>
              <a:rPr lang="en-US" sz="3300" b="1" dirty="0"/>
              <a:t>Example</a:t>
            </a:r>
          </a:p>
          <a:p>
            <a:r>
              <a:rPr lang="en-US" sz="3300" b="1" dirty="0"/>
              <a:t>LLM Application:</a:t>
            </a:r>
            <a:r>
              <a:rPr lang="en-US" sz="3300" dirty="0"/>
              <a:t> A chatbot answers FAQs about a product.</a:t>
            </a:r>
          </a:p>
          <a:p>
            <a:r>
              <a:rPr lang="en-US" sz="3300" b="1" dirty="0"/>
              <a:t>Agentic AI:</a:t>
            </a:r>
            <a:r>
              <a:rPr lang="en-US" sz="3300" dirty="0"/>
              <a:t> The same chatbot can autonomously check the inventory database, send emails, and schedule deliveries after understanding user intent.</a:t>
            </a:r>
          </a:p>
          <a:p>
            <a:endParaRPr lang="en-US" dirty="0"/>
          </a:p>
        </p:txBody>
      </p:sp>
      <p:sp>
        <p:nvSpPr>
          <p:cNvPr id="4" name="Footer Placeholder 3">
            <a:extLst>
              <a:ext uri="{FF2B5EF4-FFF2-40B4-BE49-F238E27FC236}">
                <a16:creationId xmlns:a16="http://schemas.microsoft.com/office/drawing/2014/main" id="{154D0ED9-3501-9B4D-F9ED-D6619B96E44F}"/>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9BDE36DC-35B6-A0C1-E626-E4A49591EAA8}"/>
              </a:ext>
            </a:extLst>
          </p:cNvPr>
          <p:cNvSpPr>
            <a:spLocks noGrp="1"/>
          </p:cNvSpPr>
          <p:nvPr>
            <p:ph type="sldNum" sz="quarter" idx="14"/>
          </p:nvPr>
        </p:nvSpPr>
        <p:spPr/>
        <p:txBody>
          <a:bodyPr/>
          <a:lstStyle/>
          <a:p>
            <a:fld id="{CE19DD2C-80DA-488C-99A4-6C8CE83C9C30}" type="slidenum">
              <a:rPr lang="en-SG" smtClean="0"/>
              <a:t>6</a:t>
            </a:fld>
            <a:endParaRPr lang="en-SG"/>
          </a:p>
        </p:txBody>
      </p:sp>
    </p:spTree>
    <p:extLst>
      <p:ext uri="{BB962C8B-B14F-4D97-AF65-F5344CB8AC3E}">
        <p14:creationId xmlns:p14="http://schemas.microsoft.com/office/powerpoint/2010/main" val="3992248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0A41F-EB3E-DFA1-2581-FD828A91BC3F}"/>
              </a:ext>
            </a:extLst>
          </p:cNvPr>
          <p:cNvSpPr>
            <a:spLocks noGrp="1"/>
          </p:cNvSpPr>
          <p:nvPr>
            <p:ph type="title"/>
          </p:nvPr>
        </p:nvSpPr>
        <p:spPr/>
        <p:txBody>
          <a:bodyPr/>
          <a:lstStyle/>
          <a:p>
            <a:r>
              <a:rPr lang="en-US" dirty="0"/>
              <a:t>How Agentic AI Differs from Traditional LLM Applications</a:t>
            </a:r>
          </a:p>
        </p:txBody>
      </p:sp>
      <p:sp>
        <p:nvSpPr>
          <p:cNvPr id="4" name="Footer Placeholder 3">
            <a:extLst>
              <a:ext uri="{FF2B5EF4-FFF2-40B4-BE49-F238E27FC236}">
                <a16:creationId xmlns:a16="http://schemas.microsoft.com/office/drawing/2014/main" id="{13520B11-BA47-6DEA-A79E-99A916E4D127}"/>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FE46AF6A-FF40-1E4F-79CE-279E27CE5B77}"/>
              </a:ext>
            </a:extLst>
          </p:cNvPr>
          <p:cNvSpPr>
            <a:spLocks noGrp="1"/>
          </p:cNvSpPr>
          <p:nvPr>
            <p:ph type="sldNum" sz="quarter" idx="14"/>
          </p:nvPr>
        </p:nvSpPr>
        <p:spPr/>
        <p:txBody>
          <a:bodyPr/>
          <a:lstStyle/>
          <a:p>
            <a:fld id="{CE19DD2C-80DA-488C-99A4-6C8CE83C9C30}" type="slidenum">
              <a:rPr lang="en-SG" smtClean="0"/>
              <a:t>7</a:t>
            </a:fld>
            <a:endParaRPr lang="en-SG"/>
          </a:p>
        </p:txBody>
      </p:sp>
      <p:graphicFrame>
        <p:nvGraphicFramePr>
          <p:cNvPr id="6" name="Table 5">
            <a:extLst>
              <a:ext uri="{FF2B5EF4-FFF2-40B4-BE49-F238E27FC236}">
                <a16:creationId xmlns:a16="http://schemas.microsoft.com/office/drawing/2014/main" id="{9817B081-076B-B045-E12B-FB7476E0DCF1}"/>
              </a:ext>
            </a:extLst>
          </p:cNvPr>
          <p:cNvGraphicFramePr>
            <a:graphicFrameLocks noGrp="1"/>
          </p:cNvGraphicFramePr>
          <p:nvPr>
            <p:extLst>
              <p:ext uri="{D42A27DB-BD31-4B8C-83A1-F6EECF244321}">
                <p14:modId xmlns:p14="http://schemas.microsoft.com/office/powerpoint/2010/main" val="2164004848"/>
              </p:ext>
            </p:extLst>
          </p:nvPr>
        </p:nvGraphicFramePr>
        <p:xfrm>
          <a:off x="695076" y="1163071"/>
          <a:ext cx="10898829" cy="5268208"/>
        </p:xfrm>
        <a:graphic>
          <a:graphicData uri="http://schemas.openxmlformats.org/drawingml/2006/table">
            <a:tbl>
              <a:tblPr/>
              <a:tblGrid>
                <a:gridCol w="3476937">
                  <a:extLst>
                    <a:ext uri="{9D8B030D-6E8A-4147-A177-3AD203B41FA5}">
                      <a16:colId xmlns:a16="http://schemas.microsoft.com/office/drawing/2014/main" val="1522413711"/>
                    </a:ext>
                  </a:extLst>
                </a:gridCol>
                <a:gridCol w="3710946">
                  <a:extLst>
                    <a:ext uri="{9D8B030D-6E8A-4147-A177-3AD203B41FA5}">
                      <a16:colId xmlns:a16="http://schemas.microsoft.com/office/drawing/2014/main" val="641220552"/>
                    </a:ext>
                  </a:extLst>
                </a:gridCol>
                <a:gridCol w="3710946">
                  <a:extLst>
                    <a:ext uri="{9D8B030D-6E8A-4147-A177-3AD203B41FA5}">
                      <a16:colId xmlns:a16="http://schemas.microsoft.com/office/drawing/2014/main" val="1616470895"/>
                    </a:ext>
                  </a:extLst>
                </a:gridCol>
              </a:tblGrid>
              <a:tr h="674799">
                <a:tc>
                  <a:txBody>
                    <a:bodyPr/>
                    <a:lstStyle/>
                    <a:p>
                      <a:pPr>
                        <a:buNone/>
                      </a:pPr>
                      <a:r>
                        <a:rPr lang="en-US" sz="2000" b="1" dirty="0"/>
                        <a:t>Feature / Aspect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fr-FR" sz="2000" b="1" dirty="0"/>
                        <a:t>LLM Application (e.g., </a:t>
                      </a:r>
                      <a:r>
                        <a:rPr lang="fr-FR" sz="2000" b="1" dirty="0" err="1"/>
                        <a:t>ChatGPT</a:t>
                      </a:r>
                      <a:r>
                        <a:rPr lang="fr-FR" sz="2000" b="1" dirty="0"/>
                        <a:t> API)</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it-IT" sz="2000" b="1" dirty="0"/>
                        <a:t>Agentic AI (e.g., Auto-GPT, LangGraph)</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55684683"/>
                  </a:ext>
                </a:extLst>
              </a:tr>
              <a:tr h="674799">
                <a:tc>
                  <a:txBody>
                    <a:bodyPr/>
                    <a:lstStyle/>
                    <a:p>
                      <a:pPr>
                        <a:buNone/>
                      </a:pPr>
                      <a:r>
                        <a:rPr lang="en-US" sz="2000" b="1" dirty="0"/>
                        <a:t>Control Flow</a:t>
                      </a:r>
                      <a:endParaRPr lang="en-US" sz="2000" dirty="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a:t>User-driven prompts → one response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dirty="0"/>
                        <a:t>Goal-driven → multiple steps until goal completion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11281882"/>
                  </a:ext>
                </a:extLst>
              </a:tr>
              <a:tr h="674799">
                <a:tc>
                  <a:txBody>
                    <a:bodyPr/>
                    <a:lstStyle/>
                    <a:p>
                      <a:pPr>
                        <a:buNone/>
                      </a:pPr>
                      <a:r>
                        <a:rPr lang="en-US" sz="2000" b="1"/>
                        <a:t>State Management</a:t>
                      </a:r>
                      <a:endParaRPr lang="en-US"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a:t>Mostly stateless conversations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dirty="0"/>
                        <a:t>Persistent memory &amp; environment interaction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26374635"/>
                  </a:ext>
                </a:extLst>
              </a:tr>
              <a:tr h="385600">
                <a:tc>
                  <a:txBody>
                    <a:bodyPr/>
                    <a:lstStyle/>
                    <a:p>
                      <a:pPr>
                        <a:buNone/>
                      </a:pPr>
                      <a:r>
                        <a:rPr lang="en-US" sz="2000" b="1"/>
                        <a:t>Planning &amp; Reasoning</a:t>
                      </a:r>
                      <a:endParaRPr lang="en-US"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a:t>Minimal reasoning per prompt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a:t>Iterative reasoning + task planning</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43157"/>
                  </a:ext>
                </a:extLst>
              </a:tr>
              <a:tr h="674799">
                <a:tc>
                  <a:txBody>
                    <a:bodyPr/>
                    <a:lstStyle/>
                    <a:p>
                      <a:pPr>
                        <a:buNone/>
                      </a:pPr>
                      <a:r>
                        <a:rPr lang="en-US" sz="2000" b="1"/>
                        <a:t>Tool Use</a:t>
                      </a:r>
                      <a:endParaRPr lang="en-US"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a:t>Limited (via plugins or custom code)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dirty="0"/>
                        <a:t>Native ability to use external APIs/tools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0346256"/>
                  </a:ext>
                </a:extLst>
              </a:tr>
              <a:tr h="674799">
                <a:tc>
                  <a:txBody>
                    <a:bodyPr/>
                    <a:lstStyle/>
                    <a:p>
                      <a:pPr>
                        <a:buNone/>
                      </a:pPr>
                      <a:r>
                        <a:rPr lang="en-US" sz="2000" b="1"/>
                        <a:t>Autonomy</a:t>
                      </a:r>
                      <a:endParaRPr lang="en-US"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a:t>Dependent on user input every step</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dirty="0"/>
                        <a:t>Self-directed task execution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97853981"/>
                  </a:ext>
                </a:extLst>
              </a:tr>
              <a:tr h="385600">
                <a:tc>
                  <a:txBody>
                    <a:bodyPr/>
                    <a:lstStyle/>
                    <a:p>
                      <a:pPr>
                        <a:buNone/>
                      </a:pPr>
                      <a:r>
                        <a:rPr lang="en-US" sz="2000" b="1"/>
                        <a:t>Error Handling</a:t>
                      </a:r>
                      <a:endParaRPr lang="en-US" sz="20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a:t>Responds as per prompt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dirty="0"/>
                        <a:t>Self-corrects using feedback loops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06052301"/>
                  </a:ext>
                </a:extLst>
              </a:tr>
              <a:tr h="674799">
                <a:tc>
                  <a:txBody>
                    <a:bodyPr/>
                    <a:lstStyle/>
                    <a:p>
                      <a:pPr>
                        <a:buNone/>
                      </a:pPr>
                      <a:r>
                        <a:rPr lang="en-US" sz="2000" b="1" dirty="0"/>
                        <a:t>Applications</a:t>
                      </a:r>
                      <a:endParaRPr lang="en-US" sz="2000" dirty="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a:t>Q&amp;A bots, summarization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buNone/>
                      </a:pPr>
                      <a:r>
                        <a:rPr lang="en-US" sz="2000" dirty="0"/>
                        <a:t>Autonomous research assistants, workflow automation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03376948"/>
                  </a:ext>
                </a:extLst>
              </a:tr>
            </a:tbl>
          </a:graphicData>
        </a:graphic>
      </p:graphicFrame>
    </p:spTree>
    <p:extLst>
      <p:ext uri="{BB962C8B-B14F-4D97-AF65-F5344CB8AC3E}">
        <p14:creationId xmlns:p14="http://schemas.microsoft.com/office/powerpoint/2010/main" val="3411817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F6DEA-C0AC-B763-EC6F-9C3EAA0DBEBF}"/>
              </a:ext>
            </a:extLst>
          </p:cNvPr>
          <p:cNvSpPr>
            <a:spLocks noGrp="1"/>
          </p:cNvSpPr>
          <p:nvPr>
            <p:ph type="title"/>
          </p:nvPr>
        </p:nvSpPr>
        <p:spPr/>
        <p:txBody>
          <a:bodyPr/>
          <a:lstStyle/>
          <a:p>
            <a:r>
              <a:rPr lang="en-US" dirty="0"/>
              <a:t>Technical Implication for Developers</a:t>
            </a:r>
          </a:p>
        </p:txBody>
      </p:sp>
      <p:sp>
        <p:nvSpPr>
          <p:cNvPr id="3" name="Text Placeholder 2">
            <a:extLst>
              <a:ext uri="{FF2B5EF4-FFF2-40B4-BE49-F238E27FC236}">
                <a16:creationId xmlns:a16="http://schemas.microsoft.com/office/drawing/2014/main" id="{3FE03130-9686-C20E-10A5-2D2140D1693E}"/>
              </a:ext>
            </a:extLst>
          </p:cNvPr>
          <p:cNvSpPr>
            <a:spLocks noGrp="1"/>
          </p:cNvSpPr>
          <p:nvPr>
            <p:ph type="body" sz="quarter" idx="11"/>
          </p:nvPr>
        </p:nvSpPr>
        <p:spPr/>
        <p:txBody>
          <a:bodyPr/>
          <a:lstStyle/>
          <a:p>
            <a:r>
              <a:rPr lang="en-US" dirty="0"/>
              <a:t>LLMs are like brains providing reasoning and language understanding.</a:t>
            </a:r>
          </a:p>
          <a:p>
            <a:r>
              <a:rPr lang="en-US" dirty="0"/>
              <a:t>Agentic AI adds decision-making, memory, and tool orchestration layers to make them autonomous.</a:t>
            </a:r>
          </a:p>
          <a:p>
            <a:r>
              <a:rPr lang="en-US" dirty="0"/>
              <a:t>Frameworks like </a:t>
            </a:r>
            <a:r>
              <a:rPr lang="en-US" dirty="0" err="1"/>
              <a:t>LangChain</a:t>
            </a:r>
            <a:r>
              <a:rPr lang="en-US" dirty="0"/>
              <a:t>, </a:t>
            </a:r>
            <a:r>
              <a:rPr lang="en-US" dirty="0" err="1"/>
              <a:t>LangGraph</a:t>
            </a:r>
            <a:r>
              <a:rPr lang="en-US" dirty="0"/>
              <a:t>, and </a:t>
            </a:r>
            <a:r>
              <a:rPr lang="en-US" dirty="0" err="1"/>
              <a:t>CrewAI</a:t>
            </a:r>
            <a:r>
              <a:rPr lang="en-US" dirty="0"/>
              <a:t> simplify this orchestration.</a:t>
            </a:r>
          </a:p>
        </p:txBody>
      </p:sp>
      <p:sp>
        <p:nvSpPr>
          <p:cNvPr id="4" name="Footer Placeholder 3">
            <a:extLst>
              <a:ext uri="{FF2B5EF4-FFF2-40B4-BE49-F238E27FC236}">
                <a16:creationId xmlns:a16="http://schemas.microsoft.com/office/drawing/2014/main" id="{43BDAA41-1F49-3985-C9BC-C9B4658F0718}"/>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F02291B6-78C8-388A-19DC-89FF082C9905}"/>
              </a:ext>
            </a:extLst>
          </p:cNvPr>
          <p:cNvSpPr>
            <a:spLocks noGrp="1"/>
          </p:cNvSpPr>
          <p:nvPr>
            <p:ph type="sldNum" sz="quarter" idx="14"/>
          </p:nvPr>
        </p:nvSpPr>
        <p:spPr/>
        <p:txBody>
          <a:bodyPr/>
          <a:lstStyle/>
          <a:p>
            <a:fld id="{CE19DD2C-80DA-488C-99A4-6C8CE83C9C30}" type="slidenum">
              <a:rPr lang="en-SG" smtClean="0"/>
              <a:t>8</a:t>
            </a:fld>
            <a:endParaRPr lang="en-SG"/>
          </a:p>
        </p:txBody>
      </p:sp>
    </p:spTree>
    <p:extLst>
      <p:ext uri="{BB962C8B-B14F-4D97-AF65-F5344CB8AC3E}">
        <p14:creationId xmlns:p14="http://schemas.microsoft.com/office/powerpoint/2010/main" val="1625861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0CD82-66D3-2CBE-CA49-616CAE072744}"/>
              </a:ext>
            </a:extLst>
          </p:cNvPr>
          <p:cNvSpPr>
            <a:spLocks noGrp="1"/>
          </p:cNvSpPr>
          <p:nvPr>
            <p:ph type="title"/>
          </p:nvPr>
        </p:nvSpPr>
        <p:spPr/>
        <p:txBody>
          <a:bodyPr/>
          <a:lstStyle/>
          <a:p>
            <a:r>
              <a:rPr lang="en-US" dirty="0"/>
              <a:t>Introduction to a Single-Agent System</a:t>
            </a:r>
          </a:p>
        </p:txBody>
      </p:sp>
      <p:sp>
        <p:nvSpPr>
          <p:cNvPr id="3" name="Text Placeholder 2">
            <a:extLst>
              <a:ext uri="{FF2B5EF4-FFF2-40B4-BE49-F238E27FC236}">
                <a16:creationId xmlns:a16="http://schemas.microsoft.com/office/drawing/2014/main" id="{0B1A0BEF-5CAE-DAA6-FF54-9EF8C2551E77}"/>
              </a:ext>
            </a:extLst>
          </p:cNvPr>
          <p:cNvSpPr>
            <a:spLocks noGrp="1"/>
          </p:cNvSpPr>
          <p:nvPr>
            <p:ph type="body" sz="quarter" idx="11"/>
          </p:nvPr>
        </p:nvSpPr>
        <p:spPr/>
        <p:txBody>
          <a:bodyPr/>
          <a:lstStyle/>
          <a:p>
            <a:pPr>
              <a:buNone/>
            </a:pPr>
            <a:r>
              <a:rPr lang="en-US" dirty="0"/>
              <a:t>A </a:t>
            </a:r>
            <a:r>
              <a:rPr lang="en-US" b="1" dirty="0"/>
              <a:t>single agent</a:t>
            </a:r>
            <a:r>
              <a:rPr lang="en-US" dirty="0"/>
              <a:t> is the basic building block of agentic AI.</a:t>
            </a:r>
            <a:br>
              <a:rPr lang="en-US" dirty="0"/>
            </a:br>
            <a:r>
              <a:rPr lang="en-US" dirty="0"/>
              <a:t>It’s like one “worker” that:</a:t>
            </a:r>
          </a:p>
          <a:p>
            <a:pPr>
              <a:buFont typeface="+mj-lt"/>
              <a:buAutoNum type="arabicPeriod"/>
            </a:pPr>
            <a:r>
              <a:rPr lang="en-US" b="1" dirty="0"/>
              <a:t>Receives a goal</a:t>
            </a:r>
            <a:r>
              <a:rPr lang="en-US" dirty="0"/>
              <a:t> → e.g., “Get top 3 AI research papers on Agentic AI.”</a:t>
            </a:r>
          </a:p>
          <a:p>
            <a:pPr>
              <a:buFont typeface="+mj-lt"/>
              <a:buAutoNum type="arabicPeriod"/>
            </a:pPr>
            <a:r>
              <a:rPr lang="en-US" b="1" dirty="0"/>
              <a:t>Plans actions</a:t>
            </a:r>
            <a:r>
              <a:rPr lang="en-US" dirty="0"/>
              <a:t> → Search → Read → Summarize.</a:t>
            </a:r>
          </a:p>
          <a:p>
            <a:pPr>
              <a:buFont typeface="+mj-lt"/>
              <a:buAutoNum type="arabicPeriod"/>
            </a:pPr>
            <a:r>
              <a:rPr lang="en-US" b="1" dirty="0"/>
              <a:t>Executes</a:t>
            </a:r>
            <a:r>
              <a:rPr lang="en-US" dirty="0"/>
              <a:t> tasks step-by-step.</a:t>
            </a:r>
          </a:p>
          <a:p>
            <a:pPr>
              <a:buFont typeface="+mj-lt"/>
              <a:buAutoNum type="arabicPeriod"/>
            </a:pPr>
            <a:r>
              <a:rPr lang="en-US" b="1" dirty="0"/>
              <a:t>Returns</a:t>
            </a:r>
            <a:r>
              <a:rPr lang="en-US" dirty="0"/>
              <a:t> the final result.</a:t>
            </a:r>
          </a:p>
          <a:p>
            <a:pPr marL="0" indent="0">
              <a:buNone/>
            </a:pPr>
            <a:endParaRPr lang="en-US" dirty="0"/>
          </a:p>
        </p:txBody>
      </p:sp>
      <p:sp>
        <p:nvSpPr>
          <p:cNvPr id="4" name="Footer Placeholder 3">
            <a:extLst>
              <a:ext uri="{FF2B5EF4-FFF2-40B4-BE49-F238E27FC236}">
                <a16:creationId xmlns:a16="http://schemas.microsoft.com/office/drawing/2014/main" id="{B69D4690-E24C-D09D-7BF3-295D6D2B4523}"/>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53A557F2-C99D-E508-EC8F-9765CE228C50}"/>
              </a:ext>
            </a:extLst>
          </p:cNvPr>
          <p:cNvSpPr>
            <a:spLocks noGrp="1"/>
          </p:cNvSpPr>
          <p:nvPr>
            <p:ph type="sldNum" sz="quarter" idx="14"/>
          </p:nvPr>
        </p:nvSpPr>
        <p:spPr/>
        <p:txBody>
          <a:bodyPr/>
          <a:lstStyle/>
          <a:p>
            <a:fld id="{CE19DD2C-80DA-488C-99A4-6C8CE83C9C30}" type="slidenum">
              <a:rPr lang="en-SG" smtClean="0"/>
              <a:t>9</a:t>
            </a:fld>
            <a:endParaRPr lang="en-SG"/>
          </a:p>
        </p:txBody>
      </p:sp>
    </p:spTree>
    <p:extLst>
      <p:ext uri="{BB962C8B-B14F-4D97-AF65-F5344CB8AC3E}">
        <p14:creationId xmlns:p14="http://schemas.microsoft.com/office/powerpoint/2010/main" val="130005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8033-A885-7E7F-411E-BE54640D40D1}"/>
              </a:ext>
            </a:extLst>
          </p:cNvPr>
          <p:cNvSpPr>
            <a:spLocks noGrp="1"/>
          </p:cNvSpPr>
          <p:nvPr>
            <p:ph type="title"/>
          </p:nvPr>
        </p:nvSpPr>
        <p:spPr/>
        <p:txBody>
          <a:bodyPr/>
          <a:lstStyle/>
          <a:p>
            <a:r>
              <a:rPr lang="en-US" dirty="0" err="1"/>
              <a:t>ReAct</a:t>
            </a:r>
            <a:r>
              <a:rPr lang="en-US" dirty="0"/>
              <a:t> LLM-agent</a:t>
            </a:r>
          </a:p>
        </p:txBody>
      </p:sp>
      <p:sp>
        <p:nvSpPr>
          <p:cNvPr id="3" name="Text Placeholder 2">
            <a:extLst>
              <a:ext uri="{FF2B5EF4-FFF2-40B4-BE49-F238E27FC236}">
                <a16:creationId xmlns:a16="http://schemas.microsoft.com/office/drawing/2014/main" id="{3D43C4C7-46F3-BE9B-4AE1-76B679CCC98D}"/>
              </a:ext>
            </a:extLst>
          </p:cNvPr>
          <p:cNvSpPr>
            <a:spLocks noGrp="1"/>
          </p:cNvSpPr>
          <p:nvPr>
            <p:ph type="body" sz="quarter" idx="11"/>
          </p:nvPr>
        </p:nvSpPr>
        <p:spPr>
          <a:xfrm>
            <a:off x="542019" y="1160313"/>
            <a:ext cx="5207618" cy="4791607"/>
          </a:xfrm>
        </p:spPr>
        <p:txBody>
          <a:bodyPr>
            <a:normAutofit lnSpcReduction="10000"/>
          </a:bodyPr>
          <a:lstStyle/>
          <a:p>
            <a:r>
              <a:rPr lang="en-US" dirty="0"/>
              <a:t>The </a:t>
            </a:r>
            <a:r>
              <a:rPr lang="en-US" dirty="0" err="1"/>
              <a:t>ReAct</a:t>
            </a:r>
            <a:r>
              <a:rPr lang="en-US" dirty="0"/>
              <a:t> Agent is a framework combining reasoning and action to enhance the capabilities of Large Language Models (LLMs) in solving complex tasks. It integrates reasoning (thinking through a problem) and action (interacting with external tools or environments) into a unified process, enabling the agent to work more effectively in real-world applications.</a:t>
            </a:r>
          </a:p>
          <a:p>
            <a:endParaRPr lang="en-US" dirty="0"/>
          </a:p>
        </p:txBody>
      </p:sp>
      <p:sp>
        <p:nvSpPr>
          <p:cNvPr id="4" name="Footer Placeholder 3">
            <a:extLst>
              <a:ext uri="{FF2B5EF4-FFF2-40B4-BE49-F238E27FC236}">
                <a16:creationId xmlns:a16="http://schemas.microsoft.com/office/drawing/2014/main" id="{1C064CF8-895E-2D7A-9E17-8A360816CFCF}"/>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A01A9CE5-C62F-DD05-9329-F3AC97B34FA0}"/>
              </a:ext>
            </a:extLst>
          </p:cNvPr>
          <p:cNvSpPr>
            <a:spLocks noGrp="1"/>
          </p:cNvSpPr>
          <p:nvPr>
            <p:ph type="sldNum" sz="quarter" idx="14"/>
          </p:nvPr>
        </p:nvSpPr>
        <p:spPr/>
        <p:txBody>
          <a:bodyPr/>
          <a:lstStyle/>
          <a:p>
            <a:fld id="{CE19DD2C-80DA-488C-99A4-6C8CE83C9C30}" type="slidenum">
              <a:rPr lang="en-SG" smtClean="0"/>
              <a:t>10</a:t>
            </a:fld>
            <a:endParaRPr lang="en-SG"/>
          </a:p>
        </p:txBody>
      </p:sp>
      <p:sp>
        <p:nvSpPr>
          <p:cNvPr id="6" name="TextBox 5">
            <a:extLst>
              <a:ext uri="{FF2B5EF4-FFF2-40B4-BE49-F238E27FC236}">
                <a16:creationId xmlns:a16="http://schemas.microsoft.com/office/drawing/2014/main" id="{8FB3FAA5-BF9B-BE68-ADE6-AE43937DE8E2}"/>
              </a:ext>
            </a:extLst>
          </p:cNvPr>
          <p:cNvSpPr txBox="1"/>
          <p:nvPr/>
        </p:nvSpPr>
        <p:spPr>
          <a:xfrm>
            <a:off x="6651457" y="2307748"/>
            <a:ext cx="2057400" cy="2031325"/>
          </a:xfrm>
          <a:prstGeom prst="rect">
            <a:avLst/>
          </a:prstGeom>
          <a:solidFill>
            <a:schemeClr val="bg1">
              <a:lumMod val="85000"/>
            </a:schemeClr>
          </a:solidFill>
          <a:ln>
            <a:solidFill>
              <a:schemeClr val="tx1"/>
            </a:solidFill>
          </a:ln>
        </p:spPr>
        <p:txBody>
          <a:bodyPr wrap="square" rtlCol="0">
            <a:spAutoFit/>
          </a:bodyPr>
          <a:lstStyle/>
          <a:p>
            <a:pPr algn="ctr"/>
            <a:r>
              <a:rPr lang="en-US" dirty="0"/>
              <a:t>Example </a:t>
            </a:r>
            <a:r>
              <a:rPr lang="en-US" dirty="0" err="1"/>
              <a:t>ReAct</a:t>
            </a:r>
            <a:r>
              <a:rPr lang="en-US" dirty="0"/>
              <a:t> </a:t>
            </a:r>
          </a:p>
          <a:p>
            <a:pPr algn="ctr"/>
            <a:r>
              <a:rPr lang="en-US" dirty="0"/>
              <a:t>Trajectory</a:t>
            </a:r>
          </a:p>
          <a:p>
            <a:pPr algn="ctr"/>
            <a:endParaRPr lang="en-US" dirty="0"/>
          </a:p>
          <a:p>
            <a:pPr algn="ctr"/>
            <a:endParaRPr lang="en-US" dirty="0"/>
          </a:p>
          <a:p>
            <a:pPr algn="ctr"/>
            <a:endParaRPr lang="en-US" dirty="0"/>
          </a:p>
          <a:p>
            <a:pPr algn="ctr"/>
            <a:endParaRPr lang="en-US" dirty="0"/>
          </a:p>
          <a:p>
            <a:pPr algn="ctr"/>
            <a:endParaRPr lang="en-US" dirty="0"/>
          </a:p>
        </p:txBody>
      </p:sp>
      <p:sp>
        <p:nvSpPr>
          <p:cNvPr id="7" name="TextBox 6">
            <a:extLst>
              <a:ext uri="{FF2B5EF4-FFF2-40B4-BE49-F238E27FC236}">
                <a16:creationId xmlns:a16="http://schemas.microsoft.com/office/drawing/2014/main" id="{09518316-F01E-D76C-E1CE-52158AB25B95}"/>
              </a:ext>
            </a:extLst>
          </p:cNvPr>
          <p:cNvSpPr txBox="1"/>
          <p:nvPr/>
        </p:nvSpPr>
        <p:spPr>
          <a:xfrm>
            <a:off x="6499057" y="2129273"/>
            <a:ext cx="2057400" cy="2031325"/>
          </a:xfrm>
          <a:prstGeom prst="rect">
            <a:avLst/>
          </a:prstGeom>
          <a:solidFill>
            <a:schemeClr val="bg1">
              <a:lumMod val="85000"/>
            </a:schemeClr>
          </a:solidFill>
          <a:ln>
            <a:solidFill>
              <a:schemeClr val="tx1"/>
            </a:solidFill>
          </a:ln>
        </p:spPr>
        <p:txBody>
          <a:bodyPr wrap="square" rtlCol="0">
            <a:spAutoFit/>
          </a:bodyPr>
          <a:lstStyle/>
          <a:p>
            <a:pPr algn="ctr"/>
            <a:r>
              <a:rPr lang="en-US" dirty="0"/>
              <a:t>Example </a:t>
            </a:r>
            <a:r>
              <a:rPr lang="en-US" dirty="0" err="1"/>
              <a:t>ReAct</a:t>
            </a:r>
            <a:r>
              <a:rPr lang="en-US" dirty="0"/>
              <a:t> </a:t>
            </a:r>
          </a:p>
          <a:p>
            <a:pPr algn="ctr"/>
            <a:r>
              <a:rPr lang="en-US" dirty="0"/>
              <a:t>Trajectory</a:t>
            </a:r>
          </a:p>
          <a:p>
            <a:pPr algn="ctr"/>
            <a:endParaRPr lang="en-US" dirty="0"/>
          </a:p>
          <a:p>
            <a:pPr algn="ctr"/>
            <a:endParaRPr lang="en-US" dirty="0"/>
          </a:p>
          <a:p>
            <a:pPr algn="ctr"/>
            <a:endParaRPr lang="en-US" dirty="0"/>
          </a:p>
          <a:p>
            <a:pPr algn="ctr"/>
            <a:endParaRPr lang="en-US" dirty="0"/>
          </a:p>
          <a:p>
            <a:pPr algn="ctr"/>
            <a:endParaRPr lang="en-US" dirty="0"/>
          </a:p>
        </p:txBody>
      </p:sp>
      <p:sp>
        <p:nvSpPr>
          <p:cNvPr id="8" name="TextBox 7">
            <a:extLst>
              <a:ext uri="{FF2B5EF4-FFF2-40B4-BE49-F238E27FC236}">
                <a16:creationId xmlns:a16="http://schemas.microsoft.com/office/drawing/2014/main" id="{8D2219D4-EFA7-DAA7-9E96-6B6B60D9C20C}"/>
              </a:ext>
            </a:extLst>
          </p:cNvPr>
          <p:cNvSpPr txBox="1"/>
          <p:nvPr/>
        </p:nvSpPr>
        <p:spPr>
          <a:xfrm>
            <a:off x="6346657" y="1926748"/>
            <a:ext cx="2057400" cy="2031325"/>
          </a:xfrm>
          <a:prstGeom prst="rect">
            <a:avLst/>
          </a:prstGeom>
          <a:solidFill>
            <a:schemeClr val="bg1">
              <a:lumMod val="85000"/>
            </a:schemeClr>
          </a:solidFill>
          <a:ln>
            <a:solidFill>
              <a:schemeClr val="tx1"/>
            </a:solidFill>
          </a:ln>
        </p:spPr>
        <p:txBody>
          <a:bodyPr wrap="square" rtlCol="0">
            <a:spAutoFit/>
          </a:bodyPr>
          <a:lstStyle/>
          <a:p>
            <a:pPr algn="ctr"/>
            <a:r>
              <a:rPr lang="en-US" dirty="0"/>
              <a:t>Example </a:t>
            </a:r>
            <a:r>
              <a:rPr lang="en-US" dirty="0" err="1"/>
              <a:t>ReAct</a:t>
            </a:r>
            <a:r>
              <a:rPr lang="en-US" dirty="0"/>
              <a:t> </a:t>
            </a:r>
          </a:p>
          <a:p>
            <a:pPr algn="ctr"/>
            <a:r>
              <a:rPr lang="en-US" dirty="0"/>
              <a:t>Trajectory</a:t>
            </a:r>
          </a:p>
          <a:p>
            <a:pPr algn="ctr"/>
            <a:endParaRPr lang="en-US" dirty="0"/>
          </a:p>
          <a:p>
            <a:pPr algn="ctr"/>
            <a:endParaRPr lang="en-US" dirty="0"/>
          </a:p>
          <a:p>
            <a:pPr algn="ctr"/>
            <a:endParaRPr lang="en-US" dirty="0"/>
          </a:p>
          <a:p>
            <a:pPr algn="ctr"/>
            <a:endParaRPr lang="en-US" dirty="0"/>
          </a:p>
          <a:p>
            <a:pPr algn="ctr"/>
            <a:endParaRPr lang="en-US" dirty="0"/>
          </a:p>
        </p:txBody>
      </p:sp>
      <p:sp>
        <p:nvSpPr>
          <p:cNvPr id="9" name="TextBox 8">
            <a:extLst>
              <a:ext uri="{FF2B5EF4-FFF2-40B4-BE49-F238E27FC236}">
                <a16:creationId xmlns:a16="http://schemas.microsoft.com/office/drawing/2014/main" id="{44B2D530-D2A9-CB37-7F87-5D9B4613729A}"/>
              </a:ext>
            </a:extLst>
          </p:cNvPr>
          <p:cNvSpPr txBox="1"/>
          <p:nvPr/>
        </p:nvSpPr>
        <p:spPr>
          <a:xfrm>
            <a:off x="9069458" y="1159173"/>
            <a:ext cx="1441485" cy="369332"/>
          </a:xfrm>
          <a:prstGeom prst="rect">
            <a:avLst/>
          </a:prstGeom>
          <a:solidFill>
            <a:schemeClr val="bg1">
              <a:lumMod val="85000"/>
            </a:schemeClr>
          </a:solidFill>
        </p:spPr>
        <p:txBody>
          <a:bodyPr wrap="none" rtlCol="0">
            <a:spAutoFit/>
          </a:bodyPr>
          <a:lstStyle/>
          <a:p>
            <a:r>
              <a:rPr lang="en-US" dirty="0"/>
              <a:t>Task prompt</a:t>
            </a:r>
          </a:p>
        </p:txBody>
      </p:sp>
      <p:sp>
        <p:nvSpPr>
          <p:cNvPr id="10" name="Flowchart: Terminator 9">
            <a:extLst>
              <a:ext uri="{FF2B5EF4-FFF2-40B4-BE49-F238E27FC236}">
                <a16:creationId xmlns:a16="http://schemas.microsoft.com/office/drawing/2014/main" id="{021B5DD1-762A-18F3-E800-80C67F17D2BC}"/>
              </a:ext>
            </a:extLst>
          </p:cNvPr>
          <p:cNvSpPr/>
          <p:nvPr/>
        </p:nvSpPr>
        <p:spPr bwMode="auto">
          <a:xfrm>
            <a:off x="8998216" y="1528505"/>
            <a:ext cx="2281847" cy="779026"/>
          </a:xfrm>
          <a:prstGeom prst="flowChartTerminator">
            <a:avLst/>
          </a:prstGeom>
          <a:solidFill>
            <a:schemeClr val="accent6">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r>
              <a:rPr kumimoji="0" lang="en-US" i="0" u="none" strike="noStrike" cap="none" normalizeH="0" baseline="0" dirty="0">
                <a:ln>
                  <a:noFill/>
                </a:ln>
                <a:effectLst/>
                <a:latin typeface="Arial" panose="020B0604020202020204" pitchFamily="34" charset="0"/>
              </a:rPr>
              <a:t>Thought: xxx</a:t>
            </a:r>
          </a:p>
          <a:p>
            <a:pPr marL="742950" marR="0" indent="-285750" algn="ctr" defTabSz="914400" rtl="0" eaLnBrk="0" fontAlgn="base" latinLnBrk="0" hangingPunct="0">
              <a:lnSpc>
                <a:spcPct val="90000"/>
              </a:lnSpc>
              <a:spcBef>
                <a:spcPct val="20000"/>
              </a:spcBef>
              <a:spcAft>
                <a:spcPct val="0"/>
              </a:spcAft>
              <a:buClrTx/>
              <a:buSzTx/>
              <a:buFontTx/>
              <a:buNone/>
            </a:pPr>
            <a:r>
              <a:rPr lang="en-US" dirty="0">
                <a:latin typeface="Arial" panose="020B0604020202020204" pitchFamily="34" charset="0"/>
              </a:rPr>
              <a:t>Action: xxx</a:t>
            </a:r>
            <a:endParaRPr kumimoji="0" lang="en-US" i="0" u="none" strike="noStrike" cap="none" normalizeH="0" baseline="0" dirty="0">
              <a:ln>
                <a:noFill/>
              </a:ln>
              <a:effectLst/>
              <a:latin typeface="Arial" panose="020B0604020202020204" pitchFamily="34" charset="0"/>
            </a:endParaRPr>
          </a:p>
        </p:txBody>
      </p:sp>
      <p:sp>
        <p:nvSpPr>
          <p:cNvPr id="11" name="Flowchart: Terminator 10">
            <a:extLst>
              <a:ext uri="{FF2B5EF4-FFF2-40B4-BE49-F238E27FC236}">
                <a16:creationId xmlns:a16="http://schemas.microsoft.com/office/drawing/2014/main" id="{00A79B10-5BFC-46C7-850D-5982B562D2F7}"/>
              </a:ext>
            </a:extLst>
          </p:cNvPr>
          <p:cNvSpPr/>
          <p:nvPr/>
        </p:nvSpPr>
        <p:spPr bwMode="auto">
          <a:xfrm>
            <a:off x="9012067" y="2960636"/>
            <a:ext cx="2281847" cy="779026"/>
          </a:xfrm>
          <a:prstGeom prst="flowChartTerminator">
            <a:avLst/>
          </a:prstGeom>
          <a:solidFill>
            <a:schemeClr val="accent6">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r>
              <a:rPr kumimoji="0" lang="en-US" i="0" u="none" strike="noStrike" cap="none" normalizeH="0" baseline="0" dirty="0">
                <a:ln>
                  <a:noFill/>
                </a:ln>
                <a:effectLst/>
                <a:latin typeface="Arial" panose="020B0604020202020204" pitchFamily="34" charset="0"/>
              </a:rPr>
              <a:t>Thought: xxx</a:t>
            </a:r>
          </a:p>
          <a:p>
            <a:pPr marL="742950" marR="0" indent="-285750" algn="ctr" defTabSz="914400" rtl="0" eaLnBrk="0" fontAlgn="base" latinLnBrk="0" hangingPunct="0">
              <a:lnSpc>
                <a:spcPct val="90000"/>
              </a:lnSpc>
              <a:spcBef>
                <a:spcPct val="20000"/>
              </a:spcBef>
              <a:spcAft>
                <a:spcPct val="0"/>
              </a:spcAft>
              <a:buClrTx/>
              <a:buSzTx/>
              <a:buFontTx/>
              <a:buNone/>
            </a:pPr>
            <a:r>
              <a:rPr lang="en-US" dirty="0">
                <a:latin typeface="Arial" panose="020B0604020202020204" pitchFamily="34" charset="0"/>
              </a:rPr>
              <a:t>Action: xxx</a:t>
            </a:r>
            <a:endParaRPr kumimoji="0" lang="en-US" i="0" u="none" strike="noStrike" cap="none" normalizeH="0" baseline="0" dirty="0">
              <a:ln>
                <a:noFill/>
              </a:ln>
              <a:effectLst/>
              <a:latin typeface="Arial" panose="020B0604020202020204" pitchFamily="34" charset="0"/>
            </a:endParaRPr>
          </a:p>
        </p:txBody>
      </p:sp>
      <p:sp>
        <p:nvSpPr>
          <p:cNvPr id="12" name="Flowchart: Terminator 11">
            <a:extLst>
              <a:ext uri="{FF2B5EF4-FFF2-40B4-BE49-F238E27FC236}">
                <a16:creationId xmlns:a16="http://schemas.microsoft.com/office/drawing/2014/main" id="{960BF973-DD32-33CF-71C3-04D7560B9EA3}"/>
              </a:ext>
            </a:extLst>
          </p:cNvPr>
          <p:cNvSpPr/>
          <p:nvPr/>
        </p:nvSpPr>
        <p:spPr bwMode="auto">
          <a:xfrm>
            <a:off x="9473425" y="2184257"/>
            <a:ext cx="2281847" cy="779026"/>
          </a:xfrm>
          <a:prstGeom prst="flowChartTerminator">
            <a:avLst/>
          </a:prstGeom>
          <a:solidFill>
            <a:schemeClr val="accent1">
              <a:lumMod val="60000"/>
              <a:lumOff val="40000"/>
            </a:schemeClr>
          </a:solidFill>
          <a:ln w="9525" cap="flat" cmpd="sng" algn="ctr">
            <a:solidFill>
              <a:schemeClr val="accent1"/>
            </a:solidFill>
            <a:prstDash val="solid"/>
            <a:round/>
            <a:headEnd type="none" w="med" len="med"/>
            <a:tailEnd type="non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r>
              <a:rPr kumimoji="0" lang="en-US" i="0" u="none" strike="noStrike" cap="none" normalizeH="0" baseline="0" dirty="0">
                <a:ln>
                  <a:noFill/>
                </a:ln>
                <a:effectLst/>
                <a:latin typeface="Arial" panose="020B0604020202020204" pitchFamily="34" charset="0"/>
              </a:rPr>
              <a:t>Observation:</a:t>
            </a:r>
          </a:p>
          <a:p>
            <a:pPr marL="742950" marR="0" indent="-285750" algn="ctr" defTabSz="914400" rtl="0" eaLnBrk="0" fontAlgn="base" latinLnBrk="0" hangingPunct="0">
              <a:lnSpc>
                <a:spcPct val="90000"/>
              </a:lnSpc>
              <a:spcBef>
                <a:spcPct val="20000"/>
              </a:spcBef>
              <a:spcAft>
                <a:spcPct val="0"/>
              </a:spcAft>
              <a:buClrTx/>
              <a:buSzTx/>
              <a:buFontTx/>
              <a:buNone/>
            </a:pPr>
            <a:r>
              <a:rPr kumimoji="0" lang="en-US" i="0" u="none" strike="noStrike" cap="none" normalizeH="0" baseline="0" dirty="0">
                <a:ln>
                  <a:noFill/>
                </a:ln>
                <a:effectLst/>
                <a:latin typeface="Arial" panose="020B0604020202020204" pitchFamily="34" charset="0"/>
              </a:rPr>
              <a:t>xxx</a:t>
            </a:r>
          </a:p>
        </p:txBody>
      </p:sp>
      <p:sp>
        <p:nvSpPr>
          <p:cNvPr id="13" name="Flowchart: Terminator 12">
            <a:extLst>
              <a:ext uri="{FF2B5EF4-FFF2-40B4-BE49-F238E27FC236}">
                <a16:creationId xmlns:a16="http://schemas.microsoft.com/office/drawing/2014/main" id="{5F59F36A-FB36-2376-1F54-F6210258122F}"/>
              </a:ext>
            </a:extLst>
          </p:cNvPr>
          <p:cNvSpPr/>
          <p:nvPr/>
        </p:nvSpPr>
        <p:spPr bwMode="auto">
          <a:xfrm>
            <a:off x="9447533" y="3616388"/>
            <a:ext cx="2281847" cy="779026"/>
          </a:xfrm>
          <a:prstGeom prst="flowChartTerminator">
            <a:avLst/>
          </a:prstGeom>
          <a:solidFill>
            <a:schemeClr val="accent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r>
              <a:rPr kumimoji="0" lang="en-US" i="0" u="none" strike="noStrike" cap="none" normalizeH="0" baseline="0" dirty="0">
                <a:ln>
                  <a:noFill/>
                </a:ln>
                <a:effectLst/>
                <a:latin typeface="Arial" panose="020B0604020202020204" pitchFamily="34" charset="0"/>
              </a:rPr>
              <a:t>Observation:</a:t>
            </a:r>
          </a:p>
          <a:p>
            <a:pPr marL="742950" marR="0" indent="-285750" algn="ctr" defTabSz="914400" rtl="0" eaLnBrk="0" fontAlgn="base" latinLnBrk="0" hangingPunct="0">
              <a:lnSpc>
                <a:spcPct val="90000"/>
              </a:lnSpc>
              <a:spcBef>
                <a:spcPct val="20000"/>
              </a:spcBef>
              <a:spcAft>
                <a:spcPct val="0"/>
              </a:spcAft>
              <a:buClrTx/>
              <a:buSzTx/>
              <a:buFontTx/>
              <a:buNone/>
            </a:pPr>
            <a:r>
              <a:rPr kumimoji="0" lang="en-US" i="0" u="none" strike="noStrike" cap="none" normalizeH="0" baseline="0" dirty="0">
                <a:ln>
                  <a:noFill/>
                </a:ln>
                <a:effectLst/>
                <a:latin typeface="Arial" panose="020B0604020202020204" pitchFamily="34" charset="0"/>
              </a:rPr>
              <a:t>xxx</a:t>
            </a:r>
          </a:p>
        </p:txBody>
      </p:sp>
      <p:sp>
        <p:nvSpPr>
          <p:cNvPr id="14" name="Left Brace 13">
            <a:extLst>
              <a:ext uri="{FF2B5EF4-FFF2-40B4-BE49-F238E27FC236}">
                <a16:creationId xmlns:a16="http://schemas.microsoft.com/office/drawing/2014/main" id="{659430F9-301B-5603-BCB2-D39B58EE4504}"/>
              </a:ext>
            </a:extLst>
          </p:cNvPr>
          <p:cNvSpPr/>
          <p:nvPr/>
        </p:nvSpPr>
        <p:spPr bwMode="auto">
          <a:xfrm>
            <a:off x="8257271" y="1022504"/>
            <a:ext cx="1190262" cy="3946669"/>
          </a:xfrm>
          <a:prstGeom prst="leftBrace">
            <a:avLst/>
          </a:prstGeom>
          <a:no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endParaRPr kumimoji="0" lang="en-US" sz="3600" b="1" i="0" u="none" strike="noStrike" cap="none" normalizeH="0" baseline="0">
              <a:ln>
                <a:noFill/>
              </a:ln>
              <a:solidFill>
                <a:schemeClr val="bg1"/>
              </a:solidFill>
              <a:effectLst/>
              <a:latin typeface="Arial" panose="020B0604020202020204" pitchFamily="34" charset="0"/>
            </a:endParaRPr>
          </a:p>
        </p:txBody>
      </p:sp>
      <p:sp>
        <p:nvSpPr>
          <p:cNvPr id="15" name="TextBox 14">
            <a:extLst>
              <a:ext uri="{FF2B5EF4-FFF2-40B4-BE49-F238E27FC236}">
                <a16:creationId xmlns:a16="http://schemas.microsoft.com/office/drawing/2014/main" id="{AD53A771-BF67-96C5-4943-3F03760335F7}"/>
              </a:ext>
            </a:extLst>
          </p:cNvPr>
          <p:cNvSpPr txBox="1"/>
          <p:nvPr/>
        </p:nvSpPr>
        <p:spPr>
          <a:xfrm>
            <a:off x="9998384" y="4336302"/>
            <a:ext cx="1119217" cy="584775"/>
          </a:xfrm>
          <a:prstGeom prst="rect">
            <a:avLst/>
          </a:prstGeom>
          <a:noFill/>
        </p:spPr>
        <p:txBody>
          <a:bodyPr wrap="none" rtlCol="0">
            <a:spAutoFit/>
          </a:bodyPr>
          <a:lstStyle/>
          <a:p>
            <a:r>
              <a:rPr lang="en-US" sz="3200" b="1" dirty="0"/>
              <a:t>…….</a:t>
            </a:r>
          </a:p>
        </p:txBody>
      </p:sp>
      <p:sp>
        <p:nvSpPr>
          <p:cNvPr id="16" name="TextBox 15">
            <a:extLst>
              <a:ext uri="{FF2B5EF4-FFF2-40B4-BE49-F238E27FC236}">
                <a16:creationId xmlns:a16="http://schemas.microsoft.com/office/drawing/2014/main" id="{79F2214D-3115-51C5-5035-72E54C56C79B}"/>
              </a:ext>
            </a:extLst>
          </p:cNvPr>
          <p:cNvSpPr txBox="1"/>
          <p:nvPr/>
        </p:nvSpPr>
        <p:spPr>
          <a:xfrm>
            <a:off x="6203675" y="4674555"/>
            <a:ext cx="761747" cy="369332"/>
          </a:xfrm>
          <a:prstGeom prst="rect">
            <a:avLst/>
          </a:prstGeom>
          <a:solidFill>
            <a:schemeClr val="bg1">
              <a:lumMod val="85000"/>
            </a:schemeClr>
          </a:solidFill>
        </p:spPr>
        <p:txBody>
          <a:bodyPr wrap="none" rtlCol="0">
            <a:spAutoFit/>
          </a:bodyPr>
          <a:lstStyle/>
          <a:p>
            <a:r>
              <a:rPr lang="en-US" dirty="0"/>
              <a:t>         </a:t>
            </a:r>
          </a:p>
        </p:txBody>
      </p:sp>
      <p:sp>
        <p:nvSpPr>
          <p:cNvPr id="17" name="TextBox 16">
            <a:extLst>
              <a:ext uri="{FF2B5EF4-FFF2-40B4-BE49-F238E27FC236}">
                <a16:creationId xmlns:a16="http://schemas.microsoft.com/office/drawing/2014/main" id="{E0825068-E6C4-104A-9F6B-1637C4F8EFEA}"/>
              </a:ext>
            </a:extLst>
          </p:cNvPr>
          <p:cNvSpPr txBox="1"/>
          <p:nvPr/>
        </p:nvSpPr>
        <p:spPr>
          <a:xfrm>
            <a:off x="6203674" y="5124552"/>
            <a:ext cx="761747" cy="369332"/>
          </a:xfrm>
          <a:prstGeom prst="rect">
            <a:avLst/>
          </a:prstGeom>
          <a:solidFill>
            <a:schemeClr val="accent6">
              <a:lumMod val="60000"/>
              <a:lumOff val="40000"/>
            </a:schemeClr>
          </a:solidFill>
        </p:spPr>
        <p:txBody>
          <a:bodyPr wrap="none" rtlCol="0">
            <a:spAutoFit/>
          </a:bodyPr>
          <a:lstStyle/>
          <a:p>
            <a:r>
              <a:rPr lang="en-US" dirty="0"/>
              <a:t>         </a:t>
            </a:r>
          </a:p>
        </p:txBody>
      </p:sp>
      <p:sp>
        <p:nvSpPr>
          <p:cNvPr id="18" name="TextBox 17">
            <a:extLst>
              <a:ext uri="{FF2B5EF4-FFF2-40B4-BE49-F238E27FC236}">
                <a16:creationId xmlns:a16="http://schemas.microsoft.com/office/drawing/2014/main" id="{478AA10A-93B2-9D4B-F85A-E05ACEBF2F3A}"/>
              </a:ext>
            </a:extLst>
          </p:cNvPr>
          <p:cNvSpPr txBox="1"/>
          <p:nvPr/>
        </p:nvSpPr>
        <p:spPr>
          <a:xfrm>
            <a:off x="6197931" y="5588346"/>
            <a:ext cx="761747" cy="369332"/>
          </a:xfrm>
          <a:prstGeom prst="rect">
            <a:avLst/>
          </a:prstGeom>
          <a:solidFill>
            <a:schemeClr val="accent1">
              <a:lumMod val="60000"/>
              <a:lumOff val="40000"/>
            </a:schemeClr>
          </a:solidFill>
        </p:spPr>
        <p:txBody>
          <a:bodyPr wrap="none" rtlCol="0">
            <a:spAutoFit/>
          </a:bodyPr>
          <a:lstStyle/>
          <a:p>
            <a:r>
              <a:rPr lang="en-US" dirty="0"/>
              <a:t>         </a:t>
            </a:r>
          </a:p>
        </p:txBody>
      </p:sp>
      <p:sp>
        <p:nvSpPr>
          <p:cNvPr id="19" name="TextBox 18">
            <a:extLst>
              <a:ext uri="{FF2B5EF4-FFF2-40B4-BE49-F238E27FC236}">
                <a16:creationId xmlns:a16="http://schemas.microsoft.com/office/drawing/2014/main" id="{2EFD066A-2472-DFF2-0338-944E4D9B1293}"/>
              </a:ext>
            </a:extLst>
          </p:cNvPr>
          <p:cNvSpPr txBox="1"/>
          <p:nvPr/>
        </p:nvSpPr>
        <p:spPr>
          <a:xfrm>
            <a:off x="6910228" y="4695510"/>
            <a:ext cx="1710725" cy="369332"/>
          </a:xfrm>
          <a:prstGeom prst="rect">
            <a:avLst/>
          </a:prstGeom>
          <a:noFill/>
        </p:spPr>
        <p:txBody>
          <a:bodyPr wrap="none" rtlCol="0">
            <a:spAutoFit/>
          </a:bodyPr>
          <a:lstStyle/>
          <a:p>
            <a:r>
              <a:rPr lang="en-US" dirty="0"/>
              <a:t>Human prompt</a:t>
            </a:r>
          </a:p>
        </p:txBody>
      </p:sp>
      <p:sp>
        <p:nvSpPr>
          <p:cNvPr id="20" name="TextBox 19">
            <a:extLst>
              <a:ext uri="{FF2B5EF4-FFF2-40B4-BE49-F238E27FC236}">
                <a16:creationId xmlns:a16="http://schemas.microsoft.com/office/drawing/2014/main" id="{745B2096-4A08-5B68-F1C7-3A253B7A9A6A}"/>
              </a:ext>
            </a:extLst>
          </p:cNvPr>
          <p:cNvSpPr txBox="1"/>
          <p:nvPr/>
        </p:nvSpPr>
        <p:spPr>
          <a:xfrm>
            <a:off x="6910228" y="5205217"/>
            <a:ext cx="1338828" cy="369332"/>
          </a:xfrm>
          <a:prstGeom prst="rect">
            <a:avLst/>
          </a:prstGeom>
          <a:noFill/>
        </p:spPr>
        <p:txBody>
          <a:bodyPr wrap="none" rtlCol="0">
            <a:spAutoFit/>
          </a:bodyPr>
          <a:lstStyle/>
          <a:p>
            <a:r>
              <a:rPr lang="en-US" dirty="0"/>
              <a:t>LLM output</a:t>
            </a:r>
          </a:p>
        </p:txBody>
      </p:sp>
      <p:sp>
        <p:nvSpPr>
          <p:cNvPr id="21" name="TextBox 20">
            <a:extLst>
              <a:ext uri="{FF2B5EF4-FFF2-40B4-BE49-F238E27FC236}">
                <a16:creationId xmlns:a16="http://schemas.microsoft.com/office/drawing/2014/main" id="{10C0319B-0F55-DA5B-3E71-638EAA176790}"/>
              </a:ext>
            </a:extLst>
          </p:cNvPr>
          <p:cNvSpPr txBox="1"/>
          <p:nvPr/>
        </p:nvSpPr>
        <p:spPr>
          <a:xfrm>
            <a:off x="6906439" y="5683677"/>
            <a:ext cx="2480166" cy="369332"/>
          </a:xfrm>
          <a:prstGeom prst="rect">
            <a:avLst/>
          </a:prstGeom>
          <a:noFill/>
        </p:spPr>
        <p:txBody>
          <a:bodyPr wrap="none" rtlCol="0">
            <a:spAutoFit/>
          </a:bodyPr>
          <a:lstStyle/>
          <a:p>
            <a:r>
              <a:rPr lang="en-US" dirty="0"/>
              <a:t>Environment feedback</a:t>
            </a:r>
          </a:p>
        </p:txBody>
      </p:sp>
    </p:spTree>
    <p:extLst>
      <p:ext uri="{BB962C8B-B14F-4D97-AF65-F5344CB8AC3E}">
        <p14:creationId xmlns:p14="http://schemas.microsoft.com/office/powerpoint/2010/main" val="2065414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0E0DD-7173-0436-804D-F464D6B091FA}"/>
              </a:ext>
            </a:extLst>
          </p:cNvPr>
          <p:cNvSpPr>
            <a:spLocks noGrp="1"/>
          </p:cNvSpPr>
          <p:nvPr>
            <p:ph type="title"/>
          </p:nvPr>
        </p:nvSpPr>
        <p:spPr/>
        <p:txBody>
          <a:bodyPr/>
          <a:lstStyle/>
          <a:p>
            <a:r>
              <a:rPr lang="en-US" dirty="0"/>
              <a:t>Technical Architecture</a:t>
            </a:r>
          </a:p>
        </p:txBody>
      </p:sp>
      <p:sp>
        <p:nvSpPr>
          <p:cNvPr id="3" name="Text Placeholder 2">
            <a:extLst>
              <a:ext uri="{FF2B5EF4-FFF2-40B4-BE49-F238E27FC236}">
                <a16:creationId xmlns:a16="http://schemas.microsoft.com/office/drawing/2014/main" id="{F70135F0-C52D-8514-8AC3-487ABC994961}"/>
              </a:ext>
            </a:extLst>
          </p:cNvPr>
          <p:cNvSpPr>
            <a:spLocks noGrp="1"/>
          </p:cNvSpPr>
          <p:nvPr>
            <p:ph type="body" sz="quarter" idx="11"/>
          </p:nvPr>
        </p:nvSpPr>
        <p:spPr>
          <a:xfrm>
            <a:off x="542018" y="1562095"/>
            <a:ext cx="8227909" cy="4791607"/>
          </a:xfrm>
        </p:spPr>
        <p:txBody>
          <a:bodyPr>
            <a:normAutofit lnSpcReduction="10000"/>
          </a:bodyPr>
          <a:lstStyle/>
          <a:p>
            <a:r>
              <a:rPr lang="en-US" dirty="0"/>
              <a:t>A single-agent system typically includes:</a:t>
            </a:r>
          </a:p>
          <a:p>
            <a:r>
              <a:rPr lang="en-US" b="1" dirty="0"/>
              <a:t>LLM Reasoner</a:t>
            </a:r>
            <a:r>
              <a:rPr lang="en-US" dirty="0"/>
              <a:t>: Handles natural language understanding &amp; reasoning.</a:t>
            </a:r>
          </a:p>
          <a:p>
            <a:r>
              <a:rPr lang="en-US" b="1" dirty="0"/>
              <a:t>Memory Store</a:t>
            </a:r>
            <a:r>
              <a:rPr lang="en-US" dirty="0"/>
              <a:t>: Vector DB (e.g., Chroma, FAISS) for contextual memory.</a:t>
            </a:r>
          </a:p>
          <a:p>
            <a:r>
              <a:rPr lang="en-US" b="1" dirty="0"/>
              <a:t>Tool Interfaces</a:t>
            </a:r>
            <a:r>
              <a:rPr lang="en-US" dirty="0"/>
              <a:t>: APIs, Python functions, external apps.</a:t>
            </a:r>
          </a:p>
          <a:p>
            <a:r>
              <a:rPr lang="en-US" b="1" dirty="0"/>
              <a:t>Planner/Executor</a:t>
            </a:r>
            <a:r>
              <a:rPr lang="en-US" dirty="0"/>
              <a:t>: Logic for task decomposition &amp; execution.</a:t>
            </a:r>
          </a:p>
          <a:p>
            <a:r>
              <a:rPr lang="en-US" b="1" dirty="0"/>
              <a:t>Feedback Loop</a:t>
            </a:r>
            <a:r>
              <a:rPr lang="en-US" dirty="0"/>
              <a:t>: For self-correction and refinement.</a:t>
            </a:r>
          </a:p>
          <a:p>
            <a:endParaRPr lang="en-US" dirty="0"/>
          </a:p>
        </p:txBody>
      </p:sp>
      <p:sp>
        <p:nvSpPr>
          <p:cNvPr id="4" name="Footer Placeholder 3">
            <a:extLst>
              <a:ext uri="{FF2B5EF4-FFF2-40B4-BE49-F238E27FC236}">
                <a16:creationId xmlns:a16="http://schemas.microsoft.com/office/drawing/2014/main" id="{0F865303-C409-957A-ABE6-ECECF05AD27A}"/>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00D0ADC3-836D-3697-F1A3-1994D47AA008}"/>
              </a:ext>
            </a:extLst>
          </p:cNvPr>
          <p:cNvSpPr>
            <a:spLocks noGrp="1"/>
          </p:cNvSpPr>
          <p:nvPr>
            <p:ph type="sldNum" sz="quarter" idx="14"/>
          </p:nvPr>
        </p:nvSpPr>
        <p:spPr/>
        <p:txBody>
          <a:bodyPr/>
          <a:lstStyle/>
          <a:p>
            <a:fld id="{CE19DD2C-80DA-488C-99A4-6C8CE83C9C30}" type="slidenum">
              <a:rPr lang="en-SG" smtClean="0"/>
              <a:t>11</a:t>
            </a:fld>
            <a:endParaRPr lang="en-SG"/>
          </a:p>
        </p:txBody>
      </p:sp>
      <p:sp>
        <p:nvSpPr>
          <p:cNvPr id="8" name="Rectangle: Rounded Corners 7">
            <a:extLst>
              <a:ext uri="{FF2B5EF4-FFF2-40B4-BE49-F238E27FC236}">
                <a16:creationId xmlns:a16="http://schemas.microsoft.com/office/drawing/2014/main" id="{ED238EE3-D1F8-A50F-4213-20F35F4D8188}"/>
              </a:ext>
            </a:extLst>
          </p:cNvPr>
          <p:cNvSpPr/>
          <p:nvPr/>
        </p:nvSpPr>
        <p:spPr>
          <a:xfrm>
            <a:off x="8950036" y="920549"/>
            <a:ext cx="2870678" cy="8728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 Goal</a:t>
            </a:r>
          </a:p>
        </p:txBody>
      </p:sp>
      <p:sp>
        <p:nvSpPr>
          <p:cNvPr id="9" name="Rectangle: Rounded Corners 8">
            <a:extLst>
              <a:ext uri="{FF2B5EF4-FFF2-40B4-BE49-F238E27FC236}">
                <a16:creationId xmlns:a16="http://schemas.microsoft.com/office/drawing/2014/main" id="{344CEAEC-C725-9D80-2231-D067E6FB769A}"/>
              </a:ext>
            </a:extLst>
          </p:cNvPr>
          <p:cNvSpPr/>
          <p:nvPr/>
        </p:nvSpPr>
        <p:spPr>
          <a:xfrm>
            <a:off x="8950036" y="2463684"/>
            <a:ext cx="2870678" cy="8728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 Reasoner (planner)</a:t>
            </a:r>
          </a:p>
        </p:txBody>
      </p:sp>
      <p:sp>
        <p:nvSpPr>
          <p:cNvPr id="10" name="Rectangle: Rounded Corners 9">
            <a:extLst>
              <a:ext uri="{FF2B5EF4-FFF2-40B4-BE49-F238E27FC236}">
                <a16:creationId xmlns:a16="http://schemas.microsoft.com/office/drawing/2014/main" id="{CCAB42B6-AE25-52D0-3B07-8C29B23E6890}"/>
              </a:ext>
            </a:extLst>
          </p:cNvPr>
          <p:cNvSpPr/>
          <p:nvPr/>
        </p:nvSpPr>
        <p:spPr>
          <a:xfrm>
            <a:off x="8950036" y="3957898"/>
            <a:ext cx="2870678" cy="8728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Too/API Executor</a:t>
            </a:r>
          </a:p>
        </p:txBody>
      </p:sp>
      <p:sp>
        <p:nvSpPr>
          <p:cNvPr id="11" name="Rectangle: Rounded Corners 10">
            <a:extLst>
              <a:ext uri="{FF2B5EF4-FFF2-40B4-BE49-F238E27FC236}">
                <a16:creationId xmlns:a16="http://schemas.microsoft.com/office/drawing/2014/main" id="{A504F501-E6B5-C59A-5BD4-0B3C64037EC2}"/>
              </a:ext>
            </a:extLst>
          </p:cNvPr>
          <p:cNvSpPr/>
          <p:nvPr/>
        </p:nvSpPr>
        <p:spPr>
          <a:xfrm>
            <a:off x="8916793" y="5442759"/>
            <a:ext cx="2870678" cy="8728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Memory &amp; Feedback</a:t>
            </a:r>
          </a:p>
        </p:txBody>
      </p:sp>
      <p:cxnSp>
        <p:nvCxnSpPr>
          <p:cNvPr id="13" name="Straight Arrow Connector 12">
            <a:extLst>
              <a:ext uri="{FF2B5EF4-FFF2-40B4-BE49-F238E27FC236}">
                <a16:creationId xmlns:a16="http://schemas.microsoft.com/office/drawing/2014/main" id="{98DFD482-F2FF-C698-481D-B221A0F98412}"/>
              </a:ext>
            </a:extLst>
          </p:cNvPr>
          <p:cNvCxnSpPr>
            <a:stCxn id="8" idx="2"/>
            <a:endCxn id="9" idx="0"/>
          </p:cNvCxnSpPr>
          <p:nvPr/>
        </p:nvCxnSpPr>
        <p:spPr>
          <a:xfrm>
            <a:off x="10385375" y="1793385"/>
            <a:ext cx="0" cy="6702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206EF7E-9A67-BFD5-D06B-50FAA20F60B7}"/>
              </a:ext>
            </a:extLst>
          </p:cNvPr>
          <p:cNvCxnSpPr/>
          <p:nvPr/>
        </p:nvCxnSpPr>
        <p:spPr>
          <a:xfrm>
            <a:off x="10346598" y="3287599"/>
            <a:ext cx="0" cy="6702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9D07CD3-A987-6145-1333-DD93FC3C0DB4}"/>
              </a:ext>
            </a:extLst>
          </p:cNvPr>
          <p:cNvCxnSpPr/>
          <p:nvPr/>
        </p:nvCxnSpPr>
        <p:spPr>
          <a:xfrm>
            <a:off x="10316141" y="4772460"/>
            <a:ext cx="0" cy="6702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3087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AFFC8-3FF5-CC93-65CE-19FB0801641E}"/>
              </a:ext>
            </a:extLst>
          </p:cNvPr>
          <p:cNvSpPr>
            <a:spLocks noGrp="1"/>
          </p:cNvSpPr>
          <p:nvPr>
            <p:ph type="title"/>
          </p:nvPr>
        </p:nvSpPr>
        <p:spPr/>
        <p:txBody>
          <a:bodyPr/>
          <a:lstStyle/>
          <a:p>
            <a:r>
              <a:rPr lang="en-US" dirty="0"/>
              <a:t>Objective of LLM Custom Function Call: Tool interface</a:t>
            </a:r>
          </a:p>
        </p:txBody>
      </p:sp>
      <p:sp>
        <p:nvSpPr>
          <p:cNvPr id="3" name="Text Placeholder 2">
            <a:extLst>
              <a:ext uri="{FF2B5EF4-FFF2-40B4-BE49-F238E27FC236}">
                <a16:creationId xmlns:a16="http://schemas.microsoft.com/office/drawing/2014/main" id="{332C0410-36E5-6D2A-3EB3-6AB74CF8E169}"/>
              </a:ext>
            </a:extLst>
          </p:cNvPr>
          <p:cNvSpPr>
            <a:spLocks noGrp="1"/>
          </p:cNvSpPr>
          <p:nvPr>
            <p:ph type="body" sz="quarter" idx="11"/>
          </p:nvPr>
        </p:nvSpPr>
        <p:spPr/>
        <p:txBody>
          <a:bodyPr/>
          <a:lstStyle/>
          <a:p>
            <a:r>
              <a:rPr lang="en-US" dirty="0"/>
              <a:t>Enable Dynamic Task Execution: Allows LLMs to interact with external functions, APIs, or tools for dynamic and actionable outputs.</a:t>
            </a:r>
          </a:p>
          <a:p>
            <a:r>
              <a:rPr lang="en-US" dirty="0"/>
              <a:t>Bridge Limitations of LLMs: Overcomes challenges like hallucination and limited real-world interactivity by using external systems for validation and execution.</a:t>
            </a:r>
          </a:p>
          <a:p>
            <a:r>
              <a:rPr lang="en-US" dirty="0"/>
              <a:t>Enhance Usability: Extends LLM capabilities to perform complex tasks beyond simple text generation, making them more applicable in real-world scenarios.</a:t>
            </a:r>
          </a:p>
          <a:p>
            <a:endParaRPr lang="en-US" dirty="0"/>
          </a:p>
        </p:txBody>
      </p:sp>
      <p:sp>
        <p:nvSpPr>
          <p:cNvPr id="4" name="Footer Placeholder 3">
            <a:extLst>
              <a:ext uri="{FF2B5EF4-FFF2-40B4-BE49-F238E27FC236}">
                <a16:creationId xmlns:a16="http://schemas.microsoft.com/office/drawing/2014/main" id="{68124429-230B-7C05-B2AE-B973D9BEF6A8}"/>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81322593-7326-2B63-8EBB-9682B8FC805D}"/>
              </a:ext>
            </a:extLst>
          </p:cNvPr>
          <p:cNvSpPr>
            <a:spLocks noGrp="1"/>
          </p:cNvSpPr>
          <p:nvPr>
            <p:ph type="sldNum" sz="quarter" idx="14"/>
          </p:nvPr>
        </p:nvSpPr>
        <p:spPr/>
        <p:txBody>
          <a:bodyPr/>
          <a:lstStyle/>
          <a:p>
            <a:fld id="{CE19DD2C-80DA-488C-99A4-6C8CE83C9C30}" type="slidenum">
              <a:rPr lang="en-SG" smtClean="0"/>
              <a:t>12</a:t>
            </a:fld>
            <a:endParaRPr lang="en-SG"/>
          </a:p>
        </p:txBody>
      </p:sp>
    </p:spTree>
    <p:extLst>
      <p:ext uri="{BB962C8B-B14F-4D97-AF65-F5344CB8AC3E}">
        <p14:creationId xmlns:p14="http://schemas.microsoft.com/office/powerpoint/2010/main" val="235500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785AC-93A7-7A00-FE86-A123CA018E7F}"/>
              </a:ext>
            </a:extLst>
          </p:cNvPr>
          <p:cNvSpPr>
            <a:spLocks noGrp="1"/>
          </p:cNvSpPr>
          <p:nvPr>
            <p:ph type="title"/>
          </p:nvPr>
        </p:nvSpPr>
        <p:spPr/>
        <p:txBody>
          <a:bodyPr/>
          <a:lstStyle/>
          <a:p>
            <a:r>
              <a:rPr lang="en-US" dirty="0"/>
              <a:t>How Custom Function(Tool Interface) Calls Work</a:t>
            </a:r>
          </a:p>
        </p:txBody>
      </p:sp>
      <p:sp>
        <p:nvSpPr>
          <p:cNvPr id="3" name="Text Placeholder 2">
            <a:extLst>
              <a:ext uri="{FF2B5EF4-FFF2-40B4-BE49-F238E27FC236}">
                <a16:creationId xmlns:a16="http://schemas.microsoft.com/office/drawing/2014/main" id="{1F52ED60-1F67-4F2E-7CF5-8F1544C355A6}"/>
              </a:ext>
            </a:extLst>
          </p:cNvPr>
          <p:cNvSpPr>
            <a:spLocks noGrp="1"/>
          </p:cNvSpPr>
          <p:nvPr>
            <p:ph type="body" sz="quarter" idx="11"/>
          </p:nvPr>
        </p:nvSpPr>
        <p:spPr/>
        <p:txBody>
          <a:bodyPr/>
          <a:lstStyle/>
          <a:p>
            <a:pPr marL="0" indent="0">
              <a:buNone/>
            </a:pPr>
            <a:r>
              <a:rPr lang="en-US" sz="2400" dirty="0"/>
              <a:t>Key Steps in Function Calling</a:t>
            </a:r>
          </a:p>
          <a:p>
            <a:pPr>
              <a:buFont typeface="+mj-lt"/>
              <a:buAutoNum type="arabicPeriod"/>
            </a:pPr>
            <a:r>
              <a:rPr lang="en-US" sz="2400" dirty="0"/>
              <a:t>User Specifies Tools &amp; Query:</a:t>
            </a:r>
          </a:p>
          <a:p>
            <a:pPr lvl="1"/>
            <a:r>
              <a:rPr lang="en-US" dirty="0"/>
              <a:t>Define the tools/functions (e.g., payment status, payment date).</a:t>
            </a:r>
          </a:p>
          <a:p>
            <a:pPr lvl="1"/>
            <a:r>
              <a:rPr lang="en-US" dirty="0"/>
              <a:t>Ask a question requiring these tools.(Prompt)</a:t>
            </a:r>
          </a:p>
          <a:p>
            <a:pPr>
              <a:buFont typeface="+mj-lt"/>
              <a:buAutoNum type="arabicPeriod"/>
            </a:pPr>
            <a:r>
              <a:rPr lang="en-US" sz="2400" dirty="0"/>
              <a:t>Model Generates Function Arguments:</a:t>
            </a:r>
          </a:p>
          <a:p>
            <a:pPr lvl="1"/>
            <a:r>
              <a:rPr lang="en-US" dirty="0"/>
              <a:t>The LLM identifies the input needed for the function based on the query.</a:t>
            </a:r>
          </a:p>
          <a:p>
            <a:pPr>
              <a:buFont typeface="+mj-lt"/>
              <a:buAutoNum type="arabicPeriod"/>
            </a:pPr>
            <a:r>
              <a:rPr lang="en-US" sz="2400" dirty="0"/>
              <a:t>User Executes the Function:</a:t>
            </a:r>
          </a:p>
          <a:p>
            <a:pPr lvl="1"/>
            <a:r>
              <a:rPr lang="en-US" dirty="0"/>
              <a:t>The external function processes the input and returns results.</a:t>
            </a:r>
          </a:p>
          <a:p>
            <a:pPr>
              <a:buFont typeface="+mj-lt"/>
              <a:buAutoNum type="arabicPeriod"/>
            </a:pPr>
            <a:r>
              <a:rPr lang="en-US" sz="2400" dirty="0"/>
              <a:t>Model Generates Final Answer:</a:t>
            </a:r>
          </a:p>
          <a:p>
            <a:pPr lvl="1"/>
            <a:r>
              <a:rPr lang="en-US" dirty="0"/>
              <a:t>Combines tool output with reasoning to produce a coherent response.</a:t>
            </a:r>
          </a:p>
          <a:p>
            <a:endParaRPr lang="en-US" dirty="0"/>
          </a:p>
        </p:txBody>
      </p:sp>
      <p:sp>
        <p:nvSpPr>
          <p:cNvPr id="4" name="Footer Placeholder 3">
            <a:extLst>
              <a:ext uri="{FF2B5EF4-FFF2-40B4-BE49-F238E27FC236}">
                <a16:creationId xmlns:a16="http://schemas.microsoft.com/office/drawing/2014/main" id="{75252F0E-4254-468E-632A-71B5D19C918F}"/>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2880A363-9C9B-B6CF-065F-6929C0AFEAD0}"/>
              </a:ext>
            </a:extLst>
          </p:cNvPr>
          <p:cNvSpPr>
            <a:spLocks noGrp="1"/>
          </p:cNvSpPr>
          <p:nvPr>
            <p:ph type="sldNum" sz="quarter" idx="14"/>
          </p:nvPr>
        </p:nvSpPr>
        <p:spPr/>
        <p:txBody>
          <a:bodyPr/>
          <a:lstStyle/>
          <a:p>
            <a:fld id="{CE19DD2C-80DA-488C-99A4-6C8CE83C9C30}" type="slidenum">
              <a:rPr lang="en-SG" smtClean="0"/>
              <a:t>13</a:t>
            </a:fld>
            <a:endParaRPr lang="en-SG"/>
          </a:p>
        </p:txBody>
      </p:sp>
    </p:spTree>
    <p:extLst>
      <p:ext uri="{BB962C8B-B14F-4D97-AF65-F5344CB8AC3E}">
        <p14:creationId xmlns:p14="http://schemas.microsoft.com/office/powerpoint/2010/main" val="840881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C6E95-143A-B87F-1F07-5905E8270680}"/>
              </a:ext>
            </a:extLst>
          </p:cNvPr>
          <p:cNvSpPr>
            <a:spLocks noGrp="1"/>
          </p:cNvSpPr>
          <p:nvPr>
            <p:ph type="title"/>
          </p:nvPr>
        </p:nvSpPr>
        <p:spPr/>
        <p:txBody>
          <a:bodyPr/>
          <a:lstStyle/>
          <a:p>
            <a:r>
              <a:rPr lang="en-US" dirty="0"/>
              <a:t>How Custom Function Calls Work</a:t>
            </a:r>
          </a:p>
        </p:txBody>
      </p:sp>
      <p:sp>
        <p:nvSpPr>
          <p:cNvPr id="4" name="Footer Placeholder 3">
            <a:extLst>
              <a:ext uri="{FF2B5EF4-FFF2-40B4-BE49-F238E27FC236}">
                <a16:creationId xmlns:a16="http://schemas.microsoft.com/office/drawing/2014/main" id="{7812F883-5D17-1D9A-5889-F55EE7EFADF0}"/>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6B83CEEA-9364-95D5-5C9B-1EC568D2028A}"/>
              </a:ext>
            </a:extLst>
          </p:cNvPr>
          <p:cNvSpPr>
            <a:spLocks noGrp="1"/>
          </p:cNvSpPr>
          <p:nvPr>
            <p:ph type="sldNum" sz="quarter" idx="14"/>
          </p:nvPr>
        </p:nvSpPr>
        <p:spPr/>
        <p:txBody>
          <a:bodyPr/>
          <a:lstStyle/>
          <a:p>
            <a:fld id="{CE19DD2C-80DA-488C-99A4-6C8CE83C9C30}" type="slidenum">
              <a:rPr lang="en-SG" smtClean="0"/>
              <a:t>14</a:t>
            </a:fld>
            <a:endParaRPr lang="en-SG"/>
          </a:p>
        </p:txBody>
      </p:sp>
      <p:sp>
        <p:nvSpPr>
          <p:cNvPr id="6" name="Rectangle: Rounded Corners 5">
            <a:extLst>
              <a:ext uri="{FF2B5EF4-FFF2-40B4-BE49-F238E27FC236}">
                <a16:creationId xmlns:a16="http://schemas.microsoft.com/office/drawing/2014/main" id="{F92BB277-2BA3-37A6-3B90-2352993F79E5}"/>
              </a:ext>
            </a:extLst>
          </p:cNvPr>
          <p:cNvSpPr/>
          <p:nvPr/>
        </p:nvSpPr>
        <p:spPr bwMode="auto">
          <a:xfrm>
            <a:off x="499457" y="1676400"/>
            <a:ext cx="1368829" cy="4343400"/>
          </a:xfrm>
          <a:prstGeom prst="roundRect">
            <a:avLst/>
          </a:prstGeom>
          <a:solidFill>
            <a:schemeClr val="accent6">
              <a:lumMod val="20000"/>
              <a:lumOff val="8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endParaRPr kumimoji="0" lang="en-US" sz="3600" b="1" i="0" u="none" strike="noStrike" cap="none" normalizeH="0" baseline="0" dirty="0">
              <a:ln>
                <a:noFill/>
              </a:ln>
              <a:solidFill>
                <a:schemeClr val="bg1"/>
              </a:solidFill>
              <a:effectLst/>
              <a:latin typeface="Arial" panose="020B0604020202020204" pitchFamily="34" charset="0"/>
            </a:endParaRPr>
          </a:p>
        </p:txBody>
      </p:sp>
      <p:sp>
        <p:nvSpPr>
          <p:cNvPr id="7" name="Slide Number Placeholder 3">
            <a:extLst>
              <a:ext uri="{FF2B5EF4-FFF2-40B4-BE49-F238E27FC236}">
                <a16:creationId xmlns:a16="http://schemas.microsoft.com/office/drawing/2014/main" id="{C78ADE42-D45C-8FFB-0CDC-A09BD155EBC4}"/>
              </a:ext>
            </a:extLst>
          </p:cNvPr>
          <p:cNvSpPr txBox="1">
            <a:spLocks/>
          </p:cNvSpPr>
          <p:nvPr/>
        </p:nvSpPr>
        <p:spPr>
          <a:xfrm>
            <a:off x="8737600" y="6248400"/>
            <a:ext cx="2540000" cy="4572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B2325E-E2C9-477A-BD3F-1BEBA74BB715}" type="slidenum">
              <a:rPr lang="en-US" smtClean="0"/>
              <a:pPr/>
              <a:t>14</a:t>
            </a:fld>
            <a:endParaRPr lang="en-US"/>
          </a:p>
        </p:txBody>
      </p:sp>
      <p:pic>
        <p:nvPicPr>
          <p:cNvPr id="8" name="Graphic 7" descr="User with solid fill">
            <a:extLst>
              <a:ext uri="{FF2B5EF4-FFF2-40B4-BE49-F238E27FC236}">
                <a16:creationId xmlns:a16="http://schemas.microsoft.com/office/drawing/2014/main" id="{55EA5989-837C-0DFE-47B6-B3CD6D16BA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671" y="1981200"/>
            <a:ext cx="914400" cy="914400"/>
          </a:xfrm>
          <a:prstGeom prst="rect">
            <a:avLst/>
          </a:prstGeom>
        </p:spPr>
      </p:pic>
      <p:sp>
        <p:nvSpPr>
          <p:cNvPr id="9" name="Rectangle: Rounded Corners 8">
            <a:extLst>
              <a:ext uri="{FF2B5EF4-FFF2-40B4-BE49-F238E27FC236}">
                <a16:creationId xmlns:a16="http://schemas.microsoft.com/office/drawing/2014/main" id="{2A3FBFEF-25F2-BCEB-48A7-31A29B6662AC}"/>
              </a:ext>
            </a:extLst>
          </p:cNvPr>
          <p:cNvSpPr/>
          <p:nvPr/>
        </p:nvSpPr>
        <p:spPr bwMode="auto">
          <a:xfrm>
            <a:off x="2895600" y="1676400"/>
            <a:ext cx="2667000" cy="4343400"/>
          </a:xfrm>
          <a:prstGeom prst="roundRect">
            <a:avLst/>
          </a:prstGeom>
          <a:solidFill>
            <a:schemeClr val="accent6">
              <a:lumMod val="20000"/>
              <a:lumOff val="8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endParaRPr kumimoji="0" lang="en-US" sz="3600" b="1" i="0" u="none" strike="noStrike" cap="none" normalizeH="0" baseline="0">
              <a:ln>
                <a:noFill/>
              </a:ln>
              <a:solidFill>
                <a:schemeClr val="bg1"/>
              </a:solidFill>
              <a:effectLst/>
              <a:latin typeface="Arial" panose="020B0604020202020204" pitchFamily="34" charset="0"/>
            </a:endParaRPr>
          </a:p>
        </p:txBody>
      </p:sp>
      <p:pic>
        <p:nvPicPr>
          <p:cNvPr id="10" name="Graphic 9" descr="Gears with solid fill">
            <a:extLst>
              <a:ext uri="{FF2B5EF4-FFF2-40B4-BE49-F238E27FC236}">
                <a16:creationId xmlns:a16="http://schemas.microsoft.com/office/drawing/2014/main" id="{C44CAC01-5438-D546-8727-24ACFA6AA8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81400" y="1981200"/>
            <a:ext cx="914400" cy="914400"/>
          </a:xfrm>
          <a:prstGeom prst="rect">
            <a:avLst/>
          </a:prstGeom>
        </p:spPr>
      </p:pic>
      <p:sp>
        <p:nvSpPr>
          <p:cNvPr id="11" name="TextBox 10">
            <a:extLst>
              <a:ext uri="{FF2B5EF4-FFF2-40B4-BE49-F238E27FC236}">
                <a16:creationId xmlns:a16="http://schemas.microsoft.com/office/drawing/2014/main" id="{AD2EB8E3-59D2-4580-3430-8B701B580B64}"/>
              </a:ext>
            </a:extLst>
          </p:cNvPr>
          <p:cNvSpPr txBox="1"/>
          <p:nvPr/>
        </p:nvSpPr>
        <p:spPr>
          <a:xfrm>
            <a:off x="3438583" y="3059258"/>
            <a:ext cx="1600200" cy="1754326"/>
          </a:xfrm>
          <a:prstGeom prst="rect">
            <a:avLst/>
          </a:prstGeom>
          <a:solidFill>
            <a:schemeClr val="accent6">
              <a:lumMod val="40000"/>
              <a:lumOff val="60000"/>
            </a:schemeClr>
          </a:solidFill>
          <a:ln>
            <a:solidFill>
              <a:schemeClr val="tx1"/>
            </a:solidFill>
          </a:ln>
        </p:spPr>
        <p:txBody>
          <a:bodyPr wrap="square" rtlCol="0">
            <a:spAutoFit/>
          </a:bodyPr>
          <a:lstStyle/>
          <a:p>
            <a:r>
              <a:rPr lang="en-US" dirty="0"/>
              <a:t>Function</a:t>
            </a:r>
          </a:p>
          <a:p>
            <a:r>
              <a:rPr lang="en-US" dirty="0"/>
              <a:t>Call</a:t>
            </a:r>
          </a:p>
          <a:p>
            <a:endParaRPr lang="en-US" dirty="0"/>
          </a:p>
          <a:p>
            <a:endParaRPr lang="en-US" dirty="0"/>
          </a:p>
          <a:p>
            <a:endParaRPr lang="en-US" dirty="0"/>
          </a:p>
          <a:p>
            <a:endParaRPr lang="en-US" dirty="0"/>
          </a:p>
        </p:txBody>
      </p:sp>
      <p:pic>
        <p:nvPicPr>
          <p:cNvPr id="12" name="Graphic 11" descr="Gears with solid fill">
            <a:extLst>
              <a:ext uri="{FF2B5EF4-FFF2-40B4-BE49-F238E27FC236}">
                <a16:creationId xmlns:a16="http://schemas.microsoft.com/office/drawing/2014/main" id="{470E2497-102D-FE64-0EA2-5D32D813879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81483" y="5025845"/>
            <a:ext cx="914400" cy="914400"/>
          </a:xfrm>
          <a:prstGeom prst="rect">
            <a:avLst/>
          </a:prstGeom>
        </p:spPr>
      </p:pic>
      <p:cxnSp>
        <p:nvCxnSpPr>
          <p:cNvPr id="13" name="Straight Arrow Connector 12">
            <a:extLst>
              <a:ext uri="{FF2B5EF4-FFF2-40B4-BE49-F238E27FC236}">
                <a16:creationId xmlns:a16="http://schemas.microsoft.com/office/drawing/2014/main" id="{15A50C77-C0CC-D439-9E1E-02F0E0AC985A}"/>
              </a:ext>
            </a:extLst>
          </p:cNvPr>
          <p:cNvCxnSpPr/>
          <p:nvPr/>
        </p:nvCxnSpPr>
        <p:spPr bwMode="auto">
          <a:xfrm>
            <a:off x="1868286" y="2438400"/>
            <a:ext cx="1027314" cy="0"/>
          </a:xfrm>
          <a:prstGeom prst="straightConnector1">
            <a:avLst/>
          </a:prstGeom>
          <a:noFill/>
          <a:ln w="57150" cap="flat" cmpd="sng" algn="ctr">
            <a:solidFill>
              <a:schemeClr val="tx1"/>
            </a:solidFill>
            <a:prstDash val="solid"/>
            <a:round/>
            <a:headEnd type="none" w="med" len="med"/>
            <a:tailEnd type="triangle"/>
          </a:ln>
        </p:spPr>
      </p:cxnSp>
      <p:sp>
        <p:nvSpPr>
          <p:cNvPr id="14" name="TextBox 13">
            <a:extLst>
              <a:ext uri="{FF2B5EF4-FFF2-40B4-BE49-F238E27FC236}">
                <a16:creationId xmlns:a16="http://schemas.microsoft.com/office/drawing/2014/main" id="{878BAFE0-C586-2343-DF9B-8F9291529D11}"/>
              </a:ext>
            </a:extLst>
          </p:cNvPr>
          <p:cNvSpPr txBox="1"/>
          <p:nvPr/>
        </p:nvSpPr>
        <p:spPr>
          <a:xfrm>
            <a:off x="790173" y="1383268"/>
            <a:ext cx="787395" cy="369332"/>
          </a:xfrm>
          <a:prstGeom prst="rect">
            <a:avLst/>
          </a:prstGeom>
          <a:noFill/>
        </p:spPr>
        <p:txBody>
          <a:bodyPr wrap="none" rtlCol="0">
            <a:spAutoFit/>
          </a:bodyPr>
          <a:lstStyle/>
          <a:p>
            <a:r>
              <a:rPr lang="en-US" dirty="0"/>
              <a:t>Users</a:t>
            </a:r>
          </a:p>
        </p:txBody>
      </p:sp>
      <p:sp>
        <p:nvSpPr>
          <p:cNvPr id="15" name="TextBox 14">
            <a:extLst>
              <a:ext uri="{FF2B5EF4-FFF2-40B4-BE49-F238E27FC236}">
                <a16:creationId xmlns:a16="http://schemas.microsoft.com/office/drawing/2014/main" id="{8B10202B-37EA-255D-617F-E7C486DF5EC2}"/>
              </a:ext>
            </a:extLst>
          </p:cNvPr>
          <p:cNvSpPr txBox="1"/>
          <p:nvPr/>
        </p:nvSpPr>
        <p:spPr>
          <a:xfrm>
            <a:off x="3582093" y="1374955"/>
            <a:ext cx="1313180" cy="369332"/>
          </a:xfrm>
          <a:prstGeom prst="rect">
            <a:avLst/>
          </a:prstGeom>
          <a:noFill/>
        </p:spPr>
        <p:txBody>
          <a:bodyPr wrap="none" rtlCol="0">
            <a:spAutoFit/>
          </a:bodyPr>
          <a:lstStyle/>
          <a:p>
            <a:r>
              <a:rPr lang="en-US" dirty="0"/>
              <a:t>Application</a:t>
            </a:r>
          </a:p>
        </p:txBody>
      </p:sp>
      <p:sp>
        <p:nvSpPr>
          <p:cNvPr id="16" name="Rectangle: Rounded Corners 15">
            <a:extLst>
              <a:ext uri="{FF2B5EF4-FFF2-40B4-BE49-F238E27FC236}">
                <a16:creationId xmlns:a16="http://schemas.microsoft.com/office/drawing/2014/main" id="{D890442F-6F22-069C-75CE-E5826F854951}"/>
              </a:ext>
            </a:extLst>
          </p:cNvPr>
          <p:cNvSpPr/>
          <p:nvPr/>
        </p:nvSpPr>
        <p:spPr bwMode="auto">
          <a:xfrm>
            <a:off x="8084888" y="1752600"/>
            <a:ext cx="2843415" cy="4343400"/>
          </a:xfrm>
          <a:prstGeom prst="roundRect">
            <a:avLst/>
          </a:prstGeom>
          <a:solidFill>
            <a:schemeClr val="accent6">
              <a:lumMod val="20000"/>
              <a:lumOff val="8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spAutoFit/>
          </a:bodyPr>
          <a:lstStyle/>
          <a:p>
            <a:pPr marL="742950" marR="0" indent="-285750" algn="ctr" defTabSz="914400" rtl="0" eaLnBrk="0" fontAlgn="base" latinLnBrk="0" hangingPunct="0">
              <a:lnSpc>
                <a:spcPct val="90000"/>
              </a:lnSpc>
              <a:spcBef>
                <a:spcPct val="20000"/>
              </a:spcBef>
              <a:spcAft>
                <a:spcPct val="0"/>
              </a:spcAft>
              <a:buClrTx/>
              <a:buSzTx/>
              <a:buFontTx/>
              <a:buNone/>
            </a:pPr>
            <a:endParaRPr kumimoji="0" lang="en-US" sz="3600" b="1" i="0" u="none" strike="noStrike" cap="none" normalizeH="0" baseline="0" dirty="0">
              <a:ln>
                <a:noFill/>
              </a:ln>
              <a:solidFill>
                <a:schemeClr val="bg1"/>
              </a:solidFill>
              <a:effectLst/>
              <a:latin typeface="Arial" panose="020B0604020202020204" pitchFamily="34" charset="0"/>
            </a:endParaRPr>
          </a:p>
        </p:txBody>
      </p:sp>
      <p:sp>
        <p:nvSpPr>
          <p:cNvPr id="17" name="TextBox 16">
            <a:extLst>
              <a:ext uri="{FF2B5EF4-FFF2-40B4-BE49-F238E27FC236}">
                <a16:creationId xmlns:a16="http://schemas.microsoft.com/office/drawing/2014/main" id="{B7D68E7F-089A-EEAB-AADC-E635797987B4}"/>
              </a:ext>
            </a:extLst>
          </p:cNvPr>
          <p:cNvSpPr txBox="1"/>
          <p:nvPr/>
        </p:nvSpPr>
        <p:spPr>
          <a:xfrm>
            <a:off x="9129059" y="1374955"/>
            <a:ext cx="1635625" cy="369332"/>
          </a:xfrm>
          <a:prstGeom prst="rect">
            <a:avLst/>
          </a:prstGeom>
          <a:noFill/>
        </p:spPr>
        <p:txBody>
          <a:bodyPr wrap="square" rtlCol="0">
            <a:spAutoFit/>
          </a:bodyPr>
          <a:lstStyle/>
          <a:p>
            <a:r>
              <a:rPr lang="en-US" dirty="0"/>
              <a:t>Model</a:t>
            </a:r>
          </a:p>
        </p:txBody>
      </p:sp>
      <p:sp>
        <p:nvSpPr>
          <p:cNvPr id="18" name="TextBox 17">
            <a:extLst>
              <a:ext uri="{FF2B5EF4-FFF2-40B4-BE49-F238E27FC236}">
                <a16:creationId xmlns:a16="http://schemas.microsoft.com/office/drawing/2014/main" id="{C88783A5-CDF4-0403-DBF4-37CC346F2693}"/>
              </a:ext>
            </a:extLst>
          </p:cNvPr>
          <p:cNvSpPr txBox="1"/>
          <p:nvPr/>
        </p:nvSpPr>
        <p:spPr>
          <a:xfrm>
            <a:off x="9176782" y="3162873"/>
            <a:ext cx="1081742" cy="369332"/>
          </a:xfrm>
          <a:prstGeom prst="rect">
            <a:avLst/>
          </a:prstGeom>
          <a:noFill/>
        </p:spPr>
        <p:txBody>
          <a:bodyPr wrap="square" rtlCol="0">
            <a:spAutoFit/>
          </a:bodyPr>
          <a:lstStyle/>
          <a:p>
            <a:r>
              <a:rPr lang="en-US" dirty="0"/>
              <a:t>LLM</a:t>
            </a:r>
          </a:p>
        </p:txBody>
      </p:sp>
      <p:pic>
        <p:nvPicPr>
          <p:cNvPr id="19" name="Graphic 18" descr="Artificial Intelligence with solid fill">
            <a:extLst>
              <a:ext uri="{FF2B5EF4-FFF2-40B4-BE49-F238E27FC236}">
                <a16:creationId xmlns:a16="http://schemas.microsoft.com/office/drawing/2014/main" id="{E08DF3B6-819A-25A6-1054-DF71FA7ECFF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98859" y="4479175"/>
            <a:ext cx="1177188" cy="1177188"/>
          </a:xfrm>
          <a:prstGeom prst="rect">
            <a:avLst/>
          </a:prstGeom>
        </p:spPr>
      </p:pic>
      <p:sp>
        <p:nvSpPr>
          <p:cNvPr id="20" name="TextBox 19">
            <a:extLst>
              <a:ext uri="{FF2B5EF4-FFF2-40B4-BE49-F238E27FC236}">
                <a16:creationId xmlns:a16="http://schemas.microsoft.com/office/drawing/2014/main" id="{84B57685-4CB4-D3A7-11F6-47ABC1F111D5}"/>
              </a:ext>
            </a:extLst>
          </p:cNvPr>
          <p:cNvSpPr txBox="1"/>
          <p:nvPr/>
        </p:nvSpPr>
        <p:spPr>
          <a:xfrm>
            <a:off x="9296400" y="5673343"/>
            <a:ext cx="1081742" cy="369332"/>
          </a:xfrm>
          <a:prstGeom prst="rect">
            <a:avLst/>
          </a:prstGeom>
          <a:noFill/>
        </p:spPr>
        <p:txBody>
          <a:bodyPr wrap="square" rtlCol="0">
            <a:spAutoFit/>
          </a:bodyPr>
          <a:lstStyle/>
          <a:p>
            <a:r>
              <a:rPr lang="en-US" dirty="0"/>
              <a:t>LLM</a:t>
            </a:r>
          </a:p>
        </p:txBody>
      </p:sp>
      <p:cxnSp>
        <p:nvCxnSpPr>
          <p:cNvPr id="21" name="Straight Arrow Connector 20">
            <a:extLst>
              <a:ext uri="{FF2B5EF4-FFF2-40B4-BE49-F238E27FC236}">
                <a16:creationId xmlns:a16="http://schemas.microsoft.com/office/drawing/2014/main" id="{FBBB0EFD-45E0-D0A2-9B2F-2B31F3A929A3}"/>
              </a:ext>
            </a:extLst>
          </p:cNvPr>
          <p:cNvCxnSpPr>
            <a:cxnSpLocks/>
          </p:cNvCxnSpPr>
          <p:nvPr/>
        </p:nvCxnSpPr>
        <p:spPr bwMode="auto">
          <a:xfrm>
            <a:off x="4381616" y="2369127"/>
            <a:ext cx="4747443" cy="0"/>
          </a:xfrm>
          <a:prstGeom prst="straightConnector1">
            <a:avLst/>
          </a:prstGeom>
          <a:noFill/>
          <a:ln w="57150" cap="flat" cmpd="sng" algn="ctr">
            <a:solidFill>
              <a:schemeClr val="tx1"/>
            </a:solidFill>
            <a:prstDash val="solid"/>
            <a:round/>
            <a:headEnd type="none" w="med" len="med"/>
            <a:tailEnd type="triangle"/>
          </a:ln>
        </p:spPr>
      </p:cxnSp>
      <p:sp>
        <p:nvSpPr>
          <p:cNvPr id="22" name="TextBox 21">
            <a:extLst>
              <a:ext uri="{FF2B5EF4-FFF2-40B4-BE49-F238E27FC236}">
                <a16:creationId xmlns:a16="http://schemas.microsoft.com/office/drawing/2014/main" id="{24F0B534-5306-2253-55C9-BAB8C5C8E3D9}"/>
              </a:ext>
            </a:extLst>
          </p:cNvPr>
          <p:cNvSpPr txBox="1"/>
          <p:nvPr/>
        </p:nvSpPr>
        <p:spPr>
          <a:xfrm>
            <a:off x="5779005" y="1718639"/>
            <a:ext cx="2644996" cy="646331"/>
          </a:xfrm>
          <a:prstGeom prst="rect">
            <a:avLst/>
          </a:prstGeom>
          <a:noFill/>
        </p:spPr>
        <p:txBody>
          <a:bodyPr wrap="square" rtlCol="0">
            <a:spAutoFit/>
          </a:bodyPr>
          <a:lstStyle/>
          <a:p>
            <a:r>
              <a:rPr lang="en-US" dirty="0"/>
              <a:t>1. Prompt and Function declaration</a:t>
            </a:r>
          </a:p>
        </p:txBody>
      </p:sp>
      <p:sp>
        <p:nvSpPr>
          <p:cNvPr id="23" name="TextBox 22">
            <a:extLst>
              <a:ext uri="{FF2B5EF4-FFF2-40B4-BE49-F238E27FC236}">
                <a16:creationId xmlns:a16="http://schemas.microsoft.com/office/drawing/2014/main" id="{55CE1EDB-6AE2-5625-4699-D7D12F60DC34}"/>
              </a:ext>
            </a:extLst>
          </p:cNvPr>
          <p:cNvSpPr txBox="1"/>
          <p:nvPr/>
        </p:nvSpPr>
        <p:spPr>
          <a:xfrm>
            <a:off x="6187700" y="3524934"/>
            <a:ext cx="1149465" cy="646331"/>
          </a:xfrm>
          <a:prstGeom prst="rect">
            <a:avLst/>
          </a:prstGeom>
          <a:solidFill>
            <a:schemeClr val="accent6">
              <a:lumMod val="40000"/>
              <a:lumOff val="60000"/>
            </a:schemeClr>
          </a:solidFill>
          <a:ln>
            <a:solidFill>
              <a:schemeClr val="tx1"/>
            </a:solidFill>
          </a:ln>
        </p:spPr>
        <p:txBody>
          <a:bodyPr wrap="square" rtlCol="0">
            <a:spAutoFit/>
          </a:bodyPr>
          <a:lstStyle/>
          <a:p>
            <a:r>
              <a:rPr lang="en-US" dirty="0"/>
              <a:t>API</a:t>
            </a:r>
          </a:p>
          <a:p>
            <a:endParaRPr lang="en-US" dirty="0"/>
          </a:p>
        </p:txBody>
      </p:sp>
      <p:cxnSp>
        <p:nvCxnSpPr>
          <p:cNvPr id="24" name="Straight Arrow Connector 23">
            <a:extLst>
              <a:ext uri="{FF2B5EF4-FFF2-40B4-BE49-F238E27FC236}">
                <a16:creationId xmlns:a16="http://schemas.microsoft.com/office/drawing/2014/main" id="{79524C09-F199-A629-DBC7-0B4B17EFA8E2}"/>
              </a:ext>
            </a:extLst>
          </p:cNvPr>
          <p:cNvCxnSpPr>
            <a:cxnSpLocks/>
          </p:cNvCxnSpPr>
          <p:nvPr/>
        </p:nvCxnSpPr>
        <p:spPr bwMode="auto">
          <a:xfrm>
            <a:off x="5040772" y="3708874"/>
            <a:ext cx="1146928" cy="0"/>
          </a:xfrm>
          <a:prstGeom prst="straightConnector1">
            <a:avLst/>
          </a:prstGeom>
          <a:noFill/>
          <a:ln w="57150" cap="flat" cmpd="sng" algn="ctr">
            <a:solidFill>
              <a:schemeClr val="tx1"/>
            </a:solidFill>
            <a:prstDash val="solid"/>
            <a:round/>
            <a:headEnd type="none" w="med" len="med"/>
            <a:tailEnd type="triangle"/>
          </a:ln>
        </p:spPr>
      </p:cxnSp>
      <p:cxnSp>
        <p:nvCxnSpPr>
          <p:cNvPr id="25" name="Straight Arrow Connector 24">
            <a:extLst>
              <a:ext uri="{FF2B5EF4-FFF2-40B4-BE49-F238E27FC236}">
                <a16:creationId xmlns:a16="http://schemas.microsoft.com/office/drawing/2014/main" id="{E04211BF-4666-4037-651C-3D7F275F82AD}"/>
              </a:ext>
            </a:extLst>
          </p:cNvPr>
          <p:cNvCxnSpPr>
            <a:cxnSpLocks/>
          </p:cNvCxnSpPr>
          <p:nvPr/>
        </p:nvCxnSpPr>
        <p:spPr bwMode="auto">
          <a:xfrm flipH="1">
            <a:off x="5035117" y="4008842"/>
            <a:ext cx="1152583" cy="0"/>
          </a:xfrm>
          <a:prstGeom prst="straightConnector1">
            <a:avLst/>
          </a:prstGeom>
          <a:noFill/>
          <a:ln w="57150" cap="flat" cmpd="sng" algn="ctr">
            <a:solidFill>
              <a:schemeClr val="tx1"/>
            </a:solidFill>
            <a:prstDash val="solid"/>
            <a:round/>
            <a:headEnd type="none" w="med" len="med"/>
            <a:tailEnd type="triangle"/>
          </a:ln>
        </p:spPr>
      </p:cxnSp>
      <p:cxnSp>
        <p:nvCxnSpPr>
          <p:cNvPr id="26" name="Straight Arrow Connector 25">
            <a:extLst>
              <a:ext uri="{FF2B5EF4-FFF2-40B4-BE49-F238E27FC236}">
                <a16:creationId xmlns:a16="http://schemas.microsoft.com/office/drawing/2014/main" id="{B2687B1E-898C-EF43-ED1D-317C05AD4526}"/>
              </a:ext>
            </a:extLst>
          </p:cNvPr>
          <p:cNvCxnSpPr>
            <a:cxnSpLocks/>
          </p:cNvCxnSpPr>
          <p:nvPr/>
        </p:nvCxnSpPr>
        <p:spPr bwMode="auto">
          <a:xfrm flipH="1">
            <a:off x="5033128" y="3059258"/>
            <a:ext cx="3958472" cy="0"/>
          </a:xfrm>
          <a:prstGeom prst="straightConnector1">
            <a:avLst/>
          </a:prstGeom>
          <a:noFill/>
          <a:ln w="57150" cap="flat" cmpd="sng" algn="ctr">
            <a:solidFill>
              <a:schemeClr val="tx1"/>
            </a:solidFill>
            <a:prstDash val="solid"/>
            <a:round/>
            <a:headEnd type="none" w="med" len="med"/>
            <a:tailEnd type="triangle"/>
          </a:ln>
        </p:spPr>
      </p:cxnSp>
      <p:pic>
        <p:nvPicPr>
          <p:cNvPr id="27" name="Graphic 26" descr="Artificial Intelligence with solid fill">
            <a:extLst>
              <a:ext uri="{FF2B5EF4-FFF2-40B4-BE49-F238E27FC236}">
                <a16:creationId xmlns:a16="http://schemas.microsoft.com/office/drawing/2014/main" id="{47DDD285-F300-28F4-F1A9-ED75A5886CD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27745" y="1985685"/>
            <a:ext cx="1177188" cy="1177188"/>
          </a:xfrm>
          <a:prstGeom prst="rect">
            <a:avLst/>
          </a:prstGeom>
        </p:spPr>
      </p:pic>
      <p:cxnSp>
        <p:nvCxnSpPr>
          <p:cNvPr id="28" name="Straight Arrow Connector 27">
            <a:extLst>
              <a:ext uri="{FF2B5EF4-FFF2-40B4-BE49-F238E27FC236}">
                <a16:creationId xmlns:a16="http://schemas.microsoft.com/office/drawing/2014/main" id="{72A5EC7E-4A95-6ED5-A3C3-9B6C337CA51E}"/>
              </a:ext>
            </a:extLst>
          </p:cNvPr>
          <p:cNvCxnSpPr>
            <a:cxnSpLocks/>
          </p:cNvCxnSpPr>
          <p:nvPr/>
        </p:nvCxnSpPr>
        <p:spPr bwMode="auto">
          <a:xfrm>
            <a:off x="5033128" y="4724400"/>
            <a:ext cx="4263272" cy="0"/>
          </a:xfrm>
          <a:prstGeom prst="straightConnector1">
            <a:avLst/>
          </a:prstGeom>
          <a:noFill/>
          <a:ln w="57150" cap="flat" cmpd="sng" algn="ctr">
            <a:solidFill>
              <a:schemeClr val="tx1"/>
            </a:solidFill>
            <a:prstDash val="solid"/>
            <a:round/>
            <a:headEnd type="none" w="med" len="med"/>
            <a:tailEnd type="triangle"/>
          </a:ln>
        </p:spPr>
      </p:cxnSp>
      <p:cxnSp>
        <p:nvCxnSpPr>
          <p:cNvPr id="29" name="Straight Arrow Connector 28">
            <a:extLst>
              <a:ext uri="{FF2B5EF4-FFF2-40B4-BE49-F238E27FC236}">
                <a16:creationId xmlns:a16="http://schemas.microsoft.com/office/drawing/2014/main" id="{B9315AE7-E780-5D83-17E0-7CB7AF07E739}"/>
              </a:ext>
            </a:extLst>
          </p:cNvPr>
          <p:cNvCxnSpPr>
            <a:cxnSpLocks/>
          </p:cNvCxnSpPr>
          <p:nvPr/>
        </p:nvCxnSpPr>
        <p:spPr bwMode="auto">
          <a:xfrm flipH="1">
            <a:off x="4895273" y="5483045"/>
            <a:ext cx="4233786" cy="0"/>
          </a:xfrm>
          <a:prstGeom prst="straightConnector1">
            <a:avLst/>
          </a:prstGeom>
          <a:noFill/>
          <a:ln w="57150" cap="flat" cmpd="sng" algn="ctr">
            <a:solidFill>
              <a:schemeClr val="tx1"/>
            </a:solidFill>
            <a:prstDash val="solid"/>
            <a:round/>
            <a:headEnd type="none" w="med" len="med"/>
            <a:tailEnd type="triangle"/>
          </a:ln>
        </p:spPr>
      </p:cxnSp>
      <p:sp>
        <p:nvSpPr>
          <p:cNvPr id="30" name="TextBox 29">
            <a:extLst>
              <a:ext uri="{FF2B5EF4-FFF2-40B4-BE49-F238E27FC236}">
                <a16:creationId xmlns:a16="http://schemas.microsoft.com/office/drawing/2014/main" id="{93E64876-F2C4-B2E2-7270-15431170A426}"/>
              </a:ext>
            </a:extLst>
          </p:cNvPr>
          <p:cNvSpPr txBox="1"/>
          <p:nvPr/>
        </p:nvSpPr>
        <p:spPr>
          <a:xfrm>
            <a:off x="5642527" y="2477283"/>
            <a:ext cx="3263708" cy="646331"/>
          </a:xfrm>
          <a:prstGeom prst="rect">
            <a:avLst/>
          </a:prstGeom>
          <a:noFill/>
        </p:spPr>
        <p:txBody>
          <a:bodyPr wrap="square">
            <a:spAutoFit/>
          </a:bodyPr>
          <a:lstStyle/>
          <a:p>
            <a:r>
              <a:rPr lang="en-US" sz="1800" b="0" dirty="0"/>
              <a:t>2. Model Generates Function Arguments</a:t>
            </a:r>
            <a:endParaRPr lang="en-US" dirty="0"/>
          </a:p>
        </p:txBody>
      </p:sp>
      <p:sp>
        <p:nvSpPr>
          <p:cNvPr id="31" name="TextBox 30">
            <a:extLst>
              <a:ext uri="{FF2B5EF4-FFF2-40B4-BE49-F238E27FC236}">
                <a16:creationId xmlns:a16="http://schemas.microsoft.com/office/drawing/2014/main" id="{588AFBB7-909C-CE08-2314-E45F48898C61}"/>
              </a:ext>
            </a:extLst>
          </p:cNvPr>
          <p:cNvSpPr txBox="1"/>
          <p:nvPr/>
        </p:nvSpPr>
        <p:spPr>
          <a:xfrm>
            <a:off x="4945981" y="4397902"/>
            <a:ext cx="3374693" cy="369332"/>
          </a:xfrm>
          <a:prstGeom prst="rect">
            <a:avLst/>
          </a:prstGeom>
          <a:noFill/>
        </p:spPr>
        <p:txBody>
          <a:bodyPr wrap="square">
            <a:spAutoFit/>
          </a:bodyPr>
          <a:lstStyle/>
          <a:p>
            <a:r>
              <a:rPr lang="en-US" sz="1800" b="0" dirty="0"/>
              <a:t>3. User Executes the Function</a:t>
            </a:r>
            <a:endParaRPr lang="en-US" dirty="0"/>
          </a:p>
        </p:txBody>
      </p:sp>
      <p:sp>
        <p:nvSpPr>
          <p:cNvPr id="32" name="TextBox 31">
            <a:extLst>
              <a:ext uri="{FF2B5EF4-FFF2-40B4-BE49-F238E27FC236}">
                <a16:creationId xmlns:a16="http://schemas.microsoft.com/office/drawing/2014/main" id="{8612EA91-1635-A2D4-61E5-CDDF46ECBB9E}"/>
              </a:ext>
            </a:extLst>
          </p:cNvPr>
          <p:cNvSpPr txBox="1"/>
          <p:nvPr/>
        </p:nvSpPr>
        <p:spPr>
          <a:xfrm>
            <a:off x="5040772" y="3289859"/>
            <a:ext cx="1043876" cy="369332"/>
          </a:xfrm>
          <a:prstGeom prst="rect">
            <a:avLst/>
          </a:prstGeom>
          <a:noFill/>
        </p:spPr>
        <p:txBody>
          <a:bodyPr wrap="none" rtlCol="0">
            <a:spAutoFit/>
          </a:bodyPr>
          <a:lstStyle/>
          <a:p>
            <a:r>
              <a:rPr lang="en-US" dirty="0"/>
              <a:t>Request</a:t>
            </a:r>
          </a:p>
        </p:txBody>
      </p:sp>
      <p:sp>
        <p:nvSpPr>
          <p:cNvPr id="33" name="TextBox 32">
            <a:extLst>
              <a:ext uri="{FF2B5EF4-FFF2-40B4-BE49-F238E27FC236}">
                <a16:creationId xmlns:a16="http://schemas.microsoft.com/office/drawing/2014/main" id="{AFA8141B-3A21-93BF-84D4-ACEB87E3609E}"/>
              </a:ext>
            </a:extLst>
          </p:cNvPr>
          <p:cNvSpPr txBox="1"/>
          <p:nvPr/>
        </p:nvSpPr>
        <p:spPr>
          <a:xfrm>
            <a:off x="5059828" y="3975746"/>
            <a:ext cx="1107996" cy="369332"/>
          </a:xfrm>
          <a:prstGeom prst="rect">
            <a:avLst/>
          </a:prstGeom>
          <a:noFill/>
        </p:spPr>
        <p:txBody>
          <a:bodyPr wrap="none" rtlCol="0">
            <a:spAutoFit/>
          </a:bodyPr>
          <a:lstStyle/>
          <a:p>
            <a:r>
              <a:rPr lang="en-US" dirty="0"/>
              <a:t>Respond</a:t>
            </a:r>
          </a:p>
        </p:txBody>
      </p:sp>
      <p:sp>
        <p:nvSpPr>
          <p:cNvPr id="34" name="TextBox 33">
            <a:extLst>
              <a:ext uri="{FF2B5EF4-FFF2-40B4-BE49-F238E27FC236}">
                <a16:creationId xmlns:a16="http://schemas.microsoft.com/office/drawing/2014/main" id="{6B829B00-943C-C056-E529-A3A8B6C5C545}"/>
              </a:ext>
            </a:extLst>
          </p:cNvPr>
          <p:cNvSpPr txBox="1"/>
          <p:nvPr/>
        </p:nvSpPr>
        <p:spPr>
          <a:xfrm>
            <a:off x="5377740" y="4908765"/>
            <a:ext cx="3268864" cy="646331"/>
          </a:xfrm>
          <a:prstGeom prst="rect">
            <a:avLst/>
          </a:prstGeom>
          <a:noFill/>
        </p:spPr>
        <p:txBody>
          <a:bodyPr wrap="square">
            <a:spAutoFit/>
          </a:bodyPr>
          <a:lstStyle/>
          <a:p>
            <a:r>
              <a:rPr lang="en-US" sz="1800" b="0" dirty="0"/>
              <a:t>4. Model Generates Final Answer</a:t>
            </a:r>
            <a:endParaRPr lang="en-US" dirty="0"/>
          </a:p>
        </p:txBody>
      </p:sp>
      <p:pic>
        <p:nvPicPr>
          <p:cNvPr id="35" name="Graphic 34" descr="Chat bubble with solid fill">
            <a:extLst>
              <a:ext uri="{FF2B5EF4-FFF2-40B4-BE49-F238E27FC236}">
                <a16:creationId xmlns:a16="http://schemas.microsoft.com/office/drawing/2014/main" id="{B2725D63-FE04-5FCF-1564-B8A3BB26B37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77743" y="4982931"/>
            <a:ext cx="914400" cy="914400"/>
          </a:xfrm>
          <a:prstGeom prst="rect">
            <a:avLst/>
          </a:prstGeom>
        </p:spPr>
      </p:pic>
      <p:pic>
        <p:nvPicPr>
          <p:cNvPr id="36" name="Graphic 35" descr="Question Mark with solid fill">
            <a:extLst>
              <a:ext uri="{FF2B5EF4-FFF2-40B4-BE49-F238E27FC236}">
                <a16:creationId xmlns:a16="http://schemas.microsoft.com/office/drawing/2014/main" id="{01C9AFAA-25E9-724D-85E0-6569277D53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60692" y="2082257"/>
            <a:ext cx="594885" cy="594885"/>
          </a:xfrm>
          <a:prstGeom prst="rect">
            <a:avLst/>
          </a:prstGeom>
        </p:spPr>
      </p:pic>
    </p:spTree>
    <p:extLst>
      <p:ext uri="{BB962C8B-B14F-4D97-AF65-F5344CB8AC3E}">
        <p14:creationId xmlns:p14="http://schemas.microsoft.com/office/powerpoint/2010/main" val="4290875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C9D36-8C5C-0856-E142-3E12FAA38E00}"/>
              </a:ext>
            </a:extLst>
          </p:cNvPr>
          <p:cNvSpPr>
            <a:spLocks noGrp="1"/>
          </p:cNvSpPr>
          <p:nvPr>
            <p:ph type="title"/>
          </p:nvPr>
        </p:nvSpPr>
        <p:spPr/>
        <p:txBody>
          <a:bodyPr/>
          <a:lstStyle/>
          <a:p>
            <a:r>
              <a:rPr lang="en-US" dirty="0"/>
              <a:t>Key benefits of agentic AI</a:t>
            </a:r>
          </a:p>
        </p:txBody>
      </p:sp>
      <p:sp>
        <p:nvSpPr>
          <p:cNvPr id="3" name="Text Placeholder 2">
            <a:extLst>
              <a:ext uri="{FF2B5EF4-FFF2-40B4-BE49-F238E27FC236}">
                <a16:creationId xmlns:a16="http://schemas.microsoft.com/office/drawing/2014/main" id="{216DE7CB-B1A7-0D7E-1089-AFAD4D63D4CA}"/>
              </a:ext>
            </a:extLst>
          </p:cNvPr>
          <p:cNvSpPr>
            <a:spLocks noGrp="1"/>
          </p:cNvSpPr>
          <p:nvPr>
            <p:ph type="body" sz="quarter" idx="11"/>
          </p:nvPr>
        </p:nvSpPr>
        <p:spPr/>
        <p:txBody>
          <a:bodyPr>
            <a:normAutofit lnSpcReduction="10000"/>
          </a:bodyPr>
          <a:lstStyle/>
          <a:p>
            <a:r>
              <a:rPr lang="en-US" b="1" dirty="0"/>
              <a:t>Increases efficiency and scalability: </a:t>
            </a:r>
            <a:r>
              <a:rPr lang="en-US" dirty="0"/>
              <a:t>An AI agent can manage repetitive or time-consuming tasks with minimal supervision. By doing so, teams can scale processes that would otherwise demand more people or hours, freeing up capacity for higher-value work.</a:t>
            </a:r>
          </a:p>
          <a:p>
            <a:endParaRPr lang="en-US" dirty="0"/>
          </a:p>
          <a:p>
            <a:r>
              <a:rPr lang="en-US" b="1" dirty="0"/>
              <a:t>Automates complex workflows autonomously: </a:t>
            </a:r>
            <a:r>
              <a:rPr lang="en-US" dirty="0"/>
              <a:t>Unlike more simple automation tools, agentic AI adapts to changing inputs and conditions. An AI agent can coordinate multiple steps in a process, make decisions along the way, and complete workflows end to end. This makes it easier to automate tasks like code modernization, refactoring jobs, or securing vulnerabilities in a codebase.</a:t>
            </a:r>
          </a:p>
        </p:txBody>
      </p:sp>
      <p:sp>
        <p:nvSpPr>
          <p:cNvPr id="4" name="Footer Placeholder 3">
            <a:extLst>
              <a:ext uri="{FF2B5EF4-FFF2-40B4-BE49-F238E27FC236}">
                <a16:creationId xmlns:a16="http://schemas.microsoft.com/office/drawing/2014/main" id="{E04F2122-9B7C-D9F6-649C-C43076249917}"/>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BC851AB4-6E13-0D87-FF77-0E2EEF04675B}"/>
              </a:ext>
            </a:extLst>
          </p:cNvPr>
          <p:cNvSpPr>
            <a:spLocks noGrp="1"/>
          </p:cNvSpPr>
          <p:nvPr>
            <p:ph type="sldNum" sz="quarter" idx="14"/>
          </p:nvPr>
        </p:nvSpPr>
        <p:spPr/>
        <p:txBody>
          <a:bodyPr/>
          <a:lstStyle/>
          <a:p>
            <a:fld id="{CE19DD2C-80DA-488C-99A4-6C8CE83C9C30}" type="slidenum">
              <a:rPr lang="en-SG" smtClean="0"/>
              <a:t>15</a:t>
            </a:fld>
            <a:endParaRPr lang="en-SG"/>
          </a:p>
        </p:txBody>
      </p:sp>
    </p:spTree>
    <p:extLst>
      <p:ext uri="{BB962C8B-B14F-4D97-AF65-F5344CB8AC3E}">
        <p14:creationId xmlns:p14="http://schemas.microsoft.com/office/powerpoint/2010/main" val="863210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B9B37-BB28-07ED-2E6A-E6F013EF8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9CB34E-E015-0FDC-747F-AD3B45F35AFC}"/>
              </a:ext>
            </a:extLst>
          </p:cNvPr>
          <p:cNvSpPr>
            <a:spLocks noGrp="1"/>
          </p:cNvSpPr>
          <p:nvPr>
            <p:ph type="title"/>
          </p:nvPr>
        </p:nvSpPr>
        <p:spPr/>
        <p:txBody>
          <a:bodyPr/>
          <a:lstStyle/>
          <a:p>
            <a:r>
              <a:rPr lang="en-US" dirty="0"/>
              <a:t>Key benefits of agentic AI</a:t>
            </a:r>
          </a:p>
        </p:txBody>
      </p:sp>
      <p:sp>
        <p:nvSpPr>
          <p:cNvPr id="3" name="Text Placeholder 2">
            <a:extLst>
              <a:ext uri="{FF2B5EF4-FFF2-40B4-BE49-F238E27FC236}">
                <a16:creationId xmlns:a16="http://schemas.microsoft.com/office/drawing/2014/main" id="{FE77B4DA-9485-8AE5-371E-5DAAA0E28968}"/>
              </a:ext>
            </a:extLst>
          </p:cNvPr>
          <p:cNvSpPr>
            <a:spLocks noGrp="1"/>
          </p:cNvSpPr>
          <p:nvPr>
            <p:ph type="body" sz="quarter" idx="11"/>
          </p:nvPr>
        </p:nvSpPr>
        <p:spPr/>
        <p:txBody>
          <a:bodyPr>
            <a:normAutofit/>
          </a:bodyPr>
          <a:lstStyle/>
          <a:p>
            <a:r>
              <a:rPr lang="en-US" b="1" dirty="0"/>
              <a:t>Responds quickly to changing conditions: </a:t>
            </a:r>
            <a:r>
              <a:rPr lang="en-US" dirty="0"/>
              <a:t>Agentic AI doesn’t just follow static instructions. It observes what’s happening and makes updates in real time. This means an AI agent can adjust actions if priorities shift or new data appears, keeping tasks on track without constant human intervention.</a:t>
            </a:r>
          </a:p>
          <a:p>
            <a:r>
              <a:rPr lang="en-US" b="1" dirty="0"/>
              <a:t>Frees up people to focus on high-value tasks:</a:t>
            </a:r>
            <a:r>
              <a:rPr lang="en-US" dirty="0"/>
              <a:t> By handing off routine or multi-step tasks to AI agents, teams have more time to solve complex problems, test new ideas, and push innovation forward. This balance often leads to greater productivity and more space for creative thinking.</a:t>
            </a:r>
          </a:p>
        </p:txBody>
      </p:sp>
      <p:sp>
        <p:nvSpPr>
          <p:cNvPr id="4" name="Footer Placeholder 3">
            <a:extLst>
              <a:ext uri="{FF2B5EF4-FFF2-40B4-BE49-F238E27FC236}">
                <a16:creationId xmlns:a16="http://schemas.microsoft.com/office/drawing/2014/main" id="{94C8035D-9381-7944-C045-C8D946E68B06}"/>
              </a:ext>
            </a:extLst>
          </p:cNvPr>
          <p:cNvSpPr>
            <a:spLocks noGrp="1"/>
          </p:cNvSpPr>
          <p:nvPr>
            <p:ph type="ftr" sz="quarter" idx="13"/>
          </p:nvPr>
        </p:nvSpPr>
        <p:spPr/>
        <p:txBody>
          <a:bodyPr/>
          <a:lstStyle/>
          <a:p>
            <a:pPr algn="l"/>
            <a:r>
              <a:rPr lang="it-IT"/>
              <a:t>ITI122 Generative AI - PDC in Deep Learning &amp; AI Applications</a:t>
            </a:r>
            <a:endParaRPr lang="en-SG" dirty="0"/>
          </a:p>
        </p:txBody>
      </p:sp>
      <p:sp>
        <p:nvSpPr>
          <p:cNvPr id="5" name="Slide Number Placeholder 4">
            <a:extLst>
              <a:ext uri="{FF2B5EF4-FFF2-40B4-BE49-F238E27FC236}">
                <a16:creationId xmlns:a16="http://schemas.microsoft.com/office/drawing/2014/main" id="{F7316121-2CF3-0387-1B6F-BBF27D5D97AB}"/>
              </a:ext>
            </a:extLst>
          </p:cNvPr>
          <p:cNvSpPr>
            <a:spLocks noGrp="1"/>
          </p:cNvSpPr>
          <p:nvPr>
            <p:ph type="sldNum" sz="quarter" idx="14"/>
          </p:nvPr>
        </p:nvSpPr>
        <p:spPr/>
        <p:txBody>
          <a:bodyPr/>
          <a:lstStyle/>
          <a:p>
            <a:fld id="{CE19DD2C-80DA-488C-99A4-6C8CE83C9C30}" type="slidenum">
              <a:rPr lang="en-SG" smtClean="0"/>
              <a:t>16</a:t>
            </a:fld>
            <a:endParaRPr lang="en-SG"/>
          </a:p>
        </p:txBody>
      </p:sp>
    </p:spTree>
    <p:extLst>
      <p:ext uri="{BB962C8B-B14F-4D97-AF65-F5344CB8AC3E}">
        <p14:creationId xmlns:p14="http://schemas.microsoft.com/office/powerpoint/2010/main" val="747636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222A1-CAB4-531E-D2EE-955F64A570CC}"/>
              </a:ext>
            </a:extLst>
          </p:cNvPr>
          <p:cNvSpPr>
            <a:spLocks noGrp="1"/>
          </p:cNvSpPr>
          <p:nvPr>
            <p:ph type="title"/>
          </p:nvPr>
        </p:nvSpPr>
        <p:spPr/>
        <p:txBody>
          <a:bodyPr/>
          <a:lstStyle/>
          <a:p>
            <a:r>
              <a:rPr lang="en-SG" dirty="0"/>
              <a:t>References</a:t>
            </a:r>
          </a:p>
        </p:txBody>
      </p:sp>
      <p:sp>
        <p:nvSpPr>
          <p:cNvPr id="3" name="Text Placeholder 2">
            <a:extLst>
              <a:ext uri="{FF2B5EF4-FFF2-40B4-BE49-F238E27FC236}">
                <a16:creationId xmlns:a16="http://schemas.microsoft.com/office/drawing/2014/main" id="{C3D150AC-8FBE-FE32-73FC-FBBA80B56B9E}"/>
              </a:ext>
            </a:extLst>
          </p:cNvPr>
          <p:cNvSpPr>
            <a:spLocks noGrp="1"/>
          </p:cNvSpPr>
          <p:nvPr>
            <p:ph type="body" sz="quarter" idx="11"/>
          </p:nvPr>
        </p:nvSpPr>
        <p:spPr/>
        <p:txBody>
          <a:bodyPr>
            <a:normAutofit/>
          </a:bodyPr>
          <a:lstStyle/>
          <a:p>
            <a:r>
              <a:rPr lang="en-US" sz="2800" b="0" dirty="0">
                <a:hlinkClick r:id="rId2"/>
              </a:rPr>
              <a:t>https://medium.com/@yugank.aman/advanced-rag-techniques-0c283aacf5ba</a:t>
            </a:r>
            <a:endParaRPr lang="en-US" sz="2800" b="0" dirty="0"/>
          </a:p>
          <a:p>
            <a:r>
              <a:rPr lang="en-SG" dirty="0">
                <a:hlinkClick r:id="rId3"/>
              </a:rPr>
              <a:t>https://www.llamaindex.ai/blog/a-cheat-sheet-and-some-recipes-for-building-advanced-rag-803a9d94c41b</a:t>
            </a:r>
            <a:endParaRPr lang="en-SG" dirty="0"/>
          </a:p>
          <a:p>
            <a:endParaRPr lang="en-SG" dirty="0"/>
          </a:p>
        </p:txBody>
      </p:sp>
      <p:sp>
        <p:nvSpPr>
          <p:cNvPr id="5" name="Footer Placeholder 4">
            <a:extLst>
              <a:ext uri="{FF2B5EF4-FFF2-40B4-BE49-F238E27FC236}">
                <a16:creationId xmlns:a16="http://schemas.microsoft.com/office/drawing/2014/main" id="{72823A2C-B0B0-637F-1709-C3ECF194BA00}"/>
              </a:ext>
            </a:extLst>
          </p:cNvPr>
          <p:cNvSpPr>
            <a:spLocks noGrp="1"/>
          </p:cNvSpPr>
          <p:nvPr>
            <p:ph type="ftr" sz="quarter" idx="13"/>
          </p:nvPr>
        </p:nvSpPr>
        <p:spPr/>
        <p:txBody>
          <a:bodyPr/>
          <a:lstStyle/>
          <a:p>
            <a:r>
              <a:rPr lang="it-IT"/>
              <a:t>ITI122 Generative AI - PDC in Deep Learning &amp; AI Applications</a:t>
            </a:r>
            <a:endParaRPr lang="en-SG"/>
          </a:p>
        </p:txBody>
      </p:sp>
      <p:sp>
        <p:nvSpPr>
          <p:cNvPr id="6" name="Slide Number Placeholder 5">
            <a:extLst>
              <a:ext uri="{FF2B5EF4-FFF2-40B4-BE49-F238E27FC236}">
                <a16:creationId xmlns:a16="http://schemas.microsoft.com/office/drawing/2014/main" id="{0F062F5A-251B-4E6A-11E7-41964510E39B}"/>
              </a:ext>
            </a:extLst>
          </p:cNvPr>
          <p:cNvSpPr>
            <a:spLocks noGrp="1"/>
          </p:cNvSpPr>
          <p:nvPr>
            <p:ph type="sldNum" sz="quarter" idx="14"/>
          </p:nvPr>
        </p:nvSpPr>
        <p:spPr/>
        <p:txBody>
          <a:bodyPr/>
          <a:lstStyle/>
          <a:p>
            <a:fld id="{CE19DD2C-80DA-488C-99A4-6C8CE83C9C30}" type="slidenum">
              <a:rPr lang="en-SG" smtClean="0"/>
              <a:t>17</a:t>
            </a:fld>
            <a:endParaRPr lang="en-SG"/>
          </a:p>
        </p:txBody>
      </p:sp>
    </p:spTree>
    <p:extLst>
      <p:ext uri="{BB962C8B-B14F-4D97-AF65-F5344CB8AC3E}">
        <p14:creationId xmlns:p14="http://schemas.microsoft.com/office/powerpoint/2010/main" val="27674851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Props1.xml><?xml version="1.0" encoding="utf-8"?>
<ds:datastoreItem xmlns:ds="http://schemas.openxmlformats.org/officeDocument/2006/customXml" ds:itemID="{A30EE154-A736-456D-A3E2-27745362195B}">
  <ds:schemaRefs>
    <ds:schemaRef ds:uri="http://schemas.microsoft.com/sharepoint/v3/contenttype/forms"/>
  </ds:schemaRefs>
</ds:datastoreItem>
</file>

<file path=customXml/itemProps2.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docProps/app.xml><?xml version="1.0" encoding="utf-8"?>
<Properties xmlns="http://schemas.openxmlformats.org/officeDocument/2006/extended-properties" xmlns:vt="http://schemas.openxmlformats.org/officeDocument/2006/docPropsVTypes">
  <Template>SEN 129(23) A19</Template>
  <TotalTime>10789</TotalTime>
  <Words>1494</Words>
  <Application>Microsoft Office PowerPoint</Application>
  <PresentationFormat>Widescreen</PresentationFormat>
  <Paragraphs>203</Paragraphs>
  <Slides>17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Arvo</vt:lpstr>
      <vt:lpstr>Aptos</vt:lpstr>
      <vt:lpstr>Arial</vt:lpstr>
      <vt:lpstr>Calibri</vt:lpstr>
      <vt:lpstr>Calibri Light</vt:lpstr>
      <vt:lpstr>Roboto</vt:lpstr>
      <vt:lpstr>SEN 129(23) A19</vt:lpstr>
      <vt:lpstr>PowerPoint Presentation</vt:lpstr>
      <vt:lpstr>Learning Outcomes</vt:lpstr>
      <vt:lpstr>Agentic AI vs. generative AI</vt:lpstr>
      <vt:lpstr>Overview of Agentic AI</vt:lpstr>
      <vt:lpstr>Overview of Agentic AI</vt:lpstr>
      <vt:lpstr>Overview of Agentic AI</vt:lpstr>
      <vt:lpstr>How Agentic AI Differs from Traditional LLM Applications</vt:lpstr>
      <vt:lpstr>Technical Implication for Developers</vt:lpstr>
      <vt:lpstr>Introduction to a Single-Agent System</vt:lpstr>
      <vt:lpstr>ReAct LLM-agent</vt:lpstr>
      <vt:lpstr>Technical Architecture</vt:lpstr>
      <vt:lpstr>Objective of LLM Custom Function Call: Tool interface</vt:lpstr>
      <vt:lpstr>How Custom Function(Tool Interface) Calls Work</vt:lpstr>
      <vt:lpstr>How Custom Function Calls Work</vt:lpstr>
      <vt:lpstr>Key benefits of agentic AI</vt:lpstr>
      <vt:lpstr>Key benefits of agentic AI</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chee hong wee</cp:lastModifiedBy>
  <cp:revision>74</cp:revision>
  <dcterms:created xsi:type="dcterms:W3CDTF">2023-04-05T14:55:09Z</dcterms:created>
  <dcterms:modified xsi:type="dcterms:W3CDTF">2025-10-13T02:17:28Z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