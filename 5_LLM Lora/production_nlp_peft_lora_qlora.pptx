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13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learners. Frame the session: they already know Transformer architecture from prior DL modules — today is 100% production engineering. By the end of this hour they will have fine-tuned a model with LoRA, compared it against full fine-tuning and QLoRA, tracked everything in W&amp;B, and registered a reproducible model. Preview the Colab notebook they'll run alongside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 — signal the pacing so students track where they are. Emphasize slide 4 maps 1:1 to the Colab notebook sections, so they should have it open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this in numbers students can feel: full fine-tuning of even a 350M-parameter encoder needs optimizer state for every weight (Adam stores 2 extra values per parameter). Ask: 'if you had to fine-tune a separate model for every one of 20 client contracts, what happens to your storage bill?' This motivates PEFT.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bridge slide. Note prompt/prefix tuning exists but is out of scope today — we focus on LoRA and QLoRA because they dominate industry usage for encoder and decoder fine-tuning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attention to the equation: only B and A get gradients; W never moves. Ask students to estimate the parameter count for r=8 on a 768-dim BERT attention matrix versus the full 768x768 matrix — this makes the '&lt;1% trainable' claim concrete. Mention target_modules in the PEFT LoraConfig maps directly to which projection matrices get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the pedagogical caveat that also appears in the Colab: quantizing a 110M-parameter BERT model doesn't save much memory in absolute terms because the model is already small. We do it anyway so students see the exact API pattern (BitsAndBytesConfig + prepare_model_for_kbit_training) they'd apply to a 7B+ model in a real production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'the six tools that appear in almost every production NLP repo you'll encounter.' All six show up in the Colab notebook's import cell — point that out directly so students see the mapping between slide and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most students will only touch TrainingArguments(fp16=True) in the notebook. Mention that in real multi-GPU jobs, `accelerate launch` and a config file replace the need to write manual DDP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'model versioning discipline' theme for the session: nothing gets run without being logged. In the Colab, students will run three W&amp;B runs (full FT, LoRA, QLoRA) inside the same project so the comparison dashboard is built for them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a template, not fixed numbers — students populate it from their own W&amp;B dashboard after running all three notebook sections. Walk around during the Colab exercise and sanity-check that F1 for LoRA lands within a couple of points of full fine-tuning; if not, it's almost always a learning-rate or epoch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both paths appear as optional cells in the Colab notebook — HF Hub requires a (free) account and token; MLflow can run fully local for the demo. Emphasize the underlying discipline is identical: no model ships without a recorded lineage back to its training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back to LoRA specifically: because adapters are small, a single served backbone can hot-swap between many task-specific adapters in memory — a pattern impossible with full fine-tuning where each task needs its own full model copy. This is a strong industry selling point for LoRA in multi-tenant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activity slide — give students 5 minutes to pick one scenario, choose full FT/LoRA/QLoRA, and justify with one sentence tying back to GPU budget, latency, or compliance. There is no single 'correct' answer; grade on justification quality. Cold-call 2-3 pairs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students directly back to the Colab. Remind them the graded deliverable is the registered model plus a one-paragraph justification of their chosen strategy for the design-challenge scenario they picked.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ECB3C-F8BA-0957-B2CB-64A6761297A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823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(Open)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400800" cy="6400800"/>
          </a:xfrm>
          <a:prstGeom prst="ellipse">
            <a:avLst/>
          </a:prstGeom>
          <a:solidFill>
            <a:srgbClr val="0F3B5C">
              <a:alpha val="45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INFORMATION TECHNOLOGY · APPLIED AI SERIES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NLP Engineering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at Scale with PEFT, LoRA &amp; QLoRA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length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4904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strategies compared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6656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Registered, reproducible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· datasets · evaluate · accelerate · PEFT   |   Weights &amp; Biases   |   HF Hub / MLflow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in 60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" y="16824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550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Adaptation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full fine-tuning doesn't scale in industry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66960" y="168249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777240" y="252374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496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&amp; LoRA Mechanics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00200" y="278892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adapters, and how QLoRA adds quantization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66960" y="25237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77240" y="33649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Production Ecosystem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00200" y="363016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datasets, evaluate, accelerate, PEFT, W&amp;B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4178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Colab Benchmark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600200" y="44714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FT vs LoRA vs QLoRA — memory, time, F1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66960" y="4206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777240" y="504748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50200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Versioning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600200" y="531266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Hub and MLflow Model Registry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0" y="50474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777240" y="588873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00200" y="5861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Design Challenge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600200" y="615391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strategy to business constraints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588873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Adaptation Problem in Industry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Transformers can be fine-tuned end-to-end. In production, that approach breaks down fast.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7121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explodes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stores gradients + optimizer states for every parameter — a 7B model needs ~80GB+ just to train.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466344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27121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520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task doesn't scale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triage, contract review, clinical notes each need their own fine-tune — full copies multiply storage cost.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2"/>
          <p:cNvSpPr/>
          <p:nvPr/>
        </p:nvSpPr>
        <p:spPr>
          <a:xfrm>
            <a:off x="845820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710" y="27121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520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speed suffers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5820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to test 10+ hyperparameter variants a week; full fine-tuning makes each run expensive and slow.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Parameter-Efficient Fine-Tuning (PEFT)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pretrained backbone. Train only a small number of new or reparameterized weights that steer the model toward your task.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0.1%–1% of parameters are trainable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weights stay frozen and shared across tasks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are small enough to store per-task (megabytes, not gigabytes)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accuracy to full fine-tuning on most classification tasks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family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865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bottleneck MLPs inserted between Transformer blocks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0632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483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update matrices injected into attention projections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41605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581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top of a 4-bit quantized frozen backbone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52578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49224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Prefix 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6784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soft tokens prepended to the input — not covered today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LoRA: Low-Rank Adaptation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017520" cy="2377440"/>
          </a:xfrm>
          <a:prstGeom prst="roundRect">
            <a:avLst>
              <a:gd name="adj" fmla="val 3077"/>
            </a:avLst>
          </a:prstGeom>
          <a:solidFill>
            <a:srgbClr val="12224A"/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 matrix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× d — untouched during training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0" y="2651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526280" y="1965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× 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20840" y="2514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720840" y="25146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× d  (r ≈ 4–16)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— orders of magnitude fewer parameters than 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32520" y="17373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89611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Wx + (α/r)·BAx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288036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attention Q/V (or Q/K/V/O) projection matrices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scales the adapter's contribution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inference, BA can be merged into W — zero extra latency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 and target modules are the two hyperparameters you'll tune in the Colab notebook.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QLoRA: Quantization + LoRA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adds one more move: load the frozen backbone in 4-bit precision, then train LoRA adapters in full precision on 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822960" y="24505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15184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Quantize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weights compressed to 4-bit NormalFloat (NF4), cutting memory ~4x vs FP16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6052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4617720" y="24505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615184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Attach LoRA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trainable adapters (BF16/FP16) inserted at attention projections, as before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9552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13816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Shape 14"/>
          <p:cNvSpPr/>
          <p:nvPr/>
        </p:nvSpPr>
        <p:spPr>
          <a:xfrm>
            <a:off x="8412480" y="24505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615184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in higher precision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12480" y="3611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De-quantize on-the-fly for matmuls; gradients only ever touch the LoRA adapters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extra complexity pay off?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48640" y="5120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large enough that FP16 weights alone strain your GPU (7B+ parameters)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fit training on a single consumer or free-tier GPU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BERT-family encoders (our Colab demo), memory savings are modest — but the workflow transfers directly to larger models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HuggingFace Production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20142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architectures, tokenizers, and the Trainer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617720" y="185623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728" y="201424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Streaming-friendly loading, mapping, and caching for large corpora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412480" y="185623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488" y="201424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metrics (F1, accuracy, ROUGE) shared across the community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822960" y="38221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968" y="398020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Hardware-agnostic multi-GPU, mixed-precision, and distributed training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5661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5" name="Shape 19"/>
          <p:cNvSpPr/>
          <p:nvPr/>
        </p:nvSpPr>
        <p:spPr>
          <a:xfrm>
            <a:off x="4617720" y="38221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728" y="3980200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QLoRA, and other adapter methods on top of any transformers model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5661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0" name="Shape 23"/>
          <p:cNvSpPr/>
          <p:nvPr/>
        </p:nvSpPr>
        <p:spPr>
          <a:xfrm>
            <a:off x="8412480" y="38221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0488" y="3980200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1248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— losses, metrics, GPU usage, hyperparameters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API + Accelerate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Trainer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training loop: forward, backward, optimizer step, logging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TrainingArguments configures epochs, batch size, learning rate schedule, precision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report_to="wandb" streams metrics automatically — no manual logging code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identically whether you're doing full FT or PEFT — just swap the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away device placement — same code runs on CPU, 1 GPU, or many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(fp16/bf16) cuts memory and speeds up matmuls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uses Accelerate under the hood; direct use gives you a custom loop when needed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free Colab (single T4), Accelerate mainly buys you mixed-precision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Every Run with Weights &amp; Biases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2788920"/>
          </a:xfrm>
          <a:prstGeom prst="roundRect">
            <a:avLst>
              <a:gd name="adj" fmla="val 2623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3035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wandb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wandb.init(project="nlp-peft-benchmark", name="lora-r8")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training_args = TrainingArguments(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report_to="wandb",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run_name="lora-r8",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logged this way is reproducible: hyperparameters, hardware, git commit, and metrics all live in one place.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208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log per run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20840" y="2057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eval loss curves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precision, recall per epoch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allocated (logged manually via torch.cuda)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training time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hyperparameter config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COLAB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 vs LoRA vs QLoRA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GPU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Train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~110M (100%)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(1.0x)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(r=8)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~0.3M (&lt;1%)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~40–60% 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or faster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~1–2 pts of full 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(4-bit + r=8)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~0.3M (&lt;1%)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per-parameter footprint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slower per step (dequant overhead)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LoRA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numbers depend on your dataset subset and hyperparameters — students fill in this table live from their own Colab run.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868680" y="4526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reaches near-parity F1 while touching under 1% of parameters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QLoRA's memory advantage grows with model size — modest here, dramatic at 7B+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small BERT-family model, LoRA alone is often the pragmatic production choice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VERSIONING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&amp; Registering Your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Hub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model.push_to_hub() uploads weights, config, and tokenizer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LoRA adapters first, or push adapter-only for a lightweight artifact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documents dataset, metrics, and intended use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automatically via git-based commits on the Hub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19366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 Registry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mlflow.transformers.log_model() captures the pipeline + environment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tracks stages: Staging → Production → Archived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a model version back to the exact run's params and metrics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choice when the org already standardizes on MLflow for MLOps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Deployment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large volumes on a schedule — nightly contract backlogs, end-of-day ticket summaries. Optimizes for throughput, not latency.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61772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58" y="20610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2461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 behind a REST/gRPC service — live chat triage, in-the-moment clinical note tagging. Optimizes for low p99 latency.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18" y="20610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Endpoints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inference (e.g., HF Inference Endpoints, SageMaker Serverless) — spiky, unpredictable traffic without idle GPU cost.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strategy influences deployment: LoRA adapters merge into the base model for zero-overhead serving, or stay separate to hot-swap between tasks on one shared backbone.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Challenge: Match Strategy to Business Constraint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0958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Triage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low latency budget, frequent new intents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STRATEGY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4846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a small encoder — cheap to retrain weekly as new intents appear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461772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85" y="209580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1772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617720" y="3566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documents, high accuracy bar, infrequent retraining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1772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STRATEGY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617720" y="4846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or larger LoRA rank — accuracy matters more than update speed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7"/>
          <p:cNvSpPr/>
          <p:nvPr/>
        </p:nvSpPr>
        <p:spPr>
          <a:xfrm>
            <a:off x="841248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045" y="2095805"/>
            <a:ext cx="380390" cy="3803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Classification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1248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8412480" y="3566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data, on-prem GPU constraints, compliance review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41248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STRATEGY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412480" y="4846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— fit training on limited on-prem hardware while meeting data-residency rules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F3B5C">
              <a:alpha val="4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Leave With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mental model of LoRA and QLoRA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579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they dominate real-world LLM adaptation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948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61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benchmarked fine-tuning run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31181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FT vs LoRA vs QLoRA, tracked end-to-end in W&amp;B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090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7216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model artifact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08760" y="40782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HuggingFace Hub or MLflow, ready to hand to an inference team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8691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6817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choosing a strategy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08760" y="50383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GPU budget, latency needs, and compliance constraints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open the Colab notebook — sections map 1:1 to slides 5, 6, 9, 10 and 11.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Microsoft Office PowerPoint</Application>
  <PresentationFormat>Widescreen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NLP Engineering: PEFT, LoRA &amp; QLoRA</dc:title>
  <dc:subject>PptxGenJS Presentation</dc:subject>
  <dc:creator>NYP School of IT</dc:creator>
  <cp:lastModifiedBy>Chee Hong WEE (NYP)</cp:lastModifiedBy>
  <cp:revision>2</cp:revision>
  <dcterms:created xsi:type="dcterms:W3CDTF">2026-07-03T07:42:32Z</dcterms:created>
  <dcterms:modified xsi:type="dcterms:W3CDTF">2026-07-14T03:03:21Z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e128f-e2ab-4b18-9c62-301caee5e80a_Enabled">
    <vt:lpwstr>true</vt:lpwstr>
  </property>
  <property fmtid="{D5CDD505-2E9C-101B-9397-08002B2CF9AE}" pid="3" name="MSIP_Label_babe128f-e2ab-4b18-9c62-301caee5e80a_SetDate">
    <vt:lpwstr>2026-07-14T03:02:34Z</vt:lpwstr>
  </property>
  <property fmtid="{D5CDD505-2E9C-101B-9397-08002B2CF9AE}" pid="4" name="MSIP_Label_babe128f-e2ab-4b18-9c62-301caee5e80a_Method">
    <vt:lpwstr>Privileged</vt:lpwstr>
  </property>
  <property fmtid="{D5CDD505-2E9C-101B-9397-08002B2CF9AE}" pid="5" name="MSIP_Label_babe128f-e2ab-4b18-9c62-301caee5e80a_Name">
    <vt:lpwstr>OFFICIAL [OPEN]</vt:lpwstr>
  </property>
  <property fmtid="{D5CDD505-2E9C-101B-9397-08002B2CF9AE}" pid="6" name="MSIP_Label_babe128f-e2ab-4b18-9c62-301caee5e80a_SiteId">
    <vt:lpwstr>243ebaed-00d0-4690-a7dc-75893b0d9f98</vt:lpwstr>
  </property>
  <property fmtid="{D5CDD505-2E9C-101B-9397-08002B2CF9AE}" pid="7" name="MSIP_Label_babe128f-e2ab-4b18-9c62-301caee5e80a_ActionId">
    <vt:lpwstr>816d98c1-fa62-4e33-9d50-cae99691715f</vt:lpwstr>
  </property>
  <property fmtid="{D5CDD505-2E9C-101B-9397-08002B2CF9AE}" pid="8" name="MSIP_Label_babe128f-e2ab-4b18-9c62-301caee5e80a_ContentBits">
    <vt:lpwstr>1</vt:lpwstr>
  </property>
  <property fmtid="{D5CDD505-2E9C-101B-9397-08002B2CF9AE}" pid="9" name="MSIP_Label_babe128f-e2ab-4b18-9c62-301caee5e80a_Tag">
    <vt:lpwstr>10, 0, 1, 1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Official (Open)</vt:lpwstr>
  </property>
</Properties>
</file>