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76"/>
  </p:notesMasterIdLst>
  <p:sldIdLst>
    <p:sldId id="256" r:id="rId5"/>
    <p:sldId id="297" r:id="rId6"/>
    <p:sldId id="298" r:id="rId7"/>
    <p:sldId id="299" r:id="rId8"/>
    <p:sldId id="301" r:id="rId9"/>
    <p:sldId id="302" r:id="rId10"/>
    <p:sldId id="300" r:id="rId11"/>
    <p:sldId id="379" r:id="rId12"/>
    <p:sldId id="295" r:id="rId13"/>
    <p:sldId id="320" r:id="rId14"/>
    <p:sldId id="321" r:id="rId15"/>
    <p:sldId id="322" r:id="rId16"/>
    <p:sldId id="323" r:id="rId17"/>
    <p:sldId id="324" r:id="rId18"/>
    <p:sldId id="303" r:id="rId19"/>
    <p:sldId id="325" r:id="rId20"/>
    <p:sldId id="380" r:id="rId21"/>
    <p:sldId id="373" r:id="rId22"/>
    <p:sldId id="327" r:id="rId23"/>
    <p:sldId id="328" r:id="rId24"/>
    <p:sldId id="381" r:id="rId25"/>
    <p:sldId id="329" r:id="rId26"/>
    <p:sldId id="330" r:id="rId27"/>
    <p:sldId id="262" r:id="rId28"/>
    <p:sldId id="331" r:id="rId29"/>
    <p:sldId id="333" r:id="rId30"/>
    <p:sldId id="334" r:id="rId31"/>
    <p:sldId id="335" r:id="rId32"/>
    <p:sldId id="336" r:id="rId33"/>
    <p:sldId id="337" r:id="rId34"/>
    <p:sldId id="338" r:id="rId35"/>
    <p:sldId id="339" r:id="rId36"/>
    <p:sldId id="340" r:id="rId37"/>
    <p:sldId id="383" r:id="rId38"/>
    <p:sldId id="384" r:id="rId39"/>
    <p:sldId id="341" r:id="rId40"/>
    <p:sldId id="398" r:id="rId41"/>
    <p:sldId id="343" r:id="rId42"/>
    <p:sldId id="345" r:id="rId43"/>
    <p:sldId id="346" r:id="rId44"/>
    <p:sldId id="400" r:id="rId45"/>
    <p:sldId id="401" r:id="rId46"/>
    <p:sldId id="378" r:id="rId47"/>
    <p:sldId id="347" r:id="rId48"/>
    <p:sldId id="349" r:id="rId49"/>
    <p:sldId id="399" r:id="rId50"/>
    <p:sldId id="353" r:id="rId51"/>
    <p:sldId id="385" r:id="rId52"/>
    <p:sldId id="354" r:id="rId53"/>
    <p:sldId id="358" r:id="rId54"/>
    <p:sldId id="386" r:id="rId55"/>
    <p:sldId id="387" r:id="rId56"/>
    <p:sldId id="388" r:id="rId57"/>
    <p:sldId id="389" r:id="rId58"/>
    <p:sldId id="359" r:id="rId59"/>
    <p:sldId id="391" r:id="rId60"/>
    <p:sldId id="395" r:id="rId61"/>
    <p:sldId id="392" r:id="rId62"/>
    <p:sldId id="393" r:id="rId63"/>
    <p:sldId id="396" r:id="rId64"/>
    <p:sldId id="394" r:id="rId65"/>
    <p:sldId id="390" r:id="rId66"/>
    <p:sldId id="366" r:id="rId67"/>
    <p:sldId id="368" r:id="rId68"/>
    <p:sldId id="369" r:id="rId69"/>
    <p:sldId id="370" r:id="rId70"/>
    <p:sldId id="397" r:id="rId71"/>
    <p:sldId id="372" r:id="rId72"/>
    <p:sldId id="374" r:id="rId73"/>
    <p:sldId id="375" r:id="rId74"/>
    <p:sldId id="37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75108" autoAdjust="0"/>
  </p:normalViewPr>
  <p:slideViewPr>
    <p:cSldViewPr snapToGrid="0">
      <p:cViewPr varScale="1">
        <p:scale>
          <a:sx n="67" d="100"/>
          <a:sy n="67" d="100"/>
        </p:scale>
        <p:origin x="84" y="6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78A366-3577-3D40-83F3-2F5B30926496}" type="doc">
      <dgm:prSet loTypeId="urn:microsoft.com/office/officeart/2005/8/layout/gear1" loCatId="" qsTypeId="urn:microsoft.com/office/officeart/2005/8/quickstyle/simple1" qsCatId="simple" csTypeId="urn:microsoft.com/office/officeart/2005/8/colors/colorful1" csCatId="colorful" phldr="1"/>
      <dgm:spPr/>
    </dgm:pt>
    <dgm:pt modelId="{8BD1283C-8DDC-034B-8621-56F61E20A444}">
      <dgm:prSet phldrT="[Text]"/>
      <dgm:spPr/>
      <dgm:t>
        <a:bodyPr/>
        <a:lstStyle/>
        <a:p>
          <a:r>
            <a:rPr lang="en-US" dirty="0"/>
            <a:t>AI Governance</a:t>
          </a:r>
        </a:p>
      </dgm:t>
    </dgm:pt>
    <dgm:pt modelId="{A31B807A-447F-A340-B144-6C2492554E86}" type="parTrans" cxnId="{17AC06E0-1AE3-7F4D-906B-B491543C8854}">
      <dgm:prSet/>
      <dgm:spPr/>
      <dgm:t>
        <a:bodyPr/>
        <a:lstStyle/>
        <a:p>
          <a:endParaRPr lang="en-US"/>
        </a:p>
      </dgm:t>
    </dgm:pt>
    <dgm:pt modelId="{A6114C05-0650-BC4B-8827-353E6D794C58}" type="sibTrans" cxnId="{17AC06E0-1AE3-7F4D-906B-B491543C8854}">
      <dgm:prSet/>
      <dgm:spPr/>
      <dgm:t>
        <a:bodyPr/>
        <a:lstStyle/>
        <a:p>
          <a:endParaRPr lang="en-US"/>
        </a:p>
      </dgm:t>
    </dgm:pt>
    <dgm:pt modelId="{C3A195E8-BD58-8243-9BD5-AC88DF581414}">
      <dgm:prSet phldrT="[Text]" custT="1"/>
      <dgm:spPr/>
      <dgm:t>
        <a:bodyPr/>
        <a:lstStyle/>
        <a:p>
          <a:r>
            <a:rPr lang="en-US" sz="1400" dirty="0"/>
            <a:t>Responsible AI</a:t>
          </a:r>
        </a:p>
      </dgm:t>
    </dgm:pt>
    <dgm:pt modelId="{39DDA6D0-8DFF-5B4C-98F7-5FD4749ADCFF}" type="parTrans" cxnId="{63E06927-25F0-114C-AEBA-DF8277C868E4}">
      <dgm:prSet/>
      <dgm:spPr/>
      <dgm:t>
        <a:bodyPr/>
        <a:lstStyle/>
        <a:p>
          <a:endParaRPr lang="en-US"/>
        </a:p>
      </dgm:t>
    </dgm:pt>
    <dgm:pt modelId="{085044B0-2716-9B4D-9763-45FD0BAC8C14}" type="sibTrans" cxnId="{63E06927-25F0-114C-AEBA-DF8277C868E4}">
      <dgm:prSet/>
      <dgm:spPr/>
      <dgm:t>
        <a:bodyPr/>
        <a:lstStyle/>
        <a:p>
          <a:endParaRPr lang="en-US"/>
        </a:p>
      </dgm:t>
    </dgm:pt>
    <dgm:pt modelId="{B6205AAC-24DD-E74D-8546-ACD497B91474}">
      <dgm:prSet phldrT="[Text]" custT="1"/>
      <dgm:spPr/>
      <dgm:t>
        <a:bodyPr/>
        <a:lstStyle/>
        <a:p>
          <a:r>
            <a:rPr lang="en-US" sz="2000" dirty="0"/>
            <a:t>AI Ethics</a:t>
          </a:r>
        </a:p>
      </dgm:t>
    </dgm:pt>
    <dgm:pt modelId="{EE2F4659-BDF3-CE4A-A30A-03543CD3C6EB}" type="parTrans" cxnId="{A1095A09-B9C8-6540-A495-5F80D812E40C}">
      <dgm:prSet/>
      <dgm:spPr/>
      <dgm:t>
        <a:bodyPr/>
        <a:lstStyle/>
        <a:p>
          <a:endParaRPr lang="en-US"/>
        </a:p>
      </dgm:t>
    </dgm:pt>
    <dgm:pt modelId="{C6901A4C-9F8A-174F-ABE9-458390A58B5A}" type="sibTrans" cxnId="{A1095A09-B9C8-6540-A495-5F80D812E40C}">
      <dgm:prSet/>
      <dgm:spPr/>
      <dgm:t>
        <a:bodyPr/>
        <a:lstStyle/>
        <a:p>
          <a:endParaRPr lang="en-US"/>
        </a:p>
      </dgm:t>
    </dgm:pt>
    <dgm:pt modelId="{E587A0D7-CF98-584F-9773-D2B75A1FEBB9}" type="pres">
      <dgm:prSet presAssocID="{2A78A366-3577-3D40-83F3-2F5B30926496}" presName="composite" presStyleCnt="0">
        <dgm:presLayoutVars>
          <dgm:chMax val="3"/>
          <dgm:animLvl val="lvl"/>
          <dgm:resizeHandles val="exact"/>
        </dgm:presLayoutVars>
      </dgm:prSet>
      <dgm:spPr/>
    </dgm:pt>
    <dgm:pt modelId="{CB835BB3-D10F-8249-A4B8-C7DDD1CFEAA0}" type="pres">
      <dgm:prSet presAssocID="{8BD1283C-8DDC-034B-8621-56F61E20A444}" presName="gear1" presStyleLbl="node1" presStyleIdx="0" presStyleCnt="3" custLinFactNeighborX="4184" custLinFactNeighborY="1686">
        <dgm:presLayoutVars>
          <dgm:chMax val="1"/>
          <dgm:bulletEnabled val="1"/>
        </dgm:presLayoutVars>
      </dgm:prSet>
      <dgm:spPr/>
    </dgm:pt>
    <dgm:pt modelId="{8D4C0743-9769-5647-AEF4-15EBF11AA574}" type="pres">
      <dgm:prSet presAssocID="{8BD1283C-8DDC-034B-8621-56F61E20A444}" presName="gear1srcNode" presStyleLbl="node1" presStyleIdx="0" presStyleCnt="3"/>
      <dgm:spPr/>
    </dgm:pt>
    <dgm:pt modelId="{E7EAC385-0F49-2648-A181-18470DC4F4F4}" type="pres">
      <dgm:prSet presAssocID="{8BD1283C-8DDC-034B-8621-56F61E20A444}" presName="gear1dstNode" presStyleLbl="node1" presStyleIdx="0" presStyleCnt="3"/>
      <dgm:spPr/>
    </dgm:pt>
    <dgm:pt modelId="{CF0D2785-D1E8-E441-A20F-6AA89C7978EA}" type="pres">
      <dgm:prSet presAssocID="{C3A195E8-BD58-8243-9BD5-AC88DF581414}" presName="gear2" presStyleLbl="node1" presStyleIdx="1" presStyleCnt="3">
        <dgm:presLayoutVars>
          <dgm:chMax val="1"/>
          <dgm:bulletEnabled val="1"/>
        </dgm:presLayoutVars>
      </dgm:prSet>
      <dgm:spPr/>
    </dgm:pt>
    <dgm:pt modelId="{F4DBEE37-2DF1-EA4B-9B08-595E2222D71D}" type="pres">
      <dgm:prSet presAssocID="{C3A195E8-BD58-8243-9BD5-AC88DF581414}" presName="gear2srcNode" presStyleLbl="node1" presStyleIdx="1" presStyleCnt="3"/>
      <dgm:spPr/>
    </dgm:pt>
    <dgm:pt modelId="{BF347FD3-58ED-8A40-958C-47E2345AC544}" type="pres">
      <dgm:prSet presAssocID="{C3A195E8-BD58-8243-9BD5-AC88DF581414}" presName="gear2dstNode" presStyleLbl="node1" presStyleIdx="1" presStyleCnt="3"/>
      <dgm:spPr/>
    </dgm:pt>
    <dgm:pt modelId="{49077664-6652-544D-B84B-F05326FD7875}" type="pres">
      <dgm:prSet presAssocID="{B6205AAC-24DD-E74D-8546-ACD497B91474}" presName="gear3" presStyleLbl="node1" presStyleIdx="2" presStyleCnt="3"/>
      <dgm:spPr/>
    </dgm:pt>
    <dgm:pt modelId="{ADB51392-8591-2240-9854-1895229315D9}" type="pres">
      <dgm:prSet presAssocID="{B6205AAC-24DD-E74D-8546-ACD497B91474}" presName="gear3tx" presStyleLbl="node1" presStyleIdx="2" presStyleCnt="3">
        <dgm:presLayoutVars>
          <dgm:chMax val="1"/>
          <dgm:bulletEnabled val="1"/>
        </dgm:presLayoutVars>
      </dgm:prSet>
      <dgm:spPr/>
    </dgm:pt>
    <dgm:pt modelId="{F8025F6C-2F3E-A648-9575-3EFAADF41BEC}" type="pres">
      <dgm:prSet presAssocID="{B6205AAC-24DD-E74D-8546-ACD497B91474}" presName="gear3srcNode" presStyleLbl="node1" presStyleIdx="2" presStyleCnt="3"/>
      <dgm:spPr/>
    </dgm:pt>
    <dgm:pt modelId="{F6671110-080F-AB48-AE3B-7534653AAF04}" type="pres">
      <dgm:prSet presAssocID="{B6205AAC-24DD-E74D-8546-ACD497B91474}" presName="gear3dstNode" presStyleLbl="node1" presStyleIdx="2" presStyleCnt="3"/>
      <dgm:spPr/>
    </dgm:pt>
    <dgm:pt modelId="{A281BC6E-3695-F844-9C66-533BCD8C27A1}" type="pres">
      <dgm:prSet presAssocID="{A6114C05-0650-BC4B-8827-353E6D794C58}" presName="connector1" presStyleLbl="sibTrans2D1" presStyleIdx="0" presStyleCnt="3"/>
      <dgm:spPr/>
    </dgm:pt>
    <dgm:pt modelId="{AF348783-81E3-B44B-BBA4-B09131FF66ED}" type="pres">
      <dgm:prSet presAssocID="{085044B0-2716-9B4D-9763-45FD0BAC8C14}" presName="connector2" presStyleLbl="sibTrans2D1" presStyleIdx="1" presStyleCnt="3"/>
      <dgm:spPr/>
    </dgm:pt>
    <dgm:pt modelId="{B6CDBF4B-ED5F-FF47-99B1-7336FC4FA6FA}" type="pres">
      <dgm:prSet presAssocID="{C6901A4C-9F8A-174F-ABE9-458390A58B5A}" presName="connector3" presStyleLbl="sibTrans2D1" presStyleIdx="2" presStyleCnt="3"/>
      <dgm:spPr/>
    </dgm:pt>
  </dgm:ptLst>
  <dgm:cxnLst>
    <dgm:cxn modelId="{119A5E07-5AF3-824B-977E-DAAC9A533F89}" type="presOf" srcId="{B6205AAC-24DD-E74D-8546-ACD497B91474}" destId="{ADB51392-8591-2240-9854-1895229315D9}" srcOrd="1" destOrd="0" presId="urn:microsoft.com/office/officeart/2005/8/layout/gear1"/>
    <dgm:cxn modelId="{A1095A09-B9C8-6540-A495-5F80D812E40C}" srcId="{2A78A366-3577-3D40-83F3-2F5B30926496}" destId="{B6205AAC-24DD-E74D-8546-ACD497B91474}" srcOrd="2" destOrd="0" parTransId="{EE2F4659-BDF3-CE4A-A30A-03543CD3C6EB}" sibTransId="{C6901A4C-9F8A-174F-ABE9-458390A58B5A}"/>
    <dgm:cxn modelId="{63E06927-25F0-114C-AEBA-DF8277C868E4}" srcId="{2A78A366-3577-3D40-83F3-2F5B30926496}" destId="{C3A195E8-BD58-8243-9BD5-AC88DF581414}" srcOrd="1" destOrd="0" parTransId="{39DDA6D0-8DFF-5B4C-98F7-5FD4749ADCFF}" sibTransId="{085044B0-2716-9B4D-9763-45FD0BAC8C14}"/>
    <dgm:cxn modelId="{EDB1A23B-56C4-4F40-8A23-46EDBCF29145}" type="presOf" srcId="{C3A195E8-BD58-8243-9BD5-AC88DF581414}" destId="{BF347FD3-58ED-8A40-958C-47E2345AC544}" srcOrd="2" destOrd="0" presId="urn:microsoft.com/office/officeart/2005/8/layout/gear1"/>
    <dgm:cxn modelId="{873FC442-9D3A-4542-89E7-A5581866BB39}" type="presOf" srcId="{8BD1283C-8DDC-034B-8621-56F61E20A444}" destId="{8D4C0743-9769-5647-AEF4-15EBF11AA574}" srcOrd="1" destOrd="0" presId="urn:microsoft.com/office/officeart/2005/8/layout/gear1"/>
    <dgm:cxn modelId="{C0934A67-4741-2247-AAFE-050FA11AAC8B}" type="presOf" srcId="{C3A195E8-BD58-8243-9BD5-AC88DF581414}" destId="{CF0D2785-D1E8-E441-A20F-6AA89C7978EA}" srcOrd="0" destOrd="0" presId="urn:microsoft.com/office/officeart/2005/8/layout/gear1"/>
    <dgm:cxn modelId="{AB83DA4E-AFB8-5844-9AEB-E99356C40875}" type="presOf" srcId="{C6901A4C-9F8A-174F-ABE9-458390A58B5A}" destId="{B6CDBF4B-ED5F-FF47-99B1-7336FC4FA6FA}" srcOrd="0" destOrd="0" presId="urn:microsoft.com/office/officeart/2005/8/layout/gear1"/>
    <dgm:cxn modelId="{5D4C5A52-1401-8042-9CB6-2213DDC309C1}" type="presOf" srcId="{B6205AAC-24DD-E74D-8546-ACD497B91474}" destId="{F6671110-080F-AB48-AE3B-7534653AAF04}" srcOrd="3" destOrd="0" presId="urn:microsoft.com/office/officeart/2005/8/layout/gear1"/>
    <dgm:cxn modelId="{6DAD6182-0BD6-894E-AFB0-8731571B2F14}" type="presOf" srcId="{B6205AAC-24DD-E74D-8546-ACD497B91474}" destId="{F8025F6C-2F3E-A648-9575-3EFAADF41BEC}" srcOrd="2" destOrd="0" presId="urn:microsoft.com/office/officeart/2005/8/layout/gear1"/>
    <dgm:cxn modelId="{36858EA2-54B0-5741-81F1-9D14BE8B5E69}" type="presOf" srcId="{B6205AAC-24DD-E74D-8546-ACD497B91474}" destId="{49077664-6652-544D-B84B-F05326FD7875}" srcOrd="0" destOrd="0" presId="urn:microsoft.com/office/officeart/2005/8/layout/gear1"/>
    <dgm:cxn modelId="{9E90A5AF-369E-9647-BDD3-75DE18E0F51C}" type="presOf" srcId="{A6114C05-0650-BC4B-8827-353E6D794C58}" destId="{A281BC6E-3695-F844-9C66-533BCD8C27A1}" srcOrd="0" destOrd="0" presId="urn:microsoft.com/office/officeart/2005/8/layout/gear1"/>
    <dgm:cxn modelId="{3B5D5AC7-6F57-D648-B550-1C2B88868375}" type="presOf" srcId="{085044B0-2716-9B4D-9763-45FD0BAC8C14}" destId="{AF348783-81E3-B44B-BBA4-B09131FF66ED}" srcOrd="0" destOrd="0" presId="urn:microsoft.com/office/officeart/2005/8/layout/gear1"/>
    <dgm:cxn modelId="{17AC06E0-1AE3-7F4D-906B-B491543C8854}" srcId="{2A78A366-3577-3D40-83F3-2F5B30926496}" destId="{8BD1283C-8DDC-034B-8621-56F61E20A444}" srcOrd="0" destOrd="0" parTransId="{A31B807A-447F-A340-B144-6C2492554E86}" sibTransId="{A6114C05-0650-BC4B-8827-353E6D794C58}"/>
    <dgm:cxn modelId="{9B9187E1-5374-594E-9D1D-CA80CF975BE4}" type="presOf" srcId="{8BD1283C-8DDC-034B-8621-56F61E20A444}" destId="{CB835BB3-D10F-8249-A4B8-C7DDD1CFEAA0}" srcOrd="0" destOrd="0" presId="urn:microsoft.com/office/officeart/2005/8/layout/gear1"/>
    <dgm:cxn modelId="{F8677CE2-A586-0044-AAC4-0BD55CB5A009}" type="presOf" srcId="{C3A195E8-BD58-8243-9BD5-AC88DF581414}" destId="{F4DBEE37-2DF1-EA4B-9B08-595E2222D71D}" srcOrd="1" destOrd="0" presId="urn:microsoft.com/office/officeart/2005/8/layout/gear1"/>
    <dgm:cxn modelId="{FEABAAEB-DE39-024D-87D1-74283EB55B26}" type="presOf" srcId="{8BD1283C-8DDC-034B-8621-56F61E20A444}" destId="{E7EAC385-0F49-2648-A181-18470DC4F4F4}" srcOrd="2" destOrd="0" presId="urn:microsoft.com/office/officeart/2005/8/layout/gear1"/>
    <dgm:cxn modelId="{FD3C20F3-CAED-1F45-93BB-6DAC99BF0DFA}" type="presOf" srcId="{2A78A366-3577-3D40-83F3-2F5B30926496}" destId="{E587A0D7-CF98-584F-9773-D2B75A1FEBB9}" srcOrd="0" destOrd="0" presId="urn:microsoft.com/office/officeart/2005/8/layout/gear1"/>
    <dgm:cxn modelId="{C03B3EEE-5B97-7547-94C9-3E79164D373C}" type="presParOf" srcId="{E587A0D7-CF98-584F-9773-D2B75A1FEBB9}" destId="{CB835BB3-D10F-8249-A4B8-C7DDD1CFEAA0}" srcOrd="0" destOrd="0" presId="urn:microsoft.com/office/officeart/2005/8/layout/gear1"/>
    <dgm:cxn modelId="{35BDE227-2B6F-3245-A63C-8518BF65C824}" type="presParOf" srcId="{E587A0D7-CF98-584F-9773-D2B75A1FEBB9}" destId="{8D4C0743-9769-5647-AEF4-15EBF11AA574}" srcOrd="1" destOrd="0" presId="urn:microsoft.com/office/officeart/2005/8/layout/gear1"/>
    <dgm:cxn modelId="{A07BFB3D-20AD-4E44-A203-6B6046A421D4}" type="presParOf" srcId="{E587A0D7-CF98-584F-9773-D2B75A1FEBB9}" destId="{E7EAC385-0F49-2648-A181-18470DC4F4F4}" srcOrd="2" destOrd="0" presId="urn:microsoft.com/office/officeart/2005/8/layout/gear1"/>
    <dgm:cxn modelId="{303C360A-2BB8-264C-8D89-EBDF3B507FEC}" type="presParOf" srcId="{E587A0D7-CF98-584F-9773-D2B75A1FEBB9}" destId="{CF0D2785-D1E8-E441-A20F-6AA89C7978EA}" srcOrd="3" destOrd="0" presId="urn:microsoft.com/office/officeart/2005/8/layout/gear1"/>
    <dgm:cxn modelId="{D84118DB-FD4D-A74A-AC6C-B8E27CF12A05}" type="presParOf" srcId="{E587A0D7-CF98-584F-9773-D2B75A1FEBB9}" destId="{F4DBEE37-2DF1-EA4B-9B08-595E2222D71D}" srcOrd="4" destOrd="0" presId="urn:microsoft.com/office/officeart/2005/8/layout/gear1"/>
    <dgm:cxn modelId="{1EACBA37-C47B-8E43-BD8E-1DF053EE9D77}" type="presParOf" srcId="{E587A0D7-CF98-584F-9773-D2B75A1FEBB9}" destId="{BF347FD3-58ED-8A40-958C-47E2345AC544}" srcOrd="5" destOrd="0" presId="urn:microsoft.com/office/officeart/2005/8/layout/gear1"/>
    <dgm:cxn modelId="{7240F13E-8193-B84E-A2E9-387AC9A97005}" type="presParOf" srcId="{E587A0D7-CF98-584F-9773-D2B75A1FEBB9}" destId="{49077664-6652-544D-B84B-F05326FD7875}" srcOrd="6" destOrd="0" presId="urn:microsoft.com/office/officeart/2005/8/layout/gear1"/>
    <dgm:cxn modelId="{023F89EB-42C9-7947-A673-B455FFEEE2BB}" type="presParOf" srcId="{E587A0D7-CF98-584F-9773-D2B75A1FEBB9}" destId="{ADB51392-8591-2240-9854-1895229315D9}" srcOrd="7" destOrd="0" presId="urn:microsoft.com/office/officeart/2005/8/layout/gear1"/>
    <dgm:cxn modelId="{BEFF50B0-9279-7944-8E3C-B531E1BC4AA8}" type="presParOf" srcId="{E587A0D7-CF98-584F-9773-D2B75A1FEBB9}" destId="{F8025F6C-2F3E-A648-9575-3EFAADF41BEC}" srcOrd="8" destOrd="0" presId="urn:microsoft.com/office/officeart/2005/8/layout/gear1"/>
    <dgm:cxn modelId="{AF7A093D-1655-0042-BBAE-2D34B3B633E1}" type="presParOf" srcId="{E587A0D7-CF98-584F-9773-D2B75A1FEBB9}" destId="{F6671110-080F-AB48-AE3B-7534653AAF04}" srcOrd="9" destOrd="0" presId="urn:microsoft.com/office/officeart/2005/8/layout/gear1"/>
    <dgm:cxn modelId="{37114ECD-6DA6-564A-8A16-E7FA442EBD2D}" type="presParOf" srcId="{E587A0D7-CF98-584F-9773-D2B75A1FEBB9}" destId="{A281BC6E-3695-F844-9C66-533BCD8C27A1}" srcOrd="10" destOrd="0" presId="urn:microsoft.com/office/officeart/2005/8/layout/gear1"/>
    <dgm:cxn modelId="{EFCA619A-9B84-B44E-81E8-A1208B01E950}" type="presParOf" srcId="{E587A0D7-CF98-584F-9773-D2B75A1FEBB9}" destId="{AF348783-81E3-B44B-BBA4-B09131FF66ED}" srcOrd="11" destOrd="0" presId="urn:microsoft.com/office/officeart/2005/8/layout/gear1"/>
    <dgm:cxn modelId="{97387546-EB06-F642-A9EA-8304A5EF09C0}" type="presParOf" srcId="{E587A0D7-CF98-584F-9773-D2B75A1FEBB9}" destId="{B6CDBF4B-ED5F-FF47-99B1-7336FC4FA6FA}"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1C3B70-5A54-2B4F-BE63-FD7A1B4207D5}" type="doc">
      <dgm:prSet loTypeId="urn:microsoft.com/office/officeart/2005/8/layout/vList5" loCatId="" qsTypeId="urn:microsoft.com/office/officeart/2005/8/quickstyle/simple1" qsCatId="simple" csTypeId="urn:microsoft.com/office/officeart/2005/8/colors/accent1_2" csCatId="accent1" phldr="1"/>
      <dgm:spPr/>
      <dgm:t>
        <a:bodyPr/>
        <a:lstStyle/>
        <a:p>
          <a:endParaRPr lang="en-US"/>
        </a:p>
      </dgm:t>
    </dgm:pt>
    <dgm:pt modelId="{30257B0A-91B6-4345-91EC-05DD206CC9CE}">
      <dgm:prSet phldrT="[Text]" custT="1"/>
      <dgm:spPr>
        <a:solidFill>
          <a:srgbClr val="92D050"/>
        </a:solidFill>
      </dgm:spPr>
      <dgm:t>
        <a:bodyPr/>
        <a:lstStyle/>
        <a:p>
          <a:r>
            <a:rPr lang="en-US" sz="1800" dirty="0"/>
            <a:t>Understand Lineage of Data</a:t>
          </a:r>
        </a:p>
      </dgm:t>
    </dgm:pt>
    <dgm:pt modelId="{E42E14E4-47A2-504F-95CC-53DFCA6EED81}" type="parTrans" cxnId="{F2B4801F-9249-444A-84BB-B53072F6A7DF}">
      <dgm:prSet/>
      <dgm:spPr/>
      <dgm:t>
        <a:bodyPr/>
        <a:lstStyle/>
        <a:p>
          <a:endParaRPr lang="en-US"/>
        </a:p>
      </dgm:t>
    </dgm:pt>
    <dgm:pt modelId="{142A82BE-3209-A444-A84B-9ED6E6688627}" type="sibTrans" cxnId="{F2B4801F-9249-444A-84BB-B53072F6A7DF}">
      <dgm:prSet/>
      <dgm:spPr/>
      <dgm:t>
        <a:bodyPr/>
        <a:lstStyle/>
        <a:p>
          <a:endParaRPr lang="en-US"/>
        </a:p>
      </dgm:t>
    </dgm:pt>
    <dgm:pt modelId="{8392573B-DD0F-1947-85FD-0A8524D9523E}">
      <dgm:prSet phldrT="[Text]" custT="1"/>
      <dgm:spPr>
        <a:solidFill>
          <a:srgbClr val="FFC000">
            <a:alpha val="90000"/>
          </a:srgbClr>
        </a:solidFill>
      </dgm:spPr>
      <dgm:t>
        <a:bodyPr/>
        <a:lstStyle/>
        <a:p>
          <a:r>
            <a:rPr lang="en-US" sz="2000" i="1" dirty="0"/>
            <a:t>to ascertain the quality of the data based on its origin and subsequent transformation</a:t>
          </a:r>
          <a:endParaRPr lang="en-US" sz="2000" dirty="0"/>
        </a:p>
      </dgm:t>
    </dgm:pt>
    <dgm:pt modelId="{90962401-12E2-194B-8F3B-8605C349A91C}" type="parTrans" cxnId="{550815FB-AC75-2143-9357-8C5A66759252}">
      <dgm:prSet/>
      <dgm:spPr/>
      <dgm:t>
        <a:bodyPr/>
        <a:lstStyle/>
        <a:p>
          <a:endParaRPr lang="en-US"/>
        </a:p>
      </dgm:t>
    </dgm:pt>
    <dgm:pt modelId="{85F9A710-08B3-7243-9E78-AC3F67BC4B91}" type="sibTrans" cxnId="{550815FB-AC75-2143-9357-8C5A66759252}">
      <dgm:prSet/>
      <dgm:spPr/>
      <dgm:t>
        <a:bodyPr/>
        <a:lstStyle/>
        <a:p>
          <a:endParaRPr lang="en-US"/>
        </a:p>
      </dgm:t>
    </dgm:pt>
    <dgm:pt modelId="{8B66C665-5B85-DC43-AADB-B38982727CBA}">
      <dgm:prSet phldrT="[Text]" custT="1"/>
      <dgm:spPr>
        <a:solidFill>
          <a:srgbClr val="92D050"/>
        </a:solidFill>
      </dgm:spPr>
      <dgm:t>
        <a:bodyPr/>
        <a:lstStyle/>
        <a:p>
          <a:r>
            <a:rPr lang="en-US" sz="1800" dirty="0"/>
            <a:t>Ensure Data Quality</a:t>
          </a:r>
        </a:p>
      </dgm:t>
    </dgm:pt>
    <dgm:pt modelId="{6711A965-C54F-3044-8F49-91B6D6041FFF}" type="parTrans" cxnId="{7A857A6A-F069-5F40-8FB3-500C2DC673F9}">
      <dgm:prSet/>
      <dgm:spPr/>
      <dgm:t>
        <a:bodyPr/>
        <a:lstStyle/>
        <a:p>
          <a:endParaRPr lang="en-US"/>
        </a:p>
      </dgm:t>
    </dgm:pt>
    <dgm:pt modelId="{FE862A05-3B69-3A4A-B0CA-A9E3EAF67817}" type="sibTrans" cxnId="{7A857A6A-F069-5F40-8FB3-500C2DC673F9}">
      <dgm:prSet/>
      <dgm:spPr/>
      <dgm:t>
        <a:bodyPr/>
        <a:lstStyle/>
        <a:p>
          <a:endParaRPr lang="en-US"/>
        </a:p>
      </dgm:t>
    </dgm:pt>
    <dgm:pt modelId="{F53EA668-184E-9248-B9E4-609FC2565DDA}">
      <dgm:prSet phldrT="[Text]" custT="1"/>
      <dgm:spPr>
        <a:solidFill>
          <a:srgbClr val="FFC000">
            <a:alpha val="90000"/>
          </a:srgbClr>
        </a:solidFill>
      </dgm:spPr>
      <dgm:t>
        <a:bodyPr/>
        <a:lstStyle/>
        <a:p>
          <a:r>
            <a:rPr lang="en-US" sz="1600" i="1" dirty="0"/>
            <a:t>Accuracy</a:t>
          </a:r>
        </a:p>
      </dgm:t>
    </dgm:pt>
    <dgm:pt modelId="{5BAEB75F-F213-1E42-AB3C-5BE225EA2688}" type="parTrans" cxnId="{525331B5-E8B8-8D4E-B1E2-CC9AB1742125}">
      <dgm:prSet/>
      <dgm:spPr/>
      <dgm:t>
        <a:bodyPr/>
        <a:lstStyle/>
        <a:p>
          <a:endParaRPr lang="en-US"/>
        </a:p>
      </dgm:t>
    </dgm:pt>
    <dgm:pt modelId="{7A2F1EA7-3079-6342-9407-F1E331E9C8AC}" type="sibTrans" cxnId="{525331B5-E8B8-8D4E-B1E2-CC9AB1742125}">
      <dgm:prSet/>
      <dgm:spPr/>
      <dgm:t>
        <a:bodyPr/>
        <a:lstStyle/>
        <a:p>
          <a:endParaRPr lang="en-US"/>
        </a:p>
      </dgm:t>
    </dgm:pt>
    <dgm:pt modelId="{599B8DC3-156B-EE4E-B12F-421D6350BFBE}">
      <dgm:prSet phldrT="[Text]" custT="1"/>
      <dgm:spPr>
        <a:solidFill>
          <a:srgbClr val="92D050"/>
        </a:solidFill>
      </dgm:spPr>
      <dgm:t>
        <a:bodyPr/>
        <a:lstStyle/>
        <a:p>
          <a:r>
            <a:rPr lang="en-US" sz="1800" i="1" dirty="0" err="1"/>
            <a:t>Minimising</a:t>
          </a:r>
          <a:r>
            <a:rPr lang="en-US" sz="1800" i="1" dirty="0"/>
            <a:t> inherent bias</a:t>
          </a:r>
          <a:endParaRPr lang="en-US" sz="1800" dirty="0"/>
        </a:p>
      </dgm:t>
    </dgm:pt>
    <dgm:pt modelId="{F91FBF70-50BA-CA44-8091-8B5F16BF16D0}" type="parTrans" cxnId="{17EBDA77-9A17-BC44-ABE5-3F70526BAA8D}">
      <dgm:prSet/>
      <dgm:spPr/>
      <dgm:t>
        <a:bodyPr/>
        <a:lstStyle/>
        <a:p>
          <a:endParaRPr lang="en-US"/>
        </a:p>
      </dgm:t>
    </dgm:pt>
    <dgm:pt modelId="{124D295A-5D84-C145-8C57-25A4E8EFD2EF}" type="sibTrans" cxnId="{17EBDA77-9A17-BC44-ABE5-3F70526BAA8D}">
      <dgm:prSet/>
      <dgm:spPr/>
      <dgm:t>
        <a:bodyPr/>
        <a:lstStyle/>
        <a:p>
          <a:endParaRPr lang="en-US"/>
        </a:p>
      </dgm:t>
    </dgm:pt>
    <dgm:pt modelId="{BECC98B9-CBB8-6349-B64F-190B74581ACF}">
      <dgm:prSet phldrT="[Text]" custT="1"/>
      <dgm:spPr>
        <a:solidFill>
          <a:srgbClr val="FFC000">
            <a:alpha val="90000"/>
          </a:srgbClr>
        </a:solidFill>
      </dgm:spPr>
      <dgm:t>
        <a:bodyPr/>
        <a:lstStyle/>
        <a:p>
          <a:r>
            <a:rPr lang="en-US" sz="1800" i="1" dirty="0"/>
            <a:t>Selection bias</a:t>
          </a:r>
        </a:p>
      </dgm:t>
    </dgm:pt>
    <dgm:pt modelId="{AF4E49ED-4B8E-9C46-9B23-4AFEF45ECCE0}" type="parTrans" cxnId="{E3F11C59-ED7D-7E42-A9FC-5F8E6D3859A6}">
      <dgm:prSet/>
      <dgm:spPr/>
      <dgm:t>
        <a:bodyPr/>
        <a:lstStyle/>
        <a:p>
          <a:endParaRPr lang="en-US"/>
        </a:p>
      </dgm:t>
    </dgm:pt>
    <dgm:pt modelId="{B1818231-3050-9049-AD8E-9C7860E44939}" type="sibTrans" cxnId="{E3F11C59-ED7D-7E42-A9FC-5F8E6D3859A6}">
      <dgm:prSet/>
      <dgm:spPr/>
      <dgm:t>
        <a:bodyPr/>
        <a:lstStyle/>
        <a:p>
          <a:endParaRPr lang="en-US"/>
        </a:p>
      </dgm:t>
    </dgm:pt>
    <dgm:pt modelId="{0DF39F37-3E10-384B-BE8E-0CD8FF3A55D8}">
      <dgm:prSet phldrT="[Text]" custT="1"/>
      <dgm:spPr>
        <a:solidFill>
          <a:srgbClr val="FFC000">
            <a:alpha val="90000"/>
          </a:srgbClr>
        </a:solidFill>
      </dgm:spPr>
      <dgm:t>
        <a:bodyPr/>
        <a:lstStyle/>
        <a:p>
          <a:r>
            <a:rPr lang="en-US" sz="1800" i="1" dirty="0"/>
            <a:t>Measurement bias	</a:t>
          </a:r>
          <a:r>
            <a:rPr lang="en-US" sz="2500" i="1" dirty="0"/>
            <a:t>			</a:t>
          </a:r>
        </a:p>
      </dgm:t>
    </dgm:pt>
    <dgm:pt modelId="{FC48EC7B-068B-9E49-A85E-0527D38A768A}" type="parTrans" cxnId="{DD73A41F-60D4-E84D-8171-8A024AED1AF8}">
      <dgm:prSet/>
      <dgm:spPr/>
      <dgm:t>
        <a:bodyPr/>
        <a:lstStyle/>
        <a:p>
          <a:endParaRPr lang="en-US"/>
        </a:p>
      </dgm:t>
    </dgm:pt>
    <dgm:pt modelId="{AFF58BC3-3310-AD45-968E-CCD2E06CD8A7}" type="sibTrans" cxnId="{DD73A41F-60D4-E84D-8171-8A024AED1AF8}">
      <dgm:prSet/>
      <dgm:spPr/>
      <dgm:t>
        <a:bodyPr/>
        <a:lstStyle/>
        <a:p>
          <a:endParaRPr lang="en-US"/>
        </a:p>
      </dgm:t>
    </dgm:pt>
    <dgm:pt modelId="{54C27260-3D1A-5D4C-A684-11C5AD4F67BB}">
      <dgm:prSet phldrT="[Text]" custT="1"/>
      <dgm:spPr>
        <a:solidFill>
          <a:srgbClr val="FFC000">
            <a:alpha val="90000"/>
          </a:srgbClr>
        </a:solidFill>
      </dgm:spPr>
      <dgm:t>
        <a:bodyPr/>
        <a:lstStyle/>
        <a:p>
          <a:r>
            <a:rPr lang="en-US" sz="1600" i="1" dirty="0"/>
            <a:t>Completeness</a:t>
          </a:r>
        </a:p>
      </dgm:t>
    </dgm:pt>
    <dgm:pt modelId="{D7CBE07E-E933-1245-A3C2-D49BDDB4CB98}" type="parTrans" cxnId="{AA8E729B-88BD-BA45-897B-A8C7C50B30D3}">
      <dgm:prSet/>
      <dgm:spPr/>
      <dgm:t>
        <a:bodyPr/>
        <a:lstStyle/>
        <a:p>
          <a:endParaRPr lang="en-US"/>
        </a:p>
      </dgm:t>
    </dgm:pt>
    <dgm:pt modelId="{F638FC6C-FC50-C844-B8AD-CFB58C884DF2}" type="sibTrans" cxnId="{AA8E729B-88BD-BA45-897B-A8C7C50B30D3}">
      <dgm:prSet/>
      <dgm:spPr/>
      <dgm:t>
        <a:bodyPr/>
        <a:lstStyle/>
        <a:p>
          <a:endParaRPr lang="en-US"/>
        </a:p>
      </dgm:t>
    </dgm:pt>
    <dgm:pt modelId="{82212E05-A032-D241-BAE5-623A7DA1AE65}">
      <dgm:prSet phldrT="[Text]" custT="1"/>
      <dgm:spPr>
        <a:solidFill>
          <a:srgbClr val="FFC000">
            <a:alpha val="90000"/>
          </a:srgbClr>
        </a:solidFill>
      </dgm:spPr>
      <dgm:t>
        <a:bodyPr/>
        <a:lstStyle/>
        <a:p>
          <a:r>
            <a:rPr lang="en-US" sz="1600" i="1" dirty="0"/>
            <a:t>Veracity of data</a:t>
          </a:r>
        </a:p>
      </dgm:t>
    </dgm:pt>
    <dgm:pt modelId="{0652A85B-6700-3948-9FE4-046FC529EC9D}" type="parTrans" cxnId="{4922703B-2581-8A4A-8AD3-1CACC205DB4A}">
      <dgm:prSet/>
      <dgm:spPr/>
      <dgm:t>
        <a:bodyPr/>
        <a:lstStyle/>
        <a:p>
          <a:endParaRPr lang="en-US"/>
        </a:p>
      </dgm:t>
    </dgm:pt>
    <dgm:pt modelId="{A77A87C6-1E99-0047-B748-7196CAABCD4B}" type="sibTrans" cxnId="{4922703B-2581-8A4A-8AD3-1CACC205DB4A}">
      <dgm:prSet/>
      <dgm:spPr/>
      <dgm:t>
        <a:bodyPr/>
        <a:lstStyle/>
        <a:p>
          <a:endParaRPr lang="en-US"/>
        </a:p>
      </dgm:t>
    </dgm:pt>
    <dgm:pt modelId="{EA62E5D6-38B5-CE41-AA3E-D2E8961BE0A2}">
      <dgm:prSet phldrT="[Text]" custT="1"/>
      <dgm:spPr>
        <a:solidFill>
          <a:srgbClr val="FFC000">
            <a:alpha val="90000"/>
          </a:srgbClr>
        </a:solidFill>
      </dgm:spPr>
      <dgm:t>
        <a:bodyPr/>
        <a:lstStyle/>
        <a:p>
          <a:r>
            <a:rPr lang="en-US" sz="1600" i="1" dirty="0"/>
            <a:t>Relevance </a:t>
          </a:r>
        </a:p>
      </dgm:t>
    </dgm:pt>
    <dgm:pt modelId="{8433ED3A-B4E7-CA4F-BBEE-793010AE5711}" type="parTrans" cxnId="{2B273A2C-88F3-CE44-8C6E-33D1480054AE}">
      <dgm:prSet/>
      <dgm:spPr/>
      <dgm:t>
        <a:bodyPr/>
        <a:lstStyle/>
        <a:p>
          <a:endParaRPr lang="en-US"/>
        </a:p>
      </dgm:t>
    </dgm:pt>
    <dgm:pt modelId="{C9FD78F5-8FF1-5D40-A135-5A82487839C5}" type="sibTrans" cxnId="{2B273A2C-88F3-CE44-8C6E-33D1480054AE}">
      <dgm:prSet/>
      <dgm:spPr/>
      <dgm:t>
        <a:bodyPr/>
        <a:lstStyle/>
        <a:p>
          <a:endParaRPr lang="en-US"/>
        </a:p>
      </dgm:t>
    </dgm:pt>
    <dgm:pt modelId="{1277BAC0-9946-394D-90B9-6188EBAE453B}">
      <dgm:prSet phldrT="[Text]" custT="1"/>
      <dgm:spPr>
        <a:solidFill>
          <a:srgbClr val="FFC000">
            <a:alpha val="90000"/>
          </a:srgbClr>
        </a:solidFill>
      </dgm:spPr>
      <dgm:t>
        <a:bodyPr/>
        <a:lstStyle/>
        <a:p>
          <a:r>
            <a:rPr lang="en-US" sz="1600" i="1" dirty="0"/>
            <a:t>Integrity </a:t>
          </a:r>
        </a:p>
      </dgm:t>
    </dgm:pt>
    <dgm:pt modelId="{AF3E8726-99FA-0B47-B023-8E1D9B4956B6}" type="parTrans" cxnId="{7F9AE198-D67B-C648-8E4D-1366FCD35CCF}">
      <dgm:prSet/>
      <dgm:spPr/>
      <dgm:t>
        <a:bodyPr/>
        <a:lstStyle/>
        <a:p>
          <a:endParaRPr lang="en-US"/>
        </a:p>
      </dgm:t>
    </dgm:pt>
    <dgm:pt modelId="{DB370825-8D09-584D-8D35-B192ECB0CACE}" type="sibTrans" cxnId="{7F9AE198-D67B-C648-8E4D-1366FCD35CCF}">
      <dgm:prSet/>
      <dgm:spPr/>
      <dgm:t>
        <a:bodyPr/>
        <a:lstStyle/>
        <a:p>
          <a:endParaRPr lang="en-US"/>
        </a:p>
      </dgm:t>
    </dgm:pt>
    <dgm:pt modelId="{2479E6EA-38F1-FB46-A540-3801C680AC99}">
      <dgm:prSet phldrT="[Text]" custT="1"/>
      <dgm:spPr>
        <a:solidFill>
          <a:srgbClr val="FFC000">
            <a:alpha val="90000"/>
          </a:srgbClr>
        </a:solidFill>
      </dgm:spPr>
      <dgm:t>
        <a:bodyPr/>
        <a:lstStyle/>
        <a:p>
          <a:r>
            <a:rPr lang="en-US" sz="2000" i="1" dirty="0"/>
            <a:t>Trace potential sources of errors</a:t>
          </a:r>
          <a:endParaRPr lang="en-US" sz="2000" dirty="0"/>
        </a:p>
      </dgm:t>
    </dgm:pt>
    <dgm:pt modelId="{79B06E7F-ECD5-EF45-A4A2-DE1D38447826}" type="parTrans" cxnId="{91105755-31D7-EB42-8D78-6DFD72F7D27E}">
      <dgm:prSet/>
      <dgm:spPr/>
      <dgm:t>
        <a:bodyPr/>
        <a:lstStyle/>
        <a:p>
          <a:endParaRPr lang="en-US"/>
        </a:p>
      </dgm:t>
    </dgm:pt>
    <dgm:pt modelId="{5E8F37E1-6D94-BD4A-AEDE-475F8D4046A3}" type="sibTrans" cxnId="{91105755-31D7-EB42-8D78-6DFD72F7D27E}">
      <dgm:prSet/>
      <dgm:spPr/>
      <dgm:t>
        <a:bodyPr/>
        <a:lstStyle/>
        <a:p>
          <a:endParaRPr lang="en-US"/>
        </a:p>
      </dgm:t>
    </dgm:pt>
    <dgm:pt modelId="{5ADA064D-0380-E149-A52A-3CD3189E979D}" type="pres">
      <dgm:prSet presAssocID="{571C3B70-5A54-2B4F-BE63-FD7A1B4207D5}" presName="Name0" presStyleCnt="0">
        <dgm:presLayoutVars>
          <dgm:dir/>
          <dgm:animLvl val="lvl"/>
          <dgm:resizeHandles val="exact"/>
        </dgm:presLayoutVars>
      </dgm:prSet>
      <dgm:spPr/>
    </dgm:pt>
    <dgm:pt modelId="{A2FD84BB-B2DE-8744-8138-205B5AA2871F}" type="pres">
      <dgm:prSet presAssocID="{30257B0A-91B6-4345-91EC-05DD206CC9CE}" presName="linNode" presStyleCnt="0"/>
      <dgm:spPr/>
    </dgm:pt>
    <dgm:pt modelId="{78B97C07-407A-9849-A5DB-A3A8912E5ADE}" type="pres">
      <dgm:prSet presAssocID="{30257B0A-91B6-4345-91EC-05DD206CC9CE}" presName="parentText" presStyleLbl="node1" presStyleIdx="0" presStyleCnt="3">
        <dgm:presLayoutVars>
          <dgm:chMax val="1"/>
          <dgm:bulletEnabled val="1"/>
        </dgm:presLayoutVars>
      </dgm:prSet>
      <dgm:spPr/>
    </dgm:pt>
    <dgm:pt modelId="{34B5B59B-06D5-5747-B153-14E327158B5D}" type="pres">
      <dgm:prSet presAssocID="{30257B0A-91B6-4345-91EC-05DD206CC9CE}" presName="descendantText" presStyleLbl="alignAccFollowNode1" presStyleIdx="0" presStyleCnt="3">
        <dgm:presLayoutVars>
          <dgm:bulletEnabled val="1"/>
        </dgm:presLayoutVars>
      </dgm:prSet>
      <dgm:spPr/>
    </dgm:pt>
    <dgm:pt modelId="{1D75D6D2-3509-8F43-B4F4-78C2C273DCDB}" type="pres">
      <dgm:prSet presAssocID="{142A82BE-3209-A444-A84B-9ED6E6688627}" presName="sp" presStyleCnt="0"/>
      <dgm:spPr/>
    </dgm:pt>
    <dgm:pt modelId="{515961F1-6408-5249-9EC8-F2CFF3532600}" type="pres">
      <dgm:prSet presAssocID="{8B66C665-5B85-DC43-AADB-B38982727CBA}" presName="linNode" presStyleCnt="0"/>
      <dgm:spPr/>
    </dgm:pt>
    <dgm:pt modelId="{CC5B3843-FA0C-DA4C-AEB0-5F0C99247B8C}" type="pres">
      <dgm:prSet presAssocID="{8B66C665-5B85-DC43-AADB-B38982727CBA}" presName="parentText" presStyleLbl="node1" presStyleIdx="1" presStyleCnt="3">
        <dgm:presLayoutVars>
          <dgm:chMax val="1"/>
          <dgm:bulletEnabled val="1"/>
        </dgm:presLayoutVars>
      </dgm:prSet>
      <dgm:spPr/>
    </dgm:pt>
    <dgm:pt modelId="{3B610826-6EC0-6C49-8760-1765CA568B6E}" type="pres">
      <dgm:prSet presAssocID="{8B66C665-5B85-DC43-AADB-B38982727CBA}" presName="descendantText" presStyleLbl="alignAccFollowNode1" presStyleIdx="1" presStyleCnt="3">
        <dgm:presLayoutVars>
          <dgm:bulletEnabled val="1"/>
        </dgm:presLayoutVars>
      </dgm:prSet>
      <dgm:spPr/>
    </dgm:pt>
    <dgm:pt modelId="{27BBA38E-DA1C-9946-A703-07215156D801}" type="pres">
      <dgm:prSet presAssocID="{FE862A05-3B69-3A4A-B0CA-A9E3EAF67817}" presName="sp" presStyleCnt="0"/>
      <dgm:spPr/>
    </dgm:pt>
    <dgm:pt modelId="{C728D11C-14ED-8B4B-A946-1DCE17F2840F}" type="pres">
      <dgm:prSet presAssocID="{599B8DC3-156B-EE4E-B12F-421D6350BFBE}" presName="linNode" presStyleCnt="0"/>
      <dgm:spPr/>
    </dgm:pt>
    <dgm:pt modelId="{3D1CD0F7-0884-854E-806C-5495F388B82F}" type="pres">
      <dgm:prSet presAssocID="{599B8DC3-156B-EE4E-B12F-421D6350BFBE}" presName="parentText" presStyleLbl="node1" presStyleIdx="2" presStyleCnt="3">
        <dgm:presLayoutVars>
          <dgm:chMax val="1"/>
          <dgm:bulletEnabled val="1"/>
        </dgm:presLayoutVars>
      </dgm:prSet>
      <dgm:spPr/>
    </dgm:pt>
    <dgm:pt modelId="{A9AEE7FD-994F-AE4A-8DD0-56FB701663D5}" type="pres">
      <dgm:prSet presAssocID="{599B8DC3-156B-EE4E-B12F-421D6350BFBE}" presName="descendantText" presStyleLbl="alignAccFollowNode1" presStyleIdx="2" presStyleCnt="3">
        <dgm:presLayoutVars>
          <dgm:bulletEnabled val="1"/>
        </dgm:presLayoutVars>
      </dgm:prSet>
      <dgm:spPr/>
    </dgm:pt>
  </dgm:ptLst>
  <dgm:cxnLst>
    <dgm:cxn modelId="{81EB2310-163F-E241-BA5B-080A0E4B09EB}" type="presOf" srcId="{8B66C665-5B85-DC43-AADB-B38982727CBA}" destId="{CC5B3843-FA0C-DA4C-AEB0-5F0C99247B8C}" srcOrd="0" destOrd="0" presId="urn:microsoft.com/office/officeart/2005/8/layout/vList5"/>
    <dgm:cxn modelId="{9328E714-FB60-C04E-850C-95436856314C}" type="presOf" srcId="{F53EA668-184E-9248-B9E4-609FC2565DDA}" destId="{3B610826-6EC0-6C49-8760-1765CA568B6E}" srcOrd="0" destOrd="0" presId="urn:microsoft.com/office/officeart/2005/8/layout/vList5"/>
    <dgm:cxn modelId="{CA436815-D77F-AF49-B241-6BC4CA115102}" type="presOf" srcId="{BECC98B9-CBB8-6349-B64F-190B74581ACF}" destId="{A9AEE7FD-994F-AE4A-8DD0-56FB701663D5}" srcOrd="0" destOrd="0" presId="urn:microsoft.com/office/officeart/2005/8/layout/vList5"/>
    <dgm:cxn modelId="{F2B4801F-9249-444A-84BB-B53072F6A7DF}" srcId="{571C3B70-5A54-2B4F-BE63-FD7A1B4207D5}" destId="{30257B0A-91B6-4345-91EC-05DD206CC9CE}" srcOrd="0" destOrd="0" parTransId="{E42E14E4-47A2-504F-95CC-53DFCA6EED81}" sibTransId="{142A82BE-3209-A444-A84B-9ED6E6688627}"/>
    <dgm:cxn modelId="{DD73A41F-60D4-E84D-8171-8A024AED1AF8}" srcId="{599B8DC3-156B-EE4E-B12F-421D6350BFBE}" destId="{0DF39F37-3E10-384B-BE8E-0CD8FF3A55D8}" srcOrd="1" destOrd="0" parTransId="{FC48EC7B-068B-9E49-A85E-0527D38A768A}" sibTransId="{AFF58BC3-3310-AD45-968E-CCD2E06CD8A7}"/>
    <dgm:cxn modelId="{2B273A2C-88F3-CE44-8C6E-33D1480054AE}" srcId="{8B66C665-5B85-DC43-AADB-B38982727CBA}" destId="{EA62E5D6-38B5-CE41-AA3E-D2E8961BE0A2}" srcOrd="3" destOrd="0" parTransId="{8433ED3A-B4E7-CA4F-BBEE-793010AE5711}" sibTransId="{C9FD78F5-8FF1-5D40-A135-5A82487839C5}"/>
    <dgm:cxn modelId="{87A9B233-AA1E-5B49-8C05-C15AFBC8BF50}" type="presOf" srcId="{1277BAC0-9946-394D-90B9-6188EBAE453B}" destId="{3B610826-6EC0-6C49-8760-1765CA568B6E}" srcOrd="0" destOrd="4" presId="urn:microsoft.com/office/officeart/2005/8/layout/vList5"/>
    <dgm:cxn modelId="{4922703B-2581-8A4A-8AD3-1CACC205DB4A}" srcId="{8B66C665-5B85-DC43-AADB-B38982727CBA}" destId="{82212E05-A032-D241-BAE5-623A7DA1AE65}" srcOrd="2" destOrd="0" parTransId="{0652A85B-6700-3948-9FE4-046FC529EC9D}" sibTransId="{A77A87C6-1E99-0047-B748-7196CAABCD4B}"/>
    <dgm:cxn modelId="{E0878B65-628D-7343-B400-CB7C654E0CA8}" type="presOf" srcId="{82212E05-A032-D241-BAE5-623A7DA1AE65}" destId="{3B610826-6EC0-6C49-8760-1765CA568B6E}" srcOrd="0" destOrd="2" presId="urn:microsoft.com/office/officeart/2005/8/layout/vList5"/>
    <dgm:cxn modelId="{7A857A6A-F069-5F40-8FB3-500C2DC673F9}" srcId="{571C3B70-5A54-2B4F-BE63-FD7A1B4207D5}" destId="{8B66C665-5B85-DC43-AADB-B38982727CBA}" srcOrd="1" destOrd="0" parTransId="{6711A965-C54F-3044-8F49-91B6D6041FFF}" sibTransId="{FE862A05-3B69-3A4A-B0CA-A9E3EAF67817}"/>
    <dgm:cxn modelId="{91105755-31D7-EB42-8D78-6DFD72F7D27E}" srcId="{30257B0A-91B6-4345-91EC-05DD206CC9CE}" destId="{2479E6EA-38F1-FB46-A540-3801C680AC99}" srcOrd="1" destOrd="0" parTransId="{79B06E7F-ECD5-EF45-A4A2-DE1D38447826}" sibTransId="{5E8F37E1-6D94-BD4A-AEDE-475F8D4046A3}"/>
    <dgm:cxn modelId="{FECA9057-EEEB-D944-8C07-C1BDBAE7685E}" type="presOf" srcId="{571C3B70-5A54-2B4F-BE63-FD7A1B4207D5}" destId="{5ADA064D-0380-E149-A52A-3CD3189E979D}" srcOrd="0" destOrd="0" presId="urn:microsoft.com/office/officeart/2005/8/layout/vList5"/>
    <dgm:cxn modelId="{17EBDA77-9A17-BC44-ABE5-3F70526BAA8D}" srcId="{571C3B70-5A54-2B4F-BE63-FD7A1B4207D5}" destId="{599B8DC3-156B-EE4E-B12F-421D6350BFBE}" srcOrd="2" destOrd="0" parTransId="{F91FBF70-50BA-CA44-8091-8B5F16BF16D0}" sibTransId="{124D295A-5D84-C145-8C57-25A4E8EFD2EF}"/>
    <dgm:cxn modelId="{E3F11C59-ED7D-7E42-A9FC-5F8E6D3859A6}" srcId="{599B8DC3-156B-EE4E-B12F-421D6350BFBE}" destId="{BECC98B9-CBB8-6349-B64F-190B74581ACF}" srcOrd="0" destOrd="0" parTransId="{AF4E49ED-4B8E-9C46-9B23-4AFEF45ECCE0}" sibTransId="{B1818231-3050-9049-AD8E-9C7860E44939}"/>
    <dgm:cxn modelId="{EDF7AC5A-DFDE-EE44-BCB4-9934B8588E6C}" type="presOf" srcId="{EA62E5D6-38B5-CE41-AA3E-D2E8961BE0A2}" destId="{3B610826-6EC0-6C49-8760-1765CA568B6E}" srcOrd="0" destOrd="3" presId="urn:microsoft.com/office/officeart/2005/8/layout/vList5"/>
    <dgm:cxn modelId="{F0EC627B-2D48-8F4D-A7D9-CCB571A3D10C}" type="presOf" srcId="{8392573B-DD0F-1947-85FD-0A8524D9523E}" destId="{34B5B59B-06D5-5747-B153-14E327158B5D}" srcOrd="0" destOrd="0" presId="urn:microsoft.com/office/officeart/2005/8/layout/vList5"/>
    <dgm:cxn modelId="{ADA58893-7C14-8E4E-AAC9-24EC7F442E30}" type="presOf" srcId="{2479E6EA-38F1-FB46-A540-3801C680AC99}" destId="{34B5B59B-06D5-5747-B153-14E327158B5D}" srcOrd="0" destOrd="1" presId="urn:microsoft.com/office/officeart/2005/8/layout/vList5"/>
    <dgm:cxn modelId="{7F9AE198-D67B-C648-8E4D-1366FCD35CCF}" srcId="{8B66C665-5B85-DC43-AADB-B38982727CBA}" destId="{1277BAC0-9946-394D-90B9-6188EBAE453B}" srcOrd="4" destOrd="0" parTransId="{AF3E8726-99FA-0B47-B023-8E1D9B4956B6}" sibTransId="{DB370825-8D09-584D-8D35-B192ECB0CACE}"/>
    <dgm:cxn modelId="{AA8E729B-88BD-BA45-897B-A8C7C50B30D3}" srcId="{8B66C665-5B85-DC43-AADB-B38982727CBA}" destId="{54C27260-3D1A-5D4C-A684-11C5AD4F67BB}" srcOrd="1" destOrd="0" parTransId="{D7CBE07E-E933-1245-A3C2-D49BDDB4CB98}" sibTransId="{F638FC6C-FC50-C844-B8AD-CFB58C884DF2}"/>
    <dgm:cxn modelId="{4471F19C-127B-F549-B17C-76681DD9C1D6}" type="presOf" srcId="{54C27260-3D1A-5D4C-A684-11C5AD4F67BB}" destId="{3B610826-6EC0-6C49-8760-1765CA568B6E}" srcOrd="0" destOrd="1" presId="urn:microsoft.com/office/officeart/2005/8/layout/vList5"/>
    <dgm:cxn modelId="{525331B5-E8B8-8D4E-B1E2-CC9AB1742125}" srcId="{8B66C665-5B85-DC43-AADB-B38982727CBA}" destId="{F53EA668-184E-9248-B9E4-609FC2565DDA}" srcOrd="0" destOrd="0" parTransId="{5BAEB75F-F213-1E42-AB3C-5BE225EA2688}" sibTransId="{7A2F1EA7-3079-6342-9407-F1E331E9C8AC}"/>
    <dgm:cxn modelId="{64D489CA-09D0-BB41-9705-6A5B14A2D116}" type="presOf" srcId="{599B8DC3-156B-EE4E-B12F-421D6350BFBE}" destId="{3D1CD0F7-0884-854E-806C-5495F388B82F}" srcOrd="0" destOrd="0" presId="urn:microsoft.com/office/officeart/2005/8/layout/vList5"/>
    <dgm:cxn modelId="{BF4026D8-038A-9145-8BA7-CE8603C91177}" type="presOf" srcId="{30257B0A-91B6-4345-91EC-05DD206CC9CE}" destId="{78B97C07-407A-9849-A5DB-A3A8912E5ADE}" srcOrd="0" destOrd="0" presId="urn:microsoft.com/office/officeart/2005/8/layout/vList5"/>
    <dgm:cxn modelId="{442A93F6-E4C3-D249-8B0D-52385C0DECDC}" type="presOf" srcId="{0DF39F37-3E10-384B-BE8E-0CD8FF3A55D8}" destId="{A9AEE7FD-994F-AE4A-8DD0-56FB701663D5}" srcOrd="0" destOrd="1" presId="urn:microsoft.com/office/officeart/2005/8/layout/vList5"/>
    <dgm:cxn modelId="{550815FB-AC75-2143-9357-8C5A66759252}" srcId="{30257B0A-91B6-4345-91EC-05DD206CC9CE}" destId="{8392573B-DD0F-1947-85FD-0A8524D9523E}" srcOrd="0" destOrd="0" parTransId="{90962401-12E2-194B-8F3B-8605C349A91C}" sibTransId="{85F9A710-08B3-7243-9E78-AC3F67BC4B91}"/>
    <dgm:cxn modelId="{D0C4DCEA-C147-B846-B890-F9B07A62BF76}" type="presParOf" srcId="{5ADA064D-0380-E149-A52A-3CD3189E979D}" destId="{A2FD84BB-B2DE-8744-8138-205B5AA2871F}" srcOrd="0" destOrd="0" presId="urn:microsoft.com/office/officeart/2005/8/layout/vList5"/>
    <dgm:cxn modelId="{67773AAE-81F5-8F49-8221-38FB472FCF7F}" type="presParOf" srcId="{A2FD84BB-B2DE-8744-8138-205B5AA2871F}" destId="{78B97C07-407A-9849-A5DB-A3A8912E5ADE}" srcOrd="0" destOrd="0" presId="urn:microsoft.com/office/officeart/2005/8/layout/vList5"/>
    <dgm:cxn modelId="{EA1696D0-F8EC-2C40-AF26-7EA28AC20C0C}" type="presParOf" srcId="{A2FD84BB-B2DE-8744-8138-205B5AA2871F}" destId="{34B5B59B-06D5-5747-B153-14E327158B5D}" srcOrd="1" destOrd="0" presId="urn:microsoft.com/office/officeart/2005/8/layout/vList5"/>
    <dgm:cxn modelId="{963821FB-03EF-E141-95E8-5BCC60F16187}" type="presParOf" srcId="{5ADA064D-0380-E149-A52A-3CD3189E979D}" destId="{1D75D6D2-3509-8F43-B4F4-78C2C273DCDB}" srcOrd="1" destOrd="0" presId="urn:microsoft.com/office/officeart/2005/8/layout/vList5"/>
    <dgm:cxn modelId="{5FB0DFEE-88E3-F847-A8B1-BF7E78135074}" type="presParOf" srcId="{5ADA064D-0380-E149-A52A-3CD3189E979D}" destId="{515961F1-6408-5249-9EC8-F2CFF3532600}" srcOrd="2" destOrd="0" presId="urn:microsoft.com/office/officeart/2005/8/layout/vList5"/>
    <dgm:cxn modelId="{33DF45F8-EFE5-4446-B69C-E5C9A167C944}" type="presParOf" srcId="{515961F1-6408-5249-9EC8-F2CFF3532600}" destId="{CC5B3843-FA0C-DA4C-AEB0-5F0C99247B8C}" srcOrd="0" destOrd="0" presId="urn:microsoft.com/office/officeart/2005/8/layout/vList5"/>
    <dgm:cxn modelId="{218EA47E-2D52-9943-B326-11635BF46DB3}" type="presParOf" srcId="{515961F1-6408-5249-9EC8-F2CFF3532600}" destId="{3B610826-6EC0-6C49-8760-1765CA568B6E}" srcOrd="1" destOrd="0" presId="urn:microsoft.com/office/officeart/2005/8/layout/vList5"/>
    <dgm:cxn modelId="{4660E5EE-9E25-8345-89C1-AE6A5C0EBD81}" type="presParOf" srcId="{5ADA064D-0380-E149-A52A-3CD3189E979D}" destId="{27BBA38E-DA1C-9946-A703-07215156D801}" srcOrd="3" destOrd="0" presId="urn:microsoft.com/office/officeart/2005/8/layout/vList5"/>
    <dgm:cxn modelId="{C9FF7052-F87E-E84E-B7B3-A91B380F3CCF}" type="presParOf" srcId="{5ADA064D-0380-E149-A52A-3CD3189E979D}" destId="{C728D11C-14ED-8B4B-A946-1DCE17F2840F}" srcOrd="4" destOrd="0" presId="urn:microsoft.com/office/officeart/2005/8/layout/vList5"/>
    <dgm:cxn modelId="{EA792D22-6D1D-224B-A34F-F390FA6D43E9}" type="presParOf" srcId="{C728D11C-14ED-8B4B-A946-1DCE17F2840F}" destId="{3D1CD0F7-0884-854E-806C-5495F388B82F}" srcOrd="0" destOrd="0" presId="urn:microsoft.com/office/officeart/2005/8/layout/vList5"/>
    <dgm:cxn modelId="{A9895EC9-B76E-5447-9266-DCB7AD9C21D0}" type="presParOf" srcId="{C728D11C-14ED-8B4B-A946-1DCE17F2840F}" destId="{A9AEE7FD-994F-AE4A-8DD0-56FB701663D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3F68AA-E37D-3845-B9D3-5E8AC08BE867}" type="doc">
      <dgm:prSet loTypeId="urn:microsoft.com/office/officeart/2005/8/layout/radial1" loCatId="" qsTypeId="urn:microsoft.com/office/officeart/2005/8/quickstyle/simple1" qsCatId="simple" csTypeId="urn:microsoft.com/office/officeart/2005/8/colors/colorful1" csCatId="colorful" phldr="1"/>
      <dgm:spPr/>
      <dgm:t>
        <a:bodyPr/>
        <a:lstStyle/>
        <a:p>
          <a:endParaRPr lang="en-US"/>
        </a:p>
      </dgm:t>
    </dgm:pt>
    <dgm:pt modelId="{D4BF002C-94B4-7049-BDB2-45DE5E817AB2}">
      <dgm:prSet phldrT="[Text]"/>
      <dgm:spPr/>
      <dgm:t>
        <a:bodyPr/>
        <a:lstStyle/>
        <a:p>
          <a:r>
            <a:rPr lang="en-US" dirty="0"/>
            <a:t>Information Need</a:t>
          </a:r>
        </a:p>
      </dgm:t>
    </dgm:pt>
    <dgm:pt modelId="{0D5D9A30-D93A-E54F-A9CD-90F637E24318}" type="parTrans" cxnId="{827505C9-5D10-AE41-92B9-DFB3DB4355E5}">
      <dgm:prSet/>
      <dgm:spPr/>
      <dgm:t>
        <a:bodyPr/>
        <a:lstStyle/>
        <a:p>
          <a:endParaRPr lang="en-US"/>
        </a:p>
      </dgm:t>
    </dgm:pt>
    <dgm:pt modelId="{8CB31700-9D79-F141-BB17-BB036F719772}" type="sibTrans" cxnId="{827505C9-5D10-AE41-92B9-DFB3DB4355E5}">
      <dgm:prSet/>
      <dgm:spPr/>
      <dgm:t>
        <a:bodyPr/>
        <a:lstStyle/>
        <a:p>
          <a:endParaRPr lang="en-US"/>
        </a:p>
      </dgm:t>
    </dgm:pt>
    <dgm:pt modelId="{A9BCBFAA-F493-C44B-A465-A9C35F2E9B4A}">
      <dgm:prSet phldrT="[Text]"/>
      <dgm:spPr/>
      <dgm:t>
        <a:bodyPr/>
        <a:lstStyle/>
        <a:p>
          <a:r>
            <a:rPr lang="en-US" dirty="0"/>
            <a:t>Audience</a:t>
          </a:r>
        </a:p>
      </dgm:t>
    </dgm:pt>
    <dgm:pt modelId="{3374EE2A-F5D6-EC49-8E43-D31A2FE4A516}" type="parTrans" cxnId="{2AFFEFE9-38AF-7542-B55D-5A7819FAD690}">
      <dgm:prSet/>
      <dgm:spPr/>
      <dgm:t>
        <a:bodyPr/>
        <a:lstStyle/>
        <a:p>
          <a:endParaRPr lang="en-US"/>
        </a:p>
      </dgm:t>
    </dgm:pt>
    <dgm:pt modelId="{560E1B99-DE7F-6641-A11E-8E0483DB401B}" type="sibTrans" cxnId="{2AFFEFE9-38AF-7542-B55D-5A7819FAD690}">
      <dgm:prSet/>
      <dgm:spPr/>
      <dgm:t>
        <a:bodyPr/>
        <a:lstStyle/>
        <a:p>
          <a:endParaRPr lang="en-US"/>
        </a:p>
      </dgm:t>
    </dgm:pt>
    <dgm:pt modelId="{BC845155-161C-554E-8D0C-D249CDE8B682}">
      <dgm:prSet phldrT="[Text]"/>
      <dgm:spPr/>
      <dgm:t>
        <a:bodyPr/>
        <a:lstStyle/>
        <a:p>
          <a:r>
            <a:rPr lang="en-US" dirty="0"/>
            <a:t>Context</a:t>
          </a:r>
        </a:p>
      </dgm:t>
    </dgm:pt>
    <dgm:pt modelId="{BFC8685E-117D-854A-BDEE-77783BD7C442}" type="parTrans" cxnId="{B387669C-B657-974E-BF0F-01839049F59B}">
      <dgm:prSet/>
      <dgm:spPr/>
      <dgm:t>
        <a:bodyPr/>
        <a:lstStyle/>
        <a:p>
          <a:endParaRPr lang="en-US"/>
        </a:p>
      </dgm:t>
    </dgm:pt>
    <dgm:pt modelId="{82D42819-51EB-C942-A285-6469D16BDCC2}" type="sibTrans" cxnId="{B387669C-B657-974E-BF0F-01839049F59B}">
      <dgm:prSet/>
      <dgm:spPr/>
      <dgm:t>
        <a:bodyPr/>
        <a:lstStyle/>
        <a:p>
          <a:endParaRPr lang="en-US"/>
        </a:p>
      </dgm:t>
    </dgm:pt>
    <dgm:pt modelId="{66BAE2A7-261D-A940-9BDC-39F3D259DA27}">
      <dgm:prSet phldrT="[Text]"/>
      <dgm:spPr/>
      <dgm:t>
        <a:bodyPr/>
        <a:lstStyle/>
        <a:p>
          <a:r>
            <a:rPr lang="en-US" dirty="0"/>
            <a:t>Purpose</a:t>
          </a:r>
        </a:p>
      </dgm:t>
    </dgm:pt>
    <dgm:pt modelId="{224F7DD7-4B5A-D84B-B5DA-6A631AAD0234}" type="parTrans" cxnId="{E17EDAED-374D-D84A-BDAE-84EAC5D58D8C}">
      <dgm:prSet/>
      <dgm:spPr/>
      <dgm:t>
        <a:bodyPr/>
        <a:lstStyle/>
        <a:p>
          <a:endParaRPr lang="en-US"/>
        </a:p>
      </dgm:t>
    </dgm:pt>
    <dgm:pt modelId="{E6B111C4-3DA8-5B46-908E-5CC8DC4B96F8}" type="sibTrans" cxnId="{E17EDAED-374D-D84A-BDAE-84EAC5D58D8C}">
      <dgm:prSet/>
      <dgm:spPr/>
      <dgm:t>
        <a:bodyPr/>
        <a:lstStyle/>
        <a:p>
          <a:endParaRPr lang="en-US"/>
        </a:p>
      </dgm:t>
    </dgm:pt>
    <dgm:pt modelId="{6C1A39F4-9F0E-E545-87D7-2CC787D3992E}" type="pres">
      <dgm:prSet presAssocID="{563F68AA-E37D-3845-B9D3-5E8AC08BE867}" presName="cycle" presStyleCnt="0">
        <dgm:presLayoutVars>
          <dgm:chMax val="1"/>
          <dgm:dir/>
          <dgm:animLvl val="ctr"/>
          <dgm:resizeHandles val="exact"/>
        </dgm:presLayoutVars>
      </dgm:prSet>
      <dgm:spPr/>
    </dgm:pt>
    <dgm:pt modelId="{63A8238A-A217-1545-9E70-0601DBEC6978}" type="pres">
      <dgm:prSet presAssocID="{D4BF002C-94B4-7049-BDB2-45DE5E817AB2}" presName="centerShape" presStyleLbl="node0" presStyleIdx="0" presStyleCnt="1"/>
      <dgm:spPr/>
    </dgm:pt>
    <dgm:pt modelId="{0284B630-0D2E-FE40-A0FA-0A9C4FE74C7A}" type="pres">
      <dgm:prSet presAssocID="{3374EE2A-F5D6-EC49-8E43-D31A2FE4A516}" presName="Name9" presStyleLbl="parChTrans1D2" presStyleIdx="0" presStyleCnt="3"/>
      <dgm:spPr/>
    </dgm:pt>
    <dgm:pt modelId="{8C8C35E5-AD65-594E-892C-F2F96FC11B0F}" type="pres">
      <dgm:prSet presAssocID="{3374EE2A-F5D6-EC49-8E43-D31A2FE4A516}" presName="connTx" presStyleLbl="parChTrans1D2" presStyleIdx="0" presStyleCnt="3"/>
      <dgm:spPr/>
    </dgm:pt>
    <dgm:pt modelId="{928C589F-11FC-CB44-9382-0D6B52A19DBF}" type="pres">
      <dgm:prSet presAssocID="{A9BCBFAA-F493-C44B-A465-A9C35F2E9B4A}" presName="node" presStyleLbl="node1" presStyleIdx="0" presStyleCnt="3">
        <dgm:presLayoutVars>
          <dgm:bulletEnabled val="1"/>
        </dgm:presLayoutVars>
      </dgm:prSet>
      <dgm:spPr/>
    </dgm:pt>
    <dgm:pt modelId="{2D9F4241-5288-E44E-9E4C-04595F654DE4}" type="pres">
      <dgm:prSet presAssocID="{BFC8685E-117D-854A-BDEE-77783BD7C442}" presName="Name9" presStyleLbl="parChTrans1D2" presStyleIdx="1" presStyleCnt="3"/>
      <dgm:spPr/>
    </dgm:pt>
    <dgm:pt modelId="{E22C3C2F-8507-A641-A878-D94E456CB785}" type="pres">
      <dgm:prSet presAssocID="{BFC8685E-117D-854A-BDEE-77783BD7C442}" presName="connTx" presStyleLbl="parChTrans1D2" presStyleIdx="1" presStyleCnt="3"/>
      <dgm:spPr/>
    </dgm:pt>
    <dgm:pt modelId="{FA2FCABE-8C05-7447-84F6-933F30CB0BB8}" type="pres">
      <dgm:prSet presAssocID="{BC845155-161C-554E-8D0C-D249CDE8B682}" presName="node" presStyleLbl="node1" presStyleIdx="1" presStyleCnt="3">
        <dgm:presLayoutVars>
          <dgm:bulletEnabled val="1"/>
        </dgm:presLayoutVars>
      </dgm:prSet>
      <dgm:spPr/>
    </dgm:pt>
    <dgm:pt modelId="{D26B750F-F148-3D46-BF3F-5CF6F41743CF}" type="pres">
      <dgm:prSet presAssocID="{224F7DD7-4B5A-D84B-B5DA-6A631AAD0234}" presName="Name9" presStyleLbl="parChTrans1D2" presStyleIdx="2" presStyleCnt="3"/>
      <dgm:spPr/>
    </dgm:pt>
    <dgm:pt modelId="{BA0CDF06-A63E-0B49-8725-CF102407CDBD}" type="pres">
      <dgm:prSet presAssocID="{224F7DD7-4B5A-D84B-B5DA-6A631AAD0234}" presName="connTx" presStyleLbl="parChTrans1D2" presStyleIdx="2" presStyleCnt="3"/>
      <dgm:spPr/>
    </dgm:pt>
    <dgm:pt modelId="{01B5B8EB-E97F-6848-8A86-6349C9A6D872}" type="pres">
      <dgm:prSet presAssocID="{66BAE2A7-261D-A940-9BDC-39F3D259DA27}" presName="node" presStyleLbl="node1" presStyleIdx="2" presStyleCnt="3">
        <dgm:presLayoutVars>
          <dgm:bulletEnabled val="1"/>
        </dgm:presLayoutVars>
      </dgm:prSet>
      <dgm:spPr/>
    </dgm:pt>
  </dgm:ptLst>
  <dgm:cxnLst>
    <dgm:cxn modelId="{16EC3405-5894-D949-A1E0-4396533F9DDA}" type="presOf" srcId="{66BAE2A7-261D-A940-9BDC-39F3D259DA27}" destId="{01B5B8EB-E97F-6848-8A86-6349C9A6D872}" srcOrd="0" destOrd="0" presId="urn:microsoft.com/office/officeart/2005/8/layout/radial1"/>
    <dgm:cxn modelId="{DFB8E106-B29F-AA42-AD49-7EA056C18570}" type="presOf" srcId="{224F7DD7-4B5A-D84B-B5DA-6A631AAD0234}" destId="{D26B750F-F148-3D46-BF3F-5CF6F41743CF}" srcOrd="0" destOrd="0" presId="urn:microsoft.com/office/officeart/2005/8/layout/radial1"/>
    <dgm:cxn modelId="{2B2AD520-95DD-494B-A152-BD2C79622E78}" type="presOf" srcId="{A9BCBFAA-F493-C44B-A465-A9C35F2E9B4A}" destId="{928C589F-11FC-CB44-9382-0D6B52A19DBF}" srcOrd="0" destOrd="0" presId="urn:microsoft.com/office/officeart/2005/8/layout/radial1"/>
    <dgm:cxn modelId="{A9B8C929-01B5-7444-95F3-14C3636F55A0}" type="presOf" srcId="{3374EE2A-F5D6-EC49-8E43-D31A2FE4A516}" destId="{0284B630-0D2E-FE40-A0FA-0A9C4FE74C7A}" srcOrd="0" destOrd="0" presId="urn:microsoft.com/office/officeart/2005/8/layout/radial1"/>
    <dgm:cxn modelId="{D312DD2D-F9A2-494D-99D2-19BD3C578A77}" type="presOf" srcId="{BFC8685E-117D-854A-BDEE-77783BD7C442}" destId="{E22C3C2F-8507-A641-A878-D94E456CB785}" srcOrd="1" destOrd="0" presId="urn:microsoft.com/office/officeart/2005/8/layout/radial1"/>
    <dgm:cxn modelId="{9FDAC67D-BFF8-D144-924C-C0375476AF96}" type="presOf" srcId="{224F7DD7-4B5A-D84B-B5DA-6A631AAD0234}" destId="{BA0CDF06-A63E-0B49-8725-CF102407CDBD}" srcOrd="1" destOrd="0" presId="urn:microsoft.com/office/officeart/2005/8/layout/radial1"/>
    <dgm:cxn modelId="{F369BB83-76F6-C047-8536-1F64D56FBD61}" type="presOf" srcId="{563F68AA-E37D-3845-B9D3-5E8AC08BE867}" destId="{6C1A39F4-9F0E-E545-87D7-2CC787D3992E}" srcOrd="0" destOrd="0" presId="urn:microsoft.com/office/officeart/2005/8/layout/radial1"/>
    <dgm:cxn modelId="{B387669C-B657-974E-BF0F-01839049F59B}" srcId="{D4BF002C-94B4-7049-BDB2-45DE5E817AB2}" destId="{BC845155-161C-554E-8D0C-D249CDE8B682}" srcOrd="1" destOrd="0" parTransId="{BFC8685E-117D-854A-BDEE-77783BD7C442}" sibTransId="{82D42819-51EB-C942-A285-6469D16BDCC2}"/>
    <dgm:cxn modelId="{284D82A0-D66D-1745-A9E4-3F59609CBCD6}" type="presOf" srcId="{BFC8685E-117D-854A-BDEE-77783BD7C442}" destId="{2D9F4241-5288-E44E-9E4C-04595F654DE4}" srcOrd="0" destOrd="0" presId="urn:microsoft.com/office/officeart/2005/8/layout/radial1"/>
    <dgm:cxn modelId="{DA5A29A4-E172-724B-A75A-3BC01BD07E2B}" type="presOf" srcId="{3374EE2A-F5D6-EC49-8E43-D31A2FE4A516}" destId="{8C8C35E5-AD65-594E-892C-F2F96FC11B0F}" srcOrd="1" destOrd="0" presId="urn:microsoft.com/office/officeart/2005/8/layout/radial1"/>
    <dgm:cxn modelId="{7D4771B4-CD39-8849-B072-3B4655A69679}" type="presOf" srcId="{BC845155-161C-554E-8D0C-D249CDE8B682}" destId="{FA2FCABE-8C05-7447-84F6-933F30CB0BB8}" srcOrd="0" destOrd="0" presId="urn:microsoft.com/office/officeart/2005/8/layout/radial1"/>
    <dgm:cxn modelId="{827505C9-5D10-AE41-92B9-DFB3DB4355E5}" srcId="{563F68AA-E37D-3845-B9D3-5E8AC08BE867}" destId="{D4BF002C-94B4-7049-BDB2-45DE5E817AB2}" srcOrd="0" destOrd="0" parTransId="{0D5D9A30-D93A-E54F-A9CD-90F637E24318}" sibTransId="{8CB31700-9D79-F141-BB17-BB036F719772}"/>
    <dgm:cxn modelId="{E4A5B8D2-932A-3F4F-BB4B-E7DA897C0DBB}" type="presOf" srcId="{D4BF002C-94B4-7049-BDB2-45DE5E817AB2}" destId="{63A8238A-A217-1545-9E70-0601DBEC6978}" srcOrd="0" destOrd="0" presId="urn:microsoft.com/office/officeart/2005/8/layout/radial1"/>
    <dgm:cxn modelId="{2AFFEFE9-38AF-7542-B55D-5A7819FAD690}" srcId="{D4BF002C-94B4-7049-BDB2-45DE5E817AB2}" destId="{A9BCBFAA-F493-C44B-A465-A9C35F2E9B4A}" srcOrd="0" destOrd="0" parTransId="{3374EE2A-F5D6-EC49-8E43-D31A2FE4A516}" sibTransId="{560E1B99-DE7F-6641-A11E-8E0483DB401B}"/>
    <dgm:cxn modelId="{E17EDAED-374D-D84A-BDAE-84EAC5D58D8C}" srcId="{D4BF002C-94B4-7049-BDB2-45DE5E817AB2}" destId="{66BAE2A7-261D-A940-9BDC-39F3D259DA27}" srcOrd="2" destOrd="0" parTransId="{224F7DD7-4B5A-D84B-B5DA-6A631AAD0234}" sibTransId="{E6B111C4-3DA8-5B46-908E-5CC8DC4B96F8}"/>
    <dgm:cxn modelId="{D2E39DD5-4028-2D4D-B247-EE91ED30FFA5}" type="presParOf" srcId="{6C1A39F4-9F0E-E545-87D7-2CC787D3992E}" destId="{63A8238A-A217-1545-9E70-0601DBEC6978}" srcOrd="0" destOrd="0" presId="urn:microsoft.com/office/officeart/2005/8/layout/radial1"/>
    <dgm:cxn modelId="{A1689F6E-BBF1-F442-AB99-AD6B151E43F5}" type="presParOf" srcId="{6C1A39F4-9F0E-E545-87D7-2CC787D3992E}" destId="{0284B630-0D2E-FE40-A0FA-0A9C4FE74C7A}" srcOrd="1" destOrd="0" presId="urn:microsoft.com/office/officeart/2005/8/layout/radial1"/>
    <dgm:cxn modelId="{5954FC3D-C4C5-5044-ABEA-F69C88942915}" type="presParOf" srcId="{0284B630-0D2E-FE40-A0FA-0A9C4FE74C7A}" destId="{8C8C35E5-AD65-594E-892C-F2F96FC11B0F}" srcOrd="0" destOrd="0" presId="urn:microsoft.com/office/officeart/2005/8/layout/radial1"/>
    <dgm:cxn modelId="{61DE2E49-C46A-954A-81FC-8AC85CD2F8FF}" type="presParOf" srcId="{6C1A39F4-9F0E-E545-87D7-2CC787D3992E}" destId="{928C589F-11FC-CB44-9382-0D6B52A19DBF}" srcOrd="2" destOrd="0" presId="urn:microsoft.com/office/officeart/2005/8/layout/radial1"/>
    <dgm:cxn modelId="{22140057-59F8-DA46-B1A8-B4DFA37F334D}" type="presParOf" srcId="{6C1A39F4-9F0E-E545-87D7-2CC787D3992E}" destId="{2D9F4241-5288-E44E-9E4C-04595F654DE4}" srcOrd="3" destOrd="0" presId="urn:microsoft.com/office/officeart/2005/8/layout/radial1"/>
    <dgm:cxn modelId="{0AEF3F2A-E1C3-074D-B6A6-26D151AED5AC}" type="presParOf" srcId="{2D9F4241-5288-E44E-9E4C-04595F654DE4}" destId="{E22C3C2F-8507-A641-A878-D94E456CB785}" srcOrd="0" destOrd="0" presId="urn:microsoft.com/office/officeart/2005/8/layout/radial1"/>
    <dgm:cxn modelId="{683C4972-3C90-B14C-8503-F447B2331A2F}" type="presParOf" srcId="{6C1A39F4-9F0E-E545-87D7-2CC787D3992E}" destId="{FA2FCABE-8C05-7447-84F6-933F30CB0BB8}" srcOrd="4" destOrd="0" presId="urn:microsoft.com/office/officeart/2005/8/layout/radial1"/>
    <dgm:cxn modelId="{5070F72C-B71C-0E45-BD12-6500F368C566}" type="presParOf" srcId="{6C1A39F4-9F0E-E545-87D7-2CC787D3992E}" destId="{D26B750F-F148-3D46-BF3F-5CF6F41743CF}" srcOrd="5" destOrd="0" presId="urn:microsoft.com/office/officeart/2005/8/layout/radial1"/>
    <dgm:cxn modelId="{F03F0CCA-E426-724B-86C1-949FBEDA4354}" type="presParOf" srcId="{D26B750F-F148-3D46-BF3F-5CF6F41743CF}" destId="{BA0CDF06-A63E-0B49-8725-CF102407CDBD}" srcOrd="0" destOrd="0" presId="urn:microsoft.com/office/officeart/2005/8/layout/radial1"/>
    <dgm:cxn modelId="{0A442BB4-6450-D04D-807B-348C42407E05}" type="presParOf" srcId="{6C1A39F4-9F0E-E545-87D7-2CC787D3992E}" destId="{01B5B8EB-E97F-6848-8A86-6349C9A6D872}" srcOrd="6"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7148DA-2C17-1B4E-91DE-07527D9F5BF0}" type="doc">
      <dgm:prSet loTypeId="urn:microsoft.com/office/officeart/2005/8/layout/arrow3" loCatId="" qsTypeId="urn:microsoft.com/office/officeart/2005/8/quickstyle/simple1" qsCatId="simple" csTypeId="urn:microsoft.com/office/officeart/2005/8/colors/accent1_2" csCatId="accent1" phldr="1"/>
      <dgm:spPr/>
      <dgm:t>
        <a:bodyPr/>
        <a:lstStyle/>
        <a:p>
          <a:endParaRPr lang="en-US"/>
        </a:p>
      </dgm:t>
    </dgm:pt>
    <dgm:pt modelId="{42D9201C-2D0B-1B40-9917-E900204D21D4}">
      <dgm:prSet phldrT="[Text]"/>
      <dgm:spPr/>
      <dgm:t>
        <a:bodyPr/>
        <a:lstStyle/>
        <a:p>
          <a:r>
            <a:rPr lang="en-US" dirty="0"/>
            <a:t>Helpful</a:t>
          </a:r>
        </a:p>
      </dgm:t>
    </dgm:pt>
    <dgm:pt modelId="{A460421F-09B5-524B-AF51-DC00A317E441}" type="parTrans" cxnId="{5483E0DA-F741-0441-8E91-BA7099645F09}">
      <dgm:prSet/>
      <dgm:spPr/>
      <dgm:t>
        <a:bodyPr/>
        <a:lstStyle/>
        <a:p>
          <a:endParaRPr lang="en-US"/>
        </a:p>
      </dgm:t>
    </dgm:pt>
    <dgm:pt modelId="{E7CEC272-D0C4-0B43-8A66-AF26F6F32F1E}" type="sibTrans" cxnId="{5483E0DA-F741-0441-8E91-BA7099645F09}">
      <dgm:prSet/>
      <dgm:spPr/>
      <dgm:t>
        <a:bodyPr/>
        <a:lstStyle/>
        <a:p>
          <a:endParaRPr lang="en-US"/>
        </a:p>
      </dgm:t>
    </dgm:pt>
    <dgm:pt modelId="{D5B3F1D2-880E-664D-A372-DE2190E4A592}">
      <dgm:prSet phldrT="[Text]"/>
      <dgm:spPr/>
      <dgm:t>
        <a:bodyPr/>
        <a:lstStyle/>
        <a:p>
          <a:r>
            <a:rPr lang="en-US" dirty="0"/>
            <a:t>Harmless</a:t>
          </a:r>
        </a:p>
      </dgm:t>
    </dgm:pt>
    <dgm:pt modelId="{539C9940-870B-0846-B60F-5527BFABDE80}" type="parTrans" cxnId="{80871FB9-2DB4-CA40-95DD-2B1EDCF5D4E3}">
      <dgm:prSet/>
      <dgm:spPr/>
      <dgm:t>
        <a:bodyPr/>
        <a:lstStyle/>
        <a:p>
          <a:endParaRPr lang="en-US"/>
        </a:p>
      </dgm:t>
    </dgm:pt>
    <dgm:pt modelId="{4B917770-63EA-E245-B796-23E3C81E4430}" type="sibTrans" cxnId="{80871FB9-2DB4-CA40-95DD-2B1EDCF5D4E3}">
      <dgm:prSet/>
      <dgm:spPr/>
      <dgm:t>
        <a:bodyPr/>
        <a:lstStyle/>
        <a:p>
          <a:endParaRPr lang="en-US"/>
        </a:p>
      </dgm:t>
    </dgm:pt>
    <dgm:pt modelId="{C0A154AE-FE38-7B44-87F5-E9F918CCB172}" type="pres">
      <dgm:prSet presAssocID="{3E7148DA-2C17-1B4E-91DE-07527D9F5BF0}" presName="compositeShape" presStyleCnt="0">
        <dgm:presLayoutVars>
          <dgm:chMax val="2"/>
          <dgm:dir/>
          <dgm:resizeHandles val="exact"/>
        </dgm:presLayoutVars>
      </dgm:prSet>
      <dgm:spPr/>
    </dgm:pt>
    <dgm:pt modelId="{1C200BCB-2646-C148-9F7C-5C88FD2332AC}" type="pres">
      <dgm:prSet presAssocID="{3E7148DA-2C17-1B4E-91DE-07527D9F5BF0}" presName="divider" presStyleLbl="fgShp" presStyleIdx="0" presStyleCnt="1"/>
      <dgm:spPr/>
    </dgm:pt>
    <dgm:pt modelId="{F11E6C38-98DB-324E-B12C-FAA030B406B8}" type="pres">
      <dgm:prSet presAssocID="{42D9201C-2D0B-1B40-9917-E900204D21D4}" presName="downArrow" presStyleLbl="node1" presStyleIdx="0" presStyleCnt="2"/>
      <dgm:spPr/>
    </dgm:pt>
    <dgm:pt modelId="{FA0B4774-D071-944A-B572-5B9E7940E568}" type="pres">
      <dgm:prSet presAssocID="{42D9201C-2D0B-1B40-9917-E900204D21D4}" presName="downArrowText" presStyleLbl="revTx" presStyleIdx="0" presStyleCnt="2">
        <dgm:presLayoutVars>
          <dgm:bulletEnabled val="1"/>
        </dgm:presLayoutVars>
      </dgm:prSet>
      <dgm:spPr/>
    </dgm:pt>
    <dgm:pt modelId="{F224DA38-58B7-B541-A92D-711F25A7D75D}" type="pres">
      <dgm:prSet presAssocID="{D5B3F1D2-880E-664D-A372-DE2190E4A592}" presName="upArrow" presStyleLbl="node1" presStyleIdx="1" presStyleCnt="2"/>
      <dgm:spPr/>
    </dgm:pt>
    <dgm:pt modelId="{684A837A-6436-A74A-B9F3-807B1863D0C5}" type="pres">
      <dgm:prSet presAssocID="{D5B3F1D2-880E-664D-A372-DE2190E4A592}" presName="upArrowText" presStyleLbl="revTx" presStyleIdx="1" presStyleCnt="2">
        <dgm:presLayoutVars>
          <dgm:bulletEnabled val="1"/>
        </dgm:presLayoutVars>
      </dgm:prSet>
      <dgm:spPr/>
    </dgm:pt>
  </dgm:ptLst>
  <dgm:cxnLst>
    <dgm:cxn modelId="{6208D97C-0B89-934F-B032-0F8D8930308D}" type="presOf" srcId="{D5B3F1D2-880E-664D-A372-DE2190E4A592}" destId="{684A837A-6436-A74A-B9F3-807B1863D0C5}" srcOrd="0" destOrd="0" presId="urn:microsoft.com/office/officeart/2005/8/layout/arrow3"/>
    <dgm:cxn modelId="{80871FB9-2DB4-CA40-95DD-2B1EDCF5D4E3}" srcId="{3E7148DA-2C17-1B4E-91DE-07527D9F5BF0}" destId="{D5B3F1D2-880E-664D-A372-DE2190E4A592}" srcOrd="1" destOrd="0" parTransId="{539C9940-870B-0846-B60F-5527BFABDE80}" sibTransId="{4B917770-63EA-E245-B796-23E3C81E4430}"/>
    <dgm:cxn modelId="{8854FCC6-0086-9B47-91E9-4A07B5C59296}" type="presOf" srcId="{3E7148DA-2C17-1B4E-91DE-07527D9F5BF0}" destId="{C0A154AE-FE38-7B44-87F5-E9F918CCB172}" srcOrd="0" destOrd="0" presId="urn:microsoft.com/office/officeart/2005/8/layout/arrow3"/>
    <dgm:cxn modelId="{5483E0DA-F741-0441-8E91-BA7099645F09}" srcId="{3E7148DA-2C17-1B4E-91DE-07527D9F5BF0}" destId="{42D9201C-2D0B-1B40-9917-E900204D21D4}" srcOrd="0" destOrd="0" parTransId="{A460421F-09B5-524B-AF51-DC00A317E441}" sibTransId="{E7CEC272-D0C4-0B43-8A66-AF26F6F32F1E}"/>
    <dgm:cxn modelId="{E14FD1E9-145A-D343-9A63-9BEEEEDB2588}" type="presOf" srcId="{42D9201C-2D0B-1B40-9917-E900204D21D4}" destId="{FA0B4774-D071-944A-B572-5B9E7940E568}" srcOrd="0" destOrd="0" presId="urn:microsoft.com/office/officeart/2005/8/layout/arrow3"/>
    <dgm:cxn modelId="{4DCC0091-5E00-1E42-91A4-54119D33470F}" type="presParOf" srcId="{C0A154AE-FE38-7B44-87F5-E9F918CCB172}" destId="{1C200BCB-2646-C148-9F7C-5C88FD2332AC}" srcOrd="0" destOrd="0" presId="urn:microsoft.com/office/officeart/2005/8/layout/arrow3"/>
    <dgm:cxn modelId="{F4B114AF-A6B5-9145-8F51-EBEF4DA69268}" type="presParOf" srcId="{C0A154AE-FE38-7B44-87F5-E9F918CCB172}" destId="{F11E6C38-98DB-324E-B12C-FAA030B406B8}" srcOrd="1" destOrd="0" presId="urn:microsoft.com/office/officeart/2005/8/layout/arrow3"/>
    <dgm:cxn modelId="{EAD0872A-3497-A949-8260-11D6FE7E174F}" type="presParOf" srcId="{C0A154AE-FE38-7B44-87F5-E9F918CCB172}" destId="{FA0B4774-D071-944A-B572-5B9E7940E568}" srcOrd="2" destOrd="0" presId="urn:microsoft.com/office/officeart/2005/8/layout/arrow3"/>
    <dgm:cxn modelId="{C697E363-B18C-ED40-8E5C-53B36175545E}" type="presParOf" srcId="{C0A154AE-FE38-7B44-87F5-E9F918CCB172}" destId="{F224DA38-58B7-B541-A92D-711F25A7D75D}" srcOrd="3" destOrd="0" presId="urn:microsoft.com/office/officeart/2005/8/layout/arrow3"/>
    <dgm:cxn modelId="{A1E73DB6-B541-BE4E-B520-01B5E0F7994E}" type="presParOf" srcId="{C0A154AE-FE38-7B44-87F5-E9F918CCB172}" destId="{684A837A-6436-A74A-B9F3-807B1863D0C5}"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35BB3-D10F-8249-A4B8-C7DDD1CFEAA0}">
      <dsp:nvSpPr>
        <dsp:cNvPr id="0" name=""/>
        <dsp:cNvSpPr/>
      </dsp:nvSpPr>
      <dsp:spPr>
        <a:xfrm>
          <a:off x="3425329" y="2294312"/>
          <a:ext cx="2804160" cy="2804160"/>
        </a:xfrm>
        <a:prstGeom prst="gear9">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t>AI Governance</a:t>
          </a:r>
        </a:p>
      </dsp:txBody>
      <dsp:txXfrm>
        <a:off x="3989090" y="2951173"/>
        <a:ext cx="1676638" cy="1441396"/>
      </dsp:txXfrm>
    </dsp:sp>
    <dsp:sp modelId="{CF0D2785-D1E8-E441-A20F-6AA89C7978EA}">
      <dsp:nvSpPr>
        <dsp:cNvPr id="0" name=""/>
        <dsp:cNvSpPr/>
      </dsp:nvSpPr>
      <dsp:spPr>
        <a:xfrm>
          <a:off x="1676492" y="1631511"/>
          <a:ext cx="2039389" cy="2039389"/>
        </a:xfrm>
        <a:prstGeom prst="gear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Responsible AI</a:t>
          </a:r>
        </a:p>
      </dsp:txBody>
      <dsp:txXfrm>
        <a:off x="2189914" y="2148036"/>
        <a:ext cx="1012545" cy="1006339"/>
      </dsp:txXfrm>
    </dsp:sp>
    <dsp:sp modelId="{49077664-6652-544D-B84B-F05326FD7875}">
      <dsp:nvSpPr>
        <dsp:cNvPr id="0" name=""/>
        <dsp:cNvSpPr/>
      </dsp:nvSpPr>
      <dsp:spPr>
        <a:xfrm rot="20700000">
          <a:off x="2818758" y="224540"/>
          <a:ext cx="1998185" cy="1998185"/>
        </a:xfrm>
        <a:prstGeom prst="gear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AI Ethics</a:t>
          </a:r>
        </a:p>
      </dsp:txBody>
      <dsp:txXfrm rot="-20700000">
        <a:off x="3257019" y="662801"/>
        <a:ext cx="1121664" cy="1121664"/>
      </dsp:txXfrm>
    </dsp:sp>
    <dsp:sp modelId="{A281BC6E-3695-F844-9C66-533BCD8C27A1}">
      <dsp:nvSpPr>
        <dsp:cNvPr id="0" name=""/>
        <dsp:cNvSpPr/>
      </dsp:nvSpPr>
      <dsp:spPr>
        <a:xfrm>
          <a:off x="3102436" y="1865428"/>
          <a:ext cx="3589324" cy="3589324"/>
        </a:xfrm>
        <a:prstGeom prst="circularArrow">
          <a:avLst>
            <a:gd name="adj1" fmla="val 4688"/>
            <a:gd name="adj2" fmla="val 299029"/>
            <a:gd name="adj3" fmla="val 2534220"/>
            <a:gd name="adj4" fmla="val 15822917"/>
            <a:gd name="adj5" fmla="val 5469"/>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348783-81E3-B44B-BBA4-B09131FF66ED}">
      <dsp:nvSpPr>
        <dsp:cNvPr id="0" name=""/>
        <dsp:cNvSpPr/>
      </dsp:nvSpPr>
      <dsp:spPr>
        <a:xfrm>
          <a:off x="1315320" y="1176391"/>
          <a:ext cx="2607868" cy="2607868"/>
        </a:xfrm>
        <a:prstGeom prst="leftCircularArrow">
          <a:avLst>
            <a:gd name="adj1" fmla="val 6452"/>
            <a:gd name="adj2" fmla="val 429999"/>
            <a:gd name="adj3" fmla="val 10489124"/>
            <a:gd name="adj4" fmla="val 14837806"/>
            <a:gd name="adj5" fmla="val 7527"/>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CDBF4B-ED5F-FF47-99B1-7336FC4FA6FA}">
      <dsp:nvSpPr>
        <dsp:cNvPr id="0" name=""/>
        <dsp:cNvSpPr/>
      </dsp:nvSpPr>
      <dsp:spPr>
        <a:xfrm>
          <a:off x="2356557" y="-217017"/>
          <a:ext cx="2811807" cy="2811807"/>
        </a:xfrm>
        <a:prstGeom prst="circularArrow">
          <a:avLst>
            <a:gd name="adj1" fmla="val 5984"/>
            <a:gd name="adj2" fmla="val 394124"/>
            <a:gd name="adj3" fmla="val 13313824"/>
            <a:gd name="adj4" fmla="val 10508221"/>
            <a:gd name="adj5" fmla="val 6981"/>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5B59B-06D5-5747-B153-14E327158B5D}">
      <dsp:nvSpPr>
        <dsp:cNvPr id="0" name=""/>
        <dsp:cNvSpPr/>
      </dsp:nvSpPr>
      <dsp:spPr>
        <a:xfrm rot="5400000">
          <a:off x="5293140" y="-1963863"/>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i="1" kern="1200" dirty="0"/>
            <a:t>to ascertain the quality of the data based on its origin and subsequent transformation</a:t>
          </a:r>
          <a:endParaRPr lang="en-US" sz="2000" kern="1200" dirty="0"/>
        </a:p>
        <a:p>
          <a:pPr marL="228600" lvl="1" indent="-228600" algn="l" defTabSz="889000">
            <a:lnSpc>
              <a:spcPct val="90000"/>
            </a:lnSpc>
            <a:spcBef>
              <a:spcPct val="0"/>
            </a:spcBef>
            <a:spcAft>
              <a:spcPct val="15000"/>
            </a:spcAft>
            <a:buChar char="•"/>
          </a:pPr>
          <a:r>
            <a:rPr lang="en-US" sz="2000" i="1" kern="1200" dirty="0"/>
            <a:t>Trace potential sources of errors</a:t>
          </a:r>
          <a:endParaRPr lang="en-US" sz="2000" kern="1200" dirty="0"/>
        </a:p>
      </dsp:txBody>
      <dsp:txXfrm rot="-5400000">
        <a:off x="3158499" y="236476"/>
        <a:ext cx="5549412" cy="1214432"/>
      </dsp:txXfrm>
    </dsp:sp>
    <dsp:sp modelId="{78B97C07-407A-9849-A5DB-A3A8912E5ADE}">
      <dsp:nvSpPr>
        <dsp:cNvPr id="0" name=""/>
        <dsp:cNvSpPr/>
      </dsp:nvSpPr>
      <dsp:spPr>
        <a:xfrm>
          <a:off x="0" y="2548"/>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Understand Lineage of Data</a:t>
          </a:r>
        </a:p>
      </dsp:txBody>
      <dsp:txXfrm>
        <a:off x="82122" y="84670"/>
        <a:ext cx="2994255" cy="1518041"/>
      </dsp:txXfrm>
    </dsp:sp>
    <dsp:sp modelId="{3B610826-6EC0-6C49-8760-1765CA568B6E}">
      <dsp:nvSpPr>
        <dsp:cNvPr id="0" name=""/>
        <dsp:cNvSpPr/>
      </dsp:nvSpPr>
      <dsp:spPr>
        <a:xfrm rot="5400000">
          <a:off x="5293140" y="-197464"/>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i="1" kern="1200" dirty="0"/>
            <a:t>Accuracy</a:t>
          </a:r>
        </a:p>
        <a:p>
          <a:pPr marL="171450" lvl="1" indent="-171450" algn="l" defTabSz="711200">
            <a:lnSpc>
              <a:spcPct val="90000"/>
            </a:lnSpc>
            <a:spcBef>
              <a:spcPct val="0"/>
            </a:spcBef>
            <a:spcAft>
              <a:spcPct val="15000"/>
            </a:spcAft>
            <a:buChar char="•"/>
          </a:pPr>
          <a:r>
            <a:rPr lang="en-US" sz="1600" i="1" kern="1200" dirty="0"/>
            <a:t>Completeness</a:t>
          </a:r>
        </a:p>
        <a:p>
          <a:pPr marL="171450" lvl="1" indent="-171450" algn="l" defTabSz="711200">
            <a:lnSpc>
              <a:spcPct val="90000"/>
            </a:lnSpc>
            <a:spcBef>
              <a:spcPct val="0"/>
            </a:spcBef>
            <a:spcAft>
              <a:spcPct val="15000"/>
            </a:spcAft>
            <a:buChar char="•"/>
          </a:pPr>
          <a:r>
            <a:rPr lang="en-US" sz="1600" i="1" kern="1200" dirty="0"/>
            <a:t>Veracity of data</a:t>
          </a:r>
        </a:p>
        <a:p>
          <a:pPr marL="171450" lvl="1" indent="-171450" algn="l" defTabSz="711200">
            <a:lnSpc>
              <a:spcPct val="90000"/>
            </a:lnSpc>
            <a:spcBef>
              <a:spcPct val="0"/>
            </a:spcBef>
            <a:spcAft>
              <a:spcPct val="15000"/>
            </a:spcAft>
            <a:buChar char="•"/>
          </a:pPr>
          <a:r>
            <a:rPr lang="en-US" sz="1600" i="1" kern="1200" dirty="0"/>
            <a:t>Relevance </a:t>
          </a:r>
        </a:p>
        <a:p>
          <a:pPr marL="171450" lvl="1" indent="-171450" algn="l" defTabSz="711200">
            <a:lnSpc>
              <a:spcPct val="90000"/>
            </a:lnSpc>
            <a:spcBef>
              <a:spcPct val="0"/>
            </a:spcBef>
            <a:spcAft>
              <a:spcPct val="15000"/>
            </a:spcAft>
            <a:buChar char="•"/>
          </a:pPr>
          <a:r>
            <a:rPr lang="en-US" sz="1600" i="1" kern="1200" dirty="0"/>
            <a:t>Integrity </a:t>
          </a:r>
        </a:p>
      </dsp:txBody>
      <dsp:txXfrm rot="-5400000">
        <a:off x="3158499" y="2002875"/>
        <a:ext cx="5549412" cy="1214432"/>
      </dsp:txXfrm>
    </dsp:sp>
    <dsp:sp modelId="{CC5B3843-FA0C-DA4C-AEB0-5F0C99247B8C}">
      <dsp:nvSpPr>
        <dsp:cNvPr id="0" name=""/>
        <dsp:cNvSpPr/>
      </dsp:nvSpPr>
      <dsp:spPr>
        <a:xfrm>
          <a:off x="0" y="1768948"/>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Ensure Data Quality</a:t>
          </a:r>
        </a:p>
      </dsp:txBody>
      <dsp:txXfrm>
        <a:off x="82122" y="1851070"/>
        <a:ext cx="2994255" cy="1518041"/>
      </dsp:txXfrm>
    </dsp:sp>
    <dsp:sp modelId="{A9AEE7FD-994F-AE4A-8DD0-56FB701663D5}">
      <dsp:nvSpPr>
        <dsp:cNvPr id="0" name=""/>
        <dsp:cNvSpPr/>
      </dsp:nvSpPr>
      <dsp:spPr>
        <a:xfrm rot="5400000">
          <a:off x="5293140" y="1568935"/>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i="1" kern="1200" dirty="0"/>
            <a:t>Selection bias</a:t>
          </a:r>
        </a:p>
        <a:p>
          <a:pPr marL="171450" lvl="1" indent="-171450" algn="l" defTabSz="800100">
            <a:lnSpc>
              <a:spcPct val="90000"/>
            </a:lnSpc>
            <a:spcBef>
              <a:spcPct val="0"/>
            </a:spcBef>
            <a:spcAft>
              <a:spcPct val="15000"/>
            </a:spcAft>
            <a:buChar char="•"/>
          </a:pPr>
          <a:r>
            <a:rPr lang="en-US" sz="1800" i="1" kern="1200" dirty="0"/>
            <a:t>Measurement bias	</a:t>
          </a:r>
          <a:r>
            <a:rPr lang="en-US" sz="2500" i="1" kern="1200" dirty="0"/>
            <a:t>			</a:t>
          </a:r>
        </a:p>
      </dsp:txBody>
      <dsp:txXfrm rot="-5400000">
        <a:off x="3158499" y="3769274"/>
        <a:ext cx="5549412" cy="1214432"/>
      </dsp:txXfrm>
    </dsp:sp>
    <dsp:sp modelId="{3D1CD0F7-0884-854E-806C-5495F388B82F}">
      <dsp:nvSpPr>
        <dsp:cNvPr id="0" name=""/>
        <dsp:cNvSpPr/>
      </dsp:nvSpPr>
      <dsp:spPr>
        <a:xfrm>
          <a:off x="0" y="3535347"/>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i="1" kern="1200" dirty="0" err="1"/>
            <a:t>Minimising</a:t>
          </a:r>
          <a:r>
            <a:rPr lang="en-US" sz="1800" i="1" kern="1200" dirty="0"/>
            <a:t> inherent bias</a:t>
          </a:r>
          <a:endParaRPr lang="en-US" sz="1800" kern="1200" dirty="0"/>
        </a:p>
      </dsp:txBody>
      <dsp:txXfrm>
        <a:off x="82122" y="3617469"/>
        <a:ext cx="2994255" cy="15180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8238A-A217-1545-9E70-0601DBEC6978}">
      <dsp:nvSpPr>
        <dsp:cNvPr id="0" name=""/>
        <dsp:cNvSpPr/>
      </dsp:nvSpPr>
      <dsp:spPr>
        <a:xfrm>
          <a:off x="2571263" y="1586492"/>
          <a:ext cx="1207472" cy="12074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Information Need</a:t>
          </a:r>
        </a:p>
      </dsp:txBody>
      <dsp:txXfrm>
        <a:off x="2748093" y="1763322"/>
        <a:ext cx="853812" cy="853812"/>
      </dsp:txXfrm>
    </dsp:sp>
    <dsp:sp modelId="{0284B630-0D2E-FE40-A0FA-0A9C4FE74C7A}">
      <dsp:nvSpPr>
        <dsp:cNvPr id="0" name=""/>
        <dsp:cNvSpPr/>
      </dsp:nvSpPr>
      <dsp:spPr>
        <a:xfrm rot="16200000">
          <a:off x="2992378" y="1386757"/>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5868" y="1394740"/>
        <a:ext cx="18262" cy="18262"/>
      </dsp:txXfrm>
    </dsp:sp>
    <dsp:sp modelId="{928C589F-11FC-CB44-9382-0D6B52A19DBF}">
      <dsp:nvSpPr>
        <dsp:cNvPr id="0" name=""/>
        <dsp:cNvSpPr/>
      </dsp:nvSpPr>
      <dsp:spPr>
        <a:xfrm>
          <a:off x="2571263" y="13777"/>
          <a:ext cx="1207472" cy="120747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Audience</a:t>
          </a:r>
        </a:p>
      </dsp:txBody>
      <dsp:txXfrm>
        <a:off x="2748093" y="190607"/>
        <a:ext cx="853812" cy="853812"/>
      </dsp:txXfrm>
    </dsp:sp>
    <dsp:sp modelId="{2D9F4241-5288-E44E-9E4C-04595F654DE4}">
      <dsp:nvSpPr>
        <dsp:cNvPr id="0" name=""/>
        <dsp:cNvSpPr/>
      </dsp:nvSpPr>
      <dsp:spPr>
        <a:xfrm rot="1800000">
          <a:off x="3673384" y="2566293"/>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6874" y="2574276"/>
        <a:ext cx="18262" cy="18262"/>
      </dsp:txXfrm>
    </dsp:sp>
    <dsp:sp modelId="{FA2FCABE-8C05-7447-84F6-933F30CB0BB8}">
      <dsp:nvSpPr>
        <dsp:cNvPr id="0" name=""/>
        <dsp:cNvSpPr/>
      </dsp:nvSpPr>
      <dsp:spPr>
        <a:xfrm>
          <a:off x="3933275" y="2372850"/>
          <a:ext cx="1207472" cy="120747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Context</a:t>
          </a:r>
        </a:p>
      </dsp:txBody>
      <dsp:txXfrm>
        <a:off x="4110105" y="2549680"/>
        <a:ext cx="853812" cy="853812"/>
      </dsp:txXfrm>
    </dsp:sp>
    <dsp:sp modelId="{D26B750F-F148-3D46-BF3F-5CF6F41743CF}">
      <dsp:nvSpPr>
        <dsp:cNvPr id="0" name=""/>
        <dsp:cNvSpPr/>
      </dsp:nvSpPr>
      <dsp:spPr>
        <a:xfrm rot="9000000">
          <a:off x="2311372" y="2566293"/>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84863" y="2574276"/>
        <a:ext cx="18262" cy="18262"/>
      </dsp:txXfrm>
    </dsp:sp>
    <dsp:sp modelId="{01B5B8EB-E97F-6848-8A86-6349C9A6D872}">
      <dsp:nvSpPr>
        <dsp:cNvPr id="0" name=""/>
        <dsp:cNvSpPr/>
      </dsp:nvSpPr>
      <dsp:spPr>
        <a:xfrm>
          <a:off x="1209252" y="2372850"/>
          <a:ext cx="1207472" cy="120747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Purpose</a:t>
          </a:r>
        </a:p>
      </dsp:txBody>
      <dsp:txXfrm>
        <a:off x="1386082" y="2549680"/>
        <a:ext cx="853812" cy="8538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0BCB-2646-C148-9F7C-5C88FD2332AC}">
      <dsp:nvSpPr>
        <dsp:cNvPr id="0" name=""/>
        <dsp:cNvSpPr/>
      </dsp:nvSpPr>
      <dsp:spPr>
        <a:xfrm rot="21300000">
          <a:off x="9470" y="862246"/>
          <a:ext cx="3067159" cy="351236"/>
        </a:xfrm>
        <a:prstGeom prst="mathMinus">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1E6C38-98DB-324E-B12C-FAA030B406B8}">
      <dsp:nvSpPr>
        <dsp:cNvPr id="0" name=""/>
        <dsp:cNvSpPr/>
      </dsp:nvSpPr>
      <dsp:spPr>
        <a:xfrm>
          <a:off x="370331" y="103786"/>
          <a:ext cx="925830" cy="830292"/>
        </a:xfrm>
        <a:prstGeom prst="down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0B4774-D071-944A-B572-5B9E7940E568}">
      <dsp:nvSpPr>
        <dsp:cNvPr id="0" name=""/>
        <dsp:cNvSpPr/>
      </dsp:nvSpPr>
      <dsp:spPr>
        <a:xfrm>
          <a:off x="1635633" y="0"/>
          <a:ext cx="987552" cy="87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Helpful</a:t>
          </a:r>
        </a:p>
      </dsp:txBody>
      <dsp:txXfrm>
        <a:off x="1635633" y="0"/>
        <a:ext cx="987552" cy="871806"/>
      </dsp:txXfrm>
    </dsp:sp>
    <dsp:sp modelId="{F224DA38-58B7-B541-A92D-711F25A7D75D}">
      <dsp:nvSpPr>
        <dsp:cNvPr id="0" name=""/>
        <dsp:cNvSpPr/>
      </dsp:nvSpPr>
      <dsp:spPr>
        <a:xfrm>
          <a:off x="1789938" y="1141651"/>
          <a:ext cx="925830" cy="830292"/>
        </a:xfrm>
        <a:prstGeom prst="up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4A837A-6436-A74A-B9F3-807B1863D0C5}">
      <dsp:nvSpPr>
        <dsp:cNvPr id="0" name=""/>
        <dsp:cNvSpPr/>
      </dsp:nvSpPr>
      <dsp:spPr>
        <a:xfrm>
          <a:off x="462915" y="1203923"/>
          <a:ext cx="987552" cy="87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Harmless</a:t>
          </a:r>
        </a:p>
      </dsp:txBody>
      <dsp:txXfrm>
        <a:off x="462915" y="1203923"/>
        <a:ext cx="987552" cy="871806"/>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4/5/2026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p:txBody>
      </p:sp>
      <p:sp>
        <p:nvSpPr>
          <p:cNvPr id="4" name="Slide Number Placeholder 3"/>
          <p:cNvSpPr>
            <a:spLocks noGrp="1"/>
          </p:cNvSpPr>
          <p:nvPr>
            <p:ph type="sldNum" sz="quarter" idx="5"/>
          </p:nvPr>
        </p:nvSpPr>
        <p:spPr/>
        <p:txBody>
          <a:bodyPr/>
          <a:lstStyle/>
          <a:p>
            <a:fld id="{0740DD26-C564-4A3C-8398-FE9A3FA1B74B}" type="slidenum">
              <a:rPr lang="en-SG" smtClean="0"/>
              <a:t>1</a:t>
            </a:fld>
            <a:endParaRPr lang="en-SG"/>
          </a:p>
        </p:txBody>
      </p:sp>
    </p:spTree>
    <p:extLst>
      <p:ext uri="{BB962C8B-B14F-4D97-AF65-F5344CB8AC3E}">
        <p14:creationId xmlns:p14="http://schemas.microsoft.com/office/powerpoint/2010/main" val="2880879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54985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err="1"/>
              <a:t>Unesco</a:t>
            </a:r>
            <a:r>
              <a:rPr lang="en-GB" dirty="0"/>
              <a:t> – Recommendation on the Ethics of Artificial </a:t>
            </a:r>
            <a:r>
              <a:rPr lang="en-GB" dirty="0" err="1"/>
              <a:t>Intelligeence</a:t>
            </a:r>
            <a:r>
              <a:rPr lang="en-GB" dirty="0"/>
              <a:t> (https://</a:t>
            </a:r>
            <a:r>
              <a:rPr lang="en-GB" dirty="0" err="1"/>
              <a:t>unesdoc.unesco.org</a:t>
            </a:r>
            <a:r>
              <a:rPr lang="en-GB" dirty="0"/>
              <a:t>/ark:/48223/pf0000381137)</a:t>
            </a:r>
          </a:p>
          <a:p>
            <a:endParaRPr lang="en-GB" dirty="0"/>
          </a:p>
        </p:txBody>
      </p:sp>
    </p:spTree>
    <p:extLst>
      <p:ext uri="{BB962C8B-B14F-4D97-AF65-F5344CB8AC3E}">
        <p14:creationId xmlns:p14="http://schemas.microsoft.com/office/powerpoint/2010/main" val="2349219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5</a:t>
            </a:fld>
            <a:endParaRPr lang="en-SG"/>
          </a:p>
        </p:txBody>
      </p:sp>
    </p:spTree>
    <p:extLst>
      <p:ext uri="{BB962C8B-B14F-4D97-AF65-F5344CB8AC3E}">
        <p14:creationId xmlns:p14="http://schemas.microsoft.com/office/powerpoint/2010/main" val="1766144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There is no universal set of principles. And sometimes the terms are also used interchangeably or different words used to describe the same idea.</a:t>
            </a:r>
          </a:p>
        </p:txBody>
      </p:sp>
    </p:spTree>
    <p:extLst>
      <p:ext uri="{BB962C8B-B14F-4D97-AF65-F5344CB8AC3E}">
        <p14:creationId xmlns:p14="http://schemas.microsoft.com/office/powerpoint/2010/main" val="498611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https://</a:t>
            </a:r>
            <a:r>
              <a:rPr lang="en-GB" dirty="0" err="1"/>
              <a:t>www.iso.org</a:t>
            </a:r>
            <a:r>
              <a:rPr lang="en-GB" dirty="0"/>
              <a:t>/artificial-intelligence/responsible-ai-ethics#toc1</a:t>
            </a:r>
          </a:p>
        </p:txBody>
      </p:sp>
    </p:spTree>
    <p:extLst>
      <p:ext uri="{BB962C8B-B14F-4D97-AF65-F5344CB8AC3E}">
        <p14:creationId xmlns:p14="http://schemas.microsoft.com/office/powerpoint/2010/main" val="3335586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E8E8E8"/>
                </a:solidFill>
                <a:effectLst/>
                <a:latin typeface="Google Sans"/>
              </a:rPr>
              <a:t>Organisation</a:t>
            </a:r>
            <a:r>
              <a:rPr lang="en-US" b="0" i="0" dirty="0">
                <a:solidFill>
                  <a:srgbClr val="E8E8E8"/>
                </a:solidFill>
                <a:effectLst/>
                <a:latin typeface="Google Sans"/>
              </a:rPr>
              <a:t> for Economic Co-operation and Development</a:t>
            </a:r>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8</a:t>
            </a:fld>
            <a:endParaRPr lang="en-SG"/>
          </a:p>
        </p:txBody>
      </p:sp>
    </p:spTree>
    <p:extLst>
      <p:ext uri="{BB962C8B-B14F-4D97-AF65-F5344CB8AC3E}">
        <p14:creationId xmlns:p14="http://schemas.microsoft.com/office/powerpoint/2010/main" val="3747824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9</a:t>
            </a:fld>
            <a:endParaRPr lang="en-SG"/>
          </a:p>
        </p:txBody>
      </p:sp>
    </p:spTree>
    <p:extLst>
      <p:ext uri="{BB962C8B-B14F-4D97-AF65-F5344CB8AC3E}">
        <p14:creationId xmlns:p14="http://schemas.microsoft.com/office/powerpoint/2010/main" val="335491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44713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11</a:t>
            </a:fld>
            <a:endParaRPr lang="en-SG"/>
          </a:p>
        </p:txBody>
      </p:sp>
    </p:spTree>
    <p:extLst>
      <p:ext uri="{BB962C8B-B14F-4D97-AF65-F5344CB8AC3E}">
        <p14:creationId xmlns:p14="http://schemas.microsoft.com/office/powerpoint/2010/main" val="684548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12</a:t>
            </a:fld>
            <a:endParaRPr lang="en-SG"/>
          </a:p>
        </p:txBody>
      </p:sp>
    </p:spTree>
    <p:extLst>
      <p:ext uri="{BB962C8B-B14F-4D97-AF65-F5344CB8AC3E}">
        <p14:creationId xmlns:p14="http://schemas.microsoft.com/office/powerpoint/2010/main" val="3883334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34186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Need AI governance to ensure trustworthy AI</a:t>
            </a:r>
          </a:p>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17</a:t>
            </a:fld>
            <a:endParaRPr lang="en-SG"/>
          </a:p>
        </p:txBody>
      </p:sp>
    </p:spTree>
    <p:extLst>
      <p:ext uri="{BB962C8B-B14F-4D97-AF65-F5344CB8AC3E}">
        <p14:creationId xmlns:p14="http://schemas.microsoft.com/office/powerpoint/2010/main" val="3600500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ed4fb3e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ed4fb3e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927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0ed4fb3e31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0ed4fb3e3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8251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organization may already have different governance systems, AI governance needs to align and incorporated into existing </a:t>
            </a:r>
            <a:r>
              <a:rPr lang="en-GB" dirty="0" err="1"/>
              <a:t>governacen</a:t>
            </a:r>
            <a:r>
              <a:rPr lang="en-GB" dirty="0"/>
              <a:t> structure.</a:t>
            </a:r>
          </a:p>
          <a:p>
            <a:r>
              <a:rPr lang="en-GB" dirty="0"/>
              <a:t>EA governance – enterprise architecture </a:t>
            </a:r>
          </a:p>
          <a:p>
            <a:endParaRPr lang="en-GB" dirty="0"/>
          </a:p>
          <a:p>
            <a:endParaRPr lang="en-GB" dirty="0"/>
          </a:p>
          <a:p>
            <a:endParaRPr lang="en-GB" dirty="0"/>
          </a:p>
          <a:p>
            <a:r>
              <a:rPr lang="en-GB" dirty="0"/>
              <a:t>AI governance can be an extension of existing IT governance and should seek to align with any existing data governance. </a:t>
            </a:r>
          </a:p>
          <a:p>
            <a:endParaRPr lang="en-GB" dirty="0"/>
          </a:p>
          <a:p>
            <a:r>
              <a:rPr lang="en-GB" dirty="0"/>
              <a:t>https://</a:t>
            </a:r>
            <a:r>
              <a:rPr lang="en-GB" dirty="0" err="1"/>
              <a:t>medium.com</a:t>
            </a:r>
            <a:r>
              <a:rPr lang="en-GB" dirty="0"/>
              <a:t>/@</a:t>
            </a:r>
            <a:r>
              <a:rPr lang="en-GB" dirty="0" err="1"/>
              <a:t>gopalakrishnabehara</a:t>
            </a:r>
            <a:r>
              <a:rPr lang="en-GB" dirty="0"/>
              <a:t>/published-in-a-z-magazine-d5a39aeac069</a:t>
            </a:r>
          </a:p>
        </p:txBody>
      </p:sp>
      <p:sp>
        <p:nvSpPr>
          <p:cNvPr id="4" name="Slide Number Placeholder 3"/>
          <p:cNvSpPr>
            <a:spLocks noGrp="1"/>
          </p:cNvSpPr>
          <p:nvPr>
            <p:ph type="sldNum" sz="quarter" idx="5"/>
          </p:nvPr>
        </p:nvSpPr>
        <p:spPr/>
        <p:txBody>
          <a:bodyPr/>
          <a:lstStyle/>
          <a:p>
            <a:fld id="{0740DD26-C564-4A3C-8398-FE9A3FA1B74B}" type="slidenum">
              <a:rPr lang="en-SG" smtClean="0"/>
              <a:t>21</a:t>
            </a:fld>
            <a:endParaRPr lang="en-SG"/>
          </a:p>
        </p:txBody>
      </p:sp>
    </p:spTree>
    <p:extLst>
      <p:ext uri="{BB962C8B-B14F-4D97-AF65-F5344CB8AC3E}">
        <p14:creationId xmlns:p14="http://schemas.microsoft.com/office/powerpoint/2010/main" val="1321964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0ed4fb3e3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0ed4fb3e3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940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0ed4fb3e3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0ed4fb3e3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0785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006346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D65FF291-7D8F-F931-DD06-E1F888D06A61}"/>
            </a:ext>
          </a:extLst>
        </p:cNvPr>
        <p:cNvGrpSpPr/>
        <p:nvPr/>
      </p:nvGrpSpPr>
      <p:grpSpPr>
        <a:xfrm>
          <a:off x="0" y="0"/>
          <a:ext cx="0" cy="0"/>
          <a:chOff x="0" y="0"/>
          <a:chExt cx="0" cy="0"/>
        </a:xfrm>
      </p:grpSpPr>
      <p:sp>
        <p:nvSpPr>
          <p:cNvPr id="100" name="Google Shape;100;g30ed4fb3e31_0_48:notes">
            <a:extLst>
              <a:ext uri="{FF2B5EF4-FFF2-40B4-BE49-F238E27FC236}">
                <a16:creationId xmlns:a16="http://schemas.microsoft.com/office/drawing/2014/main" id="{9A8E5F3A-8B5F-9862-81B2-5460937D1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0ed4fb3e31_0_48:notes">
            <a:extLst>
              <a:ext uri="{FF2B5EF4-FFF2-40B4-BE49-F238E27FC236}">
                <a16:creationId xmlns:a16="http://schemas.microsoft.com/office/drawing/2014/main" id="{CAAFC64D-FDCA-9843-246B-5DE22C048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0985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a:t>
            </a:r>
          </a:p>
          <a:p>
            <a:r>
              <a:rPr lang="en-GB" dirty="0"/>
              <a:t>GPS navigation system plans the route from Point A to Point B, offering several possible routes for the driver to pick. The driver can alter parameters (e.g. due to unforeseen road congestions) during the trip without having to re-programme the route.</a:t>
            </a:r>
          </a:p>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32</a:t>
            </a:fld>
            <a:endParaRPr lang="en-SG"/>
          </a:p>
        </p:txBody>
      </p:sp>
    </p:spTree>
    <p:extLst>
      <p:ext uri="{BB962C8B-B14F-4D97-AF65-F5344CB8AC3E}">
        <p14:creationId xmlns:p14="http://schemas.microsoft.com/office/powerpoint/2010/main" val="3153612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a:t>
            </a:r>
            <a:r>
              <a:rPr lang="en-GB" dirty="0" err="1"/>
              <a:t>mentimeter</a:t>
            </a:r>
            <a:r>
              <a:rPr lang="en-GB" dirty="0"/>
              <a:t> for this exercise</a:t>
            </a:r>
          </a:p>
        </p:txBody>
      </p:sp>
      <p:sp>
        <p:nvSpPr>
          <p:cNvPr id="4" name="Slide Number Placeholder 3"/>
          <p:cNvSpPr>
            <a:spLocks noGrp="1"/>
          </p:cNvSpPr>
          <p:nvPr>
            <p:ph type="sldNum" sz="quarter" idx="5"/>
          </p:nvPr>
        </p:nvSpPr>
        <p:spPr/>
        <p:txBody>
          <a:bodyPr/>
          <a:lstStyle/>
          <a:p>
            <a:fld id="{0740DD26-C564-4A3C-8398-FE9A3FA1B74B}" type="slidenum">
              <a:rPr lang="en-SG" smtClean="0"/>
              <a:t>34</a:t>
            </a:fld>
            <a:endParaRPr lang="en-SG"/>
          </a:p>
        </p:txBody>
      </p:sp>
    </p:spTree>
    <p:extLst>
      <p:ext uri="{BB962C8B-B14F-4D97-AF65-F5344CB8AC3E}">
        <p14:creationId xmlns:p14="http://schemas.microsoft.com/office/powerpoint/2010/main" val="34656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Basically modern AI is DATA + MODEL</a:t>
            </a:r>
          </a:p>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38</a:t>
            </a:fld>
            <a:endParaRPr lang="en-SG"/>
          </a:p>
        </p:txBody>
      </p:sp>
    </p:spTree>
    <p:extLst>
      <p:ext uri="{BB962C8B-B14F-4D97-AF65-F5344CB8AC3E}">
        <p14:creationId xmlns:p14="http://schemas.microsoft.com/office/powerpoint/2010/main" val="3277095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b="1" dirty="0"/>
              <a:t>Selection bias</a:t>
            </a:r>
          </a:p>
          <a:p>
            <a:r>
              <a:rPr lang="en-US" i="1" dirty="0">
                <a:solidFill>
                  <a:srgbClr val="323032"/>
                </a:solidFill>
                <a:effectLst/>
                <a:latin typeface="Helvetica" pitchFamily="2" charset="0"/>
              </a:rPr>
              <a:t>This bias occurs when the data</a:t>
            </a:r>
            <a:r>
              <a:rPr lang="en-US" i="0" dirty="0">
                <a:solidFill>
                  <a:srgbClr val="323032"/>
                </a:solidFill>
                <a:effectLst/>
                <a:latin typeface="Helvetica" pitchFamily="2" charset="0"/>
              </a:rPr>
              <a:t> </a:t>
            </a:r>
            <a:r>
              <a:rPr lang="en-US" i="1" dirty="0">
                <a:solidFill>
                  <a:srgbClr val="323032"/>
                </a:solidFill>
                <a:effectLst/>
                <a:latin typeface="Helvetica" pitchFamily="2" charset="0"/>
              </a:rPr>
              <a:t>used to produce the model are not fully</a:t>
            </a:r>
            <a:r>
              <a:rPr lang="en-US" i="0" dirty="0">
                <a:solidFill>
                  <a:srgbClr val="323032"/>
                </a:solidFill>
                <a:effectLst/>
                <a:latin typeface="Helvetica" pitchFamily="2" charset="0"/>
              </a:rPr>
              <a:t> </a:t>
            </a:r>
            <a:r>
              <a:rPr lang="en-US" i="1" dirty="0">
                <a:solidFill>
                  <a:srgbClr val="323032"/>
                </a:solidFill>
                <a:effectLst/>
                <a:latin typeface="Helvetica" pitchFamily="2" charset="0"/>
              </a:rPr>
              <a:t>representative of the actual data or environment</a:t>
            </a:r>
            <a:r>
              <a:rPr lang="en-US" i="0" dirty="0">
                <a:solidFill>
                  <a:srgbClr val="323032"/>
                </a:solidFill>
                <a:effectLst/>
                <a:latin typeface="Helvetica" pitchFamily="2" charset="0"/>
              </a:rPr>
              <a:t> </a:t>
            </a:r>
            <a:r>
              <a:rPr lang="en-US" i="1" dirty="0">
                <a:solidFill>
                  <a:srgbClr val="323032"/>
                </a:solidFill>
                <a:effectLst/>
                <a:latin typeface="Helvetica" pitchFamily="2" charset="0"/>
              </a:rPr>
              <a:t>that the model may receive or function in. </a:t>
            </a:r>
          </a:p>
          <a:p>
            <a:r>
              <a:rPr lang="en-US" i="1" dirty="0">
                <a:solidFill>
                  <a:srgbClr val="323032"/>
                </a:solidFill>
                <a:effectLst/>
                <a:latin typeface="Helvetica" pitchFamily="2" charset="0"/>
              </a:rPr>
              <a:t>Common</a:t>
            </a:r>
            <a:r>
              <a:rPr lang="en-US" i="0" dirty="0">
                <a:solidFill>
                  <a:srgbClr val="323032"/>
                </a:solidFill>
                <a:effectLst/>
                <a:latin typeface="Helvetica" pitchFamily="2" charset="0"/>
              </a:rPr>
              <a:t> </a:t>
            </a:r>
            <a:r>
              <a:rPr lang="en-US" i="1" dirty="0">
                <a:solidFill>
                  <a:srgbClr val="323032"/>
                </a:solidFill>
                <a:effectLst/>
                <a:latin typeface="Helvetica" pitchFamily="2" charset="0"/>
              </a:rPr>
              <a:t>examples of selection bias in datasets are omission</a:t>
            </a:r>
            <a:r>
              <a:rPr lang="en-US" i="0" dirty="0">
                <a:solidFill>
                  <a:srgbClr val="323032"/>
                </a:solidFill>
                <a:effectLst/>
                <a:latin typeface="Helvetica" pitchFamily="2" charset="0"/>
              </a:rPr>
              <a:t> </a:t>
            </a:r>
            <a:r>
              <a:rPr lang="en-US" i="1" dirty="0">
                <a:solidFill>
                  <a:srgbClr val="323032"/>
                </a:solidFill>
                <a:effectLst/>
                <a:latin typeface="Helvetica" pitchFamily="2" charset="0"/>
              </a:rPr>
              <a:t>bias and stereotype bias. </a:t>
            </a:r>
          </a:p>
          <a:p>
            <a:r>
              <a:rPr lang="en-US" i="1" dirty="0">
                <a:solidFill>
                  <a:srgbClr val="323032"/>
                </a:solidFill>
                <a:effectLst/>
                <a:latin typeface="Helvetica" pitchFamily="2" charset="0"/>
              </a:rPr>
              <a:t>Omission bias describes</a:t>
            </a:r>
            <a:r>
              <a:rPr lang="en-US" i="0" dirty="0">
                <a:solidFill>
                  <a:srgbClr val="323032"/>
                </a:solidFill>
                <a:effectLst/>
                <a:latin typeface="Helvetica" pitchFamily="2" charset="0"/>
              </a:rPr>
              <a:t> </a:t>
            </a:r>
            <a:r>
              <a:rPr lang="en-US" i="1" dirty="0">
                <a:solidFill>
                  <a:srgbClr val="323032"/>
                </a:solidFill>
                <a:effectLst/>
                <a:latin typeface="Helvetica" pitchFamily="2" charset="0"/>
              </a:rPr>
              <a:t>the omission of certain characteristics from the</a:t>
            </a:r>
            <a:r>
              <a:rPr lang="en-US" i="0" dirty="0">
                <a:solidFill>
                  <a:srgbClr val="323032"/>
                </a:solidFill>
                <a:effectLst/>
                <a:latin typeface="Helvetica" pitchFamily="2" charset="0"/>
              </a:rPr>
              <a:t> </a:t>
            </a:r>
            <a:r>
              <a:rPr lang="en-US" i="1" dirty="0">
                <a:solidFill>
                  <a:srgbClr val="323032"/>
                </a:solidFill>
                <a:effectLst/>
                <a:latin typeface="Helvetica" pitchFamily="2" charset="0"/>
              </a:rPr>
              <a:t>dataset. For example, a dataset consisting only</a:t>
            </a:r>
            <a:r>
              <a:rPr lang="en-US" i="0" dirty="0">
                <a:solidFill>
                  <a:srgbClr val="323032"/>
                </a:solidFill>
                <a:effectLst/>
                <a:latin typeface="Helvetica" pitchFamily="2" charset="0"/>
              </a:rPr>
              <a:t> </a:t>
            </a:r>
            <a:r>
              <a:rPr lang="en-US" i="1" dirty="0">
                <a:solidFill>
                  <a:srgbClr val="323032"/>
                </a:solidFill>
                <a:effectLst/>
                <a:latin typeface="Helvetica" pitchFamily="2" charset="0"/>
              </a:rPr>
              <a:t>of Asian faces will exhibit omission bias if it is used</a:t>
            </a:r>
            <a:r>
              <a:rPr lang="en-US" i="0" dirty="0">
                <a:solidFill>
                  <a:srgbClr val="323032"/>
                </a:solidFill>
                <a:effectLst/>
                <a:latin typeface="Helvetica" pitchFamily="2" charset="0"/>
              </a:rPr>
              <a:t> </a:t>
            </a:r>
            <a:r>
              <a:rPr lang="en-US" i="1" dirty="0">
                <a:solidFill>
                  <a:srgbClr val="323032"/>
                </a:solidFill>
                <a:effectLst/>
                <a:latin typeface="Helvetica" pitchFamily="2" charset="0"/>
              </a:rPr>
              <a:t>for facial recognition training for a population that</a:t>
            </a:r>
            <a:r>
              <a:rPr lang="en-US" i="0" dirty="0">
                <a:solidFill>
                  <a:srgbClr val="323032"/>
                </a:solidFill>
                <a:effectLst/>
                <a:latin typeface="Helvetica" pitchFamily="2" charset="0"/>
              </a:rPr>
              <a:t> </a:t>
            </a:r>
            <a:r>
              <a:rPr lang="en-US" i="1" dirty="0">
                <a:solidFill>
                  <a:srgbClr val="323032"/>
                </a:solidFill>
                <a:effectLst/>
                <a:latin typeface="Helvetica" pitchFamily="2" charset="0"/>
              </a:rPr>
              <a:t>includes non-Asians. </a:t>
            </a:r>
          </a:p>
          <a:p>
            <a:r>
              <a:rPr lang="en-US" i="1" dirty="0">
                <a:solidFill>
                  <a:srgbClr val="323032"/>
                </a:solidFill>
                <a:effectLst/>
                <a:latin typeface="Helvetica" pitchFamily="2" charset="0"/>
              </a:rPr>
              <a:t>A dataset of vehicle types</a:t>
            </a:r>
            <a:r>
              <a:rPr lang="en-US" i="0" dirty="0">
                <a:solidFill>
                  <a:srgbClr val="323032"/>
                </a:solidFill>
                <a:effectLst/>
                <a:latin typeface="Helvetica" pitchFamily="2" charset="0"/>
              </a:rPr>
              <a:t> </a:t>
            </a:r>
            <a:r>
              <a:rPr lang="en-US" i="1" dirty="0">
                <a:solidFill>
                  <a:srgbClr val="323032"/>
                </a:solidFill>
                <a:effectLst/>
                <a:latin typeface="Helvetica" pitchFamily="2" charset="0"/>
              </a:rPr>
              <a:t>within the central business district on a weekday</a:t>
            </a:r>
            <a:r>
              <a:rPr lang="en-US" i="0" dirty="0">
                <a:solidFill>
                  <a:srgbClr val="323032"/>
                </a:solidFill>
                <a:effectLst/>
                <a:latin typeface="Helvetica" pitchFamily="2" charset="0"/>
              </a:rPr>
              <a:t> </a:t>
            </a:r>
            <a:r>
              <a:rPr lang="en-US" i="1" dirty="0">
                <a:solidFill>
                  <a:srgbClr val="323032"/>
                </a:solidFill>
                <a:effectLst/>
                <a:latin typeface="Helvetica" pitchFamily="2" charset="0"/>
              </a:rPr>
              <a:t>may exhibit stereotype bias weighted in </a:t>
            </a:r>
            <a:r>
              <a:rPr lang="en-US" i="1" dirty="0" err="1">
                <a:solidFill>
                  <a:srgbClr val="323032"/>
                </a:solidFill>
                <a:effectLst/>
                <a:latin typeface="Helvetica" pitchFamily="2" charset="0"/>
              </a:rPr>
              <a:t>favour</a:t>
            </a:r>
            <a:r>
              <a:rPr lang="en-US" i="1" dirty="0">
                <a:solidFill>
                  <a:srgbClr val="323032"/>
                </a:solidFill>
                <a:effectLst/>
                <a:latin typeface="Helvetica" pitchFamily="2" charset="0"/>
              </a:rPr>
              <a:t> of</a:t>
            </a:r>
            <a:r>
              <a:rPr lang="en-US" i="0" dirty="0">
                <a:solidFill>
                  <a:srgbClr val="323032"/>
                </a:solidFill>
                <a:effectLst/>
                <a:latin typeface="Helvetica" pitchFamily="2" charset="0"/>
              </a:rPr>
              <a:t> </a:t>
            </a:r>
            <a:r>
              <a:rPr lang="en-US" i="1" dirty="0">
                <a:solidFill>
                  <a:srgbClr val="323032"/>
                </a:solidFill>
                <a:effectLst/>
                <a:latin typeface="Helvetica" pitchFamily="2" charset="0"/>
              </a:rPr>
              <a:t>cars, buses and motorcycles but under-represent</a:t>
            </a:r>
            <a:r>
              <a:rPr lang="en-US" i="0" dirty="0">
                <a:solidFill>
                  <a:srgbClr val="323032"/>
                </a:solidFill>
                <a:effectLst/>
                <a:latin typeface="Helvetica" pitchFamily="2" charset="0"/>
              </a:rPr>
              <a:t> </a:t>
            </a:r>
            <a:r>
              <a:rPr lang="en-US" i="1" dirty="0">
                <a:solidFill>
                  <a:srgbClr val="323032"/>
                </a:solidFill>
                <a:effectLst/>
                <a:latin typeface="Helvetica" pitchFamily="2" charset="0"/>
              </a:rPr>
              <a:t>bicycles if it is used to model the types of</a:t>
            </a:r>
            <a:r>
              <a:rPr lang="en-US" i="0" dirty="0">
                <a:solidFill>
                  <a:srgbClr val="323032"/>
                </a:solidFill>
                <a:effectLst/>
                <a:latin typeface="Helvetica" pitchFamily="2" charset="0"/>
              </a:rPr>
              <a:t> </a:t>
            </a:r>
            <a:r>
              <a:rPr lang="en-US" i="1" dirty="0">
                <a:solidFill>
                  <a:srgbClr val="323032"/>
                </a:solidFill>
                <a:effectLst/>
                <a:latin typeface="Helvetica" pitchFamily="2" charset="0"/>
              </a:rPr>
              <a:t>transportation available in Singapore.</a:t>
            </a:r>
            <a:endParaRPr lang="en-US" dirty="0">
              <a:solidFill>
                <a:srgbClr val="323032"/>
              </a:solidFill>
              <a:effectLst/>
              <a:latin typeface="Helvetica" pitchFamily="2" charset="0"/>
            </a:endParaRPr>
          </a:p>
          <a:p>
            <a:endParaRPr lang="en-GB" dirty="0"/>
          </a:p>
          <a:p>
            <a:r>
              <a:rPr lang="en-GB" b="1" dirty="0"/>
              <a:t>Measurement bias</a:t>
            </a:r>
          </a:p>
          <a:p>
            <a:r>
              <a:rPr lang="en-GB" dirty="0"/>
              <a:t>This bias occurs when the data collection device causes the data to be systematically skewed in a particular direction. For example, the training data could be obtained using a camera with a colour filter that has been turned</a:t>
            </a:r>
          </a:p>
          <a:p>
            <a:r>
              <a:rPr lang="en-GB" dirty="0"/>
              <a:t>off, thereby skewing the machine learning result.</a:t>
            </a:r>
          </a:p>
        </p:txBody>
      </p:sp>
      <p:sp>
        <p:nvSpPr>
          <p:cNvPr id="4" name="Slide Number Placeholder 3"/>
          <p:cNvSpPr>
            <a:spLocks noGrp="1"/>
          </p:cNvSpPr>
          <p:nvPr>
            <p:ph type="sldNum" sz="quarter" idx="5"/>
          </p:nvPr>
        </p:nvSpPr>
        <p:spPr/>
        <p:txBody>
          <a:bodyPr/>
          <a:lstStyle/>
          <a:p>
            <a:fld id="{0740DD26-C564-4A3C-8398-FE9A3FA1B74B}" type="slidenum">
              <a:rPr lang="en-SG" smtClean="0"/>
              <a:t>39</a:t>
            </a:fld>
            <a:endParaRPr lang="en-SG"/>
          </a:p>
        </p:txBody>
      </p:sp>
    </p:spTree>
    <p:extLst>
      <p:ext uri="{BB962C8B-B14F-4D97-AF65-F5344CB8AC3E}">
        <p14:creationId xmlns:p14="http://schemas.microsoft.com/office/powerpoint/2010/main" val="4005119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seen from the AI project lifecycle, the potential ethical issues may be present in the development or the final deployment model.</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So it is important that we identify</a:t>
            </a:r>
            <a:r>
              <a:rPr lang="en-US" b="0" dirty="0"/>
              <a:t> any bias in the dataset and models that emerged during testing.</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0" dirty="0"/>
          </a:p>
          <a:p>
            <a:pPr lvl="0"/>
            <a:r>
              <a:rPr lang="en-US" b="0" dirty="0"/>
              <a:t>-Remove protected or discriminatory features. Such as gender and ethnicity should not be fed into the model if it irrelevant for solving the underlying problem</a:t>
            </a:r>
          </a:p>
          <a:p>
            <a:pPr lvl="0"/>
            <a:endParaRPr lang="en-US" b="0" dirty="0"/>
          </a:p>
          <a:p>
            <a:pPr lvl="0"/>
            <a:r>
              <a:rPr lang="en-US" b="0" dirty="0"/>
              <a:t>-Features that seem not harmful or offensive may turn out to be highly correlated, biased or discriminatory.  For example Gender, ethnicity and socioeconomic status can often be inferred from names, addresses and location data</a:t>
            </a:r>
          </a:p>
          <a:p>
            <a:pPr lvl="0"/>
            <a:endParaRPr lang="en-US" b="0" dirty="0"/>
          </a:p>
          <a:p>
            <a:pPr lvl="0"/>
            <a:r>
              <a:rPr lang="en-US" b="0" dirty="0"/>
              <a:t>-Bias can result from an incomplete representation of a minority class. Increase diversity in data. We can collect more  data for the similar content. Example when develop the face recognition system, we to ensure the data contain different</a:t>
            </a:r>
          </a:p>
          <a:p>
            <a:pPr lvl="0"/>
            <a:r>
              <a:rPr lang="en-US" b="0" dirty="0"/>
              <a:t>races or different citizen from different countries</a:t>
            </a:r>
          </a:p>
          <a:p>
            <a:pPr lvl="0"/>
            <a:r>
              <a:rPr lang="en-US" b="0" dirty="0"/>
              <a:t>Inclusion of view from stakeholder that are affected. </a:t>
            </a:r>
          </a:p>
          <a:p>
            <a:pPr lvl="0"/>
            <a:endParaRPr lang="en-US" b="0" dirty="0"/>
          </a:p>
          <a:p>
            <a:pPr lvl="0"/>
            <a:r>
              <a:rPr lang="en-US" b="0" dirty="0"/>
              <a:t>-Sometimes a metric may not be an accurate or well-</a:t>
            </a:r>
            <a:r>
              <a:rPr lang="en-US" b="0" dirty="0" err="1"/>
              <a:t>generalised</a:t>
            </a:r>
            <a:r>
              <a:rPr lang="en-US" b="0" dirty="0"/>
              <a:t> proxy for the underlying problem.</a:t>
            </a:r>
          </a:p>
          <a:p>
            <a:pPr lvl="0"/>
            <a:r>
              <a:rPr lang="en-US" b="0" dirty="0"/>
              <a:t>When testing of the model always try different metric to check for the different to detect the underline </a:t>
            </a:r>
            <a:r>
              <a:rPr lang="en-US" b="0" dirty="0" err="1"/>
              <a:t>ethicial</a:t>
            </a:r>
            <a:r>
              <a:rPr lang="en-US" b="0" dirty="0"/>
              <a:t> problem.</a:t>
            </a:r>
          </a:p>
          <a:p>
            <a:pPr lvl="0"/>
            <a:r>
              <a:rPr lang="en-US" b="0" dirty="0"/>
              <a:t>Example the classification problem in machine learning, we are interested to understand the overall perform we use the accuracy metric.</a:t>
            </a:r>
          </a:p>
          <a:p>
            <a:pPr lvl="0"/>
            <a:r>
              <a:rPr lang="en-US" b="0" dirty="0"/>
              <a:t>If we want to know how each label is performed, we may use the recall metric, this reflect the perform of individual label that is not influence by the other.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0"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dirty="0"/>
              <a:t>So it important that we have some AI ethic and governance in place, during the develop and deployment we will test the data and model to prevent it from it to happen.</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SG" sz="1200" b="0" i="0" u="none" strike="noStrike" cap="none" smtClean="0">
                <a:solidFill>
                  <a:schemeClr val="dk1"/>
                </a:solidFill>
                <a:latin typeface="Calibri"/>
                <a:ea typeface="Calibri"/>
                <a:cs typeface="Calibri"/>
                <a:sym typeface="Calibri"/>
              </a:rPr>
              <a:t>41</a:t>
            </a:fld>
            <a:endParaRPr lang="en-SG"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901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https://www.pdpc.gov.sg/Overview-of-PDPA/The-Legislation/Personal-Data-Protection-Act/Data-Protection-Obligations</a:t>
            </a:r>
          </a:p>
          <a:p>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dirty="0">
                <a:solidFill>
                  <a:srgbClr val="000000"/>
                </a:solidFill>
                <a:effectLst/>
                <a:latin typeface="Avenir"/>
              </a:rPr>
              <a:t>The PDPA </a:t>
            </a:r>
            <a:r>
              <a:rPr lang="en-US" b="0" i="0" dirty="0" err="1">
                <a:solidFill>
                  <a:srgbClr val="000000"/>
                </a:solidFill>
                <a:effectLst/>
                <a:latin typeface="Avenir"/>
              </a:rPr>
              <a:t>recognises</a:t>
            </a:r>
            <a:r>
              <a:rPr lang="en-US" b="0" i="0" dirty="0">
                <a:solidFill>
                  <a:srgbClr val="000000"/>
                </a:solidFill>
                <a:effectLst/>
                <a:latin typeface="Avenir"/>
              </a:rPr>
              <a:t> both the need to protect individuals’ personal data and the need of </a:t>
            </a:r>
            <a:r>
              <a:rPr lang="en-US" b="0" i="0" dirty="0" err="1">
                <a:solidFill>
                  <a:srgbClr val="000000"/>
                </a:solidFill>
                <a:effectLst/>
                <a:latin typeface="Avenir"/>
              </a:rPr>
              <a:t>organisations</a:t>
            </a:r>
            <a:r>
              <a:rPr lang="en-US" b="0" i="0" dirty="0">
                <a:solidFill>
                  <a:srgbClr val="000000"/>
                </a:solidFill>
                <a:effectLst/>
                <a:latin typeface="Avenir"/>
              </a:rPr>
              <a:t> to collect, use or disclose personal data for legitimate and reasonable purposes.</a:t>
            </a:r>
          </a:p>
          <a:p>
            <a:r>
              <a:rPr lang="en-US" dirty="0"/>
              <a:t>This regulation dictate some obligation when using such private date. The whole list of the obligations are stated in the link given.</a:t>
            </a:r>
          </a:p>
          <a:p>
            <a:endParaRPr lang="en-US" dirty="0"/>
          </a:p>
          <a:p>
            <a:r>
              <a:rPr lang="en-US" dirty="0"/>
              <a:t>We will discuss those that are more relevant o the AI project lifecycle.</a:t>
            </a:r>
          </a:p>
          <a:p>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dirty="0">
                <a:solidFill>
                  <a:srgbClr val="000000"/>
                </a:solidFill>
                <a:latin typeface="Avenir"/>
              </a:rPr>
              <a:t>Consent Obligation</a:t>
            </a:r>
            <a:endParaRPr lang="en-US" dirty="0"/>
          </a:p>
          <a:p>
            <a:r>
              <a:rPr lang="en-US" b="0" i="0" dirty="0">
                <a:solidFill>
                  <a:srgbClr val="000000"/>
                </a:solidFill>
                <a:effectLst/>
                <a:latin typeface="Avenir"/>
              </a:rPr>
              <a:t>Only collect, use or disclose personal data for purposes which an individual has given his/her consent to.</a:t>
            </a:r>
          </a:p>
          <a:p>
            <a:endParaRPr lang="en-US" b="0" i="0" dirty="0">
              <a:solidFill>
                <a:srgbClr val="000000"/>
              </a:solidFill>
              <a:effectLst/>
              <a:latin typeface="Avenir"/>
            </a:endParaRPr>
          </a:p>
          <a:p>
            <a:pPr lvl="0"/>
            <a:r>
              <a:rPr lang="en-US" b="0" i="0" dirty="0">
                <a:solidFill>
                  <a:srgbClr val="000000"/>
                </a:solidFill>
                <a:effectLst/>
                <a:latin typeface="Avenir"/>
              </a:rPr>
              <a:t>Purpose Limitation Obligation</a:t>
            </a:r>
          </a:p>
          <a:p>
            <a:pPr lvl="0"/>
            <a:r>
              <a:rPr lang="en-US" dirty="0"/>
              <a:t>The main objective of the Purpose Limitation Obligation is to ensure that </a:t>
            </a:r>
            <a:r>
              <a:rPr lang="en-US" dirty="0" err="1"/>
              <a:t>organisations</a:t>
            </a:r>
            <a:r>
              <a:rPr lang="en-US" dirty="0"/>
              <a:t> collect, use and disclose personal data that are relevant for the purposes, and only for purposes that are reasonable.</a:t>
            </a:r>
            <a:endParaRPr lang="en-US" b="0" i="0" dirty="0">
              <a:solidFill>
                <a:srgbClr val="000000"/>
              </a:solidFill>
              <a:effectLst/>
              <a:latin typeface="Avenir"/>
            </a:endParaRPr>
          </a:p>
          <a:p>
            <a:pPr lvl="0"/>
            <a:endParaRPr lang="en-US" b="0" i="0" dirty="0">
              <a:solidFill>
                <a:srgbClr val="000000"/>
              </a:solidFill>
              <a:effectLst/>
              <a:latin typeface="Avenir"/>
            </a:endParaRPr>
          </a:p>
          <a:p>
            <a:pPr lvl="0"/>
            <a:endParaRPr lang="en-US" b="0" dirty="0">
              <a:solidFill>
                <a:srgbClr val="000000"/>
              </a:solidFill>
              <a:latin typeface="Avenir"/>
            </a:endParaRPr>
          </a:p>
          <a:p>
            <a:pPr lvl="0"/>
            <a:r>
              <a:rPr lang="en-US" b="0" dirty="0">
                <a:solidFill>
                  <a:srgbClr val="000000"/>
                </a:solidFill>
                <a:latin typeface="Avenir"/>
              </a:rPr>
              <a:t>Protection Obligation</a:t>
            </a:r>
          </a:p>
          <a:p>
            <a:pPr lvl="0"/>
            <a:r>
              <a:rPr lang="en-US" b="0" i="0" dirty="0">
                <a:solidFill>
                  <a:srgbClr val="000000"/>
                </a:solidFill>
                <a:effectLst/>
                <a:latin typeface="Avenir"/>
              </a:rPr>
              <a:t>Reasonable security arrangements have to be made to protect the personal data in your </a:t>
            </a:r>
            <a:r>
              <a:rPr lang="en-US" b="0" i="0" dirty="0" err="1">
                <a:solidFill>
                  <a:srgbClr val="000000"/>
                </a:solidFill>
                <a:effectLst/>
                <a:latin typeface="Avenir"/>
              </a:rPr>
              <a:t>organisation’s</a:t>
            </a:r>
            <a:r>
              <a:rPr lang="en-US" b="0" i="0" dirty="0">
                <a:solidFill>
                  <a:srgbClr val="000000"/>
                </a:solidFill>
                <a:effectLst/>
                <a:latin typeface="Avenir"/>
              </a:rPr>
              <a:t> possession to prevent </a:t>
            </a:r>
            <a:r>
              <a:rPr lang="en-US" b="0" i="0" dirty="0" err="1">
                <a:solidFill>
                  <a:srgbClr val="000000"/>
                </a:solidFill>
                <a:effectLst/>
                <a:latin typeface="Avenir"/>
              </a:rPr>
              <a:t>unauthorised</a:t>
            </a:r>
            <a:r>
              <a:rPr lang="en-US" b="0" i="0" dirty="0">
                <a:solidFill>
                  <a:srgbClr val="000000"/>
                </a:solidFill>
                <a:effectLst/>
                <a:latin typeface="Avenir"/>
              </a:rPr>
              <a:t> access, collection, use, disclosure or similar risks.</a:t>
            </a:r>
          </a:p>
          <a:p>
            <a:pPr lvl="0"/>
            <a:endParaRPr lang="en-US" b="0" dirty="0">
              <a:solidFill>
                <a:srgbClr val="000000"/>
              </a:solidFill>
              <a:latin typeface="Avenir"/>
            </a:endParaRPr>
          </a:p>
          <a:p>
            <a:pPr lvl="0"/>
            <a:endParaRPr lang="en-US" b="0" i="0" dirty="0">
              <a:solidFill>
                <a:srgbClr val="000000"/>
              </a:solidFill>
              <a:effectLst/>
              <a:latin typeface="Avenir"/>
            </a:endParaRPr>
          </a:p>
          <a:p>
            <a:pPr lvl="0"/>
            <a:r>
              <a:rPr lang="en-US" b="0" i="0" dirty="0">
                <a:solidFill>
                  <a:srgbClr val="000000"/>
                </a:solidFill>
                <a:effectLst/>
                <a:latin typeface="Avenir"/>
              </a:rPr>
              <a:t>Retention Limitation Obligation</a:t>
            </a:r>
          </a:p>
          <a:p>
            <a:pPr lvl="0"/>
            <a:r>
              <a:rPr lang="en-US" b="0" i="0" dirty="0">
                <a:solidFill>
                  <a:srgbClr val="000000"/>
                </a:solidFill>
                <a:effectLst/>
                <a:latin typeface="Avenir"/>
              </a:rPr>
              <a:t>Cease retention of personal data or dispose of it in a proper manner when it is no longer needed for any business or legal purpose.</a:t>
            </a:r>
          </a:p>
          <a:p>
            <a:pPr lvl="0"/>
            <a:endParaRPr lang="en-US" b="0" i="0" dirty="0">
              <a:solidFill>
                <a:srgbClr val="000000"/>
              </a:solidFill>
              <a:effectLst/>
              <a:latin typeface="Avenir"/>
            </a:endParaRPr>
          </a:p>
          <a:p>
            <a:pPr lvl="0"/>
            <a:endParaRPr lang="en-US" b="0" i="0" dirty="0">
              <a:solidFill>
                <a:srgbClr val="000000"/>
              </a:solidFill>
              <a:effectLst/>
              <a:latin typeface="Avenir"/>
            </a:endParaRPr>
          </a:p>
          <a:p>
            <a:pPr lvl="0"/>
            <a:r>
              <a:rPr lang="en-US" b="0" i="0" dirty="0">
                <a:solidFill>
                  <a:srgbClr val="000000"/>
                </a:solidFill>
                <a:effectLst/>
                <a:latin typeface="Avenir"/>
              </a:rPr>
              <a:t>Transfer Limitation Obligation</a:t>
            </a:r>
          </a:p>
          <a:p>
            <a:pPr lvl="0"/>
            <a:r>
              <a:rPr lang="en-US" b="0" i="0" dirty="0">
                <a:solidFill>
                  <a:srgbClr val="000000"/>
                </a:solidFill>
                <a:effectLst/>
                <a:latin typeface="Avenir"/>
              </a:rPr>
              <a:t>Transfer personal data to another country only according to the requirements prescribed under the regulations, to ensure that the standard of protection is comparable to the protection under the PDPA</a:t>
            </a:r>
          </a:p>
          <a:p>
            <a:pPr lvl="0"/>
            <a:endParaRPr lang="en-US" b="0" i="0" dirty="0">
              <a:solidFill>
                <a:srgbClr val="000000"/>
              </a:solidFill>
              <a:effectLst/>
              <a:latin typeface="Avenir"/>
            </a:endParaRPr>
          </a:p>
          <a:p>
            <a:pPr lvl="0"/>
            <a:r>
              <a:rPr lang="en-US" b="0" i="0" dirty="0">
                <a:solidFill>
                  <a:srgbClr val="000000"/>
                </a:solidFill>
                <a:effectLst/>
                <a:latin typeface="Avenir"/>
              </a:rPr>
              <a:t>Accuracy Obligation</a:t>
            </a:r>
          </a:p>
          <a:p>
            <a:pPr lvl="0"/>
            <a:r>
              <a:rPr lang="en-US" b="0" i="0" dirty="0">
                <a:solidFill>
                  <a:srgbClr val="000000"/>
                </a:solidFill>
                <a:effectLst/>
                <a:latin typeface="Avenir"/>
              </a:rPr>
              <a:t>Make reasonable effort to ensure that the personal data collected is accurate and complete, especially if it is likely to be used to make a decision that affects the individual or to be disclosed to another </a:t>
            </a:r>
            <a:r>
              <a:rPr lang="en-US" b="0" i="0" dirty="0" err="1">
                <a:solidFill>
                  <a:srgbClr val="000000"/>
                </a:solidFill>
                <a:effectLst/>
                <a:latin typeface="Avenir"/>
              </a:rPr>
              <a:t>organisation</a:t>
            </a:r>
            <a:r>
              <a:rPr lang="en-US" b="0" i="0" dirty="0">
                <a:solidFill>
                  <a:srgbClr val="000000"/>
                </a:solidFill>
                <a:effectLst/>
                <a:latin typeface="Avenir"/>
              </a:rPr>
              <a:t>.</a:t>
            </a:r>
          </a:p>
          <a:p>
            <a:pPr lvl="0"/>
            <a:endParaRPr lang="en-US" b="0" i="0" dirty="0">
              <a:solidFill>
                <a:srgbClr val="000000"/>
              </a:solidFill>
              <a:effectLst/>
              <a:latin typeface="Avenir"/>
            </a:endParaRPr>
          </a:p>
          <a:p>
            <a:endParaRPr lang="en-US" b="0" i="0" dirty="0">
              <a:solidFill>
                <a:srgbClr val="000000"/>
              </a:solidFill>
              <a:effectLst/>
              <a:latin typeface="Avenir"/>
            </a:endParaRP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SG" sz="1200" b="0" i="0" u="none" strike="noStrike" cap="none" smtClean="0">
                <a:solidFill>
                  <a:schemeClr val="dk1"/>
                </a:solidFill>
                <a:latin typeface="Calibri"/>
                <a:ea typeface="Calibri"/>
                <a:cs typeface="Calibri"/>
                <a:sym typeface="Calibri"/>
              </a:rPr>
              <a:t>43</a:t>
            </a:fld>
            <a:endParaRPr lang="en-SG"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13440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46596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Adversarial testing is resource intensive so consider risk-based approach </a:t>
            </a:r>
          </a:p>
        </p:txBody>
      </p:sp>
      <p:sp>
        <p:nvSpPr>
          <p:cNvPr id="4" name="Slide Number Placeholder 3"/>
          <p:cNvSpPr>
            <a:spLocks noGrp="1"/>
          </p:cNvSpPr>
          <p:nvPr>
            <p:ph type="sldNum" sz="quarter" idx="5"/>
          </p:nvPr>
        </p:nvSpPr>
        <p:spPr/>
        <p:txBody>
          <a:bodyPr/>
          <a:lstStyle/>
          <a:p>
            <a:fld id="{0740DD26-C564-4A3C-8398-FE9A3FA1B74B}" type="slidenum">
              <a:rPr lang="en-SG" smtClean="0"/>
              <a:t>47</a:t>
            </a:fld>
            <a:endParaRPr lang="en-SG"/>
          </a:p>
        </p:txBody>
      </p:sp>
    </p:spTree>
    <p:extLst>
      <p:ext uri="{BB962C8B-B14F-4D97-AF65-F5344CB8AC3E}">
        <p14:creationId xmlns:p14="http://schemas.microsoft.com/office/powerpoint/2010/main" val="22495443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1453-16ED-B97A-EE02-84F2A10CE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132D7-ECC9-2CB2-B4FA-2C0200E16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990E2-453E-BF2B-2507-2D67A27F6465}"/>
              </a:ext>
            </a:extLst>
          </p:cNvPr>
          <p:cNvSpPr>
            <a:spLocks noGrp="1"/>
          </p:cNvSpPr>
          <p:nvPr>
            <p:ph type="body" idx="1"/>
          </p:nvPr>
        </p:nvSpPr>
        <p:spPr/>
        <p:txBody>
          <a:bodyPr/>
          <a:lstStyle/>
          <a:p>
            <a:r>
              <a:rPr lang="en-GB" dirty="0"/>
              <a:t>Adversarial testing is resource intensive so consider risk-based approach </a:t>
            </a:r>
          </a:p>
        </p:txBody>
      </p:sp>
      <p:sp>
        <p:nvSpPr>
          <p:cNvPr id="4" name="Slide Number Placeholder 3">
            <a:extLst>
              <a:ext uri="{FF2B5EF4-FFF2-40B4-BE49-F238E27FC236}">
                <a16:creationId xmlns:a16="http://schemas.microsoft.com/office/drawing/2014/main" id="{B099A5BA-2BE9-1451-22DD-3061B64DC38A}"/>
              </a:ext>
            </a:extLst>
          </p:cNvPr>
          <p:cNvSpPr>
            <a:spLocks noGrp="1"/>
          </p:cNvSpPr>
          <p:nvPr>
            <p:ph type="sldNum" sz="quarter" idx="5"/>
          </p:nvPr>
        </p:nvSpPr>
        <p:spPr/>
        <p:txBody>
          <a:bodyPr/>
          <a:lstStyle/>
          <a:p>
            <a:fld id="{0740DD26-C564-4A3C-8398-FE9A3FA1B74B}" type="slidenum">
              <a:rPr lang="en-SG" smtClean="0"/>
              <a:t>48</a:t>
            </a:fld>
            <a:endParaRPr lang="en-SG"/>
          </a:p>
        </p:txBody>
      </p:sp>
    </p:spTree>
    <p:extLst>
      <p:ext uri="{BB962C8B-B14F-4D97-AF65-F5344CB8AC3E}">
        <p14:creationId xmlns:p14="http://schemas.microsoft.com/office/powerpoint/2010/main" val="3520910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61</a:t>
            </a:fld>
            <a:endParaRPr lang="en-SG"/>
          </a:p>
        </p:txBody>
      </p:sp>
    </p:spTree>
    <p:extLst>
      <p:ext uri="{BB962C8B-B14F-4D97-AF65-F5344CB8AC3E}">
        <p14:creationId xmlns:p14="http://schemas.microsoft.com/office/powerpoint/2010/main" val="1963710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6486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12557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Gospel</a:t>
            </a:r>
          </a:p>
          <a:p>
            <a:endParaRPr lang="en-GB" dirty="0"/>
          </a:p>
          <a:p>
            <a:r>
              <a:rPr lang="en-GB" dirty="0"/>
              <a:t>https://www.972mag.com/mass-assassination-factory-</a:t>
            </a:r>
            <a:r>
              <a:rPr lang="en-GB" dirty="0" err="1"/>
              <a:t>israel</a:t>
            </a:r>
            <a:r>
              <a:rPr lang="en-GB" dirty="0"/>
              <a:t>-calculated-bombing-</a:t>
            </a:r>
            <a:r>
              <a:rPr lang="en-GB" dirty="0" err="1"/>
              <a:t>gaza</a:t>
            </a:r>
            <a:r>
              <a:rPr lang="en-GB" dirty="0"/>
              <a:t>/</a:t>
            </a:r>
          </a:p>
          <a:p>
            <a:endParaRPr lang="en-GB" dirty="0"/>
          </a:p>
          <a:p>
            <a:r>
              <a:rPr lang="en-GB" dirty="0" err="1"/>
              <a:t>Lavendar</a:t>
            </a:r>
            <a:r>
              <a:rPr lang="en-GB" dirty="0"/>
              <a:t> </a:t>
            </a:r>
          </a:p>
          <a:p>
            <a:endParaRPr lang="en-GB" dirty="0"/>
          </a:p>
          <a:p>
            <a:r>
              <a:rPr lang="en-GB" dirty="0"/>
              <a:t>https://www.972mag.com/lavender-ai-</a:t>
            </a:r>
            <a:r>
              <a:rPr lang="en-GB" dirty="0" err="1"/>
              <a:t>israeli</a:t>
            </a:r>
            <a:r>
              <a:rPr lang="en-GB" dirty="0"/>
              <a:t>-army-</a:t>
            </a:r>
            <a:r>
              <a:rPr lang="en-GB" dirty="0" err="1"/>
              <a:t>gaza</a:t>
            </a:r>
            <a:r>
              <a:rPr lang="en-GB" dirty="0"/>
              <a:t>/</a:t>
            </a:r>
          </a:p>
          <a:p>
            <a:endParaRPr lang="en-GB" dirty="0"/>
          </a:p>
          <a:p>
            <a:r>
              <a:rPr lang="en-GB" dirty="0"/>
              <a:t>Opinion piece</a:t>
            </a:r>
          </a:p>
          <a:p>
            <a:r>
              <a:rPr lang="en-GB" dirty="0"/>
              <a:t>https://</a:t>
            </a:r>
            <a:r>
              <a:rPr lang="en-GB" dirty="0" err="1"/>
              <a:t>www.rsis.edu.sg</a:t>
            </a:r>
            <a:r>
              <a:rPr lang="en-GB" dirty="0"/>
              <a:t>/</a:t>
            </a:r>
            <a:r>
              <a:rPr lang="en-GB" dirty="0" err="1"/>
              <a:t>rsis</a:t>
            </a:r>
            <a:r>
              <a:rPr lang="en-GB" dirty="0"/>
              <a:t>-publication/</a:t>
            </a:r>
            <a:r>
              <a:rPr lang="en-GB" dirty="0" err="1"/>
              <a:t>idss</a:t>
            </a:r>
            <a:r>
              <a:rPr lang="en-GB" dirty="0"/>
              <a:t>/ip24063-the-case-for-ai-based-decision-support-systems-oversight/</a:t>
            </a:r>
          </a:p>
          <a:p>
            <a:endParaRPr lang="en-GB" dirty="0"/>
          </a:p>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67</a:t>
            </a:fld>
            <a:endParaRPr lang="en-SG"/>
          </a:p>
        </p:txBody>
      </p:sp>
    </p:spTree>
    <p:extLst>
      <p:ext uri="{BB962C8B-B14F-4D97-AF65-F5344CB8AC3E}">
        <p14:creationId xmlns:p14="http://schemas.microsoft.com/office/powerpoint/2010/main" val="34379154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sz="2133" dirty="0"/>
              <a:t>ensures the integration of privacy and data protection principles from the system's inception, </a:t>
            </a:r>
          </a:p>
          <a:p>
            <a:r>
              <a:rPr lang="en-GB" sz="2133" dirty="0"/>
              <a:t>Key practices:</a:t>
            </a:r>
          </a:p>
          <a:p>
            <a:pPr lvl="1"/>
            <a:r>
              <a:rPr lang="en-US" sz="2133" b="1" dirty="0">
                <a:latin typeface="Times New Roman" panose="02020603050405020304" pitchFamily="18" charset="0"/>
              </a:rPr>
              <a:t>Data Minimization</a:t>
            </a:r>
            <a:r>
              <a:rPr lang="en-US" sz="2133" dirty="0">
                <a:latin typeface="Times New Roman" panose="02020603050405020304" pitchFamily="18" charset="0"/>
              </a:rPr>
              <a:t>: The system should collect only the data that is essential for its purpose, demonstrated by the selective capture of images and video by the camera subsystem.</a:t>
            </a:r>
          </a:p>
          <a:p>
            <a:pPr lvl="1"/>
            <a:r>
              <a:rPr lang="en-US" sz="2133" b="1" dirty="0">
                <a:latin typeface="Times New Roman" panose="02020603050405020304" pitchFamily="18" charset="0"/>
              </a:rPr>
              <a:t>Secure Data Handling</a:t>
            </a:r>
            <a:r>
              <a:rPr lang="en-US" sz="2133" dirty="0">
                <a:latin typeface="Times New Roman" panose="02020603050405020304" pitchFamily="18" charset="0"/>
              </a:rPr>
              <a:t>: The VMS (video management system) must secure images and videos against unauthorized access, maintaining integrity during transmission to AI applications and back-end solutions</a:t>
            </a:r>
          </a:p>
          <a:p>
            <a:pPr lvl="1"/>
            <a:r>
              <a:rPr lang="en-US" sz="2133" b="1" dirty="0">
                <a:latin typeface="Times New Roman" panose="02020603050405020304" pitchFamily="18" charset="0"/>
              </a:rPr>
              <a:t>Transparency and Accountability</a:t>
            </a:r>
            <a:r>
              <a:rPr lang="en-US" sz="2133" dirty="0">
                <a:latin typeface="Times New Roman" panose="02020603050405020304" pitchFamily="18" charset="0"/>
              </a:rPr>
              <a:t>: There must be clarity in the flow of data, including text, images, and videos, from the backend to the front-end solutions, with explicit policies on data processing purposes.</a:t>
            </a:r>
          </a:p>
          <a:p>
            <a:pPr lvl="1"/>
            <a:r>
              <a:rPr lang="en-US" sz="2133" b="1" dirty="0">
                <a:latin typeface="Times New Roman" panose="02020603050405020304" pitchFamily="18" charset="0"/>
              </a:rPr>
              <a:t>PETs: </a:t>
            </a:r>
            <a:r>
              <a:rPr lang="en-US" sz="2133" dirty="0">
                <a:latin typeface="Times New Roman" panose="02020603050405020304" pitchFamily="18" charset="0"/>
              </a:rPr>
              <a:t>Privacy-enhancing technologies use techniques like dynamic privacy masking. These are crucial in AI apps to obscure personal identifiers in video data, ensuring privacy preservation.</a:t>
            </a:r>
          </a:p>
          <a:p>
            <a:pPr lvl="1"/>
            <a:r>
              <a:rPr lang="en-US" sz="2133" b="1" dirty="0">
                <a:latin typeface="Times New Roman" panose="02020603050405020304" pitchFamily="18" charset="0"/>
              </a:rPr>
              <a:t>End-to-End Security</a:t>
            </a:r>
            <a:r>
              <a:rPr lang="en-US" sz="2133" dirty="0">
                <a:latin typeface="Times New Roman" panose="02020603050405020304" pitchFamily="18" charset="0"/>
              </a:rPr>
              <a:t>: A robust design should prevent external and insider threats, signified by secure infrastructure and cybersecurity solutions that protect against unauthorized access.</a:t>
            </a:r>
          </a:p>
          <a:p>
            <a:pPr lvl="1"/>
            <a:endParaRPr lang="en-GB" sz="2133" dirty="0"/>
          </a:p>
          <a:p>
            <a:endParaRPr lang="en-GB" dirty="0"/>
          </a:p>
        </p:txBody>
      </p:sp>
    </p:spTree>
    <p:extLst>
      <p:ext uri="{BB962C8B-B14F-4D97-AF65-F5344CB8AC3E}">
        <p14:creationId xmlns:p14="http://schemas.microsoft.com/office/powerpoint/2010/main" val="15432124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Internal Structure: </a:t>
            </a:r>
          </a:p>
          <a:p>
            <a:pPr marL="228600" indent="-228600">
              <a:buAutoNum type="arabicPeriod"/>
            </a:pPr>
            <a:r>
              <a:rPr lang="en-GB" dirty="0"/>
              <a:t>Have a overall committee to oversee the ai development (the RDU) – important to include senior leaders from different organization units (e.g. legal, human resource, banking, etc) that represent diverse views</a:t>
            </a:r>
          </a:p>
          <a:p>
            <a:pPr marL="228600" indent="-228600">
              <a:buAutoNum type="arabicPeriod"/>
            </a:pPr>
            <a:r>
              <a:rPr lang="en-GB" dirty="0"/>
              <a:t>What kind of things to review: complied with legal, security and data quality </a:t>
            </a:r>
          </a:p>
          <a:p>
            <a:pPr marL="228600" indent="-228600">
              <a:buAutoNum type="arabicPeriod"/>
            </a:pPr>
            <a:r>
              <a:rPr lang="en-GB" dirty="0"/>
              <a:t>A </a:t>
            </a:r>
            <a:r>
              <a:rPr lang="en-GB" dirty="0" err="1"/>
              <a:t>comimittet</a:t>
            </a:r>
            <a:r>
              <a:rPr lang="en-GB" dirty="0"/>
              <a:t> can be formed to review the EDA, evaluation training, review data collection process</a:t>
            </a:r>
          </a:p>
          <a:p>
            <a:pPr marL="228600" indent="-228600">
              <a:buAutoNum type="arabicPeriod"/>
            </a:pPr>
            <a:endParaRPr lang="en-GB" dirty="0"/>
          </a:p>
          <a:p>
            <a:pPr marL="228600" indent="-228600">
              <a:buAutoNum type="arabicPeriod"/>
            </a:pPr>
            <a:r>
              <a:rPr lang="en-GB" dirty="0"/>
              <a:t>Data maybe biased, bank can </a:t>
            </a:r>
          </a:p>
          <a:p>
            <a:pPr marL="228600" indent="-228600">
              <a:buAutoNum type="arabicPeriod"/>
            </a:pPr>
            <a:endParaRPr lang="en-GB" dirty="0"/>
          </a:p>
          <a:p>
            <a:pPr marL="228600" indent="-228600">
              <a:buAutoNum type="arabicPeriod"/>
            </a:pPr>
            <a:endParaRPr lang="en-GB" dirty="0"/>
          </a:p>
          <a:p>
            <a:pPr marL="228600" indent="-228600">
              <a:buAutoNum type="arabicPeriod"/>
            </a:pPr>
            <a:r>
              <a:rPr lang="en-GB" dirty="0"/>
              <a:t>Should it disclose how the </a:t>
            </a:r>
          </a:p>
          <a:p>
            <a:pPr marL="228600" indent="-228600">
              <a:buAutoNum type="arabicPeriod"/>
            </a:pPr>
            <a:endParaRPr lang="en-GB" dirty="0"/>
          </a:p>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69</a:t>
            </a:fld>
            <a:endParaRPr lang="en-SG"/>
          </a:p>
        </p:txBody>
      </p:sp>
    </p:spTree>
    <p:extLst>
      <p:ext uri="{BB962C8B-B14F-4D97-AF65-F5344CB8AC3E}">
        <p14:creationId xmlns:p14="http://schemas.microsoft.com/office/powerpoint/2010/main" val="3136318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70</a:t>
            </a:fld>
            <a:endParaRPr lang="en-SG"/>
          </a:p>
        </p:txBody>
      </p:sp>
    </p:spTree>
    <p:extLst>
      <p:ext uri="{BB962C8B-B14F-4D97-AF65-F5344CB8AC3E}">
        <p14:creationId xmlns:p14="http://schemas.microsoft.com/office/powerpoint/2010/main" val="29283632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40DD26-C564-4A3C-8398-FE9A3FA1B74B}" type="slidenum">
              <a:rPr lang="en-SG" smtClean="0"/>
              <a:t>71</a:t>
            </a:fld>
            <a:endParaRPr lang="en-SG"/>
          </a:p>
        </p:txBody>
      </p:sp>
    </p:spTree>
    <p:extLst>
      <p:ext uri="{BB962C8B-B14F-4D97-AF65-F5344CB8AC3E}">
        <p14:creationId xmlns:p14="http://schemas.microsoft.com/office/powerpoint/2010/main" val="1632817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fld id="{EEE420EB-3E60-42DB-B1C5-A115BE08E625}" type="datetimeFigureOut">
              <a:rPr lang="en-SG" smtClean="0"/>
              <a:t>4/5/2026</a:t>
            </a:fld>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10" name="Picture Placeholder 5">
            <a:extLst>
              <a:ext uri="{FF2B5EF4-FFF2-40B4-BE49-F238E27FC236}">
                <a16:creationId xmlns:a16="http://schemas.microsoft.com/office/drawing/2014/main" id="{8A6CBD41-BC6D-422A-B1C2-15D96421FE6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6899" y="-11621"/>
            <a:ext cx="7499116" cy="6907141"/>
          </a:xfrm>
          <a:custGeom>
            <a:avLst/>
            <a:gdLst>
              <a:gd name="connsiteX0" fmla="*/ 0 w 6183086"/>
              <a:gd name="connsiteY0" fmla="*/ 1237488 h 4404500"/>
              <a:gd name="connsiteX1" fmla="*/ 1737200 w 6183086"/>
              <a:gd name="connsiteY1" fmla="*/ 0 h 4404500"/>
              <a:gd name="connsiteX2" fmla="*/ 6183086 w 6183086"/>
              <a:gd name="connsiteY2" fmla="*/ 0 h 4404500"/>
              <a:gd name="connsiteX3" fmla="*/ 0 w 6183086"/>
              <a:gd name="connsiteY3" fmla="*/ 4404500 h 4404500"/>
              <a:gd name="connsiteX4" fmla="*/ 0 w 6183086"/>
              <a:gd name="connsiteY4" fmla="*/ 1237488 h 4404500"/>
              <a:gd name="connsiteX0" fmla="*/ 0 w 6183086"/>
              <a:gd name="connsiteY0" fmla="*/ 1237488 h 5374318"/>
              <a:gd name="connsiteX1" fmla="*/ 1737200 w 6183086"/>
              <a:gd name="connsiteY1" fmla="*/ 0 h 5374318"/>
              <a:gd name="connsiteX2" fmla="*/ 6183086 w 6183086"/>
              <a:gd name="connsiteY2" fmla="*/ 0 h 5374318"/>
              <a:gd name="connsiteX3" fmla="*/ 6928 w 6183086"/>
              <a:gd name="connsiteY3" fmla="*/ 5374318 h 5374318"/>
              <a:gd name="connsiteX4" fmla="*/ 0 w 6183086"/>
              <a:gd name="connsiteY4" fmla="*/ 1237488 h 5374318"/>
              <a:gd name="connsiteX0" fmla="*/ 665 w 6183751"/>
              <a:gd name="connsiteY0" fmla="*/ 1237488 h 5318900"/>
              <a:gd name="connsiteX1" fmla="*/ 1737865 w 6183751"/>
              <a:gd name="connsiteY1" fmla="*/ 0 h 5318900"/>
              <a:gd name="connsiteX2" fmla="*/ 6183751 w 6183751"/>
              <a:gd name="connsiteY2" fmla="*/ 0 h 5318900"/>
              <a:gd name="connsiteX3" fmla="*/ 666 w 6183751"/>
              <a:gd name="connsiteY3" fmla="*/ 5318900 h 5318900"/>
              <a:gd name="connsiteX4" fmla="*/ 665 w 6183751"/>
              <a:gd name="connsiteY4" fmla="*/ 1237488 h 5318900"/>
              <a:gd name="connsiteX0" fmla="*/ 0 w 6183086"/>
              <a:gd name="connsiteY0" fmla="*/ 1237488 h 5325827"/>
              <a:gd name="connsiteX1" fmla="*/ 1737200 w 6183086"/>
              <a:gd name="connsiteY1" fmla="*/ 0 h 5325827"/>
              <a:gd name="connsiteX2" fmla="*/ 6183086 w 6183086"/>
              <a:gd name="connsiteY2" fmla="*/ 0 h 5325827"/>
              <a:gd name="connsiteX3" fmla="*/ 6928 w 6183086"/>
              <a:gd name="connsiteY3" fmla="*/ 5325827 h 5325827"/>
              <a:gd name="connsiteX4" fmla="*/ 0 w 6183086"/>
              <a:gd name="connsiteY4" fmla="*/ 1237488 h 5325827"/>
              <a:gd name="connsiteX0" fmla="*/ 665 w 6183751"/>
              <a:gd name="connsiteY0" fmla="*/ 1237488 h 5374318"/>
              <a:gd name="connsiteX1" fmla="*/ 1737865 w 6183751"/>
              <a:gd name="connsiteY1" fmla="*/ 0 h 5374318"/>
              <a:gd name="connsiteX2" fmla="*/ 6183751 w 6183751"/>
              <a:gd name="connsiteY2" fmla="*/ 0 h 5374318"/>
              <a:gd name="connsiteX3" fmla="*/ 666 w 6183751"/>
              <a:gd name="connsiteY3" fmla="*/ 5374318 h 5374318"/>
              <a:gd name="connsiteX4" fmla="*/ 665 w 6183751"/>
              <a:gd name="connsiteY4" fmla="*/ 1237488 h 5374318"/>
              <a:gd name="connsiteX0" fmla="*/ 665 w 6183751"/>
              <a:gd name="connsiteY0" fmla="*/ 1237488 h 5374318"/>
              <a:gd name="connsiteX1" fmla="*/ 1737865 w 6183751"/>
              <a:gd name="connsiteY1" fmla="*/ 0 h 5374318"/>
              <a:gd name="connsiteX2" fmla="*/ 6183751 w 6183751"/>
              <a:gd name="connsiteY2" fmla="*/ 0 h 5374318"/>
              <a:gd name="connsiteX3" fmla="*/ 1699329 w 6183751"/>
              <a:gd name="connsiteY3" fmla="*/ 3887986 h 5374318"/>
              <a:gd name="connsiteX4" fmla="*/ 666 w 6183751"/>
              <a:gd name="connsiteY4" fmla="*/ 5374318 h 5374318"/>
              <a:gd name="connsiteX5" fmla="*/ 665 w 6183751"/>
              <a:gd name="connsiteY5" fmla="*/ 1237488 h 5374318"/>
              <a:gd name="connsiteX0" fmla="*/ 665 w 6183751"/>
              <a:gd name="connsiteY0" fmla="*/ 1237488 h 5374318"/>
              <a:gd name="connsiteX1" fmla="*/ 1737865 w 6183751"/>
              <a:gd name="connsiteY1" fmla="*/ 0 h 5374318"/>
              <a:gd name="connsiteX2" fmla="*/ 6183751 w 6183751"/>
              <a:gd name="connsiteY2" fmla="*/ 0 h 5374318"/>
              <a:gd name="connsiteX3" fmla="*/ 4324765 w 6183751"/>
              <a:gd name="connsiteY3" fmla="*/ 5301150 h 5374318"/>
              <a:gd name="connsiteX4" fmla="*/ 666 w 6183751"/>
              <a:gd name="connsiteY4" fmla="*/ 5374318 h 5374318"/>
              <a:gd name="connsiteX5" fmla="*/ 665 w 6183751"/>
              <a:gd name="connsiteY5" fmla="*/ 1237488 h 5374318"/>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27710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7234 w 6176466"/>
              <a:gd name="connsiteY0" fmla="*/ 1244415 h 5318900"/>
              <a:gd name="connsiteX1" fmla="*/ 1730580 w 6176466"/>
              <a:gd name="connsiteY1" fmla="*/ 0 h 5318900"/>
              <a:gd name="connsiteX2" fmla="*/ 6176466 w 6176466"/>
              <a:gd name="connsiteY2" fmla="*/ 0 h 5318900"/>
              <a:gd name="connsiteX3" fmla="*/ 4317480 w 6176466"/>
              <a:gd name="connsiteY3" fmla="*/ 5301150 h 5318900"/>
              <a:gd name="connsiteX4" fmla="*/ 308 w 6176466"/>
              <a:gd name="connsiteY4" fmla="*/ 5318900 h 5318900"/>
              <a:gd name="connsiteX5" fmla="*/ 7234 w 6176466"/>
              <a:gd name="connsiteY5"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5541210 w 6176466"/>
              <a:gd name="connsiteY3" fmla="*/ 1837514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333883 w 6176466"/>
              <a:gd name="connsiteY3" fmla="*/ 2814259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008301 w 6176466"/>
              <a:gd name="connsiteY3" fmla="*/ 4158150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707956 w 6176466"/>
              <a:gd name="connsiteY3" fmla="*/ 3306096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4737647 w 6176466"/>
              <a:gd name="connsiteY3" fmla="*/ 1352604 h 5318900"/>
              <a:gd name="connsiteX4" fmla="*/ 2707956 w 6176466"/>
              <a:gd name="connsiteY4" fmla="*/ 3306096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2707956 w 6176466"/>
              <a:gd name="connsiteY4" fmla="*/ 3306096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1751993 w 6176466"/>
              <a:gd name="connsiteY4" fmla="*/ 3437714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2513993 w 6176466"/>
              <a:gd name="connsiteY4" fmla="*/ 3084423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5610483 w 6176466"/>
              <a:gd name="connsiteY3" fmla="*/ 154187 h 5318900"/>
              <a:gd name="connsiteX4" fmla="*/ 2513993 w 6176466"/>
              <a:gd name="connsiteY4" fmla="*/ 3084423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5610483"/>
              <a:gd name="connsiteY0" fmla="*/ 1244415 h 5318900"/>
              <a:gd name="connsiteX1" fmla="*/ 1730580 w 5610483"/>
              <a:gd name="connsiteY1" fmla="*/ 0 h 5318900"/>
              <a:gd name="connsiteX2" fmla="*/ 5610483 w 5610483"/>
              <a:gd name="connsiteY2" fmla="*/ 154187 h 5318900"/>
              <a:gd name="connsiteX3" fmla="*/ 2513993 w 5610483"/>
              <a:gd name="connsiteY3" fmla="*/ 3084423 h 5318900"/>
              <a:gd name="connsiteX4" fmla="*/ 4317480 w 5610483"/>
              <a:gd name="connsiteY4" fmla="*/ 5301150 h 5318900"/>
              <a:gd name="connsiteX5" fmla="*/ 308 w 5610483"/>
              <a:gd name="connsiteY5" fmla="*/ 5318900 h 5318900"/>
              <a:gd name="connsiteX6" fmla="*/ 7234 w 5610483"/>
              <a:gd name="connsiteY6" fmla="*/ 1244415 h 5318900"/>
              <a:gd name="connsiteX0" fmla="*/ 7234 w 5610483"/>
              <a:gd name="connsiteY0" fmla="*/ 1098943 h 5173428"/>
              <a:gd name="connsiteX1" fmla="*/ 1308016 w 5610483"/>
              <a:gd name="connsiteY1" fmla="*/ 0 h 5173428"/>
              <a:gd name="connsiteX2" fmla="*/ 5610483 w 5610483"/>
              <a:gd name="connsiteY2" fmla="*/ 8715 h 5173428"/>
              <a:gd name="connsiteX3" fmla="*/ 2513993 w 5610483"/>
              <a:gd name="connsiteY3" fmla="*/ 2938951 h 5173428"/>
              <a:gd name="connsiteX4" fmla="*/ 4317480 w 5610483"/>
              <a:gd name="connsiteY4" fmla="*/ 5155678 h 5173428"/>
              <a:gd name="connsiteX5" fmla="*/ 308 w 5610483"/>
              <a:gd name="connsiteY5" fmla="*/ 5173428 h 5173428"/>
              <a:gd name="connsiteX6" fmla="*/ 7234 w 5610483"/>
              <a:gd name="connsiteY6" fmla="*/ 1098943 h 5173428"/>
              <a:gd name="connsiteX0" fmla="*/ 7234 w 5568919"/>
              <a:gd name="connsiteY0" fmla="*/ 1111010 h 5185495"/>
              <a:gd name="connsiteX1" fmla="*/ 1308016 w 5568919"/>
              <a:gd name="connsiteY1" fmla="*/ 12067 h 5185495"/>
              <a:gd name="connsiteX2" fmla="*/ 5568919 w 5568919"/>
              <a:gd name="connsiteY2" fmla="*/ 0 h 5185495"/>
              <a:gd name="connsiteX3" fmla="*/ 2513993 w 5568919"/>
              <a:gd name="connsiteY3" fmla="*/ 2951018 h 5185495"/>
              <a:gd name="connsiteX4" fmla="*/ 4317480 w 5568919"/>
              <a:gd name="connsiteY4" fmla="*/ 5167745 h 5185495"/>
              <a:gd name="connsiteX5" fmla="*/ 308 w 5568919"/>
              <a:gd name="connsiteY5" fmla="*/ 5185495 h 5185495"/>
              <a:gd name="connsiteX6" fmla="*/ 7234 w 5568919"/>
              <a:gd name="connsiteY6" fmla="*/ 1111010 h 5185495"/>
              <a:gd name="connsiteX0" fmla="*/ 7234 w 5645119"/>
              <a:gd name="connsiteY0" fmla="*/ 1117937 h 5192422"/>
              <a:gd name="connsiteX1" fmla="*/ 1308016 w 5645119"/>
              <a:gd name="connsiteY1" fmla="*/ 18994 h 5192422"/>
              <a:gd name="connsiteX2" fmla="*/ 5645119 w 5645119"/>
              <a:gd name="connsiteY2" fmla="*/ 0 h 5192422"/>
              <a:gd name="connsiteX3" fmla="*/ 2513993 w 5645119"/>
              <a:gd name="connsiteY3" fmla="*/ 2957945 h 5192422"/>
              <a:gd name="connsiteX4" fmla="*/ 4317480 w 5645119"/>
              <a:gd name="connsiteY4" fmla="*/ 5174672 h 5192422"/>
              <a:gd name="connsiteX5" fmla="*/ 308 w 5645119"/>
              <a:gd name="connsiteY5" fmla="*/ 5192422 h 5192422"/>
              <a:gd name="connsiteX6" fmla="*/ 7234 w 5645119"/>
              <a:gd name="connsiteY6" fmla="*/ 1117937 h 5192422"/>
              <a:gd name="connsiteX0" fmla="*/ 7234 w 5645119"/>
              <a:gd name="connsiteY0" fmla="*/ 1126652 h 5201137"/>
              <a:gd name="connsiteX1" fmla="*/ 5688 w 5645119"/>
              <a:gd name="connsiteY1" fmla="*/ 0 h 5201137"/>
              <a:gd name="connsiteX2" fmla="*/ 5645119 w 5645119"/>
              <a:gd name="connsiteY2" fmla="*/ 8715 h 5201137"/>
              <a:gd name="connsiteX3" fmla="*/ 2513993 w 5645119"/>
              <a:gd name="connsiteY3" fmla="*/ 2966660 h 5201137"/>
              <a:gd name="connsiteX4" fmla="*/ 4317480 w 5645119"/>
              <a:gd name="connsiteY4" fmla="*/ 5183387 h 5201137"/>
              <a:gd name="connsiteX5" fmla="*/ 308 w 5645119"/>
              <a:gd name="connsiteY5" fmla="*/ 5201137 h 5201137"/>
              <a:gd name="connsiteX6" fmla="*/ 7234 w 5645119"/>
              <a:gd name="connsiteY6" fmla="*/ 1126652 h 5201137"/>
              <a:gd name="connsiteX0" fmla="*/ 7234 w 5645119"/>
              <a:gd name="connsiteY0" fmla="*/ 1126652 h 5201137"/>
              <a:gd name="connsiteX1" fmla="*/ 5688 w 5645119"/>
              <a:gd name="connsiteY1" fmla="*/ 0 h 5201137"/>
              <a:gd name="connsiteX2" fmla="*/ 5645119 w 5645119"/>
              <a:gd name="connsiteY2" fmla="*/ 8715 h 5201137"/>
              <a:gd name="connsiteX3" fmla="*/ 2513993 w 5645119"/>
              <a:gd name="connsiteY3" fmla="*/ 2966660 h 5201137"/>
              <a:gd name="connsiteX4" fmla="*/ 4338262 w 5645119"/>
              <a:gd name="connsiteY4" fmla="*/ 5169533 h 5201137"/>
              <a:gd name="connsiteX5" fmla="*/ 308 w 5645119"/>
              <a:gd name="connsiteY5" fmla="*/ 5201137 h 5201137"/>
              <a:gd name="connsiteX6" fmla="*/ 7234 w 5645119"/>
              <a:gd name="connsiteY6" fmla="*/ 1126652 h 5201137"/>
              <a:gd name="connsiteX0" fmla="*/ 7234 w 5624337"/>
              <a:gd name="connsiteY0" fmla="*/ 1126652 h 5201137"/>
              <a:gd name="connsiteX1" fmla="*/ 5688 w 5624337"/>
              <a:gd name="connsiteY1" fmla="*/ 0 h 5201137"/>
              <a:gd name="connsiteX2" fmla="*/ 5624337 w 5624337"/>
              <a:gd name="connsiteY2" fmla="*/ 22569 h 5201137"/>
              <a:gd name="connsiteX3" fmla="*/ 2513993 w 5624337"/>
              <a:gd name="connsiteY3" fmla="*/ 2966660 h 5201137"/>
              <a:gd name="connsiteX4" fmla="*/ 4338262 w 5624337"/>
              <a:gd name="connsiteY4" fmla="*/ 5169533 h 5201137"/>
              <a:gd name="connsiteX5" fmla="*/ 308 w 5624337"/>
              <a:gd name="connsiteY5" fmla="*/ 5201137 h 5201137"/>
              <a:gd name="connsiteX6" fmla="*/ 7234 w 5624337"/>
              <a:gd name="connsiteY6" fmla="*/ 1126652 h 5201137"/>
              <a:gd name="connsiteX0" fmla="*/ 7234 w 5624337"/>
              <a:gd name="connsiteY0" fmla="*/ 1105871 h 5180356"/>
              <a:gd name="connsiteX1" fmla="*/ 5688 w 5624337"/>
              <a:gd name="connsiteY1" fmla="*/ 0 h 5180356"/>
              <a:gd name="connsiteX2" fmla="*/ 5624337 w 5624337"/>
              <a:gd name="connsiteY2" fmla="*/ 1788 h 5180356"/>
              <a:gd name="connsiteX3" fmla="*/ 2513993 w 5624337"/>
              <a:gd name="connsiteY3" fmla="*/ 2945879 h 5180356"/>
              <a:gd name="connsiteX4" fmla="*/ 4338262 w 5624337"/>
              <a:gd name="connsiteY4" fmla="*/ 5148752 h 5180356"/>
              <a:gd name="connsiteX5" fmla="*/ 308 w 5624337"/>
              <a:gd name="connsiteY5" fmla="*/ 5180356 h 5180356"/>
              <a:gd name="connsiteX6" fmla="*/ 7234 w 5624337"/>
              <a:gd name="connsiteY6" fmla="*/ 1105871 h 518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4337" h="5180356">
                <a:moveTo>
                  <a:pt x="7234" y="1105871"/>
                </a:moveTo>
                <a:cubicBezTo>
                  <a:pt x="6719" y="730320"/>
                  <a:pt x="6203" y="375551"/>
                  <a:pt x="5688" y="0"/>
                </a:cubicBezTo>
                <a:lnTo>
                  <a:pt x="5624337" y="1788"/>
                </a:lnTo>
                <a:lnTo>
                  <a:pt x="2513993" y="2945879"/>
                </a:lnTo>
                <a:lnTo>
                  <a:pt x="4338262" y="5148752"/>
                </a:lnTo>
                <a:lnTo>
                  <a:pt x="308" y="5180356"/>
                </a:lnTo>
                <a:cubicBezTo>
                  <a:pt x="-2001" y="3801413"/>
                  <a:pt x="9543" y="2484814"/>
                  <a:pt x="7234" y="1105871"/>
                </a:cubicBezTo>
                <a:close/>
              </a:path>
            </a:pathLst>
          </a:custGeom>
        </p:spPr>
      </p:pic>
      <p:sp>
        <p:nvSpPr>
          <p:cNvPr id="11" name="Isosceles Triangle 2">
            <a:extLst>
              <a:ext uri="{FF2B5EF4-FFF2-40B4-BE49-F238E27FC236}">
                <a16:creationId xmlns:a16="http://schemas.microsoft.com/office/drawing/2014/main" id="{C8EF1092-B977-4A46-AFC3-9CA72E024868}"/>
              </a:ext>
            </a:extLst>
          </p:cNvPr>
          <p:cNvSpPr/>
          <p:nvPr/>
        </p:nvSpPr>
        <p:spPr>
          <a:xfrm rot="5400000">
            <a:off x="25906" y="-78404"/>
            <a:ext cx="1524115" cy="162592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Lst>
            <a:ahLst/>
            <a:cxnLst>
              <a:cxn ang="0">
                <a:pos x="connsiteX0" y="connsiteY0"/>
              </a:cxn>
              <a:cxn ang="0">
                <a:pos x="connsiteX1" y="connsiteY1"/>
              </a:cxn>
              <a:cxn ang="0">
                <a:pos x="connsiteX2" y="connsiteY2"/>
              </a:cxn>
              <a:cxn ang="0">
                <a:pos x="connsiteX3" y="connsiteY3"/>
              </a:cxn>
            </a:cxnLst>
            <a:rect l="l" t="t" r="r" b="b"/>
            <a:pathLst>
              <a:path w="1143086" h="1219442">
                <a:moveTo>
                  <a:pt x="0" y="1219442"/>
                </a:moveTo>
                <a:cubicBezTo>
                  <a:pt x="1284" y="810421"/>
                  <a:pt x="2569" y="409021"/>
                  <a:pt x="3853" y="0"/>
                </a:cubicBezTo>
                <a:lnTo>
                  <a:pt x="1143086" y="1219442"/>
                </a:lnTo>
                <a:lnTo>
                  <a:pt x="0" y="12194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5768895" y="2410466"/>
            <a:ext cx="5296268" cy="1839388"/>
          </a:xfrm>
          <a:prstGeom prst="rect">
            <a:avLst/>
          </a:prstGeom>
        </p:spPr>
        <p:txBody>
          <a:bodyPr/>
          <a:lstStyle>
            <a:lvl1pPr>
              <a:lnSpc>
                <a:spcPct val="80000"/>
              </a:lnSpc>
              <a:defRPr sz="6667" b="1">
                <a:solidFill>
                  <a:schemeClr val="tx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5806971" y="4515368"/>
            <a:ext cx="4851868" cy="1346200"/>
          </a:xfrm>
          <a:prstGeom prst="rect">
            <a:avLst/>
          </a:prstGeom>
        </p:spPr>
        <p:txBody>
          <a:bodyPr/>
          <a:lstStyle>
            <a:lvl1pPr>
              <a:defRPr sz="1867" b="0">
                <a:solidFill>
                  <a:schemeClr val="tx1"/>
                </a:solidFill>
              </a:defRPr>
            </a:lvl1pPr>
          </a:lstStyle>
          <a:p>
            <a:pPr lvl="0"/>
            <a:r>
              <a:rPr lang="en-US"/>
              <a:t>Click to edit Master text styles</a:t>
            </a:r>
          </a:p>
        </p:txBody>
      </p:sp>
      <p:sp>
        <p:nvSpPr>
          <p:cNvPr id="17" name="Freeform: Shape 16">
            <a:extLst>
              <a:ext uri="{FF2B5EF4-FFF2-40B4-BE49-F238E27FC236}">
                <a16:creationId xmlns:a16="http://schemas.microsoft.com/office/drawing/2014/main" id="{7B31FE63-7E80-4A4E-A3D4-84CBAF1D87D1}"/>
              </a:ext>
            </a:extLst>
          </p:cNvPr>
          <p:cNvSpPr/>
          <p:nvPr/>
        </p:nvSpPr>
        <p:spPr>
          <a:xfrm>
            <a:off x="14739" y="3908169"/>
            <a:ext cx="5755324" cy="3017184"/>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Lst>
            <a:ahLst/>
            <a:cxnLst>
              <a:cxn ang="0">
                <a:pos x="connsiteX0" y="connsiteY0"/>
              </a:cxn>
              <a:cxn ang="0">
                <a:pos x="connsiteX1" y="connsiteY1"/>
              </a:cxn>
              <a:cxn ang="0">
                <a:pos x="connsiteX2" y="connsiteY2"/>
              </a:cxn>
              <a:cxn ang="0">
                <a:pos x="connsiteX3" y="connsiteY3"/>
              </a:cxn>
            </a:cxnLst>
            <a:rect l="l" t="t" r="r" b="b"/>
            <a:pathLst>
              <a:path w="5210379" h="2293222">
                <a:moveTo>
                  <a:pt x="0" y="2293222"/>
                </a:moveTo>
                <a:lnTo>
                  <a:pt x="2998811" y="0"/>
                </a:lnTo>
                <a:lnTo>
                  <a:pt x="5210379" y="2255788"/>
                </a:lnTo>
                <a:lnTo>
                  <a:pt x="0" y="2293222"/>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400" b="1"/>
          </a:p>
        </p:txBody>
      </p:sp>
      <p:sp>
        <p:nvSpPr>
          <p:cNvPr id="18" name="Rectangle 1">
            <a:extLst>
              <a:ext uri="{FF2B5EF4-FFF2-40B4-BE49-F238E27FC236}">
                <a16:creationId xmlns:a16="http://schemas.microsoft.com/office/drawing/2014/main" id="{B0011CE1-EDBF-46B7-9599-4FD9FCE16C51}"/>
              </a:ext>
            </a:extLst>
          </p:cNvPr>
          <p:cNvSpPr/>
          <p:nvPr/>
        </p:nvSpPr>
        <p:spPr>
          <a:xfrm rot="2784635">
            <a:off x="5667353" y="542331"/>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607282" y="393707"/>
            <a:ext cx="2822077" cy="584956"/>
          </a:xfrm>
          <a:prstGeom prst="rect">
            <a:avLst/>
          </a:prstGeom>
        </p:spPr>
      </p:pic>
      <p:sp>
        <p:nvSpPr>
          <p:cNvPr id="23" name="Rectangle 11">
            <a:extLst>
              <a:ext uri="{FF2B5EF4-FFF2-40B4-BE49-F238E27FC236}">
                <a16:creationId xmlns:a16="http://schemas.microsoft.com/office/drawing/2014/main" id="{B567BC20-96D3-4772-B60D-5AA678C0AEAF}"/>
              </a:ext>
            </a:extLst>
          </p:cNvPr>
          <p:cNvSpPr/>
          <p:nvPr/>
        </p:nvSpPr>
        <p:spPr>
          <a:xfrm rot="2925102">
            <a:off x="605837" y="-520330"/>
            <a:ext cx="300856" cy="2314387"/>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41" h="1416020">
                <a:moveTo>
                  <a:pt x="712" y="197235"/>
                </a:moveTo>
                <a:lnTo>
                  <a:pt x="191470" y="0"/>
                </a:lnTo>
                <a:cubicBezTo>
                  <a:pt x="189543" y="439312"/>
                  <a:pt x="206919" y="976708"/>
                  <a:pt x="204992" y="1416020"/>
                </a:cubicBezTo>
                <a:lnTo>
                  <a:pt x="557" y="1261137"/>
                </a:lnTo>
                <a:cubicBezTo>
                  <a:pt x="-1435" y="904550"/>
                  <a:pt x="2704" y="553822"/>
                  <a:pt x="712" y="197235"/>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Tree>
    <p:extLst>
      <p:ext uri="{BB962C8B-B14F-4D97-AF65-F5344CB8AC3E}">
        <p14:creationId xmlns:p14="http://schemas.microsoft.com/office/powerpoint/2010/main" val="2392917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41A65B-FEAF-40BE-B426-D84077526E78}"/>
              </a:ext>
            </a:extLst>
          </p:cNvPr>
          <p:cNvSpPr>
            <a:spLocks noGrp="1"/>
          </p:cNvSpPr>
          <p:nvPr>
            <p:ph type="sldNum" sz="quarter" idx="10"/>
          </p:nvPr>
        </p:nvSpPr>
        <p:spPr/>
        <p:txBody>
          <a:bodyPr/>
          <a:lstStyle/>
          <a:p>
            <a:fld id="{CE19DD2C-80DA-488C-99A4-6C8CE83C9C30}" type="slidenum">
              <a:rPr lang="en-SG" smtClean="0"/>
              <a:t>‹#›</a:t>
            </a:fld>
            <a:endParaRPr lang="en-SG"/>
          </a:p>
        </p:txBody>
      </p:sp>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94881"/>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5" r:id="rId16"/>
    <p:sldLayoutId id="2147483696" r:id="rId17"/>
    <p:sldLayoutId id="2147483697" r:id="rId18"/>
    <p:sldLayoutId id="2147483698" r:id="rId19"/>
    <p:sldLayoutId id="2147483699" r:id="rId20"/>
    <p:sldLayoutId id="2147483700"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Layout" Target="../slideLayouts/slideLayout13.xml"/><Relationship Id="rId4" Type="http://schemas.openxmlformats.org/officeDocument/2006/relationships/image" Target="../media/image18.svg"/></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18.sv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2.svg"/></Relationships>
</file>

<file path=ppt/slides/_rels/slide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3.xml"/><Relationship Id="rId1" Type="http://schemas.openxmlformats.org/officeDocument/2006/relationships/video" Target="https://www.youtube.com/embed/0dTmRCHdXT8?feature=oembed"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6A587-D97A-E65F-C9E9-70A66D8658E4}"/>
              </a:ext>
            </a:extLst>
          </p:cNvPr>
          <p:cNvSpPr>
            <a:spLocks noGrp="1"/>
          </p:cNvSpPr>
          <p:nvPr>
            <p:ph type="body" sz="quarter" idx="12"/>
          </p:nvPr>
        </p:nvSpPr>
        <p:spPr>
          <a:xfrm>
            <a:off x="5806971" y="3111333"/>
            <a:ext cx="6198982" cy="1613597"/>
          </a:xfrm>
        </p:spPr>
        <p:txBody>
          <a:bodyPr>
            <a:normAutofit/>
          </a:bodyPr>
          <a:lstStyle/>
          <a:p>
            <a:pPr marL="0" indent="0">
              <a:lnSpc>
                <a:spcPct val="110000"/>
              </a:lnSpc>
              <a:spcAft>
                <a:spcPts val="600"/>
              </a:spcAft>
              <a:buNone/>
            </a:pPr>
            <a:r>
              <a:rPr lang="en-SG" sz="4800" dirty="0"/>
              <a:t>Responsible AI</a:t>
            </a:r>
          </a:p>
        </p:txBody>
      </p:sp>
    </p:spTree>
    <p:extLst>
      <p:ext uri="{BB962C8B-B14F-4D97-AF65-F5344CB8AC3E}">
        <p14:creationId xmlns:p14="http://schemas.microsoft.com/office/powerpoint/2010/main" val="2187063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E9DB-73DB-BA16-7427-820377E7D8C4}"/>
              </a:ext>
            </a:extLst>
          </p:cNvPr>
          <p:cNvSpPr>
            <a:spLocks noGrp="1"/>
          </p:cNvSpPr>
          <p:nvPr>
            <p:ph type="title"/>
          </p:nvPr>
        </p:nvSpPr>
        <p:spPr/>
        <p:txBody>
          <a:bodyPr/>
          <a:lstStyle/>
          <a:p>
            <a:r>
              <a:rPr lang="en-GB" dirty="0"/>
              <a:t>What is Responsible AI?</a:t>
            </a:r>
          </a:p>
        </p:txBody>
      </p:sp>
      <p:sp>
        <p:nvSpPr>
          <p:cNvPr id="3" name="Text Placeholder 2">
            <a:extLst>
              <a:ext uri="{FF2B5EF4-FFF2-40B4-BE49-F238E27FC236}">
                <a16:creationId xmlns:a16="http://schemas.microsoft.com/office/drawing/2014/main" id="{12A36193-BB4F-3951-0FB7-8C448B9D6DEB}"/>
              </a:ext>
            </a:extLst>
          </p:cNvPr>
          <p:cNvSpPr>
            <a:spLocks noGrp="1"/>
          </p:cNvSpPr>
          <p:nvPr>
            <p:ph type="body" sz="quarter" idx="11"/>
          </p:nvPr>
        </p:nvSpPr>
        <p:spPr/>
        <p:txBody>
          <a:bodyPr/>
          <a:lstStyle/>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It is the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practice</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of developing and using AI systems in a way that benefits society while minimizing the risk of negative consequences.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It’s about creating AI technologies that not only advance our capabilities, but also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address ethical concerns</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 particularly regarding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bias</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transparency </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and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privacy</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Responsible AI is an approach to developing and deploying artificial intelligence from both an ethical and legal standpoint.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The goal is to employ AI in a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safe</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trustworthy</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and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ethical</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way. </a:t>
            </a:r>
            <a:endParaRPr lang="en-GB"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93403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72F3D-4BA6-7223-2E20-443B8B4DB1D7}"/>
              </a:ext>
            </a:extLst>
          </p:cNvPr>
          <p:cNvSpPr>
            <a:spLocks noGrp="1"/>
          </p:cNvSpPr>
          <p:nvPr>
            <p:ph type="title"/>
          </p:nvPr>
        </p:nvSpPr>
        <p:spPr/>
        <p:txBody>
          <a:bodyPr/>
          <a:lstStyle/>
          <a:p>
            <a:r>
              <a:rPr lang="en-GB" dirty="0"/>
              <a:t>AI Ethics, AI Governance &amp; Responsible AI</a:t>
            </a:r>
          </a:p>
        </p:txBody>
      </p:sp>
      <p:graphicFrame>
        <p:nvGraphicFramePr>
          <p:cNvPr id="5" name="Diagram 4">
            <a:extLst>
              <a:ext uri="{FF2B5EF4-FFF2-40B4-BE49-F238E27FC236}">
                <a16:creationId xmlns:a16="http://schemas.microsoft.com/office/drawing/2014/main" id="{3C838B7C-3C6A-9FB2-9ED9-DC2137F4B9FF}"/>
              </a:ext>
            </a:extLst>
          </p:cNvPr>
          <p:cNvGraphicFramePr/>
          <p:nvPr>
            <p:extLst>
              <p:ext uri="{D42A27DB-BD31-4B8C-83A1-F6EECF244321}">
                <p14:modId xmlns:p14="http://schemas.microsoft.com/office/powerpoint/2010/main" val="2351777541"/>
              </p:ext>
            </p:extLst>
          </p:nvPr>
        </p:nvGraphicFramePr>
        <p:xfrm>
          <a:off x="1546135" y="1244521"/>
          <a:ext cx="7125855" cy="5098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CCD0E70-E2FA-5E69-1815-A0CF20A3B920}"/>
              </a:ext>
            </a:extLst>
          </p:cNvPr>
          <p:cNvSpPr txBox="1"/>
          <p:nvPr/>
        </p:nvSpPr>
        <p:spPr>
          <a:xfrm>
            <a:off x="6247444" y="2006520"/>
            <a:ext cx="1385455" cy="461665"/>
          </a:xfrm>
          <a:prstGeom prst="rect">
            <a:avLst/>
          </a:prstGeom>
          <a:noFill/>
        </p:spPr>
        <p:txBody>
          <a:bodyPr wrap="square" rtlCol="0">
            <a:spAutoFit/>
          </a:bodyPr>
          <a:lstStyle/>
          <a:p>
            <a:r>
              <a:rPr lang="en-GB" sz="2400" i="1" dirty="0"/>
              <a:t>the </a:t>
            </a:r>
            <a:r>
              <a:rPr lang="en-GB" sz="2400" b="1" i="1" dirty="0"/>
              <a:t>Why</a:t>
            </a:r>
            <a:r>
              <a:rPr lang="en-GB" sz="2400" i="1" dirty="0"/>
              <a:t>?</a:t>
            </a:r>
          </a:p>
        </p:txBody>
      </p:sp>
      <p:sp>
        <p:nvSpPr>
          <p:cNvPr id="7" name="TextBox 6">
            <a:extLst>
              <a:ext uri="{FF2B5EF4-FFF2-40B4-BE49-F238E27FC236}">
                <a16:creationId xmlns:a16="http://schemas.microsoft.com/office/drawing/2014/main" id="{AE7CDAB3-15AC-4CA8-6784-343DE0A3282D}"/>
              </a:ext>
            </a:extLst>
          </p:cNvPr>
          <p:cNvSpPr txBox="1"/>
          <p:nvPr/>
        </p:nvSpPr>
        <p:spPr>
          <a:xfrm>
            <a:off x="2460535" y="4661975"/>
            <a:ext cx="1385455" cy="461665"/>
          </a:xfrm>
          <a:prstGeom prst="rect">
            <a:avLst/>
          </a:prstGeom>
          <a:noFill/>
        </p:spPr>
        <p:txBody>
          <a:bodyPr wrap="square" rtlCol="0">
            <a:spAutoFit/>
          </a:bodyPr>
          <a:lstStyle/>
          <a:p>
            <a:r>
              <a:rPr lang="en-GB" sz="2400" i="1" dirty="0"/>
              <a:t>the </a:t>
            </a:r>
            <a:r>
              <a:rPr lang="en-GB" sz="2400" b="1" i="1" dirty="0"/>
              <a:t>How</a:t>
            </a:r>
            <a:r>
              <a:rPr lang="en-GB" sz="2400" i="1" dirty="0"/>
              <a:t>?</a:t>
            </a:r>
          </a:p>
        </p:txBody>
      </p:sp>
      <p:sp>
        <p:nvSpPr>
          <p:cNvPr id="8" name="TextBox 7">
            <a:extLst>
              <a:ext uri="{FF2B5EF4-FFF2-40B4-BE49-F238E27FC236}">
                <a16:creationId xmlns:a16="http://schemas.microsoft.com/office/drawing/2014/main" id="{70AC2C8B-1922-80A2-62FE-420FF523A645}"/>
              </a:ext>
            </a:extLst>
          </p:cNvPr>
          <p:cNvSpPr txBox="1"/>
          <p:nvPr/>
        </p:nvSpPr>
        <p:spPr>
          <a:xfrm>
            <a:off x="8200935" y="4661974"/>
            <a:ext cx="1385455" cy="830997"/>
          </a:xfrm>
          <a:prstGeom prst="rect">
            <a:avLst/>
          </a:prstGeom>
          <a:noFill/>
        </p:spPr>
        <p:txBody>
          <a:bodyPr wrap="square" rtlCol="0">
            <a:spAutoFit/>
          </a:bodyPr>
          <a:lstStyle/>
          <a:p>
            <a:r>
              <a:rPr lang="en-GB" sz="2400" i="1" dirty="0"/>
              <a:t>the </a:t>
            </a:r>
            <a:r>
              <a:rPr lang="en-GB" sz="2400" b="1" i="1" dirty="0"/>
              <a:t>Who </a:t>
            </a:r>
            <a:r>
              <a:rPr lang="en-GB" sz="2400" i="1" dirty="0"/>
              <a:t>&amp;</a:t>
            </a:r>
            <a:r>
              <a:rPr lang="en-GB" sz="2400" b="1" i="1" dirty="0"/>
              <a:t> What</a:t>
            </a:r>
            <a:r>
              <a:rPr lang="en-GB" sz="2400" i="1" dirty="0"/>
              <a:t>?</a:t>
            </a:r>
          </a:p>
        </p:txBody>
      </p:sp>
    </p:spTree>
    <p:extLst>
      <p:ext uri="{BB962C8B-B14F-4D97-AF65-F5344CB8AC3E}">
        <p14:creationId xmlns:p14="http://schemas.microsoft.com/office/powerpoint/2010/main" val="347001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0BAA5-5BC9-446E-6FFC-D221390B9B3D}"/>
              </a:ext>
            </a:extLst>
          </p:cNvPr>
          <p:cNvSpPr>
            <a:spLocks noGrp="1"/>
          </p:cNvSpPr>
          <p:nvPr>
            <p:ph type="title"/>
          </p:nvPr>
        </p:nvSpPr>
        <p:spPr/>
        <p:txBody>
          <a:bodyPr/>
          <a:lstStyle/>
          <a:p>
            <a:r>
              <a:rPr lang="en-GB" dirty="0"/>
              <a:t>AI Ethics, Responsible AI, AI Governance?</a:t>
            </a:r>
          </a:p>
        </p:txBody>
      </p:sp>
      <p:sp>
        <p:nvSpPr>
          <p:cNvPr id="3" name="Text Placeholder 2">
            <a:extLst>
              <a:ext uri="{FF2B5EF4-FFF2-40B4-BE49-F238E27FC236}">
                <a16:creationId xmlns:a16="http://schemas.microsoft.com/office/drawing/2014/main" id="{EE728759-1BBE-0638-D5A9-A5C16E182032}"/>
              </a:ext>
            </a:extLst>
          </p:cNvPr>
          <p:cNvSpPr>
            <a:spLocks noGrp="1"/>
          </p:cNvSpPr>
          <p:nvPr>
            <p:ph type="body" sz="quarter" idx="11"/>
          </p:nvPr>
        </p:nvSpPr>
        <p:spPr/>
        <p:txBody>
          <a:bodyPr/>
          <a:lstStyle/>
          <a:p>
            <a:r>
              <a:rPr lang="en-GB" sz="2667" b="1" dirty="0">
                <a:latin typeface="Roboto" panose="02000000000000000000" pitchFamily="2" charset="0"/>
                <a:ea typeface="Roboto" panose="02000000000000000000" pitchFamily="2" charset="0"/>
                <a:cs typeface="Roboto" panose="02000000000000000000" pitchFamily="2" charset="0"/>
              </a:rPr>
              <a:t>AI Ethics </a:t>
            </a:r>
          </a:p>
          <a:p>
            <a:pPr lvl="1"/>
            <a:r>
              <a:rPr lang="en-US" sz="2667" dirty="0">
                <a:latin typeface="Roboto" panose="02000000000000000000" pitchFamily="2" charset="0"/>
                <a:ea typeface="Roboto" panose="02000000000000000000" pitchFamily="2" charset="0"/>
                <a:cs typeface="Roboto" panose="02000000000000000000" pitchFamily="2" charset="0"/>
              </a:rPr>
              <a:t>Moral principles and values (e.g., </a:t>
            </a:r>
            <a:r>
              <a:rPr lang="en-US" dirty="0">
                <a:latin typeface="Roboto" panose="02000000000000000000" pitchFamily="2" charset="0"/>
                <a:ea typeface="Roboto" panose="02000000000000000000" pitchFamily="2" charset="0"/>
                <a:cs typeface="Roboto" panose="02000000000000000000" pitchFamily="2" charset="0"/>
              </a:rPr>
              <a:t>respect human rights, inclusivity, societal goods, environment protection, etc. ) that guide the development and use of AI.</a:t>
            </a:r>
          </a:p>
          <a:p>
            <a:r>
              <a:rPr lang="en-US" sz="2667" b="1" dirty="0">
                <a:latin typeface="Roboto" panose="02000000000000000000" pitchFamily="2" charset="0"/>
                <a:ea typeface="Roboto" panose="02000000000000000000" pitchFamily="2" charset="0"/>
                <a:cs typeface="Roboto" panose="02000000000000000000" pitchFamily="2" charset="0"/>
              </a:rPr>
              <a:t>Responsible AI</a:t>
            </a:r>
          </a:p>
          <a:p>
            <a:pPr lvl="1"/>
            <a:r>
              <a:rPr lang="en-US" sz="2667" dirty="0">
                <a:latin typeface="Roboto" panose="02000000000000000000" pitchFamily="2" charset="0"/>
                <a:ea typeface="Roboto" panose="02000000000000000000" pitchFamily="2" charset="0"/>
                <a:cs typeface="Roboto" panose="02000000000000000000" pitchFamily="2" charset="0"/>
              </a:rPr>
              <a:t>Practical implementation of ethical principles into AI systems and practices.</a:t>
            </a:r>
          </a:p>
          <a:p>
            <a:r>
              <a:rPr lang="en-US" sz="2667" b="1" dirty="0">
                <a:latin typeface="Roboto" panose="02000000000000000000" pitchFamily="2" charset="0"/>
                <a:ea typeface="Roboto" panose="02000000000000000000" pitchFamily="2" charset="0"/>
                <a:cs typeface="Roboto" panose="02000000000000000000" pitchFamily="2" charset="0"/>
              </a:rPr>
              <a:t>AI Governance</a:t>
            </a:r>
          </a:p>
          <a:p>
            <a:pPr lvl="1"/>
            <a:r>
              <a:rPr lang="en-US" sz="2667" dirty="0">
                <a:latin typeface="Roboto" panose="02000000000000000000" pitchFamily="2" charset="0"/>
                <a:ea typeface="Roboto" panose="02000000000000000000" pitchFamily="2" charset="0"/>
                <a:cs typeface="Roboto" panose="02000000000000000000" pitchFamily="2" charset="0"/>
              </a:rPr>
              <a:t>The framework of rules, policies, and procedures for managing AI development and deployment</a:t>
            </a:r>
            <a:r>
              <a:rPr lang="en-US" dirty="0">
                <a:latin typeface="Roboto" panose="02000000000000000000" pitchFamily="2" charset="0"/>
                <a:ea typeface="Roboto" panose="02000000000000000000" pitchFamily="2" charset="0"/>
                <a:cs typeface="Roboto" panose="02000000000000000000" pitchFamily="2" charset="0"/>
              </a:rPr>
              <a:t>    </a:t>
            </a:r>
          </a:p>
          <a:p>
            <a:endParaRPr lang="en-GB"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933152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D2CD-32C0-B031-FEE0-112A80112B99}"/>
              </a:ext>
            </a:extLst>
          </p:cNvPr>
          <p:cNvSpPr>
            <a:spLocks noGrp="1"/>
          </p:cNvSpPr>
          <p:nvPr>
            <p:ph type="title"/>
          </p:nvPr>
        </p:nvSpPr>
        <p:spPr/>
        <p:txBody>
          <a:bodyPr/>
          <a:lstStyle/>
          <a:p>
            <a:r>
              <a:rPr lang="en-GB" dirty="0"/>
              <a:t>Why is Responsible AI important?</a:t>
            </a:r>
          </a:p>
        </p:txBody>
      </p:sp>
      <p:sp>
        <p:nvSpPr>
          <p:cNvPr id="3" name="Text Placeholder 2">
            <a:extLst>
              <a:ext uri="{FF2B5EF4-FFF2-40B4-BE49-F238E27FC236}">
                <a16:creationId xmlns:a16="http://schemas.microsoft.com/office/drawing/2014/main" id="{34B64563-79D0-B092-A838-28D4162518F3}"/>
              </a:ext>
            </a:extLst>
          </p:cNvPr>
          <p:cNvSpPr>
            <a:spLocks noGrp="1"/>
          </p:cNvSpPr>
          <p:nvPr>
            <p:ph type="body" sz="quarter" idx="11"/>
          </p:nvPr>
        </p:nvSpPr>
        <p:spPr/>
        <p:txBody>
          <a:bodyPr>
            <a:normAutofit/>
          </a:bodyPr>
          <a:lstStyle/>
          <a:p>
            <a:r>
              <a:rPr lang="en-US" b="0" i="0" dirty="0">
                <a:solidFill>
                  <a:srgbClr val="212529"/>
                </a:solidFill>
                <a:effectLst/>
                <a:latin typeface="Inter var ISO"/>
              </a:rPr>
              <a:t>As AI becomes more business-critical for organizations, achieving responsible AI should be considered a highly relevant topic. </a:t>
            </a:r>
          </a:p>
          <a:p>
            <a:r>
              <a:rPr lang="en-US" sz="2800" dirty="0"/>
              <a:t>It helps create and maintain strong brand reputation.</a:t>
            </a:r>
          </a:p>
          <a:p>
            <a:r>
              <a:rPr lang="en-US" dirty="0"/>
              <a:t>It helps to b</a:t>
            </a:r>
            <a:r>
              <a:rPr lang="en-US" sz="2800" dirty="0"/>
              <a:t>uild trust among stakeholders.</a:t>
            </a:r>
          </a:p>
          <a:p>
            <a:r>
              <a:rPr lang="en-US" sz="2800" dirty="0"/>
              <a:t>Stay ahead of regulations that relate to AI.</a:t>
            </a:r>
          </a:p>
          <a:p>
            <a:endParaRPr lang="en-US" b="0" i="0" dirty="0">
              <a:solidFill>
                <a:srgbClr val="212529"/>
              </a:solidFill>
              <a:effectLst/>
              <a:latin typeface="Inter var ISO"/>
            </a:endParaRPr>
          </a:p>
        </p:txBody>
      </p:sp>
    </p:spTree>
    <p:extLst>
      <p:ext uri="{BB962C8B-B14F-4D97-AF65-F5344CB8AC3E}">
        <p14:creationId xmlns:p14="http://schemas.microsoft.com/office/powerpoint/2010/main" val="161997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C7E6-2F7D-9D85-96FB-456FB9AAFEC0}"/>
              </a:ext>
            </a:extLst>
          </p:cNvPr>
          <p:cNvSpPr>
            <a:spLocks noGrp="1"/>
          </p:cNvSpPr>
          <p:nvPr>
            <p:ph type="title"/>
          </p:nvPr>
        </p:nvSpPr>
        <p:spPr/>
        <p:txBody>
          <a:bodyPr/>
          <a:lstStyle/>
          <a:p>
            <a:r>
              <a:rPr lang="en-GB" dirty="0"/>
              <a:t>Responsible AI Principles</a:t>
            </a:r>
          </a:p>
        </p:txBody>
      </p:sp>
      <p:sp>
        <p:nvSpPr>
          <p:cNvPr id="4" name="TextBox 3">
            <a:extLst>
              <a:ext uri="{FF2B5EF4-FFF2-40B4-BE49-F238E27FC236}">
                <a16:creationId xmlns:a16="http://schemas.microsoft.com/office/drawing/2014/main" id="{F48F0352-1B18-58A2-085F-A1AEF5687B9E}"/>
              </a:ext>
            </a:extLst>
          </p:cNvPr>
          <p:cNvSpPr txBox="1"/>
          <p:nvPr/>
        </p:nvSpPr>
        <p:spPr>
          <a:xfrm>
            <a:off x="598094" y="1430739"/>
            <a:ext cx="10305791" cy="461665"/>
          </a:xfrm>
          <a:prstGeom prst="rect">
            <a:avLst/>
          </a:prstGeom>
          <a:noFill/>
        </p:spPr>
        <p:txBody>
          <a:bodyPr wrap="square">
            <a:spAutoFit/>
          </a:bodyPr>
          <a:lstStyle/>
          <a:p>
            <a:pPr algn="l"/>
            <a:r>
              <a:rPr lang="en-US" sz="2400" dirty="0">
                <a:solidFill>
                  <a:srgbClr val="212529"/>
                </a:solidFill>
                <a:latin typeface="Roboto" panose="02000000000000000000" pitchFamily="2" charset="0"/>
                <a:ea typeface="Roboto" panose="02000000000000000000" pitchFamily="2" charset="0"/>
                <a:cs typeface="Roboto" panose="02000000000000000000" pitchFamily="2" charset="0"/>
              </a:rPr>
              <a:t>No universally agreed-upon set of principles for responsible AI</a:t>
            </a:r>
          </a:p>
        </p:txBody>
      </p:sp>
      <p:sp>
        <p:nvSpPr>
          <p:cNvPr id="5" name="Oval Callout 4">
            <a:extLst>
              <a:ext uri="{FF2B5EF4-FFF2-40B4-BE49-F238E27FC236}">
                <a16:creationId xmlns:a16="http://schemas.microsoft.com/office/drawing/2014/main" id="{CECAC81E-CC5A-6ACD-0257-E010698A1D25}"/>
              </a:ext>
            </a:extLst>
          </p:cNvPr>
          <p:cNvSpPr/>
          <p:nvPr/>
        </p:nvSpPr>
        <p:spPr>
          <a:xfrm>
            <a:off x="3144983" y="2427339"/>
            <a:ext cx="1551709"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Fairness</a:t>
            </a:r>
          </a:p>
        </p:txBody>
      </p:sp>
      <p:sp>
        <p:nvSpPr>
          <p:cNvPr id="8" name="Oval Callout 7">
            <a:extLst>
              <a:ext uri="{FF2B5EF4-FFF2-40B4-BE49-F238E27FC236}">
                <a16:creationId xmlns:a16="http://schemas.microsoft.com/office/drawing/2014/main" id="{5327D513-3708-33F0-B213-DBAD53F6A845}"/>
              </a:ext>
            </a:extLst>
          </p:cNvPr>
          <p:cNvSpPr/>
          <p:nvPr/>
        </p:nvSpPr>
        <p:spPr>
          <a:xfrm>
            <a:off x="5040486" y="2244007"/>
            <a:ext cx="2064327"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Inclusiveness</a:t>
            </a:r>
          </a:p>
        </p:txBody>
      </p:sp>
      <p:sp>
        <p:nvSpPr>
          <p:cNvPr id="9" name="Oval Callout 8">
            <a:extLst>
              <a:ext uri="{FF2B5EF4-FFF2-40B4-BE49-F238E27FC236}">
                <a16:creationId xmlns:a16="http://schemas.microsoft.com/office/drawing/2014/main" id="{BF60E8F2-EBB1-01AF-EED3-1C1B30E5063C}"/>
              </a:ext>
            </a:extLst>
          </p:cNvPr>
          <p:cNvSpPr/>
          <p:nvPr/>
        </p:nvSpPr>
        <p:spPr>
          <a:xfrm>
            <a:off x="2757054" y="4318897"/>
            <a:ext cx="1648691"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Safety</a:t>
            </a:r>
          </a:p>
        </p:txBody>
      </p:sp>
      <p:sp>
        <p:nvSpPr>
          <p:cNvPr id="11" name="Oval Callout 10">
            <a:extLst>
              <a:ext uri="{FF2B5EF4-FFF2-40B4-BE49-F238E27FC236}">
                <a16:creationId xmlns:a16="http://schemas.microsoft.com/office/drawing/2014/main" id="{DC1981A6-1400-7C94-7282-B76CD0CEAA69}"/>
              </a:ext>
            </a:extLst>
          </p:cNvPr>
          <p:cNvSpPr/>
          <p:nvPr/>
        </p:nvSpPr>
        <p:spPr>
          <a:xfrm>
            <a:off x="4224743" y="3695972"/>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Accountability</a:t>
            </a:r>
          </a:p>
        </p:txBody>
      </p:sp>
      <p:sp>
        <p:nvSpPr>
          <p:cNvPr id="12" name="Oval Callout 11">
            <a:extLst>
              <a:ext uri="{FF2B5EF4-FFF2-40B4-BE49-F238E27FC236}">
                <a16:creationId xmlns:a16="http://schemas.microsoft.com/office/drawing/2014/main" id="{8F25F886-E5E4-5AE5-1478-840C162899AC}"/>
              </a:ext>
            </a:extLst>
          </p:cNvPr>
          <p:cNvSpPr/>
          <p:nvPr/>
        </p:nvSpPr>
        <p:spPr>
          <a:xfrm>
            <a:off x="6931298" y="3371952"/>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Transparency</a:t>
            </a:r>
          </a:p>
        </p:txBody>
      </p:sp>
      <p:sp>
        <p:nvSpPr>
          <p:cNvPr id="13" name="Oval Callout 12">
            <a:extLst>
              <a:ext uri="{FF2B5EF4-FFF2-40B4-BE49-F238E27FC236}">
                <a16:creationId xmlns:a16="http://schemas.microsoft.com/office/drawing/2014/main" id="{5BB08F8F-E78F-223D-BBD1-8B5CA58999A8}"/>
              </a:ext>
            </a:extLst>
          </p:cNvPr>
          <p:cNvSpPr/>
          <p:nvPr/>
        </p:nvSpPr>
        <p:spPr>
          <a:xfrm>
            <a:off x="4053127" y="5277941"/>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Non-</a:t>
            </a:r>
            <a:r>
              <a:rPr lang="en-GB" dirty="0" err="1"/>
              <a:t>malificence</a:t>
            </a:r>
            <a:endParaRPr lang="en-GB" dirty="0"/>
          </a:p>
        </p:txBody>
      </p:sp>
      <p:sp>
        <p:nvSpPr>
          <p:cNvPr id="14" name="Oval Callout 13">
            <a:extLst>
              <a:ext uri="{FF2B5EF4-FFF2-40B4-BE49-F238E27FC236}">
                <a16:creationId xmlns:a16="http://schemas.microsoft.com/office/drawing/2014/main" id="{0D7B25E3-0FAB-D63B-F406-A78926708472}"/>
              </a:ext>
            </a:extLst>
          </p:cNvPr>
          <p:cNvSpPr/>
          <p:nvPr/>
        </p:nvSpPr>
        <p:spPr>
          <a:xfrm>
            <a:off x="1148576" y="3399174"/>
            <a:ext cx="1799063"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Robustness</a:t>
            </a:r>
          </a:p>
        </p:txBody>
      </p:sp>
      <p:sp>
        <p:nvSpPr>
          <p:cNvPr id="15" name="Oval Callout 14">
            <a:extLst>
              <a:ext uri="{FF2B5EF4-FFF2-40B4-BE49-F238E27FC236}">
                <a16:creationId xmlns:a16="http://schemas.microsoft.com/office/drawing/2014/main" id="{0D14D08F-05C5-82E7-4F6D-79A23F950547}"/>
              </a:ext>
            </a:extLst>
          </p:cNvPr>
          <p:cNvSpPr/>
          <p:nvPr/>
        </p:nvSpPr>
        <p:spPr>
          <a:xfrm>
            <a:off x="6311419" y="4547900"/>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Explainability</a:t>
            </a:r>
          </a:p>
        </p:txBody>
      </p:sp>
      <p:pic>
        <p:nvPicPr>
          <p:cNvPr id="1028" name="Picture 4" descr="Person icon">
            <a:extLst>
              <a:ext uri="{FF2B5EF4-FFF2-40B4-BE49-F238E27FC236}">
                <a16:creationId xmlns:a16="http://schemas.microsoft.com/office/drawing/2014/main" id="{7058CCB6-A6DA-8E44-A01D-126E96347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5510" y="5014482"/>
            <a:ext cx="1074993" cy="1074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80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90D4-633B-826B-0809-5864899FE1AC}"/>
              </a:ext>
            </a:extLst>
          </p:cNvPr>
          <p:cNvSpPr>
            <a:spLocks noGrp="1"/>
          </p:cNvSpPr>
          <p:nvPr>
            <p:ph type="title"/>
          </p:nvPr>
        </p:nvSpPr>
        <p:spPr/>
        <p:txBody>
          <a:bodyPr/>
          <a:lstStyle/>
          <a:p>
            <a:r>
              <a:rPr lang="en-GB" dirty="0"/>
              <a:t>ISO – Key Responsible AI Principles </a:t>
            </a:r>
          </a:p>
        </p:txBody>
      </p:sp>
      <p:pic>
        <p:nvPicPr>
          <p:cNvPr id="4" name="Graphic 3">
            <a:extLst>
              <a:ext uri="{FF2B5EF4-FFF2-40B4-BE49-F238E27FC236}">
                <a16:creationId xmlns:a16="http://schemas.microsoft.com/office/drawing/2014/main" id="{09EBB951-B52E-6ED0-283C-0598554C18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3281" y="1282069"/>
            <a:ext cx="5759106" cy="4985686"/>
          </a:xfrm>
          <a:prstGeom prst="rect">
            <a:avLst/>
          </a:prstGeom>
        </p:spPr>
      </p:pic>
    </p:spTree>
    <p:extLst>
      <p:ext uri="{BB962C8B-B14F-4D97-AF65-F5344CB8AC3E}">
        <p14:creationId xmlns:p14="http://schemas.microsoft.com/office/powerpoint/2010/main" val="3250412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312F-1CFC-1149-2DA2-BC65AEF6F756}"/>
              </a:ext>
            </a:extLst>
          </p:cNvPr>
          <p:cNvSpPr>
            <a:spLocks noGrp="1"/>
          </p:cNvSpPr>
          <p:nvPr>
            <p:ph type="title"/>
          </p:nvPr>
        </p:nvSpPr>
        <p:spPr/>
        <p:txBody>
          <a:bodyPr/>
          <a:lstStyle/>
          <a:p>
            <a:r>
              <a:rPr lang="en-GB" dirty="0"/>
              <a:t>OECD AI Principles</a:t>
            </a:r>
          </a:p>
        </p:txBody>
      </p:sp>
      <p:pic>
        <p:nvPicPr>
          <p:cNvPr id="5" name="Picture 4">
            <a:extLst>
              <a:ext uri="{FF2B5EF4-FFF2-40B4-BE49-F238E27FC236}">
                <a16:creationId xmlns:a16="http://schemas.microsoft.com/office/drawing/2014/main" id="{D524C444-E8F2-8CB2-C618-F0E69D276A06}"/>
              </a:ext>
            </a:extLst>
          </p:cNvPr>
          <p:cNvPicPr>
            <a:picLocks noChangeAspect="1"/>
          </p:cNvPicPr>
          <p:nvPr/>
        </p:nvPicPr>
        <p:blipFill>
          <a:blip r:embed="rId3"/>
          <a:srcRect b="41926"/>
          <a:stretch/>
        </p:blipFill>
        <p:spPr>
          <a:xfrm>
            <a:off x="712592" y="1877667"/>
            <a:ext cx="4684908" cy="3762419"/>
          </a:xfrm>
          <a:prstGeom prst="rect">
            <a:avLst/>
          </a:prstGeom>
        </p:spPr>
      </p:pic>
      <p:pic>
        <p:nvPicPr>
          <p:cNvPr id="6" name="Picture 5">
            <a:extLst>
              <a:ext uri="{FF2B5EF4-FFF2-40B4-BE49-F238E27FC236}">
                <a16:creationId xmlns:a16="http://schemas.microsoft.com/office/drawing/2014/main" id="{21A2B9F7-1A89-3C3A-BA12-245BB45E08A4}"/>
              </a:ext>
            </a:extLst>
          </p:cNvPr>
          <p:cNvPicPr>
            <a:picLocks noChangeAspect="1"/>
          </p:cNvPicPr>
          <p:nvPr/>
        </p:nvPicPr>
        <p:blipFill>
          <a:blip r:embed="rId3"/>
          <a:srcRect t="59629"/>
          <a:stretch/>
        </p:blipFill>
        <p:spPr>
          <a:xfrm>
            <a:off x="5708749" y="1765299"/>
            <a:ext cx="4526932" cy="2527301"/>
          </a:xfrm>
          <a:prstGeom prst="rect">
            <a:avLst/>
          </a:prstGeom>
        </p:spPr>
      </p:pic>
      <p:sp>
        <p:nvSpPr>
          <p:cNvPr id="3" name="TextBox 2">
            <a:extLst>
              <a:ext uri="{FF2B5EF4-FFF2-40B4-BE49-F238E27FC236}">
                <a16:creationId xmlns:a16="http://schemas.microsoft.com/office/drawing/2014/main" id="{2D4F476C-A716-6F2F-0445-D9F546791C2B}"/>
              </a:ext>
            </a:extLst>
          </p:cNvPr>
          <p:cNvSpPr txBox="1"/>
          <p:nvPr/>
        </p:nvSpPr>
        <p:spPr>
          <a:xfrm>
            <a:off x="805357" y="5791454"/>
            <a:ext cx="3886192" cy="369332"/>
          </a:xfrm>
          <a:prstGeom prst="rect">
            <a:avLst/>
          </a:prstGeom>
          <a:noFill/>
        </p:spPr>
        <p:txBody>
          <a:bodyPr wrap="none" rtlCol="0">
            <a:spAutoFit/>
          </a:bodyPr>
          <a:lstStyle/>
          <a:p>
            <a:r>
              <a:rPr lang="en-GB" i="1" dirty="0"/>
              <a:t>Source: https://</a:t>
            </a:r>
            <a:r>
              <a:rPr lang="en-GB" i="1" dirty="0" err="1"/>
              <a:t>oecd.ai</a:t>
            </a:r>
            <a:r>
              <a:rPr lang="en-GB" i="1" dirty="0"/>
              <a:t>/</a:t>
            </a:r>
            <a:r>
              <a:rPr lang="en-GB" i="1" dirty="0" err="1"/>
              <a:t>en</a:t>
            </a:r>
            <a:r>
              <a:rPr lang="en-GB" i="1" dirty="0"/>
              <a:t>/ai-principles</a:t>
            </a:r>
          </a:p>
        </p:txBody>
      </p:sp>
    </p:spTree>
    <p:extLst>
      <p:ext uri="{BB962C8B-B14F-4D97-AF65-F5344CB8AC3E}">
        <p14:creationId xmlns:p14="http://schemas.microsoft.com/office/powerpoint/2010/main" val="1802167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6600-5B4F-2F8C-0CD2-B2B43CC95FDC}"/>
              </a:ext>
            </a:extLst>
          </p:cNvPr>
          <p:cNvSpPr>
            <a:spLocks noGrp="1"/>
          </p:cNvSpPr>
          <p:nvPr>
            <p:ph type="title"/>
          </p:nvPr>
        </p:nvSpPr>
        <p:spPr/>
        <p:txBody>
          <a:bodyPr/>
          <a:lstStyle/>
          <a:p>
            <a:r>
              <a:rPr lang="en-GB" dirty="0"/>
              <a:t>Responsible AI in Military Domain (REAIM)</a:t>
            </a:r>
          </a:p>
        </p:txBody>
      </p:sp>
      <p:sp>
        <p:nvSpPr>
          <p:cNvPr id="3" name="Text Placeholder 2">
            <a:extLst>
              <a:ext uri="{FF2B5EF4-FFF2-40B4-BE49-F238E27FC236}">
                <a16:creationId xmlns:a16="http://schemas.microsoft.com/office/drawing/2014/main" id="{04DEE882-FC35-830F-9E06-276DCC244655}"/>
              </a:ext>
            </a:extLst>
          </p:cNvPr>
          <p:cNvSpPr>
            <a:spLocks noGrp="1"/>
          </p:cNvSpPr>
          <p:nvPr>
            <p:ph type="body" sz="quarter" idx="11"/>
          </p:nvPr>
        </p:nvSpPr>
        <p:spPr>
          <a:xfrm>
            <a:off x="542018" y="1562096"/>
            <a:ext cx="11042651" cy="2056176"/>
          </a:xfrm>
        </p:spPr>
        <p:txBody>
          <a:bodyPr/>
          <a:lstStyle/>
          <a:p>
            <a:r>
              <a:rPr lang="en-US" b="0" i="0" dirty="0">
                <a:solidFill>
                  <a:srgbClr val="111111"/>
                </a:solidFill>
                <a:effectLst/>
                <a:latin typeface="Pretendard"/>
              </a:rPr>
              <a:t>REAIM is a platform for global discussion with all stakeholders on ways to ensure responsible military application of AI.</a:t>
            </a:r>
          </a:p>
          <a:p>
            <a:r>
              <a:rPr lang="en-US" dirty="0">
                <a:solidFill>
                  <a:srgbClr val="111111"/>
                </a:solidFill>
                <a:latin typeface="Pretendard"/>
              </a:rPr>
              <a:t>Released Blueprint for Action in Sep 2024, endorsed by 61 countries including USA, UK, Sweden, South Korea, Japan and  Singapore.  </a:t>
            </a:r>
          </a:p>
          <a:p>
            <a:endParaRPr lang="en-GB" dirty="0"/>
          </a:p>
        </p:txBody>
      </p:sp>
      <p:pic>
        <p:nvPicPr>
          <p:cNvPr id="4" name="Picture 3">
            <a:extLst>
              <a:ext uri="{FF2B5EF4-FFF2-40B4-BE49-F238E27FC236}">
                <a16:creationId xmlns:a16="http://schemas.microsoft.com/office/drawing/2014/main" id="{CAD8F238-5BAF-6D83-5262-B26FCF338375}"/>
              </a:ext>
            </a:extLst>
          </p:cNvPr>
          <p:cNvPicPr>
            <a:picLocks noChangeAspect="1"/>
          </p:cNvPicPr>
          <p:nvPr/>
        </p:nvPicPr>
        <p:blipFill>
          <a:blip r:embed="rId3"/>
          <a:stretch>
            <a:fillRect/>
          </a:stretch>
        </p:blipFill>
        <p:spPr>
          <a:xfrm>
            <a:off x="1390563" y="4553849"/>
            <a:ext cx="3653386" cy="1041603"/>
          </a:xfrm>
          <a:prstGeom prst="rect">
            <a:avLst/>
          </a:prstGeom>
        </p:spPr>
      </p:pic>
      <p:pic>
        <p:nvPicPr>
          <p:cNvPr id="5" name="Picture 4">
            <a:extLst>
              <a:ext uri="{FF2B5EF4-FFF2-40B4-BE49-F238E27FC236}">
                <a16:creationId xmlns:a16="http://schemas.microsoft.com/office/drawing/2014/main" id="{72553ECF-F5E1-3EC3-1B6A-44D30418E680}"/>
              </a:ext>
            </a:extLst>
          </p:cNvPr>
          <p:cNvPicPr>
            <a:picLocks noChangeAspect="1"/>
          </p:cNvPicPr>
          <p:nvPr/>
        </p:nvPicPr>
        <p:blipFill>
          <a:blip r:embed="rId4"/>
          <a:stretch>
            <a:fillRect/>
          </a:stretch>
        </p:blipFill>
        <p:spPr>
          <a:xfrm>
            <a:off x="1390563" y="4104271"/>
            <a:ext cx="1300316" cy="449578"/>
          </a:xfrm>
          <a:prstGeom prst="rect">
            <a:avLst/>
          </a:prstGeom>
        </p:spPr>
      </p:pic>
      <p:sp>
        <p:nvSpPr>
          <p:cNvPr id="7" name="TextBox 6">
            <a:extLst>
              <a:ext uri="{FF2B5EF4-FFF2-40B4-BE49-F238E27FC236}">
                <a16:creationId xmlns:a16="http://schemas.microsoft.com/office/drawing/2014/main" id="{295042DD-0C14-4C76-4571-4BDB1ED62554}"/>
              </a:ext>
            </a:extLst>
          </p:cNvPr>
          <p:cNvSpPr txBox="1"/>
          <p:nvPr/>
        </p:nvSpPr>
        <p:spPr>
          <a:xfrm>
            <a:off x="6427427" y="4357991"/>
            <a:ext cx="3227850" cy="1631216"/>
          </a:xfrm>
          <a:prstGeom prst="rect">
            <a:avLst/>
          </a:prstGeom>
          <a:noFill/>
        </p:spPr>
        <p:txBody>
          <a:bodyPr wrap="square">
            <a:spAutoFit/>
          </a:bodyPr>
          <a:lstStyle/>
          <a:p>
            <a:r>
              <a:rPr lang="en-US" sz="2000" i="1" dirty="0">
                <a:latin typeface="Roboto" panose="02000000000000000000" pitchFamily="2" charset="0"/>
                <a:ea typeface="Roboto" panose="02000000000000000000" pitchFamily="2" charset="0"/>
                <a:cs typeface="Roboto" panose="02000000000000000000" pitchFamily="2" charset="0"/>
              </a:rPr>
              <a:t>Ethical Compliance</a:t>
            </a:r>
          </a:p>
          <a:p>
            <a:r>
              <a:rPr lang="en-US" sz="2000" i="1" dirty="0">
                <a:latin typeface="Roboto" panose="02000000000000000000" pitchFamily="2" charset="0"/>
                <a:ea typeface="Roboto" panose="02000000000000000000" pitchFamily="2" charset="0"/>
                <a:cs typeface="Roboto" panose="02000000000000000000" pitchFamily="2" charset="0"/>
              </a:rPr>
              <a:t>Human Oversight</a:t>
            </a:r>
          </a:p>
          <a:p>
            <a:r>
              <a:rPr lang="en-US" sz="2000" i="1" dirty="0">
                <a:latin typeface="Roboto" panose="02000000000000000000" pitchFamily="2" charset="0"/>
                <a:ea typeface="Roboto" panose="02000000000000000000" pitchFamily="2" charset="0"/>
                <a:cs typeface="Roboto" panose="02000000000000000000" pitchFamily="2" charset="0"/>
              </a:rPr>
              <a:t>Bias Mitigation</a:t>
            </a:r>
          </a:p>
          <a:p>
            <a:r>
              <a:rPr lang="en-US" sz="2000" i="1" dirty="0">
                <a:latin typeface="Roboto" panose="02000000000000000000" pitchFamily="2" charset="0"/>
                <a:ea typeface="Roboto" panose="02000000000000000000" pitchFamily="2" charset="0"/>
                <a:cs typeface="Roboto" panose="02000000000000000000" pitchFamily="2" charset="0"/>
              </a:rPr>
              <a:t>Transparency</a:t>
            </a:r>
          </a:p>
          <a:p>
            <a:r>
              <a:rPr lang="en-US" sz="2000" i="1" dirty="0">
                <a:latin typeface="Roboto" panose="02000000000000000000" pitchFamily="2" charset="0"/>
                <a:ea typeface="Roboto" panose="02000000000000000000" pitchFamily="2" charset="0"/>
                <a:cs typeface="Roboto" panose="02000000000000000000" pitchFamily="2" charset="0"/>
              </a:rPr>
              <a:t>Robustness</a:t>
            </a:r>
            <a:endParaRPr lang="en-GB" sz="2000" i="1" dirty="0"/>
          </a:p>
        </p:txBody>
      </p:sp>
      <p:sp>
        <p:nvSpPr>
          <p:cNvPr id="9" name="TextBox 8">
            <a:extLst>
              <a:ext uri="{FF2B5EF4-FFF2-40B4-BE49-F238E27FC236}">
                <a16:creationId xmlns:a16="http://schemas.microsoft.com/office/drawing/2014/main" id="{5F05E9AD-B1E5-7326-8429-788F44395CB2}"/>
              </a:ext>
            </a:extLst>
          </p:cNvPr>
          <p:cNvSpPr txBox="1"/>
          <p:nvPr/>
        </p:nvSpPr>
        <p:spPr>
          <a:xfrm>
            <a:off x="6427426" y="3904216"/>
            <a:ext cx="2783487" cy="461665"/>
          </a:xfrm>
          <a:prstGeom prst="rect">
            <a:avLst/>
          </a:prstGeom>
          <a:noFill/>
        </p:spPr>
        <p:txBody>
          <a:bodyPr wrap="square">
            <a:spAutoFit/>
          </a:bodyPr>
          <a:lstStyle/>
          <a:p>
            <a:r>
              <a:rPr lang="en-GB" sz="2400" b="1" dirty="0"/>
              <a:t>Blueprint for Action</a:t>
            </a:r>
          </a:p>
        </p:txBody>
      </p:sp>
      <p:sp>
        <p:nvSpPr>
          <p:cNvPr id="8" name="TextBox 7">
            <a:extLst>
              <a:ext uri="{FF2B5EF4-FFF2-40B4-BE49-F238E27FC236}">
                <a16:creationId xmlns:a16="http://schemas.microsoft.com/office/drawing/2014/main" id="{8BA8B69E-5813-7B4D-B120-FE824E38D6F9}"/>
              </a:ext>
            </a:extLst>
          </p:cNvPr>
          <p:cNvSpPr txBox="1"/>
          <p:nvPr/>
        </p:nvSpPr>
        <p:spPr>
          <a:xfrm>
            <a:off x="6333623" y="6170175"/>
            <a:ext cx="4374011" cy="338554"/>
          </a:xfrm>
          <a:prstGeom prst="rect">
            <a:avLst/>
          </a:prstGeom>
          <a:noFill/>
        </p:spPr>
        <p:txBody>
          <a:bodyPr wrap="square">
            <a:spAutoFit/>
          </a:bodyPr>
          <a:lstStyle/>
          <a:p>
            <a:r>
              <a:rPr lang="en-GB" sz="1600" i="1" dirty="0"/>
              <a:t>Source: https://www.reaim2024.kr/</a:t>
            </a:r>
          </a:p>
        </p:txBody>
      </p:sp>
    </p:spTree>
    <p:extLst>
      <p:ext uri="{BB962C8B-B14F-4D97-AF65-F5344CB8AC3E}">
        <p14:creationId xmlns:p14="http://schemas.microsoft.com/office/powerpoint/2010/main" val="280702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004B-65EE-9F6E-0C04-6965FA05BF20}"/>
              </a:ext>
            </a:extLst>
          </p:cNvPr>
          <p:cNvSpPr>
            <a:spLocks noGrp="1"/>
          </p:cNvSpPr>
          <p:nvPr>
            <p:ph type="title"/>
          </p:nvPr>
        </p:nvSpPr>
        <p:spPr/>
        <p:txBody>
          <a:bodyPr/>
          <a:lstStyle/>
          <a:p>
            <a:r>
              <a:rPr lang="en-GB" dirty="0"/>
              <a:t>Key Responsible AI Principle - Fairness</a:t>
            </a:r>
          </a:p>
        </p:txBody>
      </p:sp>
      <p:sp>
        <p:nvSpPr>
          <p:cNvPr id="3" name="Text Placeholder 2">
            <a:extLst>
              <a:ext uri="{FF2B5EF4-FFF2-40B4-BE49-F238E27FC236}">
                <a16:creationId xmlns:a16="http://schemas.microsoft.com/office/drawing/2014/main" id="{8AFEB0E8-8C29-3FD5-7567-AF8CE61A65C1}"/>
              </a:ext>
            </a:extLst>
          </p:cNvPr>
          <p:cNvSpPr>
            <a:spLocks noGrp="1"/>
          </p:cNvSpPr>
          <p:nvPr>
            <p:ph type="body" sz="quarter" idx="11"/>
          </p:nvPr>
        </p:nvSpPr>
        <p:spPr/>
        <p:txBody>
          <a:bodyPr/>
          <a:lstStyle/>
          <a:p>
            <a:r>
              <a:rPr lang="en-GB" dirty="0"/>
              <a:t>AI systems should treat everyone equally and provide the same recommendations to all individuals. </a:t>
            </a:r>
          </a:p>
          <a:p>
            <a:r>
              <a:rPr lang="en-GB" dirty="0"/>
              <a:t>Fairness in AI systems prevents discrimination based on personal characteristics. </a:t>
            </a:r>
          </a:p>
          <a:p>
            <a:r>
              <a:rPr lang="en-GB" dirty="0"/>
              <a:t>Important to prevent perpetuating or amplifying biases. </a:t>
            </a:r>
          </a:p>
          <a:p>
            <a:r>
              <a:rPr lang="en-GB" dirty="0"/>
              <a:t>AI models are trained on datasets, often scraped from the Internet, and these data often reflect our our own established human bias</a:t>
            </a:r>
          </a:p>
          <a:p>
            <a:r>
              <a:rPr lang="en-GB" dirty="0"/>
              <a:t>Ensuring fairness requires diverse training data, rigorous bias testing, and ongoing performance monitoring across different subpopulations.</a:t>
            </a:r>
          </a:p>
          <a:p>
            <a:endParaRPr lang="en-GB" dirty="0"/>
          </a:p>
        </p:txBody>
      </p:sp>
    </p:spTree>
    <p:extLst>
      <p:ext uri="{BB962C8B-B14F-4D97-AF65-F5344CB8AC3E}">
        <p14:creationId xmlns:p14="http://schemas.microsoft.com/office/powerpoint/2010/main" val="1766828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279F7-B549-2F60-E95E-E49C1E5F0990}"/>
              </a:ext>
            </a:extLst>
          </p:cNvPr>
          <p:cNvSpPr>
            <a:spLocks noGrp="1"/>
          </p:cNvSpPr>
          <p:nvPr>
            <p:ph type="title"/>
          </p:nvPr>
        </p:nvSpPr>
        <p:spPr/>
        <p:txBody>
          <a:bodyPr/>
          <a:lstStyle/>
          <a:p>
            <a:r>
              <a:rPr lang="en-GB" dirty="0"/>
              <a:t>Key Responsible AI Principle - Transparency</a:t>
            </a:r>
          </a:p>
        </p:txBody>
      </p:sp>
      <p:sp>
        <p:nvSpPr>
          <p:cNvPr id="3" name="Text Placeholder 2">
            <a:extLst>
              <a:ext uri="{FF2B5EF4-FFF2-40B4-BE49-F238E27FC236}">
                <a16:creationId xmlns:a16="http://schemas.microsoft.com/office/drawing/2014/main" id="{16FB1218-E7D3-8F75-4354-C78C49EE1407}"/>
              </a:ext>
            </a:extLst>
          </p:cNvPr>
          <p:cNvSpPr>
            <a:spLocks noGrp="1"/>
          </p:cNvSpPr>
          <p:nvPr>
            <p:ph type="body" sz="quarter" idx="11"/>
          </p:nvPr>
        </p:nvSpPr>
        <p:spPr/>
        <p:txBody>
          <a:bodyPr/>
          <a:lstStyle/>
          <a:p>
            <a:r>
              <a:rPr lang="en-GB" dirty="0"/>
              <a:t>As AI systems grow complex, mechanisms must be in place to understand and evaluate their outputs. </a:t>
            </a:r>
          </a:p>
          <a:p>
            <a:r>
              <a:rPr lang="en-GB" dirty="0"/>
              <a:t>There needs to have clear explanations of AI decisions and the ability for users to question those decisions. </a:t>
            </a:r>
          </a:p>
          <a:p>
            <a:r>
              <a:rPr lang="en-GB" dirty="0"/>
              <a:t>Transparency is an enabler of trust in the AI systems that we’re producing and operating, and trust in turn can foster faster adoption of those capabilities</a:t>
            </a:r>
          </a:p>
        </p:txBody>
      </p:sp>
    </p:spTree>
    <p:extLst>
      <p:ext uri="{BB962C8B-B14F-4D97-AF65-F5344CB8AC3E}">
        <p14:creationId xmlns:p14="http://schemas.microsoft.com/office/powerpoint/2010/main" val="3880737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6690-EA29-09CE-AE7D-EE5F9CDA8F2B}"/>
              </a:ext>
            </a:extLst>
          </p:cNvPr>
          <p:cNvSpPr>
            <a:spLocks noGrp="1"/>
          </p:cNvSpPr>
          <p:nvPr>
            <p:ph type="title"/>
          </p:nvPr>
        </p:nvSpPr>
        <p:spPr/>
        <p:txBody>
          <a:bodyPr/>
          <a:lstStyle/>
          <a:p>
            <a:r>
              <a:rPr lang="en-GB" dirty="0"/>
              <a:t>Key Responsible AI Principle - Robustness &amp; Veracity</a:t>
            </a:r>
          </a:p>
        </p:txBody>
      </p:sp>
      <p:sp>
        <p:nvSpPr>
          <p:cNvPr id="3" name="Text Placeholder 2">
            <a:extLst>
              <a:ext uri="{FF2B5EF4-FFF2-40B4-BE49-F238E27FC236}">
                <a16:creationId xmlns:a16="http://schemas.microsoft.com/office/drawing/2014/main" id="{DCAEF9A7-EE54-FF60-AE88-FB9DFD4A3395}"/>
              </a:ext>
            </a:extLst>
          </p:cNvPr>
          <p:cNvSpPr>
            <a:spLocks noGrp="1"/>
          </p:cNvSpPr>
          <p:nvPr>
            <p:ph type="body" sz="quarter" idx="11"/>
          </p:nvPr>
        </p:nvSpPr>
        <p:spPr/>
        <p:txBody>
          <a:bodyPr/>
          <a:lstStyle/>
          <a:p>
            <a:r>
              <a:rPr lang="en-GB" dirty="0">
                <a:ea typeface="Roboto" panose="02000000000000000000" pitchFamily="2" charset="0"/>
                <a:cs typeface="Roboto" panose="02000000000000000000" pitchFamily="2" charset="0"/>
              </a:rPr>
              <a:t>Robustness and veracity ensure AI systems produce reliable outputs, even with unexpected inputs. </a:t>
            </a:r>
          </a:p>
          <a:p>
            <a:r>
              <a:rPr lang="en-GB" dirty="0">
                <a:ea typeface="Roboto" panose="02000000000000000000" pitchFamily="2" charset="0"/>
                <a:cs typeface="Roboto" panose="02000000000000000000" pitchFamily="2" charset="0"/>
              </a:rPr>
              <a:t>Techniques like adversarial training, input validation, and anomaly detection enhance AI robustness. </a:t>
            </a:r>
          </a:p>
          <a:p>
            <a:r>
              <a:rPr lang="en-GB" dirty="0">
                <a:ea typeface="Roboto" panose="02000000000000000000" pitchFamily="2" charset="0"/>
                <a:cs typeface="Roboto" panose="02000000000000000000" pitchFamily="2" charset="0"/>
              </a:rPr>
              <a:t>Verify the accuracy of training data and model outputs. </a:t>
            </a:r>
          </a:p>
          <a:p>
            <a:pPr lvl="1"/>
            <a:r>
              <a:rPr lang="en-GB" dirty="0">
                <a:latin typeface="+mn-lt"/>
                <a:ea typeface="Roboto" panose="02000000000000000000" pitchFamily="2" charset="0"/>
                <a:cs typeface="Roboto" panose="02000000000000000000" pitchFamily="2" charset="0"/>
              </a:rPr>
              <a:t>Tests can be designed to check outputs against facts (e.g., Amazon Science's </a:t>
            </a:r>
            <a:r>
              <a:rPr lang="en-GB" dirty="0" err="1">
                <a:latin typeface="+mn-lt"/>
                <a:ea typeface="Roboto" panose="02000000000000000000" pitchFamily="2" charset="0"/>
                <a:cs typeface="Roboto" panose="02000000000000000000" pitchFamily="2" charset="0"/>
              </a:rPr>
              <a:t>RefChecker</a:t>
            </a:r>
            <a:r>
              <a:rPr lang="en-GB" dirty="0">
                <a:latin typeface="+mn-lt"/>
                <a:ea typeface="Roboto" panose="02000000000000000000" pitchFamily="2" charset="0"/>
                <a:cs typeface="Roboto" panose="02000000000000000000" pitchFamily="2" charset="0"/>
              </a:rPr>
              <a:t> Framework  allows fact-checking of an LLM’s output)</a:t>
            </a:r>
          </a:p>
          <a:p>
            <a:endParaRPr lang="en-GB" dirty="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39220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7A1F-A11B-E555-3D4D-CDDEE0D2D690}"/>
              </a:ext>
            </a:extLst>
          </p:cNvPr>
          <p:cNvSpPr>
            <a:spLocks noGrp="1"/>
          </p:cNvSpPr>
          <p:nvPr>
            <p:ph type="title"/>
          </p:nvPr>
        </p:nvSpPr>
        <p:spPr/>
        <p:txBody>
          <a:bodyPr/>
          <a:lstStyle/>
          <a:p>
            <a:r>
              <a:rPr lang="en-GB" dirty="0"/>
              <a:t>Key Responsible AI Principle - Accountability</a:t>
            </a:r>
          </a:p>
        </p:txBody>
      </p:sp>
      <p:sp>
        <p:nvSpPr>
          <p:cNvPr id="4" name="Text Placeholder 3">
            <a:extLst>
              <a:ext uri="{FF2B5EF4-FFF2-40B4-BE49-F238E27FC236}">
                <a16:creationId xmlns:a16="http://schemas.microsoft.com/office/drawing/2014/main" id="{AC9E18F3-94FD-3BB0-B963-0F2627B0BDB4}"/>
              </a:ext>
            </a:extLst>
          </p:cNvPr>
          <p:cNvSpPr>
            <a:spLocks noGrp="1"/>
          </p:cNvSpPr>
          <p:nvPr>
            <p:ph type="body" sz="quarter" idx="11"/>
          </p:nvPr>
        </p:nvSpPr>
        <p:spPr/>
        <p:txBody>
          <a:bodyPr/>
          <a:lstStyle/>
          <a:p>
            <a:r>
              <a:rPr lang="en-GB" dirty="0"/>
              <a:t>Organisations and individuals developing, deploying or operating AI systems should be held accountable for their proper functioning </a:t>
            </a:r>
          </a:p>
          <a:p>
            <a:r>
              <a:rPr lang="en-GB" dirty="0"/>
              <a:t>AI developers should ensure traceability, including in relation to datasets, processes and decisions made during the AI system lifecycle, to enable analysis of the AI system’s outputs and responses to inquiry</a:t>
            </a:r>
          </a:p>
          <a:p>
            <a:r>
              <a:rPr lang="en-GB" dirty="0"/>
              <a:t>AI actors should apply a systematic risk management approach to each phase of the AI system lifecycle on an ongoing basis and adopt responsible business conduct to address risks related to AI</a:t>
            </a:r>
          </a:p>
          <a:p>
            <a:endParaRPr lang="en-GB" dirty="0"/>
          </a:p>
        </p:txBody>
      </p:sp>
    </p:spTree>
    <p:extLst>
      <p:ext uri="{BB962C8B-B14F-4D97-AF65-F5344CB8AC3E}">
        <p14:creationId xmlns:p14="http://schemas.microsoft.com/office/powerpoint/2010/main" val="313268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CBD5D-2B2C-6CBB-8C65-9BDF5B210F3E}"/>
              </a:ext>
            </a:extLst>
          </p:cNvPr>
          <p:cNvSpPr>
            <a:spLocks noGrp="1"/>
          </p:cNvSpPr>
          <p:nvPr>
            <p:ph type="title"/>
          </p:nvPr>
        </p:nvSpPr>
        <p:spPr/>
        <p:txBody>
          <a:bodyPr/>
          <a:lstStyle/>
          <a:p>
            <a:r>
              <a:rPr lang="en-GB" dirty="0"/>
              <a:t>Key Responsible AI Principle - Privacy</a:t>
            </a:r>
          </a:p>
        </p:txBody>
      </p:sp>
      <p:sp>
        <p:nvSpPr>
          <p:cNvPr id="4" name="Text Placeholder 3">
            <a:extLst>
              <a:ext uri="{FF2B5EF4-FFF2-40B4-BE49-F238E27FC236}">
                <a16:creationId xmlns:a16="http://schemas.microsoft.com/office/drawing/2014/main" id="{0FE09EBC-4B9A-C470-0C98-AC06A9D86C41}"/>
              </a:ext>
            </a:extLst>
          </p:cNvPr>
          <p:cNvSpPr>
            <a:spLocks noGrp="1"/>
          </p:cNvSpPr>
          <p:nvPr>
            <p:ph type="body" sz="quarter" idx="11"/>
          </p:nvPr>
        </p:nvSpPr>
        <p:spPr/>
        <p:txBody>
          <a:bodyPr/>
          <a:lstStyle/>
          <a:p>
            <a:r>
              <a:rPr lang="en-US" b="0" i="0" dirty="0">
                <a:solidFill>
                  <a:srgbClr val="161616"/>
                </a:solidFill>
                <a:effectLst/>
                <a:ea typeface="Roboto" panose="02000000000000000000" pitchFamily="2" charset="0"/>
                <a:cs typeface="Roboto" panose="02000000000000000000" pitchFamily="2" charset="0"/>
              </a:rPr>
              <a:t>AI systems should respect privacy and maintain security by protecting private and confidential information. </a:t>
            </a:r>
          </a:p>
          <a:p>
            <a:r>
              <a:rPr lang="en-US" b="0" i="0" dirty="0">
                <a:solidFill>
                  <a:srgbClr val="161616"/>
                </a:solidFill>
                <a:effectLst/>
                <a:ea typeface="Roboto" panose="02000000000000000000" pitchFamily="2" charset="0"/>
                <a:cs typeface="Roboto" panose="02000000000000000000" pitchFamily="2" charset="0"/>
              </a:rPr>
              <a:t>They should also resist attacks and attempts to corrupt or compromise the system.</a:t>
            </a:r>
          </a:p>
          <a:p>
            <a:r>
              <a:rPr lang="en-US" sz="2800" dirty="0">
                <a:solidFill>
                  <a:srgbClr val="212529"/>
                </a:solidFill>
                <a:ea typeface="Roboto" panose="02000000000000000000" pitchFamily="2" charset="0"/>
                <a:cs typeface="Roboto" panose="02000000000000000000" pitchFamily="2" charset="0"/>
              </a:rPr>
              <a:t>Mechanism should be developed for individuals to control how their data is collected and used.</a:t>
            </a:r>
            <a:br>
              <a:rPr lang="en-US" b="0" i="0" dirty="0">
                <a:solidFill>
                  <a:srgbClr val="161616"/>
                </a:solidFill>
                <a:effectLst/>
                <a:ea typeface="Roboto" panose="02000000000000000000" pitchFamily="2" charset="0"/>
                <a:cs typeface="Roboto" panose="02000000000000000000" pitchFamily="2" charset="0"/>
              </a:rPr>
            </a:br>
            <a:endParaRPr lang="en-GB" dirty="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169862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B5EA-1551-3261-5C97-0EF5ACC0FFC8}"/>
              </a:ext>
            </a:extLst>
          </p:cNvPr>
          <p:cNvSpPr>
            <a:spLocks noGrp="1"/>
          </p:cNvSpPr>
          <p:nvPr>
            <p:ph type="title"/>
          </p:nvPr>
        </p:nvSpPr>
        <p:spPr/>
        <p:txBody>
          <a:bodyPr/>
          <a:lstStyle/>
          <a:p>
            <a:r>
              <a:rPr lang="en-GB" dirty="0"/>
              <a:t>Building Trustworthy AI</a:t>
            </a:r>
          </a:p>
        </p:txBody>
      </p:sp>
      <p:sp>
        <p:nvSpPr>
          <p:cNvPr id="3" name="Text Placeholder 2">
            <a:extLst>
              <a:ext uri="{FF2B5EF4-FFF2-40B4-BE49-F238E27FC236}">
                <a16:creationId xmlns:a16="http://schemas.microsoft.com/office/drawing/2014/main" id="{EBA70CDA-349D-31C7-E086-E16A007A0323}"/>
              </a:ext>
            </a:extLst>
          </p:cNvPr>
          <p:cNvSpPr>
            <a:spLocks noGrp="1"/>
          </p:cNvSpPr>
          <p:nvPr>
            <p:ph type="body" sz="quarter" idx="11"/>
          </p:nvPr>
        </p:nvSpPr>
        <p:spPr/>
        <p:txBody>
          <a:bodyPr/>
          <a:lstStyle/>
          <a:p>
            <a:pPr algn="l">
              <a:buFont typeface="Arial" panose="020B0604020202020204" pitchFamily="34" charset="0"/>
              <a:buChar char="•"/>
            </a:pPr>
            <a:r>
              <a:rPr lang="en-US" b="0" i="0" dirty="0">
                <a:solidFill>
                  <a:srgbClr val="212529"/>
                </a:solidFill>
                <a:effectLst/>
                <a:latin typeface="Inter var ISO"/>
              </a:rPr>
              <a:t>Foster </a:t>
            </a:r>
            <a:r>
              <a:rPr lang="en-US" b="1" i="0" dirty="0">
                <a:solidFill>
                  <a:srgbClr val="212529"/>
                </a:solidFill>
                <a:effectLst/>
                <a:latin typeface="Inter var ISO"/>
              </a:rPr>
              <a:t>collaboration </a:t>
            </a:r>
            <a:r>
              <a:rPr lang="en-US" b="0" i="0" dirty="0">
                <a:solidFill>
                  <a:srgbClr val="212529"/>
                </a:solidFill>
                <a:effectLst/>
                <a:latin typeface="Inter var ISO"/>
              </a:rPr>
              <a:t>across all disciplines, engaging experts from policy, technology, ethics and social advocacy to ensure multifaceted perspectives</a:t>
            </a:r>
          </a:p>
          <a:p>
            <a:pPr algn="l">
              <a:buFont typeface="Arial" panose="020B0604020202020204" pitchFamily="34" charset="0"/>
              <a:buChar char="•"/>
            </a:pPr>
            <a:r>
              <a:rPr lang="en-US" b="0" i="0" dirty="0">
                <a:solidFill>
                  <a:srgbClr val="212529"/>
                </a:solidFill>
                <a:effectLst/>
                <a:latin typeface="Inter var ISO"/>
              </a:rPr>
              <a:t>Prioritize </a:t>
            </a:r>
            <a:r>
              <a:rPr lang="en-US" b="1" i="0" dirty="0">
                <a:solidFill>
                  <a:srgbClr val="212529"/>
                </a:solidFill>
                <a:effectLst/>
                <a:latin typeface="Inter var ISO"/>
              </a:rPr>
              <a:t>ongoing education</a:t>
            </a:r>
            <a:r>
              <a:rPr lang="en-US" b="0" i="0" dirty="0">
                <a:solidFill>
                  <a:srgbClr val="212529"/>
                </a:solidFill>
                <a:effectLst/>
                <a:latin typeface="Inter var ISO"/>
              </a:rPr>
              <a:t> on AI best practices at all levels to maintain awareness and adaptability</a:t>
            </a:r>
          </a:p>
          <a:p>
            <a:pPr algn="l">
              <a:buFont typeface="Arial" panose="020B0604020202020204" pitchFamily="34" charset="0"/>
              <a:buChar char="•"/>
            </a:pPr>
            <a:r>
              <a:rPr lang="en-US" b="0" i="0" dirty="0">
                <a:solidFill>
                  <a:srgbClr val="212529"/>
                </a:solidFill>
                <a:effectLst/>
                <a:latin typeface="Inter var ISO"/>
              </a:rPr>
              <a:t>Implement </a:t>
            </a:r>
            <a:r>
              <a:rPr lang="en-US" b="1" i="0" dirty="0">
                <a:solidFill>
                  <a:srgbClr val="212529"/>
                </a:solidFill>
                <a:effectLst/>
                <a:latin typeface="Inter var ISO"/>
              </a:rPr>
              <a:t>AI ethics throughout the technology’s design</a:t>
            </a:r>
            <a:r>
              <a:rPr lang="en-US" b="0" i="0" dirty="0">
                <a:solidFill>
                  <a:srgbClr val="212529"/>
                </a:solidFill>
                <a:effectLst/>
                <a:latin typeface="Inter var ISO"/>
              </a:rPr>
              <a:t>, building them into AI solutions from the ground up</a:t>
            </a:r>
          </a:p>
          <a:p>
            <a:endParaRPr lang="en-GB" dirty="0"/>
          </a:p>
        </p:txBody>
      </p:sp>
    </p:spTree>
    <p:extLst>
      <p:ext uri="{BB962C8B-B14F-4D97-AF65-F5344CB8AC3E}">
        <p14:creationId xmlns:p14="http://schemas.microsoft.com/office/powerpoint/2010/main" val="2070489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18DDD-2E4E-400F-B523-8498FF206D68}"/>
              </a:ext>
            </a:extLst>
          </p:cNvPr>
          <p:cNvSpPr>
            <a:spLocks noGrp="1"/>
          </p:cNvSpPr>
          <p:nvPr>
            <p:ph type="title"/>
          </p:nvPr>
        </p:nvSpPr>
        <p:spPr/>
        <p:txBody>
          <a:bodyPr/>
          <a:lstStyle/>
          <a:p>
            <a:r>
              <a:rPr lang="en-GB" dirty="0"/>
              <a:t>Building Trustworthy AI</a:t>
            </a:r>
          </a:p>
        </p:txBody>
      </p:sp>
      <p:sp>
        <p:nvSpPr>
          <p:cNvPr id="3" name="Text Placeholder 2">
            <a:extLst>
              <a:ext uri="{FF2B5EF4-FFF2-40B4-BE49-F238E27FC236}">
                <a16:creationId xmlns:a16="http://schemas.microsoft.com/office/drawing/2014/main" id="{B49B7917-6554-C702-1F13-BE11DA73BD63}"/>
              </a:ext>
            </a:extLst>
          </p:cNvPr>
          <p:cNvSpPr>
            <a:spLocks noGrp="1"/>
          </p:cNvSpPr>
          <p:nvPr>
            <p:ph type="body" sz="quarter" idx="11"/>
          </p:nvPr>
        </p:nvSpPr>
        <p:spPr/>
        <p:txBody>
          <a:bodyPr/>
          <a:lstStyle/>
          <a:p>
            <a:pPr algn="l">
              <a:buFont typeface="Arial" panose="020B0604020202020204" pitchFamily="34" charset="0"/>
              <a:buChar char="•"/>
            </a:pPr>
            <a:r>
              <a:rPr lang="en-US" b="0" i="0" dirty="0">
                <a:solidFill>
                  <a:srgbClr val="212529"/>
                </a:solidFill>
                <a:effectLst/>
              </a:rPr>
              <a:t>Establish clear </a:t>
            </a:r>
            <a:r>
              <a:rPr lang="en-US" b="1" i="0" dirty="0">
                <a:solidFill>
                  <a:srgbClr val="212529"/>
                </a:solidFill>
                <a:effectLst/>
              </a:rPr>
              <a:t>oversight mechanisms</a:t>
            </a:r>
            <a:r>
              <a:rPr lang="en-US" b="0" i="0" dirty="0">
                <a:solidFill>
                  <a:srgbClr val="212529"/>
                </a:solidFill>
                <a:effectLst/>
              </a:rPr>
              <a:t>, such as ethics committees or review Boards, to monitor compliance and guide ethical decision making</a:t>
            </a:r>
          </a:p>
          <a:p>
            <a:pPr algn="l">
              <a:buFont typeface="Arial" panose="020B0604020202020204" pitchFamily="34" charset="0"/>
              <a:buChar char="•"/>
            </a:pPr>
            <a:r>
              <a:rPr lang="en-US" b="0" i="0" dirty="0">
                <a:solidFill>
                  <a:srgbClr val="212529"/>
                </a:solidFill>
                <a:effectLst/>
              </a:rPr>
              <a:t>Protect </a:t>
            </a:r>
            <a:r>
              <a:rPr lang="en-US" b="1" i="0" dirty="0">
                <a:solidFill>
                  <a:srgbClr val="212529"/>
                </a:solidFill>
                <a:effectLst/>
              </a:rPr>
              <a:t>end-user privacy and sensitive data</a:t>
            </a:r>
            <a:r>
              <a:rPr lang="en-US" b="0" i="0" dirty="0">
                <a:solidFill>
                  <a:srgbClr val="212529"/>
                </a:solidFill>
                <a:effectLst/>
              </a:rPr>
              <a:t> through strong AI governance and data usage policies</a:t>
            </a:r>
          </a:p>
          <a:p>
            <a:pPr algn="l">
              <a:buFont typeface="Arial" panose="020B0604020202020204" pitchFamily="34" charset="0"/>
              <a:buChar char="•"/>
            </a:pPr>
            <a:r>
              <a:rPr lang="en-US" b="0" i="0" dirty="0">
                <a:solidFill>
                  <a:srgbClr val="212529"/>
                </a:solidFill>
                <a:effectLst/>
              </a:rPr>
              <a:t>Encourage </a:t>
            </a:r>
            <a:r>
              <a:rPr lang="en-US" b="1" i="0" dirty="0">
                <a:solidFill>
                  <a:srgbClr val="212529"/>
                </a:solidFill>
                <a:effectLst/>
              </a:rPr>
              <a:t>transparency in AI processes</a:t>
            </a:r>
            <a:r>
              <a:rPr lang="en-US" b="0" i="0" dirty="0">
                <a:solidFill>
                  <a:srgbClr val="212529"/>
                </a:solidFill>
                <a:effectLst/>
              </a:rPr>
              <a:t>, enabling accountability and trust from stakeholders and the public</a:t>
            </a:r>
          </a:p>
          <a:p>
            <a:pPr>
              <a:buFont typeface="Arial" panose="020B0604020202020204" pitchFamily="34" charset="0"/>
              <a:buChar char="•"/>
            </a:pPr>
            <a:r>
              <a:rPr lang="en-US" b="1" i="0" dirty="0">
                <a:solidFill>
                  <a:srgbClr val="212529"/>
                </a:solidFill>
                <a:effectLst/>
              </a:rPr>
              <a:t>Design for humans</a:t>
            </a:r>
            <a:r>
              <a:rPr lang="en-US" b="0" i="0" dirty="0">
                <a:solidFill>
                  <a:srgbClr val="212529"/>
                </a:solidFill>
                <a:effectLst/>
              </a:rPr>
              <a:t> by using a diverse set of users and use-case scenarios and incorporating this feedback before and throughout the project’s development.</a:t>
            </a:r>
          </a:p>
          <a:p>
            <a:pPr algn="l">
              <a:buFont typeface="Arial" panose="020B0604020202020204" pitchFamily="34" charset="0"/>
              <a:buChar char="•"/>
            </a:pPr>
            <a:endParaRPr lang="en-US" b="0" i="0" dirty="0">
              <a:solidFill>
                <a:srgbClr val="212529"/>
              </a:solidFill>
              <a:effectLst/>
            </a:endParaRPr>
          </a:p>
          <a:p>
            <a:endParaRPr lang="en-GB" dirty="0"/>
          </a:p>
        </p:txBody>
      </p:sp>
    </p:spTree>
    <p:extLst>
      <p:ext uri="{BB962C8B-B14F-4D97-AF65-F5344CB8AC3E}">
        <p14:creationId xmlns:p14="http://schemas.microsoft.com/office/powerpoint/2010/main" val="4009347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554B-25AB-E198-92B4-DF9B7E3938F4}"/>
              </a:ext>
            </a:extLst>
          </p:cNvPr>
          <p:cNvSpPr>
            <a:spLocks noGrp="1"/>
          </p:cNvSpPr>
          <p:nvPr>
            <p:ph type="title"/>
          </p:nvPr>
        </p:nvSpPr>
        <p:spPr/>
        <p:txBody>
          <a:bodyPr/>
          <a:lstStyle/>
          <a:p>
            <a:r>
              <a:rPr lang="en-GB" dirty="0"/>
              <a:t>Trustworthy AI Framework</a:t>
            </a:r>
          </a:p>
        </p:txBody>
      </p:sp>
      <p:sp>
        <p:nvSpPr>
          <p:cNvPr id="3" name="Text Placeholder 2">
            <a:extLst>
              <a:ext uri="{FF2B5EF4-FFF2-40B4-BE49-F238E27FC236}">
                <a16:creationId xmlns:a16="http://schemas.microsoft.com/office/drawing/2014/main" id="{87CA051A-1733-1327-9128-2E70EA8B6631}"/>
              </a:ext>
            </a:extLst>
          </p:cNvPr>
          <p:cNvSpPr>
            <a:spLocks noGrp="1"/>
          </p:cNvSpPr>
          <p:nvPr>
            <p:ph type="body" sz="quarter" idx="11"/>
          </p:nvPr>
        </p:nvSpPr>
        <p:spPr/>
        <p:txBody>
          <a:bodyPr/>
          <a:lstStyle/>
          <a:p>
            <a:endParaRPr lang="en-GB" dirty="0"/>
          </a:p>
        </p:txBody>
      </p:sp>
      <p:pic>
        <p:nvPicPr>
          <p:cNvPr id="3074" name="Picture 2" descr="The Trustworthy AI framework">
            <a:extLst>
              <a:ext uri="{FF2B5EF4-FFF2-40B4-BE49-F238E27FC236}">
                <a16:creationId xmlns:a16="http://schemas.microsoft.com/office/drawing/2014/main" id="{42C55426-EEB4-6322-EA21-876B71B6B1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5515" y="1562095"/>
            <a:ext cx="5040775" cy="504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0305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CA8D-116A-916C-CC12-D17EA290F935}"/>
              </a:ext>
            </a:extLst>
          </p:cNvPr>
          <p:cNvSpPr>
            <a:spLocks noGrp="1"/>
          </p:cNvSpPr>
          <p:nvPr>
            <p:ph type="title"/>
          </p:nvPr>
        </p:nvSpPr>
        <p:spPr>
          <a:xfrm>
            <a:off x="831850" y="1709738"/>
            <a:ext cx="5371725" cy="2852737"/>
          </a:xfrm>
        </p:spPr>
        <p:txBody>
          <a:bodyPr>
            <a:normAutofit/>
          </a:bodyPr>
          <a:lstStyle/>
          <a:p>
            <a:r>
              <a:rPr lang="en-GB" sz="4800" dirty="0">
                <a:latin typeface="Roboto" panose="02000000000000000000" pitchFamily="2" charset="0"/>
                <a:ea typeface="Roboto" panose="02000000000000000000" pitchFamily="2" charset="0"/>
                <a:cs typeface="Roboto" panose="02000000000000000000" pitchFamily="2" charset="0"/>
              </a:rPr>
              <a:t>Model AI Governance Framework</a:t>
            </a:r>
          </a:p>
        </p:txBody>
      </p:sp>
      <p:sp>
        <p:nvSpPr>
          <p:cNvPr id="3" name="Text Placeholder 2">
            <a:extLst>
              <a:ext uri="{FF2B5EF4-FFF2-40B4-BE49-F238E27FC236}">
                <a16:creationId xmlns:a16="http://schemas.microsoft.com/office/drawing/2014/main" id="{98029B29-B13D-86A5-ECDB-04D3D424AEEC}"/>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2C8375DB-3000-3EEC-2167-6EC3299C4A8E}"/>
              </a:ext>
            </a:extLst>
          </p:cNvPr>
          <p:cNvPicPr>
            <a:picLocks noChangeAspect="1"/>
          </p:cNvPicPr>
          <p:nvPr/>
        </p:nvPicPr>
        <p:blipFill>
          <a:blip r:embed="rId2"/>
          <a:stretch>
            <a:fillRect/>
          </a:stretch>
        </p:blipFill>
        <p:spPr>
          <a:xfrm>
            <a:off x="5254451" y="1221692"/>
            <a:ext cx="3542309" cy="4867958"/>
          </a:xfrm>
          <a:prstGeom prst="rect">
            <a:avLst/>
          </a:prstGeom>
        </p:spPr>
      </p:pic>
    </p:spTree>
    <p:extLst>
      <p:ext uri="{BB962C8B-B14F-4D97-AF65-F5344CB8AC3E}">
        <p14:creationId xmlns:p14="http://schemas.microsoft.com/office/powerpoint/2010/main" val="271284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latin typeface="Roboto" panose="02000000000000000000" pitchFamily="2" charset="0"/>
                <a:ea typeface="Roboto" panose="02000000000000000000" pitchFamily="2" charset="0"/>
                <a:cs typeface="Roboto" panose="02000000000000000000" pitchFamily="2" charset="0"/>
              </a:rPr>
              <a:t>Why we need AI governance framework? </a:t>
            </a:r>
            <a:r>
              <a:rPr lang="en" dirty="0">
                <a:solidFill>
                  <a:schemeClr val="bg1"/>
                </a:solidFill>
                <a:latin typeface="Roboto" panose="02000000000000000000" pitchFamily="2" charset="0"/>
                <a:ea typeface="Roboto" panose="02000000000000000000" pitchFamily="2" charset="0"/>
                <a:cs typeface="Roboto" panose="02000000000000000000" pitchFamily="2" charset="0"/>
              </a:rPr>
              <a:t>AI Governance?</a:t>
            </a:r>
            <a:endParaRPr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7" name="Google Shape;67;p15"/>
          <p:cNvSpPr txBox="1">
            <a:spLocks noGrp="1"/>
          </p:cNvSpPr>
          <p:nvPr>
            <p:ph type="body" sz="quarter" idx="11"/>
          </p:nvPr>
        </p:nvSpPr>
        <p:spPr>
          <a:xfrm>
            <a:off x="1858002" y="2392413"/>
            <a:ext cx="7882758" cy="2600002"/>
          </a:xfrm>
          <a:prstGeom prst="rect">
            <a:avLst/>
          </a:prstGeom>
        </p:spPr>
        <p:txBody>
          <a:bodyPr spcFirstLastPara="1" vert="horz" wrap="square" lIns="121900" tIns="121900" rIns="121900" bIns="121900" rtlCol="0" anchor="t" anchorCtr="0">
            <a:normAutofit/>
          </a:bodyPr>
          <a:lstStyle/>
          <a:p>
            <a:pPr marL="0" indent="0" algn="ctr">
              <a:buNone/>
            </a:pPr>
            <a:r>
              <a:rPr lang="en" sz="3200" b="1" dirty="0">
                <a:solidFill>
                  <a:srgbClr val="7030A0"/>
                </a:solidFill>
                <a:ea typeface="Roboto" panose="02000000000000000000" pitchFamily="2" charset="0"/>
                <a:cs typeface="Roboto" panose="02000000000000000000" pitchFamily="2" charset="0"/>
              </a:rPr>
              <a:t>AI governance puts in place the </a:t>
            </a:r>
            <a:r>
              <a:rPr lang="en-US" sz="3200" b="1" dirty="0">
                <a:solidFill>
                  <a:srgbClr val="7030A0"/>
                </a:solidFill>
                <a:ea typeface="Roboto" panose="02000000000000000000" pitchFamily="2" charset="0"/>
                <a:cs typeface="Roboto" panose="02000000000000000000" pitchFamily="2" charset="0"/>
              </a:rPr>
              <a:t>rules, policies, processes, and procedures to realize responsible AI principles</a:t>
            </a:r>
            <a:endParaRPr sz="3200" b="1" dirty="0">
              <a:solidFill>
                <a:srgbClr val="7030A0"/>
              </a:solidFill>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25530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b="1" dirty="0">
                <a:latin typeface="+mn-lt"/>
              </a:rPr>
              <a:t>Do we need another Governance Framework for AI?</a:t>
            </a:r>
            <a:endParaRPr b="1" dirty="0">
              <a:latin typeface="+mn-lt"/>
            </a:endParaRPr>
          </a:p>
        </p:txBody>
      </p:sp>
      <p:sp>
        <p:nvSpPr>
          <p:cNvPr id="73" name="Google Shape;73;p16"/>
          <p:cNvSpPr txBox="1">
            <a:spLocks noGrp="1"/>
          </p:cNvSpPr>
          <p:nvPr>
            <p:ph idx="1"/>
          </p:nvPr>
        </p:nvSpPr>
        <p:spPr>
          <a:prstGeom prst="rect">
            <a:avLst/>
          </a:prstGeom>
        </p:spPr>
        <p:txBody>
          <a:bodyPr spcFirstLastPara="1" vert="horz" wrap="square" lIns="121900" tIns="121900" rIns="121900" bIns="121900" rtlCol="0" anchor="t" anchorCtr="0">
            <a:normAutofit/>
          </a:bodyPr>
          <a:lstStyle/>
          <a:p>
            <a:pPr>
              <a:buClr>
                <a:schemeClr val="dk1"/>
              </a:buClr>
              <a:buSzPct val="100000"/>
            </a:pPr>
            <a:r>
              <a:rPr lang="en" sz="1800" dirty="0">
                <a:ea typeface="Roboto" panose="02000000000000000000" pitchFamily="2" charset="0"/>
                <a:cs typeface="Roboto" panose="02000000000000000000" pitchFamily="2" charset="0"/>
              </a:rPr>
              <a:t>Most organisations already have processes and systems in place for governance, planning, budgeting, risk management and technology audit.</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But there are two key differences between conventional IT and AI-based systems.</a:t>
            </a:r>
          </a:p>
          <a:p>
            <a:pPr lvl="1">
              <a:spcBef>
                <a:spcPts val="1600"/>
              </a:spcBef>
            </a:pPr>
            <a:r>
              <a:rPr lang="en" sz="1800" dirty="0">
                <a:ea typeface="Roboto" panose="02000000000000000000" pitchFamily="2" charset="0"/>
                <a:cs typeface="Roboto" panose="02000000000000000000" pitchFamily="2" charset="0"/>
              </a:rPr>
              <a:t>AI models are non-deterministic and its operation is often opaque</a:t>
            </a:r>
          </a:p>
          <a:p>
            <a:pPr lvl="1">
              <a:spcBef>
                <a:spcPts val="1600"/>
              </a:spcBef>
            </a:pPr>
            <a:r>
              <a:rPr lang="en" sz="1800" dirty="0">
                <a:ea typeface="Roboto" panose="02000000000000000000" pitchFamily="2" charset="0"/>
                <a:cs typeface="Roboto" panose="02000000000000000000" pitchFamily="2" charset="0"/>
              </a:rPr>
              <a:t>AI models learns from data and evolves over time.</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Organisations should pay equal attention to the model code and training dataset.</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Governance issues like “how was it trained?” &amp; continuous monitoring are important.</a:t>
            </a:r>
            <a:endParaRPr sz="1800" dirty="0">
              <a:ea typeface="Roboto" panose="02000000000000000000" pitchFamily="2" charset="0"/>
              <a:cs typeface="Roboto" panose="02000000000000000000" pitchFamily="2" charset="0"/>
            </a:endParaRPr>
          </a:p>
          <a:p>
            <a:pPr>
              <a:spcBef>
                <a:spcPts val="1600"/>
              </a:spcBef>
              <a:buClr>
                <a:schemeClr val="dk1"/>
              </a:buClr>
              <a:buSzPct val="61111"/>
            </a:pPr>
            <a:endParaRPr sz="1800" dirty="0">
              <a:ea typeface="Roboto" panose="02000000000000000000" pitchFamily="2" charset="0"/>
              <a:cs typeface="Roboto" panose="02000000000000000000" pitchFamily="2" charset="0"/>
            </a:endParaRPr>
          </a:p>
          <a:p>
            <a:pPr>
              <a:spcBef>
                <a:spcPts val="1600"/>
              </a:spcBef>
              <a:spcAft>
                <a:spcPts val="1600"/>
              </a:spcAft>
            </a:pPr>
            <a:endParaRPr sz="1800" dirty="0">
              <a:ea typeface="Roboto" panose="02000000000000000000" pitchFamily="2" charset="0"/>
              <a:cs typeface="Roboto" panose="02000000000000000000" pitchFamily="2" charset="0"/>
            </a:endParaRPr>
          </a:p>
        </p:txBody>
      </p:sp>
      <p:pic>
        <p:nvPicPr>
          <p:cNvPr id="74" name="Google Shape;74;p16"/>
          <p:cNvPicPr preferRelativeResize="0"/>
          <p:nvPr/>
        </p:nvPicPr>
        <p:blipFill>
          <a:blip r:embed="rId3">
            <a:alphaModFix/>
          </a:blip>
          <a:stretch>
            <a:fillRect/>
          </a:stretch>
        </p:blipFill>
        <p:spPr>
          <a:xfrm>
            <a:off x="1678329" y="5181945"/>
            <a:ext cx="8530387" cy="1310930"/>
          </a:xfrm>
          <a:prstGeom prst="rect">
            <a:avLst/>
          </a:prstGeom>
          <a:noFill/>
          <a:ln>
            <a:noFill/>
          </a:ln>
        </p:spPr>
      </p:pic>
    </p:spTree>
    <p:extLst>
      <p:ext uri="{BB962C8B-B14F-4D97-AF65-F5344CB8AC3E}">
        <p14:creationId xmlns:p14="http://schemas.microsoft.com/office/powerpoint/2010/main" val="1320550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914290A-D769-9F92-E915-B23AEC134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6277" y="1266496"/>
            <a:ext cx="6630886" cy="47822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2A0ED0-102F-C0D9-5F9C-278E2223F7DE}"/>
              </a:ext>
            </a:extLst>
          </p:cNvPr>
          <p:cNvSpPr>
            <a:spLocks noGrp="1"/>
          </p:cNvSpPr>
          <p:nvPr>
            <p:ph type="title"/>
          </p:nvPr>
        </p:nvSpPr>
        <p:spPr/>
        <p:txBody>
          <a:bodyPr/>
          <a:lstStyle/>
          <a:p>
            <a:r>
              <a:rPr lang="en-GB" dirty="0"/>
              <a:t>Where AI governance fits? </a:t>
            </a:r>
          </a:p>
        </p:txBody>
      </p:sp>
      <p:sp>
        <p:nvSpPr>
          <p:cNvPr id="3" name="Rectangle 2">
            <a:extLst>
              <a:ext uri="{FF2B5EF4-FFF2-40B4-BE49-F238E27FC236}">
                <a16:creationId xmlns:a16="http://schemas.microsoft.com/office/drawing/2014/main" id="{EC46130E-7E30-4B2D-FC67-5D781E010713}"/>
              </a:ext>
            </a:extLst>
          </p:cNvPr>
          <p:cNvSpPr/>
          <p:nvPr/>
        </p:nvSpPr>
        <p:spPr>
          <a:xfrm>
            <a:off x="3727962" y="4511275"/>
            <a:ext cx="1450426" cy="80929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2270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Singapore Model AI Governance Framework</a:t>
            </a:r>
            <a:endParaRPr dirty="0"/>
          </a:p>
        </p:txBody>
      </p:sp>
      <p:sp>
        <p:nvSpPr>
          <p:cNvPr id="80" name="Google Shape;80;p17"/>
          <p:cNvSpPr txBox="1">
            <a:spLocks noGrp="1"/>
          </p:cNvSpPr>
          <p:nvPr>
            <p:ph type="body" sz="quarter" idx="11"/>
          </p:nvPr>
        </p:nvSpPr>
        <p:spPr>
          <a:prstGeom prst="rect">
            <a:avLst/>
          </a:prstGeom>
        </p:spPr>
        <p:txBody>
          <a:bodyPr spcFirstLastPara="1" vert="horz" wrap="square" lIns="121900" tIns="121900" rIns="121900" bIns="121900" rtlCol="0" anchor="t" anchorCtr="0">
            <a:normAutofit/>
          </a:bodyPr>
          <a:lstStyle/>
          <a:p>
            <a:pPr marL="380990" indent="-380990"/>
            <a:r>
              <a:rPr lang="en" sz="2400" dirty="0"/>
              <a:t>In 2019, Singapore launched </a:t>
            </a:r>
            <a:r>
              <a:rPr lang="en" sz="2400" b="1" dirty="0"/>
              <a:t>our Model AI Governance Framework </a:t>
            </a:r>
            <a:r>
              <a:rPr lang="en" sz="2400" dirty="0"/>
              <a:t>(“Model Framework”) at the World Economic Forum in Davos, </a:t>
            </a:r>
          </a:p>
          <a:p>
            <a:pPr marL="380990" indent="-380990"/>
            <a:r>
              <a:rPr lang="en" sz="2400" dirty="0"/>
              <a:t>Model AI governance Framework refreshed in 2020</a:t>
            </a:r>
          </a:p>
          <a:p>
            <a:pPr marL="380990" indent="-380990"/>
            <a:r>
              <a:rPr lang="en" sz="2400" dirty="0"/>
              <a:t>Model AI governance Framework for Generative AI released in 2024</a:t>
            </a:r>
          </a:p>
          <a:p>
            <a:pPr marL="380990" indent="-380990"/>
            <a:r>
              <a:rPr lang="en" sz="2400" dirty="0"/>
              <a:t>The Governance framework aims to translate ethical principles into practical recommendations that organisations could readily adopt to deploy AI responsibly.</a:t>
            </a:r>
          </a:p>
          <a:p>
            <a:pPr marL="0" indent="0">
              <a:spcBef>
                <a:spcPts val="1600"/>
              </a:spcBef>
              <a:buClr>
                <a:schemeClr val="dk1"/>
              </a:buClr>
              <a:buSzPts val="1100"/>
              <a:buNone/>
            </a:pPr>
            <a:endParaRPr lang="en" sz="2133" dirty="0"/>
          </a:p>
          <a:p>
            <a:pPr marL="0" indent="0">
              <a:spcBef>
                <a:spcPts val="1600"/>
              </a:spcBef>
              <a:buClr>
                <a:schemeClr val="dk1"/>
              </a:buClr>
              <a:buSzPts val="1100"/>
              <a:buNone/>
            </a:pPr>
            <a:endParaRPr sz="2133" dirty="0"/>
          </a:p>
        </p:txBody>
      </p:sp>
    </p:spTree>
    <p:extLst>
      <p:ext uri="{BB962C8B-B14F-4D97-AF65-F5344CB8AC3E}">
        <p14:creationId xmlns:p14="http://schemas.microsoft.com/office/powerpoint/2010/main" val="916683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B97F-8FB9-AA30-4DC0-A5E23737C2A9}"/>
              </a:ext>
            </a:extLst>
          </p:cNvPr>
          <p:cNvSpPr>
            <a:spLocks noGrp="1"/>
          </p:cNvSpPr>
          <p:nvPr>
            <p:ph type="title"/>
          </p:nvPr>
        </p:nvSpPr>
        <p:spPr/>
        <p:txBody>
          <a:bodyPr/>
          <a:lstStyle/>
          <a:p>
            <a:r>
              <a:rPr lang="en-GB" dirty="0"/>
              <a:t>Guiding Principles</a:t>
            </a:r>
          </a:p>
        </p:txBody>
      </p:sp>
      <p:sp>
        <p:nvSpPr>
          <p:cNvPr id="3" name="Text Placeholder 2">
            <a:extLst>
              <a:ext uri="{FF2B5EF4-FFF2-40B4-BE49-F238E27FC236}">
                <a16:creationId xmlns:a16="http://schemas.microsoft.com/office/drawing/2014/main" id="{BF5FBAC8-E6CA-5D90-C4EA-76706AA558BA}"/>
              </a:ext>
            </a:extLst>
          </p:cNvPr>
          <p:cNvSpPr>
            <a:spLocks noGrp="1"/>
          </p:cNvSpPr>
          <p:nvPr>
            <p:ph type="body" sz="quarter" idx="11"/>
          </p:nvPr>
        </p:nvSpPr>
        <p:spPr/>
        <p:txBody>
          <a:bodyPr/>
          <a:lstStyle/>
          <a:p>
            <a:r>
              <a:rPr lang="en" sz="2667" dirty="0"/>
              <a:t>The Model Framework is based on two </a:t>
            </a:r>
            <a:r>
              <a:rPr lang="en" sz="2667" b="1" dirty="0"/>
              <a:t>high-level guiding principles </a:t>
            </a:r>
            <a:r>
              <a:rPr lang="en" sz="2667" dirty="0"/>
              <a:t>that promote trust in AI and understanding of the use of AI technologies</a:t>
            </a:r>
          </a:p>
          <a:p>
            <a:endParaRPr lang="en-GB" dirty="0"/>
          </a:p>
        </p:txBody>
      </p:sp>
      <p:pic>
        <p:nvPicPr>
          <p:cNvPr id="4" name="Picture 3">
            <a:extLst>
              <a:ext uri="{FF2B5EF4-FFF2-40B4-BE49-F238E27FC236}">
                <a16:creationId xmlns:a16="http://schemas.microsoft.com/office/drawing/2014/main" id="{9F629CCF-289F-6370-612E-8C912A0088FE}"/>
              </a:ext>
            </a:extLst>
          </p:cNvPr>
          <p:cNvPicPr>
            <a:picLocks noChangeAspect="1"/>
          </p:cNvPicPr>
          <p:nvPr/>
        </p:nvPicPr>
        <p:blipFill>
          <a:blip r:embed="rId2"/>
          <a:stretch>
            <a:fillRect/>
          </a:stretch>
        </p:blipFill>
        <p:spPr>
          <a:xfrm>
            <a:off x="1793500" y="2878486"/>
            <a:ext cx="7604500" cy="858094"/>
          </a:xfrm>
          <a:prstGeom prst="rect">
            <a:avLst/>
          </a:prstGeom>
        </p:spPr>
      </p:pic>
      <p:sp>
        <p:nvSpPr>
          <p:cNvPr id="6" name="TextBox 5">
            <a:extLst>
              <a:ext uri="{FF2B5EF4-FFF2-40B4-BE49-F238E27FC236}">
                <a16:creationId xmlns:a16="http://schemas.microsoft.com/office/drawing/2014/main" id="{F87F60E8-23FA-005D-1F11-7D7AEA0F4C34}"/>
              </a:ext>
            </a:extLst>
          </p:cNvPr>
          <p:cNvSpPr txBox="1"/>
          <p:nvPr/>
        </p:nvSpPr>
        <p:spPr>
          <a:xfrm>
            <a:off x="1793500" y="4289754"/>
            <a:ext cx="3259793" cy="830997"/>
          </a:xfrm>
          <a:prstGeom prst="rect">
            <a:avLst/>
          </a:prstGeom>
          <a:noFill/>
        </p:spPr>
        <p:txBody>
          <a:bodyPr wrap="square">
            <a:spAutoFit/>
          </a:bodyPr>
          <a:lstStyle/>
          <a:p>
            <a:r>
              <a:rPr lang="en-GB" sz="2400" i="1" dirty="0"/>
              <a:t>Helps to build trust and confidence in AI. </a:t>
            </a:r>
          </a:p>
        </p:txBody>
      </p:sp>
      <p:sp>
        <p:nvSpPr>
          <p:cNvPr id="8" name="TextBox 7">
            <a:extLst>
              <a:ext uri="{FF2B5EF4-FFF2-40B4-BE49-F238E27FC236}">
                <a16:creationId xmlns:a16="http://schemas.microsoft.com/office/drawing/2014/main" id="{DFD1F12D-06BF-797A-9527-77BE90B9F957}"/>
              </a:ext>
            </a:extLst>
          </p:cNvPr>
          <p:cNvSpPr txBox="1"/>
          <p:nvPr/>
        </p:nvSpPr>
        <p:spPr>
          <a:xfrm>
            <a:off x="6063343" y="4289754"/>
            <a:ext cx="5289523" cy="1569660"/>
          </a:xfrm>
          <a:prstGeom prst="rect">
            <a:avLst/>
          </a:prstGeom>
          <a:noFill/>
        </p:spPr>
        <p:txBody>
          <a:bodyPr wrap="square">
            <a:spAutoFit/>
          </a:bodyPr>
          <a:lstStyle/>
          <a:p>
            <a:r>
              <a:rPr lang="en-GB" sz="2400" i="1" dirty="0"/>
              <a:t>Helps to amplify human capabilities, protection of the interests of human beings, including their well-being and safety</a:t>
            </a:r>
          </a:p>
        </p:txBody>
      </p:sp>
      <p:sp>
        <p:nvSpPr>
          <p:cNvPr id="5" name="Down Arrow 4">
            <a:extLst>
              <a:ext uri="{FF2B5EF4-FFF2-40B4-BE49-F238E27FC236}">
                <a16:creationId xmlns:a16="http://schemas.microsoft.com/office/drawing/2014/main" id="{59E03E19-8DD0-75C3-5472-4FFC54F04DF0}"/>
              </a:ext>
            </a:extLst>
          </p:cNvPr>
          <p:cNvSpPr/>
          <p:nvPr/>
        </p:nvSpPr>
        <p:spPr>
          <a:xfrm>
            <a:off x="3167121" y="3776138"/>
            <a:ext cx="196770" cy="4481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own Arrow 6">
            <a:extLst>
              <a:ext uri="{FF2B5EF4-FFF2-40B4-BE49-F238E27FC236}">
                <a16:creationId xmlns:a16="http://schemas.microsoft.com/office/drawing/2014/main" id="{077F3B9C-DEA2-ABA4-55BA-283BE8205B0B}"/>
              </a:ext>
            </a:extLst>
          </p:cNvPr>
          <p:cNvSpPr/>
          <p:nvPr/>
        </p:nvSpPr>
        <p:spPr>
          <a:xfrm>
            <a:off x="8150506" y="3733838"/>
            <a:ext cx="196770" cy="4481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6926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4 Key Areas</a:t>
            </a:r>
            <a:endParaRPr dirty="0"/>
          </a:p>
        </p:txBody>
      </p:sp>
      <p:sp>
        <p:nvSpPr>
          <p:cNvPr id="92" name="Google Shape;92;p19"/>
          <p:cNvSpPr txBox="1">
            <a:spLocks noGrp="1"/>
          </p:cNvSpPr>
          <p:nvPr>
            <p:ph type="body" sz="quarter" idx="11"/>
          </p:nvPr>
        </p:nvSpPr>
        <p:spPr>
          <a:prstGeom prst="rect">
            <a:avLst/>
          </a:prstGeom>
        </p:spPr>
        <p:txBody>
          <a:bodyPr spcFirstLastPara="1" vert="horz" wrap="square" lIns="121900" tIns="121900" rIns="121900" bIns="121900" rtlCol="0" anchor="t" anchorCtr="0">
            <a:normAutofit/>
          </a:bodyPr>
          <a:lstStyle/>
          <a:p>
            <a:pPr marL="0" indent="0">
              <a:buClr>
                <a:schemeClr val="dk1"/>
              </a:buClr>
              <a:buSzPct val="100000"/>
              <a:buNone/>
            </a:pPr>
            <a:endParaRPr sz="1467" dirty="0">
              <a:solidFill>
                <a:schemeClr val="dk1"/>
              </a:solidFill>
            </a:endParaRPr>
          </a:p>
          <a:p>
            <a:pPr marL="0" indent="0">
              <a:buNone/>
            </a:pPr>
            <a:endParaRPr sz="2667" dirty="0">
              <a:solidFill>
                <a:schemeClr val="dk1"/>
              </a:solidFill>
            </a:endParaRPr>
          </a:p>
          <a:p>
            <a:pPr marL="0" indent="0">
              <a:lnSpc>
                <a:spcPct val="120000"/>
              </a:lnSpc>
              <a:spcAft>
                <a:spcPts val="267"/>
              </a:spcAft>
              <a:buClr>
                <a:schemeClr val="dk1"/>
              </a:buClr>
              <a:buSzPct val="78571"/>
              <a:buNone/>
            </a:pPr>
            <a:endParaRPr sz="1867" dirty="0">
              <a:solidFill>
                <a:srgbClr val="212529"/>
              </a:solidFill>
              <a:latin typeface="Roboto"/>
              <a:ea typeface="Roboto"/>
              <a:cs typeface="Roboto"/>
              <a:sym typeface="Roboto"/>
            </a:endParaRPr>
          </a:p>
        </p:txBody>
      </p:sp>
      <p:sp>
        <p:nvSpPr>
          <p:cNvPr id="4" name="TextBox 3">
            <a:extLst>
              <a:ext uri="{FF2B5EF4-FFF2-40B4-BE49-F238E27FC236}">
                <a16:creationId xmlns:a16="http://schemas.microsoft.com/office/drawing/2014/main" id="{7C4B3A88-F6D8-5514-EA5D-B27C5BC03D5F}"/>
              </a:ext>
            </a:extLst>
          </p:cNvPr>
          <p:cNvSpPr txBox="1"/>
          <p:nvPr/>
        </p:nvSpPr>
        <p:spPr>
          <a:xfrm>
            <a:off x="1005948" y="1146596"/>
            <a:ext cx="9864695" cy="830997"/>
          </a:xfrm>
          <a:prstGeom prst="rect">
            <a:avLst/>
          </a:prstGeom>
          <a:noFill/>
        </p:spPr>
        <p:txBody>
          <a:bodyPr wrap="square">
            <a:spAutoFit/>
          </a:bodyPr>
          <a:lstStyle/>
          <a:p>
            <a:r>
              <a:rPr lang="en-GB" sz="2400" dirty="0">
                <a:latin typeface="Roboto" panose="02000000000000000000" pitchFamily="2" charset="0"/>
                <a:ea typeface="Roboto" panose="02000000000000000000" pitchFamily="2" charset="0"/>
                <a:cs typeface="Roboto" panose="02000000000000000000" pitchFamily="2" charset="0"/>
              </a:rPr>
              <a:t>Guidance on measures promoting the responsible use of AI that organisations should adopt in the following key areas:</a:t>
            </a:r>
          </a:p>
        </p:txBody>
      </p:sp>
      <p:pic>
        <p:nvPicPr>
          <p:cNvPr id="5" name="Picture 4">
            <a:extLst>
              <a:ext uri="{FF2B5EF4-FFF2-40B4-BE49-F238E27FC236}">
                <a16:creationId xmlns:a16="http://schemas.microsoft.com/office/drawing/2014/main" id="{C1AC486B-5E92-133B-39C0-69C0C2AD567F}"/>
              </a:ext>
            </a:extLst>
          </p:cNvPr>
          <p:cNvPicPr>
            <a:picLocks noChangeAspect="1"/>
          </p:cNvPicPr>
          <p:nvPr/>
        </p:nvPicPr>
        <p:blipFill>
          <a:blip r:embed="rId3"/>
          <a:stretch>
            <a:fillRect/>
          </a:stretch>
        </p:blipFill>
        <p:spPr>
          <a:xfrm>
            <a:off x="2142145" y="2511908"/>
            <a:ext cx="6779665" cy="3822659"/>
          </a:xfrm>
          <a:prstGeom prst="rect">
            <a:avLst/>
          </a:prstGeom>
        </p:spPr>
      </p:pic>
    </p:spTree>
    <p:extLst>
      <p:ext uri="{BB962C8B-B14F-4D97-AF65-F5344CB8AC3E}">
        <p14:creationId xmlns:p14="http://schemas.microsoft.com/office/powerpoint/2010/main" val="2600293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97E9-9B4E-DCCD-145B-B595091D7F26}"/>
              </a:ext>
            </a:extLst>
          </p:cNvPr>
          <p:cNvSpPr>
            <a:spLocks noGrp="1"/>
          </p:cNvSpPr>
          <p:nvPr>
            <p:ph type="title"/>
          </p:nvPr>
        </p:nvSpPr>
        <p:spPr/>
        <p:txBody>
          <a:bodyPr/>
          <a:lstStyle/>
          <a:p>
            <a:r>
              <a:rPr lang="en-GB" dirty="0"/>
              <a:t>Internal Governance Structures</a:t>
            </a:r>
          </a:p>
        </p:txBody>
      </p:sp>
      <p:sp>
        <p:nvSpPr>
          <p:cNvPr id="3" name="Text Placeholder 2">
            <a:extLst>
              <a:ext uri="{FF2B5EF4-FFF2-40B4-BE49-F238E27FC236}">
                <a16:creationId xmlns:a16="http://schemas.microsoft.com/office/drawing/2014/main" id="{8E9C16A5-9D16-D52B-7851-8988F9A6A85D}"/>
              </a:ext>
            </a:extLst>
          </p:cNvPr>
          <p:cNvSpPr>
            <a:spLocks noGrp="1"/>
          </p:cNvSpPr>
          <p:nvPr>
            <p:ph type="body" sz="quarter" idx="11"/>
          </p:nvPr>
        </p:nvSpPr>
        <p:spPr/>
        <p:txBody>
          <a:bodyPr>
            <a:normAutofit/>
          </a:bodyPr>
          <a:lstStyle/>
          <a:p>
            <a:r>
              <a:rPr lang="en-GB" dirty="0"/>
              <a:t>Internal governance structures allows organisations to have appropriate oversight over how AI technologies are brought into their operations and/or products and services.</a:t>
            </a:r>
          </a:p>
          <a:p>
            <a:r>
              <a:rPr lang="en-GB" dirty="0"/>
              <a:t>Existing governance structures can be adapted to </a:t>
            </a:r>
            <a:r>
              <a:rPr lang="en-US" dirty="0">
                <a:solidFill>
                  <a:srgbClr val="323032"/>
                </a:solidFill>
                <a:effectLst/>
              </a:rPr>
              <a:t>incorporate values, risks, and responsibilities</a:t>
            </a:r>
            <a:r>
              <a:rPr lang="en-US" dirty="0">
                <a:solidFill>
                  <a:srgbClr val="323032"/>
                </a:solidFill>
              </a:rPr>
              <a:t> </a:t>
            </a:r>
            <a:r>
              <a:rPr lang="en-US" dirty="0">
                <a:solidFill>
                  <a:srgbClr val="323032"/>
                </a:solidFill>
                <a:effectLst/>
              </a:rPr>
              <a:t>relating to algorithmic decision-making.</a:t>
            </a:r>
            <a:endParaRPr lang="en-GB" dirty="0"/>
          </a:p>
          <a:p>
            <a:pPr lvl="1"/>
            <a:r>
              <a:rPr lang="en-GB" dirty="0">
                <a:latin typeface="+mn-lt"/>
              </a:rPr>
              <a:t>E.g., risks associated with the use of AI can be managed within the enterprise risk management structure, ethical concerns of AI can be managed through existing Institutional Review Boards</a:t>
            </a:r>
          </a:p>
          <a:p>
            <a:pPr marL="0" indent="0">
              <a:buNone/>
            </a:pPr>
            <a:endParaRPr lang="en-GB" dirty="0"/>
          </a:p>
          <a:p>
            <a:endParaRPr lang="en-GB" dirty="0"/>
          </a:p>
        </p:txBody>
      </p:sp>
    </p:spTree>
    <p:extLst>
      <p:ext uri="{BB962C8B-B14F-4D97-AF65-F5344CB8AC3E}">
        <p14:creationId xmlns:p14="http://schemas.microsoft.com/office/powerpoint/2010/main" val="1005339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5350-D821-862F-2B80-400CEE56B1DC}"/>
              </a:ext>
            </a:extLst>
          </p:cNvPr>
          <p:cNvSpPr>
            <a:spLocks noGrp="1"/>
          </p:cNvSpPr>
          <p:nvPr>
            <p:ph type="title"/>
          </p:nvPr>
        </p:nvSpPr>
        <p:spPr/>
        <p:txBody>
          <a:bodyPr/>
          <a:lstStyle/>
          <a:p>
            <a:r>
              <a:rPr lang="en-GB" dirty="0"/>
              <a:t>Case Study - Master Card</a:t>
            </a:r>
          </a:p>
        </p:txBody>
      </p:sp>
      <p:sp>
        <p:nvSpPr>
          <p:cNvPr id="3" name="Text Placeholder 2">
            <a:extLst>
              <a:ext uri="{FF2B5EF4-FFF2-40B4-BE49-F238E27FC236}">
                <a16:creationId xmlns:a16="http://schemas.microsoft.com/office/drawing/2014/main" id="{64E4096A-7682-648D-DEEB-0C22CB139B80}"/>
              </a:ext>
            </a:extLst>
          </p:cNvPr>
          <p:cNvSpPr>
            <a:spLocks noGrp="1"/>
          </p:cNvSpPr>
          <p:nvPr>
            <p:ph type="body" sz="quarter" idx="11"/>
          </p:nvPr>
        </p:nvSpPr>
        <p:spPr/>
        <p:txBody>
          <a:bodyPr/>
          <a:lstStyle/>
          <a:p>
            <a:r>
              <a:rPr lang="en-GB" dirty="0"/>
              <a:t>A Governance Council is established to review and approve implementations of AI applications that are determined to be </a:t>
            </a:r>
            <a:r>
              <a:rPr lang="en-GB" b="1" dirty="0"/>
              <a:t>high risk</a:t>
            </a:r>
          </a:p>
          <a:p>
            <a:pPr lvl="1"/>
            <a:r>
              <a:rPr lang="en-GB" dirty="0"/>
              <a:t>Members include Executive VP of AI Centre of Excellence, Chief Data Officer, Chief Privacy Officer, Chief Information Security Officer, Data Scientists, and Reps from business teams</a:t>
            </a:r>
          </a:p>
          <a:p>
            <a:r>
              <a:rPr lang="en-GB" dirty="0"/>
              <a:t>Risk management </a:t>
            </a:r>
          </a:p>
          <a:p>
            <a:pPr lvl="1"/>
            <a:r>
              <a:rPr lang="en-GB" dirty="0"/>
              <a:t>Conduct initial risk scoring, high risk project will be referred to governance council </a:t>
            </a:r>
          </a:p>
          <a:p>
            <a:pPr lvl="1"/>
            <a:r>
              <a:rPr lang="en-GB" dirty="0"/>
              <a:t>Identify potential mitigants as part of the risk management review</a:t>
            </a:r>
          </a:p>
          <a:p>
            <a:endParaRPr lang="en-GB" dirty="0"/>
          </a:p>
          <a:p>
            <a:pPr lvl="1"/>
            <a:endParaRPr lang="en-GB" b="1" dirty="0"/>
          </a:p>
        </p:txBody>
      </p:sp>
      <p:pic>
        <p:nvPicPr>
          <p:cNvPr id="1026" name="Picture 2">
            <a:extLst>
              <a:ext uri="{FF2B5EF4-FFF2-40B4-BE49-F238E27FC236}">
                <a16:creationId xmlns:a16="http://schemas.microsoft.com/office/drawing/2014/main" id="{E95942DC-80ED-383D-8B6C-7A29D665B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3334" y="987944"/>
            <a:ext cx="880533" cy="541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206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ED76-0CA7-E1B9-EAD3-077318572231}"/>
              </a:ext>
            </a:extLst>
          </p:cNvPr>
          <p:cNvSpPr>
            <a:spLocks noGrp="1"/>
          </p:cNvSpPr>
          <p:nvPr>
            <p:ph type="title"/>
          </p:nvPr>
        </p:nvSpPr>
        <p:spPr/>
        <p:txBody>
          <a:bodyPr/>
          <a:lstStyle/>
          <a:p>
            <a:r>
              <a:rPr lang="en-GB" dirty="0"/>
              <a:t>Case Study – Master Card</a:t>
            </a:r>
          </a:p>
        </p:txBody>
      </p:sp>
      <p:sp>
        <p:nvSpPr>
          <p:cNvPr id="5" name="TextBox 4">
            <a:extLst>
              <a:ext uri="{FF2B5EF4-FFF2-40B4-BE49-F238E27FC236}">
                <a16:creationId xmlns:a16="http://schemas.microsoft.com/office/drawing/2014/main" id="{7B14BE78-E42F-5546-8799-6BD28D587829}"/>
              </a:ext>
            </a:extLst>
          </p:cNvPr>
          <p:cNvSpPr txBox="1"/>
          <p:nvPr/>
        </p:nvSpPr>
        <p:spPr>
          <a:xfrm>
            <a:off x="2873415" y="1157702"/>
            <a:ext cx="6094070" cy="461665"/>
          </a:xfrm>
          <a:prstGeom prst="rect">
            <a:avLst/>
          </a:prstGeom>
          <a:noFill/>
        </p:spPr>
        <p:txBody>
          <a:bodyPr wrap="square">
            <a:spAutoFit/>
          </a:bodyPr>
          <a:lstStyle/>
          <a:p>
            <a:pPr marL="457200" lvl="1" indent="0">
              <a:buNone/>
            </a:pPr>
            <a:r>
              <a:rPr lang="en-GB" sz="2400" dirty="0">
                <a:latin typeface="+mn-lt"/>
              </a:rPr>
              <a:t>Defined Clear Roles &amp; Responsibilities</a:t>
            </a:r>
          </a:p>
        </p:txBody>
      </p:sp>
      <p:sp>
        <p:nvSpPr>
          <p:cNvPr id="6" name="Rounded Rectangle 5">
            <a:extLst>
              <a:ext uri="{FF2B5EF4-FFF2-40B4-BE49-F238E27FC236}">
                <a16:creationId xmlns:a16="http://schemas.microsoft.com/office/drawing/2014/main" id="{EC0A392D-5CD2-E9BA-3A02-C60153E9AEB7}"/>
              </a:ext>
            </a:extLst>
          </p:cNvPr>
          <p:cNvSpPr/>
          <p:nvPr/>
        </p:nvSpPr>
        <p:spPr>
          <a:xfrm>
            <a:off x="1377387" y="2025570"/>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Chief Data Officer &amp; Chief Privacy Officer</a:t>
            </a:r>
          </a:p>
        </p:txBody>
      </p:sp>
      <p:sp>
        <p:nvSpPr>
          <p:cNvPr id="7" name="Rounded Rectangle 6">
            <a:extLst>
              <a:ext uri="{FF2B5EF4-FFF2-40B4-BE49-F238E27FC236}">
                <a16:creationId xmlns:a16="http://schemas.microsoft.com/office/drawing/2014/main" id="{74235D61-9814-0B3B-BE1F-245234C98E37}"/>
              </a:ext>
            </a:extLst>
          </p:cNvPr>
          <p:cNvSpPr/>
          <p:nvPr/>
        </p:nvSpPr>
        <p:spPr>
          <a:xfrm>
            <a:off x="1377387" y="3543783"/>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Chief Information Security Officer</a:t>
            </a:r>
          </a:p>
        </p:txBody>
      </p:sp>
      <p:sp>
        <p:nvSpPr>
          <p:cNvPr id="8" name="Rounded Rectangle 7">
            <a:extLst>
              <a:ext uri="{FF2B5EF4-FFF2-40B4-BE49-F238E27FC236}">
                <a16:creationId xmlns:a16="http://schemas.microsoft.com/office/drawing/2014/main" id="{2F9002E7-F1BE-78AD-4D3E-08ECF0613A70}"/>
              </a:ext>
            </a:extLst>
          </p:cNvPr>
          <p:cNvSpPr/>
          <p:nvPr/>
        </p:nvSpPr>
        <p:spPr>
          <a:xfrm>
            <a:off x="1441047" y="5061996"/>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Science Teams</a:t>
            </a:r>
          </a:p>
        </p:txBody>
      </p:sp>
      <p:sp>
        <p:nvSpPr>
          <p:cNvPr id="10" name="TextBox 9">
            <a:extLst>
              <a:ext uri="{FF2B5EF4-FFF2-40B4-BE49-F238E27FC236}">
                <a16:creationId xmlns:a16="http://schemas.microsoft.com/office/drawing/2014/main" id="{0BA4ABE5-C802-DBB3-956B-D19AB9084D74}"/>
              </a:ext>
            </a:extLst>
          </p:cNvPr>
          <p:cNvSpPr txBox="1"/>
          <p:nvPr/>
        </p:nvSpPr>
        <p:spPr>
          <a:xfrm>
            <a:off x="3463723" y="2025570"/>
            <a:ext cx="8130183" cy="1200329"/>
          </a:xfrm>
          <a:prstGeom prst="rect">
            <a:avLst/>
          </a:prstGeom>
          <a:noFill/>
          <a:ln>
            <a:solidFill>
              <a:srgbClr val="0070C0"/>
            </a:solidFill>
          </a:ln>
        </p:spPr>
        <p:txBody>
          <a:bodyPr wrap="square">
            <a:spAutoFit/>
          </a:bodyPr>
          <a:lstStyle/>
          <a:p>
            <a:r>
              <a:rPr lang="en-US" i="1" dirty="0">
                <a:effectLst/>
              </a:rPr>
              <a:t>Review AI implementation to ensure:</a:t>
            </a:r>
          </a:p>
          <a:p>
            <a:pPr marL="285750" indent="-285750">
              <a:buFontTx/>
              <a:buChar char="-"/>
            </a:pPr>
            <a:r>
              <a:rPr lang="en-US" i="1" dirty="0"/>
              <a:t>Data is fit for purpose of AI</a:t>
            </a:r>
          </a:p>
          <a:p>
            <a:pPr marL="285750" indent="-285750">
              <a:buFontTx/>
              <a:buChar char="-"/>
            </a:pPr>
            <a:r>
              <a:rPr lang="en-US" i="1" dirty="0">
                <a:effectLst/>
              </a:rPr>
              <a:t>AI used for ethical purpose</a:t>
            </a:r>
          </a:p>
          <a:p>
            <a:pPr marL="285750" indent="-285750">
              <a:buFontTx/>
              <a:buChar char="-"/>
            </a:pPr>
            <a:r>
              <a:rPr lang="en-US" i="1" dirty="0"/>
              <a:t>Impact to individual is appropriate and potential harm is sufficiently mitigated</a:t>
            </a:r>
            <a:endParaRPr lang="en-US" dirty="0">
              <a:effectLst/>
            </a:endParaRPr>
          </a:p>
        </p:txBody>
      </p:sp>
      <p:sp>
        <p:nvSpPr>
          <p:cNvPr id="11" name="TextBox 10">
            <a:extLst>
              <a:ext uri="{FF2B5EF4-FFF2-40B4-BE49-F238E27FC236}">
                <a16:creationId xmlns:a16="http://schemas.microsoft.com/office/drawing/2014/main" id="{0FEFFA88-C2F4-EDB2-72E4-7259F404B150}"/>
              </a:ext>
            </a:extLst>
          </p:cNvPr>
          <p:cNvSpPr txBox="1"/>
          <p:nvPr/>
        </p:nvSpPr>
        <p:spPr>
          <a:xfrm>
            <a:off x="3463723" y="3632102"/>
            <a:ext cx="8130184" cy="369332"/>
          </a:xfrm>
          <a:prstGeom prst="rect">
            <a:avLst/>
          </a:prstGeom>
          <a:noFill/>
          <a:ln>
            <a:solidFill>
              <a:srgbClr val="0070C0"/>
            </a:solidFill>
          </a:ln>
        </p:spPr>
        <p:txBody>
          <a:bodyPr wrap="square">
            <a:spAutoFit/>
          </a:bodyPr>
          <a:lstStyle/>
          <a:p>
            <a:r>
              <a:rPr lang="en-US" i="1" dirty="0">
                <a:effectLst/>
              </a:rPr>
              <a:t>Ensure security by design is implemented</a:t>
            </a:r>
            <a:endParaRPr lang="en-US" dirty="0">
              <a:effectLst/>
            </a:endParaRPr>
          </a:p>
        </p:txBody>
      </p:sp>
      <p:sp>
        <p:nvSpPr>
          <p:cNvPr id="13" name="TextBox 12">
            <a:extLst>
              <a:ext uri="{FF2B5EF4-FFF2-40B4-BE49-F238E27FC236}">
                <a16:creationId xmlns:a16="http://schemas.microsoft.com/office/drawing/2014/main" id="{E9954B65-47CD-22C5-2812-3F0C344E97C1}"/>
              </a:ext>
            </a:extLst>
          </p:cNvPr>
          <p:cNvSpPr txBox="1"/>
          <p:nvPr/>
        </p:nvSpPr>
        <p:spPr>
          <a:xfrm>
            <a:off x="3482946" y="5168573"/>
            <a:ext cx="8110960" cy="646331"/>
          </a:xfrm>
          <a:prstGeom prst="rect">
            <a:avLst/>
          </a:prstGeom>
          <a:noFill/>
          <a:ln>
            <a:solidFill>
              <a:srgbClr val="0070C0"/>
            </a:solidFill>
          </a:ln>
        </p:spPr>
        <p:txBody>
          <a:bodyPr wrap="square">
            <a:spAutoFit/>
          </a:bodyPr>
          <a:lstStyle/>
          <a:p>
            <a:r>
              <a:rPr lang="en-GB" i="1" dirty="0"/>
              <a:t>- Build and implement AI </a:t>
            </a:r>
          </a:p>
          <a:p>
            <a:r>
              <a:rPr lang="en-GB" i="1" dirty="0"/>
              <a:t>- continual information sharing with CDO &amp; CPO regarding the required governance</a:t>
            </a:r>
          </a:p>
        </p:txBody>
      </p:sp>
    </p:spTree>
    <p:extLst>
      <p:ext uri="{BB962C8B-B14F-4D97-AF65-F5344CB8AC3E}">
        <p14:creationId xmlns:p14="http://schemas.microsoft.com/office/powerpoint/2010/main" val="1070237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43D8A-AC2A-81A1-9645-BD3D607A8B16}"/>
              </a:ext>
            </a:extLst>
          </p:cNvPr>
          <p:cNvSpPr>
            <a:spLocks noGrp="1"/>
          </p:cNvSpPr>
          <p:nvPr>
            <p:ph type="title"/>
          </p:nvPr>
        </p:nvSpPr>
        <p:spPr/>
        <p:txBody>
          <a:bodyPr/>
          <a:lstStyle/>
          <a:p>
            <a:r>
              <a:rPr lang="en-GB" dirty="0"/>
              <a:t>Case Study Exercise </a:t>
            </a:r>
          </a:p>
        </p:txBody>
      </p:sp>
      <p:sp>
        <p:nvSpPr>
          <p:cNvPr id="3" name="Text Placeholder 2">
            <a:extLst>
              <a:ext uri="{FF2B5EF4-FFF2-40B4-BE49-F238E27FC236}">
                <a16:creationId xmlns:a16="http://schemas.microsoft.com/office/drawing/2014/main" id="{F8CD2F0F-A403-EA58-BFF9-62412E0D93DD}"/>
              </a:ext>
            </a:extLst>
          </p:cNvPr>
          <p:cNvSpPr>
            <a:spLocks noGrp="1"/>
          </p:cNvSpPr>
          <p:nvPr>
            <p:ph type="body" sz="quarter" idx="11"/>
          </p:nvPr>
        </p:nvSpPr>
        <p:spPr/>
        <p:txBody>
          <a:bodyPr/>
          <a:lstStyle/>
          <a:p>
            <a:r>
              <a:rPr lang="en-GB" dirty="0"/>
              <a:t>Has your company already established an internal governance structure? </a:t>
            </a:r>
          </a:p>
          <a:p>
            <a:r>
              <a:rPr lang="en-GB" dirty="0"/>
              <a:t>What are the different roles &amp; responsibilities? </a:t>
            </a:r>
          </a:p>
        </p:txBody>
      </p:sp>
    </p:spTree>
    <p:extLst>
      <p:ext uri="{BB962C8B-B14F-4D97-AF65-F5344CB8AC3E}">
        <p14:creationId xmlns:p14="http://schemas.microsoft.com/office/powerpoint/2010/main" val="1769685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3C493A5D-976F-9B34-0A96-D31316B2B574}"/>
            </a:ext>
          </a:extLst>
        </p:cNvPr>
        <p:cNvGrpSpPr/>
        <p:nvPr/>
      </p:nvGrpSpPr>
      <p:grpSpPr>
        <a:xfrm>
          <a:off x="0" y="0"/>
          <a:ext cx="0" cy="0"/>
          <a:chOff x="0" y="0"/>
          <a:chExt cx="0" cy="0"/>
        </a:xfrm>
      </p:grpSpPr>
      <p:sp>
        <p:nvSpPr>
          <p:cNvPr id="103" name="Google Shape;103;p21">
            <a:extLst>
              <a:ext uri="{FF2B5EF4-FFF2-40B4-BE49-F238E27FC236}">
                <a16:creationId xmlns:a16="http://schemas.microsoft.com/office/drawing/2014/main" id="{4583DB40-ADC4-5BBA-1D4E-DC8C9A3003F6}"/>
              </a:ext>
            </a:extLst>
          </p:cNvPr>
          <p:cNvSpPr txBox="1">
            <a:spLocks noGrp="1"/>
          </p:cNvSpPr>
          <p:nvPr>
            <p:ph type="title"/>
          </p:nvPr>
        </p:nvSpPr>
        <p:spPr>
          <a:prstGeom prst="rect">
            <a:avLst/>
          </a:prstGeom>
        </p:spPr>
        <p:txBody>
          <a:bodyPr spcFirstLastPara="1" vert="horz" wrap="square" lIns="121900" tIns="121900" rIns="121900" bIns="121900" rtlCol="0" anchor="ctr" anchorCtr="0">
            <a:normAutofit/>
          </a:bodyPr>
          <a:lstStyle/>
          <a:p>
            <a:r>
              <a:rPr lang="en-US" dirty="0"/>
              <a:t>Human Involvement in AI-augmented Decision Making</a:t>
            </a:r>
            <a:endParaRPr dirty="0"/>
          </a:p>
        </p:txBody>
      </p:sp>
      <p:sp>
        <p:nvSpPr>
          <p:cNvPr id="6" name="Text Placeholder 5">
            <a:extLst>
              <a:ext uri="{FF2B5EF4-FFF2-40B4-BE49-F238E27FC236}">
                <a16:creationId xmlns:a16="http://schemas.microsoft.com/office/drawing/2014/main" id="{44571F11-E83A-B12F-1406-C57541A1F683}"/>
              </a:ext>
            </a:extLst>
          </p:cNvPr>
          <p:cNvSpPr>
            <a:spLocks noGrp="1"/>
          </p:cNvSpPr>
          <p:nvPr>
            <p:ph type="body" sz="quarter" idx="11"/>
          </p:nvPr>
        </p:nvSpPr>
        <p:spPr>
          <a:xfrm>
            <a:off x="542019" y="1562095"/>
            <a:ext cx="10639126" cy="2766837"/>
          </a:xfrm>
        </p:spPr>
        <p:txBody>
          <a:bodyPr/>
          <a:lstStyle/>
          <a:p>
            <a:r>
              <a:rPr lang="en-GB" dirty="0"/>
              <a:t>Degrees of human oversight </a:t>
            </a:r>
          </a:p>
          <a:p>
            <a:pPr lvl="1"/>
            <a:r>
              <a:rPr lang="en-GB" dirty="0">
                <a:latin typeface="+mn-lt"/>
              </a:rPr>
              <a:t>Human-in-the-loop </a:t>
            </a:r>
          </a:p>
          <a:p>
            <a:pPr lvl="1"/>
            <a:r>
              <a:rPr lang="en-GB" dirty="0">
                <a:latin typeface="+mn-lt"/>
              </a:rPr>
              <a:t>Human-out-the-loop</a:t>
            </a:r>
          </a:p>
          <a:p>
            <a:pPr lvl="1"/>
            <a:r>
              <a:rPr lang="en-GB" dirty="0">
                <a:latin typeface="+mn-lt"/>
              </a:rPr>
              <a:t>Human-over-the-loop</a:t>
            </a:r>
          </a:p>
          <a:p>
            <a:r>
              <a:rPr lang="en-GB" dirty="0"/>
              <a:t>Risk impact assessment should be carried out to determine the level of human oversight.  </a:t>
            </a:r>
          </a:p>
          <a:p>
            <a:pPr lvl="1"/>
            <a:endParaRPr lang="en-GB" dirty="0">
              <a:latin typeface="+mn-lt"/>
            </a:endParaRPr>
          </a:p>
        </p:txBody>
      </p:sp>
      <p:pic>
        <p:nvPicPr>
          <p:cNvPr id="2" name="Picture 1">
            <a:extLst>
              <a:ext uri="{FF2B5EF4-FFF2-40B4-BE49-F238E27FC236}">
                <a16:creationId xmlns:a16="http://schemas.microsoft.com/office/drawing/2014/main" id="{86F2BEBA-2C15-19B2-6797-EB4A867FE01F}"/>
              </a:ext>
            </a:extLst>
          </p:cNvPr>
          <p:cNvPicPr>
            <a:picLocks noChangeAspect="1"/>
          </p:cNvPicPr>
          <p:nvPr/>
        </p:nvPicPr>
        <p:blipFill>
          <a:blip r:embed="rId3"/>
          <a:stretch>
            <a:fillRect/>
          </a:stretch>
        </p:blipFill>
        <p:spPr>
          <a:xfrm>
            <a:off x="2907603" y="4781695"/>
            <a:ext cx="5051063" cy="814577"/>
          </a:xfrm>
          <a:prstGeom prst="rect">
            <a:avLst/>
          </a:prstGeom>
        </p:spPr>
      </p:pic>
    </p:spTree>
    <p:extLst>
      <p:ext uri="{BB962C8B-B14F-4D97-AF65-F5344CB8AC3E}">
        <p14:creationId xmlns:p14="http://schemas.microsoft.com/office/powerpoint/2010/main" val="781151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9CE8-3420-E80C-7410-0B490FD0E4C5}"/>
              </a:ext>
            </a:extLst>
          </p:cNvPr>
          <p:cNvSpPr>
            <a:spLocks noGrp="1"/>
          </p:cNvSpPr>
          <p:nvPr>
            <p:ph type="title"/>
          </p:nvPr>
        </p:nvSpPr>
        <p:spPr/>
        <p:txBody>
          <a:bodyPr/>
          <a:lstStyle/>
          <a:p>
            <a:r>
              <a:rPr lang="en-GB" dirty="0"/>
              <a:t>Human-in-the-Loop</a:t>
            </a:r>
          </a:p>
        </p:txBody>
      </p:sp>
      <p:sp>
        <p:nvSpPr>
          <p:cNvPr id="3" name="Text Placeholder 2">
            <a:extLst>
              <a:ext uri="{FF2B5EF4-FFF2-40B4-BE49-F238E27FC236}">
                <a16:creationId xmlns:a16="http://schemas.microsoft.com/office/drawing/2014/main" id="{62E766E5-EEC2-BE74-8AF6-E2E9B14EE598}"/>
              </a:ext>
            </a:extLst>
          </p:cNvPr>
          <p:cNvSpPr>
            <a:spLocks noGrp="1"/>
          </p:cNvSpPr>
          <p:nvPr>
            <p:ph type="body" sz="quarter" idx="11"/>
          </p:nvPr>
        </p:nvSpPr>
        <p:spPr>
          <a:xfrm>
            <a:off x="542019" y="1562096"/>
            <a:ext cx="11042510" cy="1644089"/>
          </a:xfrm>
        </p:spPr>
        <p:txBody>
          <a:bodyPr>
            <a:normAutofit fontScale="92500" lnSpcReduction="20000"/>
          </a:bodyPr>
          <a:lstStyle/>
          <a:p>
            <a:r>
              <a:rPr lang="en-GB" dirty="0"/>
              <a:t>Human oversight is active and involved, with the human retaining full control and the AI only providing recommendations or input. </a:t>
            </a:r>
          </a:p>
          <a:p>
            <a:r>
              <a:rPr lang="en-GB" dirty="0"/>
              <a:t>Decisions cannot be exercised without affirmative actions by the human, such as a human command to proceed with a given decision.</a:t>
            </a:r>
          </a:p>
          <a:p>
            <a:endParaRPr lang="en-GB" dirty="0"/>
          </a:p>
        </p:txBody>
      </p:sp>
      <p:grpSp>
        <p:nvGrpSpPr>
          <p:cNvPr id="17" name="Group 16">
            <a:extLst>
              <a:ext uri="{FF2B5EF4-FFF2-40B4-BE49-F238E27FC236}">
                <a16:creationId xmlns:a16="http://schemas.microsoft.com/office/drawing/2014/main" id="{7146A4FA-6E35-640A-9D98-ED29CF7BFD74}"/>
              </a:ext>
            </a:extLst>
          </p:cNvPr>
          <p:cNvGrpSpPr/>
          <p:nvPr/>
        </p:nvGrpSpPr>
        <p:grpSpPr>
          <a:xfrm>
            <a:off x="1828801" y="3448368"/>
            <a:ext cx="8264390" cy="1849378"/>
            <a:chOff x="1840376" y="4270216"/>
            <a:chExt cx="8264390" cy="1849378"/>
          </a:xfrm>
        </p:grpSpPr>
        <p:sp>
          <p:nvSpPr>
            <p:cNvPr id="4" name="Can 3">
              <a:extLst>
                <a:ext uri="{FF2B5EF4-FFF2-40B4-BE49-F238E27FC236}">
                  <a16:creationId xmlns:a16="http://schemas.microsoft.com/office/drawing/2014/main" id="{988E68F9-B494-958F-342F-F5B9845BCDF7}"/>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122" name="Picture 2" descr="AI, Artificial Intelligence, Analysis Icon Set Variable line width Icon Symbol stock vector">
              <a:extLst>
                <a:ext uri="{FF2B5EF4-FFF2-40B4-BE49-F238E27FC236}">
                  <a16:creationId xmlns:a16="http://schemas.microsoft.com/office/drawing/2014/main" id="{90C1A1CB-0B65-61E2-5840-1391C5F70F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User with solid fill">
              <a:extLst>
                <a:ext uri="{FF2B5EF4-FFF2-40B4-BE49-F238E27FC236}">
                  <a16:creationId xmlns:a16="http://schemas.microsoft.com/office/drawing/2014/main" id="{EBCEEC51-524D-F9FC-CF65-3EC5A9D63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3059" y="4279318"/>
              <a:ext cx="914400" cy="914400"/>
            </a:xfrm>
            <a:prstGeom prst="rect">
              <a:avLst/>
            </a:prstGeom>
          </p:spPr>
        </p:pic>
        <p:cxnSp>
          <p:nvCxnSpPr>
            <p:cNvPr id="8" name="Straight Arrow Connector 7">
              <a:extLst>
                <a:ext uri="{FF2B5EF4-FFF2-40B4-BE49-F238E27FC236}">
                  <a16:creationId xmlns:a16="http://schemas.microsoft.com/office/drawing/2014/main" id="{D54633D5-4824-A27F-3D76-826D4792656B}"/>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CAA8FB-F460-7F7C-18B7-1C1E1EFD99F0}"/>
                </a:ext>
              </a:extLst>
            </p:cNvPr>
            <p:cNvCxnSpPr/>
            <p:nvPr/>
          </p:nvCxnSpPr>
          <p:spPr>
            <a:xfrm>
              <a:off x="5314710"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EC3C436-8B95-29D1-5453-FF1F73E184AA}"/>
                </a:ext>
              </a:extLst>
            </p:cNvPr>
            <p:cNvPicPr>
              <a:picLocks noChangeAspect="1"/>
            </p:cNvPicPr>
            <p:nvPr/>
          </p:nvPicPr>
          <p:blipFill>
            <a:blip r:embed="rId4"/>
            <a:stretch>
              <a:fillRect/>
            </a:stretch>
          </p:blipFill>
          <p:spPr>
            <a:xfrm>
              <a:off x="9147858" y="4287752"/>
              <a:ext cx="921185" cy="980616"/>
            </a:xfrm>
            <a:prstGeom prst="rect">
              <a:avLst/>
            </a:prstGeom>
          </p:spPr>
        </p:pic>
        <p:cxnSp>
          <p:nvCxnSpPr>
            <p:cNvPr id="12" name="Straight Arrow Connector 11">
              <a:extLst>
                <a:ext uri="{FF2B5EF4-FFF2-40B4-BE49-F238E27FC236}">
                  <a16:creationId xmlns:a16="http://schemas.microsoft.com/office/drawing/2014/main" id="{84AD5325-8C99-8142-200E-ABC933ECD880}"/>
                </a:ext>
              </a:extLst>
            </p:cNvPr>
            <p:cNvCxnSpPr/>
            <p:nvPr/>
          </p:nvCxnSpPr>
          <p:spPr>
            <a:xfrm>
              <a:off x="7718850" y="4778060"/>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913C32-426E-B0C0-33FA-63BB9350E794}"/>
                </a:ext>
              </a:extLst>
            </p:cNvPr>
            <p:cNvSpPr txBox="1"/>
            <p:nvPr/>
          </p:nvSpPr>
          <p:spPr>
            <a:xfrm>
              <a:off x="3703901" y="5196264"/>
              <a:ext cx="2270500" cy="923330"/>
            </a:xfrm>
            <a:prstGeom prst="rect">
              <a:avLst/>
            </a:prstGeom>
            <a:noFill/>
          </p:spPr>
          <p:txBody>
            <a:bodyPr wrap="square" rtlCol="0">
              <a:spAutoFit/>
            </a:bodyPr>
            <a:lstStyle/>
            <a:p>
              <a:r>
                <a:rPr lang="en-GB" dirty="0"/>
                <a:t>Recommendation of actions, context and evidence</a:t>
              </a:r>
            </a:p>
          </p:txBody>
        </p:sp>
        <p:sp>
          <p:nvSpPr>
            <p:cNvPr id="14" name="TextBox 13">
              <a:extLst>
                <a:ext uri="{FF2B5EF4-FFF2-40B4-BE49-F238E27FC236}">
                  <a16:creationId xmlns:a16="http://schemas.microsoft.com/office/drawing/2014/main" id="{9D05BC9D-E4C9-D992-5A40-3491BC499BF1}"/>
                </a:ext>
              </a:extLst>
            </p:cNvPr>
            <p:cNvSpPr txBox="1"/>
            <p:nvPr/>
          </p:nvSpPr>
          <p:spPr>
            <a:xfrm>
              <a:off x="6508832" y="5330356"/>
              <a:ext cx="1979270" cy="369332"/>
            </a:xfrm>
            <a:prstGeom prst="rect">
              <a:avLst/>
            </a:prstGeom>
            <a:noFill/>
          </p:spPr>
          <p:txBody>
            <a:bodyPr wrap="square" rtlCol="0">
              <a:spAutoFit/>
            </a:bodyPr>
            <a:lstStyle/>
            <a:p>
              <a:r>
                <a:rPr lang="en-GB" dirty="0"/>
                <a:t>Make Decision</a:t>
              </a:r>
            </a:p>
          </p:txBody>
        </p:sp>
        <p:sp>
          <p:nvSpPr>
            <p:cNvPr id="15" name="TextBox 14">
              <a:extLst>
                <a:ext uri="{FF2B5EF4-FFF2-40B4-BE49-F238E27FC236}">
                  <a16:creationId xmlns:a16="http://schemas.microsoft.com/office/drawing/2014/main" id="{3E1EDC50-DCB9-21DE-EA60-FB3D057326EA}"/>
                </a:ext>
              </a:extLst>
            </p:cNvPr>
            <p:cNvSpPr txBox="1"/>
            <p:nvPr/>
          </p:nvSpPr>
          <p:spPr>
            <a:xfrm>
              <a:off x="9022534" y="5359849"/>
              <a:ext cx="1082232" cy="369332"/>
            </a:xfrm>
            <a:prstGeom prst="rect">
              <a:avLst/>
            </a:prstGeom>
            <a:noFill/>
          </p:spPr>
          <p:txBody>
            <a:bodyPr wrap="square" rtlCol="0">
              <a:spAutoFit/>
            </a:bodyPr>
            <a:lstStyle/>
            <a:p>
              <a:r>
                <a:rPr lang="en-GB" dirty="0"/>
                <a:t>Outcome</a:t>
              </a:r>
            </a:p>
          </p:txBody>
        </p:sp>
        <p:sp>
          <p:nvSpPr>
            <p:cNvPr id="16" name="TextBox 15">
              <a:extLst>
                <a:ext uri="{FF2B5EF4-FFF2-40B4-BE49-F238E27FC236}">
                  <a16:creationId xmlns:a16="http://schemas.microsoft.com/office/drawing/2014/main" id="{3D3AE3FD-179F-C1FB-2A23-C693296AD613}"/>
                </a:ext>
              </a:extLst>
            </p:cNvPr>
            <p:cNvSpPr txBox="1"/>
            <p:nvPr/>
          </p:nvSpPr>
          <p:spPr>
            <a:xfrm>
              <a:off x="1840376" y="5365850"/>
              <a:ext cx="854598" cy="369332"/>
            </a:xfrm>
            <a:prstGeom prst="rect">
              <a:avLst/>
            </a:prstGeom>
            <a:noFill/>
          </p:spPr>
          <p:txBody>
            <a:bodyPr wrap="square" rtlCol="0">
              <a:spAutoFit/>
            </a:bodyPr>
            <a:lstStyle/>
            <a:p>
              <a:r>
                <a:rPr lang="en-GB" dirty="0"/>
                <a:t>Data </a:t>
              </a:r>
            </a:p>
          </p:txBody>
        </p:sp>
      </p:grpSp>
    </p:spTree>
    <p:extLst>
      <p:ext uri="{BB962C8B-B14F-4D97-AF65-F5344CB8AC3E}">
        <p14:creationId xmlns:p14="http://schemas.microsoft.com/office/powerpoint/2010/main" val="4181970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0728D-ADDA-B351-0CE3-E7752B1CC3A8}"/>
              </a:ext>
            </a:extLst>
          </p:cNvPr>
          <p:cNvSpPr>
            <a:spLocks noGrp="1"/>
          </p:cNvSpPr>
          <p:nvPr>
            <p:ph type="title"/>
          </p:nvPr>
        </p:nvSpPr>
        <p:spPr/>
        <p:txBody>
          <a:bodyPr/>
          <a:lstStyle/>
          <a:p>
            <a:r>
              <a:rPr lang="en-GB" dirty="0"/>
              <a:t>Human-out-of-the-loop</a:t>
            </a:r>
          </a:p>
        </p:txBody>
      </p:sp>
      <p:sp>
        <p:nvSpPr>
          <p:cNvPr id="3" name="Text Placeholder 2">
            <a:extLst>
              <a:ext uri="{FF2B5EF4-FFF2-40B4-BE49-F238E27FC236}">
                <a16:creationId xmlns:a16="http://schemas.microsoft.com/office/drawing/2014/main" id="{980920B1-1237-0028-B444-69C617F563E6}"/>
              </a:ext>
            </a:extLst>
          </p:cNvPr>
          <p:cNvSpPr>
            <a:spLocks noGrp="1"/>
          </p:cNvSpPr>
          <p:nvPr>
            <p:ph type="body" sz="quarter" idx="11"/>
          </p:nvPr>
        </p:nvSpPr>
        <p:spPr>
          <a:xfrm>
            <a:off x="542018" y="1562096"/>
            <a:ext cx="11042511" cy="1078875"/>
          </a:xfrm>
        </p:spPr>
        <p:txBody>
          <a:bodyPr>
            <a:normAutofit/>
          </a:bodyPr>
          <a:lstStyle/>
          <a:p>
            <a:r>
              <a:rPr lang="en-US" dirty="0">
                <a:solidFill>
                  <a:srgbClr val="323032"/>
                </a:solidFill>
                <a:effectLst/>
              </a:rPr>
              <a:t>There is no human oversight over</a:t>
            </a:r>
            <a:r>
              <a:rPr lang="en-US" dirty="0">
                <a:solidFill>
                  <a:srgbClr val="323032"/>
                </a:solidFill>
              </a:rPr>
              <a:t> </a:t>
            </a:r>
            <a:r>
              <a:rPr lang="en-US" dirty="0">
                <a:solidFill>
                  <a:srgbClr val="323032"/>
                </a:solidFill>
                <a:effectLst/>
              </a:rPr>
              <a:t>the execution of decisions. </a:t>
            </a:r>
          </a:p>
          <a:p>
            <a:r>
              <a:rPr lang="en-US" dirty="0">
                <a:solidFill>
                  <a:srgbClr val="323032"/>
                </a:solidFill>
                <a:effectLst/>
              </a:rPr>
              <a:t>The AI system has full control without the option</a:t>
            </a:r>
            <a:r>
              <a:rPr lang="en-US" dirty="0">
                <a:solidFill>
                  <a:srgbClr val="323032"/>
                </a:solidFill>
              </a:rPr>
              <a:t> </a:t>
            </a:r>
            <a:r>
              <a:rPr lang="en-US" dirty="0">
                <a:solidFill>
                  <a:srgbClr val="323032"/>
                </a:solidFill>
                <a:effectLst/>
              </a:rPr>
              <a:t>of human override.</a:t>
            </a:r>
          </a:p>
        </p:txBody>
      </p:sp>
      <p:grpSp>
        <p:nvGrpSpPr>
          <p:cNvPr id="4" name="Group 3">
            <a:extLst>
              <a:ext uri="{FF2B5EF4-FFF2-40B4-BE49-F238E27FC236}">
                <a16:creationId xmlns:a16="http://schemas.microsoft.com/office/drawing/2014/main" id="{2F5627E4-DB23-09D0-97D6-3AEDC8875AA1}"/>
              </a:ext>
            </a:extLst>
          </p:cNvPr>
          <p:cNvGrpSpPr/>
          <p:nvPr/>
        </p:nvGrpSpPr>
        <p:grpSpPr>
          <a:xfrm>
            <a:off x="2500133" y="2846100"/>
            <a:ext cx="6014915" cy="1558866"/>
            <a:chOff x="1840376" y="4176316"/>
            <a:chExt cx="6014915" cy="1558866"/>
          </a:xfrm>
        </p:grpSpPr>
        <p:sp>
          <p:nvSpPr>
            <p:cNvPr id="5" name="Can 4">
              <a:extLst>
                <a:ext uri="{FF2B5EF4-FFF2-40B4-BE49-F238E27FC236}">
                  <a16:creationId xmlns:a16="http://schemas.microsoft.com/office/drawing/2014/main" id="{9C5C54DE-F00E-BFA6-1CFE-14324A1E0950}"/>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2" descr="AI, Artificial Intelligence, Analysis Icon Set Variable line width Icon Symbol stock vector">
              <a:extLst>
                <a:ext uri="{FF2B5EF4-FFF2-40B4-BE49-F238E27FC236}">
                  <a16:creationId xmlns:a16="http://schemas.microsoft.com/office/drawing/2014/main" id="{5A8B1BDD-8EB1-28D7-DB01-5BFD6FB8D8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F4D43106-7E2F-2D45-18FD-196B28AC611D}"/>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2AC74D7-66D1-C834-9DF6-54A8B5816F1A}"/>
                </a:ext>
              </a:extLst>
            </p:cNvPr>
            <p:cNvCxnSpPr/>
            <p:nvPr/>
          </p:nvCxnSpPr>
          <p:spPr>
            <a:xfrm>
              <a:off x="5314710"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DADCFE5-9848-BE44-E5D2-1A7D04B1B79F}"/>
                </a:ext>
              </a:extLst>
            </p:cNvPr>
            <p:cNvPicPr>
              <a:picLocks noChangeAspect="1"/>
            </p:cNvPicPr>
            <p:nvPr/>
          </p:nvPicPr>
          <p:blipFill>
            <a:blip r:embed="rId3"/>
            <a:stretch>
              <a:fillRect/>
            </a:stretch>
          </p:blipFill>
          <p:spPr>
            <a:xfrm>
              <a:off x="6898383" y="4176316"/>
              <a:ext cx="921185" cy="980616"/>
            </a:xfrm>
            <a:prstGeom prst="rect">
              <a:avLst/>
            </a:prstGeom>
          </p:spPr>
        </p:pic>
        <p:sp>
          <p:nvSpPr>
            <p:cNvPr id="12" name="TextBox 11">
              <a:extLst>
                <a:ext uri="{FF2B5EF4-FFF2-40B4-BE49-F238E27FC236}">
                  <a16:creationId xmlns:a16="http://schemas.microsoft.com/office/drawing/2014/main" id="{B1DF9205-5344-7C56-2356-1730DCA72B7B}"/>
                </a:ext>
              </a:extLst>
            </p:cNvPr>
            <p:cNvSpPr txBox="1"/>
            <p:nvPr/>
          </p:nvSpPr>
          <p:spPr>
            <a:xfrm>
              <a:off x="3986099" y="5242746"/>
              <a:ext cx="2270500" cy="369332"/>
            </a:xfrm>
            <a:prstGeom prst="rect">
              <a:avLst/>
            </a:prstGeom>
            <a:noFill/>
          </p:spPr>
          <p:txBody>
            <a:bodyPr wrap="square" rtlCol="0">
              <a:spAutoFit/>
            </a:bodyPr>
            <a:lstStyle/>
            <a:p>
              <a:r>
                <a:rPr lang="en-GB" dirty="0"/>
                <a:t>Make decision</a:t>
              </a:r>
            </a:p>
          </p:txBody>
        </p:sp>
        <p:sp>
          <p:nvSpPr>
            <p:cNvPr id="14" name="TextBox 13">
              <a:extLst>
                <a:ext uri="{FF2B5EF4-FFF2-40B4-BE49-F238E27FC236}">
                  <a16:creationId xmlns:a16="http://schemas.microsoft.com/office/drawing/2014/main" id="{852CEBF1-7668-7518-2D75-10CBC9C739FA}"/>
                </a:ext>
              </a:extLst>
            </p:cNvPr>
            <p:cNvSpPr txBox="1"/>
            <p:nvPr/>
          </p:nvSpPr>
          <p:spPr>
            <a:xfrm>
              <a:off x="6773059" y="5248413"/>
              <a:ext cx="1082232" cy="369332"/>
            </a:xfrm>
            <a:prstGeom prst="rect">
              <a:avLst/>
            </a:prstGeom>
            <a:noFill/>
          </p:spPr>
          <p:txBody>
            <a:bodyPr wrap="square" rtlCol="0">
              <a:spAutoFit/>
            </a:bodyPr>
            <a:lstStyle/>
            <a:p>
              <a:r>
                <a:rPr lang="en-GB" dirty="0"/>
                <a:t>Outcome</a:t>
              </a:r>
            </a:p>
          </p:txBody>
        </p:sp>
        <p:sp>
          <p:nvSpPr>
            <p:cNvPr id="15" name="TextBox 14">
              <a:extLst>
                <a:ext uri="{FF2B5EF4-FFF2-40B4-BE49-F238E27FC236}">
                  <a16:creationId xmlns:a16="http://schemas.microsoft.com/office/drawing/2014/main" id="{03D9030C-552B-6CDD-F742-3EB4276BE985}"/>
                </a:ext>
              </a:extLst>
            </p:cNvPr>
            <p:cNvSpPr txBox="1"/>
            <p:nvPr/>
          </p:nvSpPr>
          <p:spPr>
            <a:xfrm>
              <a:off x="1840376" y="5365850"/>
              <a:ext cx="854598" cy="369332"/>
            </a:xfrm>
            <a:prstGeom prst="rect">
              <a:avLst/>
            </a:prstGeom>
            <a:noFill/>
          </p:spPr>
          <p:txBody>
            <a:bodyPr wrap="square" rtlCol="0">
              <a:spAutoFit/>
            </a:bodyPr>
            <a:lstStyle/>
            <a:p>
              <a:r>
                <a:rPr lang="en-GB" dirty="0"/>
                <a:t>Data </a:t>
              </a:r>
            </a:p>
          </p:txBody>
        </p:sp>
      </p:grpSp>
      <p:pic>
        <p:nvPicPr>
          <p:cNvPr id="16" name="Graphic 15" descr="User with solid fill">
            <a:extLst>
              <a:ext uri="{FF2B5EF4-FFF2-40B4-BE49-F238E27FC236}">
                <a16:creationId xmlns:a16="http://schemas.microsoft.com/office/drawing/2014/main" id="{A00C6BB7-3124-6A23-8272-47B4982B58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3991" y="4097196"/>
            <a:ext cx="914400" cy="914400"/>
          </a:xfrm>
          <a:prstGeom prst="rect">
            <a:avLst/>
          </a:prstGeom>
        </p:spPr>
      </p:pic>
    </p:spTree>
    <p:extLst>
      <p:ext uri="{BB962C8B-B14F-4D97-AF65-F5344CB8AC3E}">
        <p14:creationId xmlns:p14="http://schemas.microsoft.com/office/powerpoint/2010/main" val="3715183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D960-80DE-7768-9769-7E27A5A2D1D1}"/>
              </a:ext>
            </a:extLst>
          </p:cNvPr>
          <p:cNvSpPr>
            <a:spLocks noGrp="1"/>
          </p:cNvSpPr>
          <p:nvPr>
            <p:ph type="title"/>
          </p:nvPr>
        </p:nvSpPr>
        <p:spPr/>
        <p:txBody>
          <a:bodyPr/>
          <a:lstStyle/>
          <a:p>
            <a:r>
              <a:rPr lang="en-GB" dirty="0"/>
              <a:t>Human-over-the-loop</a:t>
            </a:r>
          </a:p>
        </p:txBody>
      </p:sp>
      <p:sp>
        <p:nvSpPr>
          <p:cNvPr id="3" name="Text Placeholder 2">
            <a:extLst>
              <a:ext uri="{FF2B5EF4-FFF2-40B4-BE49-F238E27FC236}">
                <a16:creationId xmlns:a16="http://schemas.microsoft.com/office/drawing/2014/main" id="{6BCDE036-30F2-A1A1-5BFE-E9E608632530}"/>
              </a:ext>
            </a:extLst>
          </p:cNvPr>
          <p:cNvSpPr>
            <a:spLocks noGrp="1"/>
          </p:cNvSpPr>
          <p:nvPr>
            <p:ph type="body" sz="quarter" idx="11"/>
          </p:nvPr>
        </p:nvSpPr>
        <p:spPr>
          <a:xfrm>
            <a:off x="542018" y="1562096"/>
            <a:ext cx="10859045" cy="1366300"/>
          </a:xfrm>
        </p:spPr>
        <p:txBody>
          <a:bodyPr>
            <a:normAutofit lnSpcReduction="10000"/>
          </a:bodyPr>
          <a:lstStyle/>
          <a:p>
            <a:r>
              <a:rPr lang="en-US" dirty="0">
                <a:solidFill>
                  <a:srgbClr val="323032"/>
                </a:solidFill>
                <a:effectLst/>
              </a:rPr>
              <a:t>Human is in a monitoring or supervisory role, with the ability to take over control when the AI model encounters</a:t>
            </a:r>
            <a:r>
              <a:rPr lang="en-US" dirty="0">
                <a:solidFill>
                  <a:srgbClr val="323032"/>
                </a:solidFill>
              </a:rPr>
              <a:t> </a:t>
            </a:r>
            <a:r>
              <a:rPr lang="en-US" dirty="0">
                <a:solidFill>
                  <a:srgbClr val="323032"/>
                </a:solidFill>
                <a:effectLst/>
              </a:rPr>
              <a:t>unexpected or undesirable events (such as model failure)</a:t>
            </a:r>
          </a:p>
          <a:p>
            <a:endParaRPr lang="en-GB" dirty="0"/>
          </a:p>
        </p:txBody>
      </p:sp>
      <p:grpSp>
        <p:nvGrpSpPr>
          <p:cNvPr id="6" name="Group 5">
            <a:extLst>
              <a:ext uri="{FF2B5EF4-FFF2-40B4-BE49-F238E27FC236}">
                <a16:creationId xmlns:a16="http://schemas.microsoft.com/office/drawing/2014/main" id="{E1CBB2B3-83B4-7575-ECFF-62F4C6E7028D}"/>
              </a:ext>
            </a:extLst>
          </p:cNvPr>
          <p:cNvGrpSpPr/>
          <p:nvPr/>
        </p:nvGrpSpPr>
        <p:grpSpPr>
          <a:xfrm>
            <a:off x="2500133" y="2882886"/>
            <a:ext cx="7494976" cy="1440102"/>
            <a:chOff x="1840376" y="4213102"/>
            <a:chExt cx="7494976" cy="1440102"/>
          </a:xfrm>
        </p:grpSpPr>
        <p:sp>
          <p:nvSpPr>
            <p:cNvPr id="7" name="Can 6">
              <a:extLst>
                <a:ext uri="{FF2B5EF4-FFF2-40B4-BE49-F238E27FC236}">
                  <a16:creationId xmlns:a16="http://schemas.microsoft.com/office/drawing/2014/main" id="{A9C52AFC-AC9C-0CEC-22A4-D63A89145132}"/>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2" descr="AI, Artificial Intelligence, Analysis Icon Set Variable line width Icon Symbol stock vector">
              <a:extLst>
                <a:ext uri="{FF2B5EF4-FFF2-40B4-BE49-F238E27FC236}">
                  <a16:creationId xmlns:a16="http://schemas.microsoft.com/office/drawing/2014/main" id="{3EA66F3D-AD18-88B3-CB9C-18D08DAFC0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2DC0E788-717D-A2D2-8959-B69928965F4B}"/>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07AB2A9-6A15-FA31-E820-66B19E7DA0B7}"/>
                </a:ext>
              </a:extLst>
            </p:cNvPr>
            <p:cNvCxnSpPr>
              <a:cxnSpLocks/>
            </p:cNvCxnSpPr>
            <p:nvPr/>
          </p:nvCxnSpPr>
          <p:spPr>
            <a:xfrm flipV="1">
              <a:off x="5314710" y="4756481"/>
              <a:ext cx="2810718" cy="1476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28670A2-9CC3-D004-5C66-B506BEB354C9}"/>
                </a:ext>
              </a:extLst>
            </p:cNvPr>
            <p:cNvPicPr>
              <a:picLocks noChangeAspect="1"/>
            </p:cNvPicPr>
            <p:nvPr/>
          </p:nvPicPr>
          <p:blipFill>
            <a:blip r:embed="rId4"/>
            <a:stretch>
              <a:fillRect/>
            </a:stretch>
          </p:blipFill>
          <p:spPr>
            <a:xfrm>
              <a:off x="8333644" y="4213102"/>
              <a:ext cx="921185" cy="980616"/>
            </a:xfrm>
            <a:prstGeom prst="rect">
              <a:avLst/>
            </a:prstGeom>
          </p:spPr>
        </p:pic>
        <p:sp>
          <p:nvSpPr>
            <p:cNvPr id="12" name="TextBox 11">
              <a:extLst>
                <a:ext uri="{FF2B5EF4-FFF2-40B4-BE49-F238E27FC236}">
                  <a16:creationId xmlns:a16="http://schemas.microsoft.com/office/drawing/2014/main" id="{4F6B1B9A-6A0C-2E88-FDEA-9EC34D664EC7}"/>
                </a:ext>
              </a:extLst>
            </p:cNvPr>
            <p:cNvSpPr txBox="1"/>
            <p:nvPr/>
          </p:nvSpPr>
          <p:spPr>
            <a:xfrm>
              <a:off x="3749467" y="5225107"/>
              <a:ext cx="1791623" cy="369332"/>
            </a:xfrm>
            <a:prstGeom prst="rect">
              <a:avLst/>
            </a:prstGeom>
            <a:noFill/>
          </p:spPr>
          <p:txBody>
            <a:bodyPr wrap="square" rtlCol="0">
              <a:spAutoFit/>
            </a:bodyPr>
            <a:lstStyle/>
            <a:p>
              <a:r>
                <a:rPr lang="en-GB" dirty="0"/>
                <a:t>Make decision</a:t>
              </a:r>
            </a:p>
          </p:txBody>
        </p:sp>
        <p:sp>
          <p:nvSpPr>
            <p:cNvPr id="13" name="TextBox 12">
              <a:extLst>
                <a:ext uri="{FF2B5EF4-FFF2-40B4-BE49-F238E27FC236}">
                  <a16:creationId xmlns:a16="http://schemas.microsoft.com/office/drawing/2014/main" id="{5573613B-4D50-0C80-1EDA-E6827E4D3D63}"/>
                </a:ext>
              </a:extLst>
            </p:cNvPr>
            <p:cNvSpPr txBox="1"/>
            <p:nvPr/>
          </p:nvSpPr>
          <p:spPr>
            <a:xfrm>
              <a:off x="8253120" y="5242746"/>
              <a:ext cx="1082232" cy="369332"/>
            </a:xfrm>
            <a:prstGeom prst="rect">
              <a:avLst/>
            </a:prstGeom>
            <a:noFill/>
          </p:spPr>
          <p:txBody>
            <a:bodyPr wrap="square" rtlCol="0">
              <a:spAutoFit/>
            </a:bodyPr>
            <a:lstStyle/>
            <a:p>
              <a:r>
                <a:rPr lang="en-GB" dirty="0"/>
                <a:t>Outcome</a:t>
              </a:r>
            </a:p>
          </p:txBody>
        </p:sp>
        <p:sp>
          <p:nvSpPr>
            <p:cNvPr id="14" name="TextBox 13">
              <a:extLst>
                <a:ext uri="{FF2B5EF4-FFF2-40B4-BE49-F238E27FC236}">
                  <a16:creationId xmlns:a16="http://schemas.microsoft.com/office/drawing/2014/main" id="{A73E64A6-91E3-E5BC-2865-485F8A8E9389}"/>
                </a:ext>
              </a:extLst>
            </p:cNvPr>
            <p:cNvSpPr txBox="1"/>
            <p:nvPr/>
          </p:nvSpPr>
          <p:spPr>
            <a:xfrm>
              <a:off x="1840376" y="5283872"/>
              <a:ext cx="854598" cy="369332"/>
            </a:xfrm>
            <a:prstGeom prst="rect">
              <a:avLst/>
            </a:prstGeom>
            <a:noFill/>
          </p:spPr>
          <p:txBody>
            <a:bodyPr wrap="square" rtlCol="0">
              <a:spAutoFit/>
            </a:bodyPr>
            <a:lstStyle/>
            <a:p>
              <a:r>
                <a:rPr lang="en-GB" dirty="0"/>
                <a:t>Data </a:t>
              </a:r>
            </a:p>
          </p:txBody>
        </p:sp>
      </p:grpSp>
      <p:pic>
        <p:nvPicPr>
          <p:cNvPr id="15" name="Graphic 14" descr="User with solid fill">
            <a:extLst>
              <a:ext uri="{FF2B5EF4-FFF2-40B4-BE49-F238E27FC236}">
                <a16:creationId xmlns:a16="http://schemas.microsoft.com/office/drawing/2014/main" id="{B782A836-B5CF-93F0-F331-BAC3AFE503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26033" y="4220300"/>
            <a:ext cx="856326" cy="856326"/>
          </a:xfrm>
          <a:prstGeom prst="rect">
            <a:avLst/>
          </a:prstGeom>
        </p:spPr>
      </p:pic>
      <p:cxnSp>
        <p:nvCxnSpPr>
          <p:cNvPr id="18" name="Elbow Connector 17">
            <a:extLst>
              <a:ext uri="{FF2B5EF4-FFF2-40B4-BE49-F238E27FC236}">
                <a16:creationId xmlns:a16="http://schemas.microsoft.com/office/drawing/2014/main" id="{72D0CE2C-68CD-3237-1B4B-ADC88054CBB8}"/>
              </a:ext>
            </a:extLst>
          </p:cNvPr>
          <p:cNvCxnSpPr>
            <a:cxnSpLocks/>
            <a:stCxn id="13" idx="2"/>
          </p:cNvCxnSpPr>
          <p:nvPr/>
        </p:nvCxnSpPr>
        <p:spPr>
          <a:xfrm rot="5400000">
            <a:off x="8484775" y="3679448"/>
            <a:ext cx="366804" cy="1571633"/>
          </a:xfrm>
          <a:prstGeom prst="bentConnector2">
            <a:avLst/>
          </a:prstGeom>
          <a:ln w="34925">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E1E69F-1057-3663-18D2-405E0D5CD63F}"/>
              </a:ext>
            </a:extLst>
          </p:cNvPr>
          <p:cNvSpPr txBox="1"/>
          <p:nvPr/>
        </p:nvSpPr>
        <p:spPr>
          <a:xfrm>
            <a:off x="5971540" y="4987062"/>
            <a:ext cx="4107187" cy="369332"/>
          </a:xfrm>
          <a:prstGeom prst="rect">
            <a:avLst/>
          </a:prstGeom>
          <a:noFill/>
        </p:spPr>
        <p:txBody>
          <a:bodyPr wrap="square" rtlCol="0">
            <a:spAutoFit/>
          </a:bodyPr>
          <a:lstStyle/>
          <a:p>
            <a:r>
              <a:rPr lang="en-GB" dirty="0"/>
              <a:t>Review outcome, make decision</a:t>
            </a:r>
          </a:p>
        </p:txBody>
      </p:sp>
      <p:sp>
        <p:nvSpPr>
          <p:cNvPr id="28" name="TextBox 27">
            <a:extLst>
              <a:ext uri="{FF2B5EF4-FFF2-40B4-BE49-F238E27FC236}">
                <a16:creationId xmlns:a16="http://schemas.microsoft.com/office/drawing/2014/main" id="{62807013-F070-3199-9395-2C059C812FA2}"/>
              </a:ext>
            </a:extLst>
          </p:cNvPr>
          <p:cNvSpPr txBox="1"/>
          <p:nvPr/>
        </p:nvSpPr>
        <p:spPr>
          <a:xfrm>
            <a:off x="5649349" y="4299755"/>
            <a:ext cx="1208167" cy="369332"/>
          </a:xfrm>
          <a:prstGeom prst="rect">
            <a:avLst/>
          </a:prstGeom>
          <a:noFill/>
        </p:spPr>
        <p:txBody>
          <a:bodyPr wrap="square" rtlCol="0">
            <a:spAutoFit/>
          </a:bodyPr>
          <a:lstStyle/>
          <a:p>
            <a:r>
              <a:rPr lang="en-GB" dirty="0"/>
              <a:t>Exception</a:t>
            </a:r>
          </a:p>
        </p:txBody>
      </p:sp>
      <p:cxnSp>
        <p:nvCxnSpPr>
          <p:cNvPr id="31" name="Elbow Connector 30">
            <a:extLst>
              <a:ext uri="{FF2B5EF4-FFF2-40B4-BE49-F238E27FC236}">
                <a16:creationId xmlns:a16="http://schemas.microsoft.com/office/drawing/2014/main" id="{C34391D1-AB59-D893-37BD-A4B4B4068C7D}"/>
              </a:ext>
            </a:extLst>
          </p:cNvPr>
          <p:cNvCxnSpPr>
            <a:cxnSpLocks/>
            <a:stCxn id="12" idx="2"/>
          </p:cNvCxnSpPr>
          <p:nvPr/>
        </p:nvCxnSpPr>
        <p:spPr>
          <a:xfrm rot="16200000" flipH="1">
            <a:off x="5916175" y="3653084"/>
            <a:ext cx="382770" cy="1605048"/>
          </a:xfrm>
          <a:prstGeom prst="bentConnector2">
            <a:avLst/>
          </a:prstGeom>
          <a:ln w="34925">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812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597A-7B52-C4CE-A88F-2730A52CEF7A}"/>
              </a:ext>
            </a:extLst>
          </p:cNvPr>
          <p:cNvSpPr>
            <a:spLocks noGrp="1"/>
          </p:cNvSpPr>
          <p:nvPr>
            <p:ph type="title"/>
          </p:nvPr>
        </p:nvSpPr>
        <p:spPr/>
        <p:txBody>
          <a:bodyPr/>
          <a:lstStyle/>
          <a:p>
            <a:r>
              <a:rPr lang="en-GB" dirty="0"/>
              <a:t>Probability-Severity of Harm Matrix </a:t>
            </a:r>
          </a:p>
        </p:txBody>
      </p:sp>
      <p:pic>
        <p:nvPicPr>
          <p:cNvPr id="2050" name="Picture 2">
            <a:extLst>
              <a:ext uri="{FF2B5EF4-FFF2-40B4-BE49-F238E27FC236}">
                <a16:creationId xmlns:a16="http://schemas.microsoft.com/office/drawing/2014/main" id="{04D50EFB-B7C2-FACB-B705-65575E4AAC26}"/>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79" t="533" b="23296"/>
          <a:stretch/>
        </p:blipFill>
        <p:spPr bwMode="auto">
          <a:xfrm>
            <a:off x="891251" y="1226916"/>
            <a:ext cx="5613721" cy="5266481"/>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594B1B9-CC69-471B-6ACD-778A1AF4E0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08" t="78947"/>
          <a:stretch/>
        </p:blipFill>
        <p:spPr bwMode="auto">
          <a:xfrm>
            <a:off x="6802264" y="2198973"/>
            <a:ext cx="4948991" cy="1354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733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5D709-6178-14CD-9B71-65EF10971176}"/>
              </a:ext>
            </a:extLst>
          </p:cNvPr>
          <p:cNvSpPr>
            <a:spLocks noGrp="1"/>
          </p:cNvSpPr>
          <p:nvPr>
            <p:ph type="title"/>
          </p:nvPr>
        </p:nvSpPr>
        <p:spPr/>
        <p:txBody>
          <a:bodyPr/>
          <a:lstStyle/>
          <a:p>
            <a:r>
              <a:rPr lang="en-GB" dirty="0"/>
              <a:t>Case study</a:t>
            </a:r>
          </a:p>
        </p:txBody>
      </p:sp>
      <p:sp>
        <p:nvSpPr>
          <p:cNvPr id="6" name="Oval Callout 5">
            <a:extLst>
              <a:ext uri="{FF2B5EF4-FFF2-40B4-BE49-F238E27FC236}">
                <a16:creationId xmlns:a16="http://schemas.microsoft.com/office/drawing/2014/main" id="{6FD3CA30-AA7E-F934-FEFD-A6367147A0B9}"/>
              </a:ext>
            </a:extLst>
          </p:cNvPr>
          <p:cNvSpPr/>
          <p:nvPr/>
        </p:nvSpPr>
        <p:spPr>
          <a:xfrm>
            <a:off x="3483617" y="4803053"/>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7" name="Oval Callout 6">
            <a:extLst>
              <a:ext uri="{FF2B5EF4-FFF2-40B4-BE49-F238E27FC236}">
                <a16:creationId xmlns:a16="http://schemas.microsoft.com/office/drawing/2014/main" id="{7236A763-A5A9-0C8D-B45E-22EABB9F3C74}"/>
              </a:ext>
            </a:extLst>
          </p:cNvPr>
          <p:cNvSpPr/>
          <p:nvPr/>
        </p:nvSpPr>
        <p:spPr>
          <a:xfrm>
            <a:off x="5006383" y="3585547"/>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8" name="Oval Callout 7">
            <a:extLst>
              <a:ext uri="{FF2B5EF4-FFF2-40B4-BE49-F238E27FC236}">
                <a16:creationId xmlns:a16="http://schemas.microsoft.com/office/drawing/2014/main" id="{AB149A8D-55A4-33D1-7574-8118C44B834B}"/>
              </a:ext>
            </a:extLst>
          </p:cNvPr>
          <p:cNvSpPr/>
          <p:nvPr/>
        </p:nvSpPr>
        <p:spPr>
          <a:xfrm>
            <a:off x="6597203" y="4726336"/>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10" name="Picture 9" descr="A screenshot of a store&#10;&#10;Description automatically generated">
            <a:extLst>
              <a:ext uri="{FF2B5EF4-FFF2-40B4-BE49-F238E27FC236}">
                <a16:creationId xmlns:a16="http://schemas.microsoft.com/office/drawing/2014/main" id="{90AC3D79-151F-6455-7F42-D69751374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458" y="1310559"/>
            <a:ext cx="1653936" cy="3585768"/>
          </a:xfrm>
          <a:prstGeom prst="rect">
            <a:avLst/>
          </a:prstGeom>
        </p:spPr>
      </p:pic>
      <p:sp>
        <p:nvSpPr>
          <p:cNvPr id="11" name="TextBox 10">
            <a:extLst>
              <a:ext uri="{FF2B5EF4-FFF2-40B4-BE49-F238E27FC236}">
                <a16:creationId xmlns:a16="http://schemas.microsoft.com/office/drawing/2014/main" id="{C8F30DC3-4575-43C8-BEBA-C81C99C4BEE4}"/>
              </a:ext>
            </a:extLst>
          </p:cNvPr>
          <p:cNvSpPr txBox="1"/>
          <p:nvPr/>
        </p:nvSpPr>
        <p:spPr>
          <a:xfrm>
            <a:off x="2840500" y="1310559"/>
            <a:ext cx="7751300" cy="1200329"/>
          </a:xfrm>
          <a:prstGeom prst="rect">
            <a:avLst/>
          </a:prstGeom>
          <a:noFill/>
        </p:spPr>
        <p:txBody>
          <a:bodyPr wrap="square" rtlCol="0">
            <a:spAutoFit/>
          </a:bodyPr>
          <a:lstStyle/>
          <a:p>
            <a:r>
              <a:rPr lang="en-GB" sz="2400" dirty="0"/>
              <a:t>An online retail store wishes to use AI to fully automate the recommendations of products to individuals based on their browsing behaviours and purchase history.</a:t>
            </a:r>
          </a:p>
        </p:txBody>
      </p:sp>
      <p:pic>
        <p:nvPicPr>
          <p:cNvPr id="4" name="Graphic 3" descr="Checkmark with solid fill">
            <a:extLst>
              <a:ext uri="{FF2B5EF4-FFF2-40B4-BE49-F238E27FC236}">
                <a16:creationId xmlns:a16="http://schemas.microsoft.com/office/drawing/2014/main" id="{0366AE66-98A5-F90D-A8D3-0FDB1269C7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268081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DA6C-24AD-C5F2-A9A8-50FDD039956D}"/>
              </a:ext>
            </a:extLst>
          </p:cNvPr>
          <p:cNvSpPr>
            <a:spLocks noGrp="1"/>
          </p:cNvSpPr>
          <p:nvPr>
            <p:ph type="title"/>
          </p:nvPr>
        </p:nvSpPr>
        <p:spPr/>
        <p:txBody>
          <a:bodyPr/>
          <a:lstStyle/>
          <a:p>
            <a:r>
              <a:rPr lang="en-GB" dirty="0"/>
              <a:t>Case Study </a:t>
            </a:r>
          </a:p>
        </p:txBody>
      </p:sp>
      <p:pic>
        <p:nvPicPr>
          <p:cNvPr id="8194" name="Picture 2" descr="SELENA+">
            <a:extLst>
              <a:ext uri="{FF2B5EF4-FFF2-40B4-BE49-F238E27FC236}">
                <a16:creationId xmlns:a16="http://schemas.microsoft.com/office/drawing/2014/main" id="{D7FABC33-9CB2-0A75-AA0E-927CA5DBD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359" y="1805650"/>
            <a:ext cx="1910887" cy="124210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3F5BDBC-1C6A-AE6E-0DED-0D8FE7C0813C}"/>
              </a:ext>
            </a:extLst>
          </p:cNvPr>
          <p:cNvSpPr txBox="1"/>
          <p:nvPr/>
        </p:nvSpPr>
        <p:spPr>
          <a:xfrm>
            <a:off x="3137383" y="1553773"/>
            <a:ext cx="7717420" cy="1938992"/>
          </a:xfrm>
          <a:prstGeom prst="rect">
            <a:avLst/>
          </a:prstGeom>
          <a:noFill/>
        </p:spPr>
        <p:txBody>
          <a:bodyPr wrap="square">
            <a:spAutoFit/>
          </a:bodyPr>
          <a:lstStyle/>
          <a:p>
            <a:r>
              <a:rPr lang="en-US" sz="2400" b="0" i="0" dirty="0">
                <a:solidFill>
                  <a:srgbClr val="212529"/>
                </a:solidFill>
                <a:effectLst/>
              </a:rPr>
              <a:t>Singapore Eye Lesion </a:t>
            </a:r>
            <a:r>
              <a:rPr lang="en-US" sz="2400" b="0" i="0" dirty="0" err="1">
                <a:solidFill>
                  <a:srgbClr val="212529"/>
                </a:solidFill>
                <a:effectLst/>
              </a:rPr>
              <a:t>Analyser</a:t>
            </a:r>
            <a:r>
              <a:rPr lang="en-US" sz="2400" b="0" i="0" dirty="0">
                <a:solidFill>
                  <a:srgbClr val="212529"/>
                </a:solidFill>
                <a:effectLst/>
              </a:rPr>
              <a:t> (SELENA+) is a deep-learning AI software system that can detect potential threatening eye conditions accurately and efficiently. </a:t>
            </a:r>
          </a:p>
          <a:p>
            <a:r>
              <a:rPr lang="en-US" sz="2400" b="0" i="0" dirty="0">
                <a:solidFill>
                  <a:srgbClr val="212529"/>
                </a:solidFill>
                <a:effectLst/>
              </a:rPr>
              <a:t>It can detect abnormal fundus images, and in particular, signs of diabetic retinopathy disease. </a:t>
            </a:r>
            <a:endParaRPr lang="en-GB" sz="2400" dirty="0"/>
          </a:p>
        </p:txBody>
      </p:sp>
      <p:sp>
        <p:nvSpPr>
          <p:cNvPr id="9" name="Oval Callout 8">
            <a:extLst>
              <a:ext uri="{FF2B5EF4-FFF2-40B4-BE49-F238E27FC236}">
                <a16:creationId xmlns:a16="http://schemas.microsoft.com/office/drawing/2014/main" id="{BC7D1867-C1F4-63AA-BE27-037767686135}"/>
              </a:ext>
            </a:extLst>
          </p:cNvPr>
          <p:cNvSpPr/>
          <p:nvPr/>
        </p:nvSpPr>
        <p:spPr>
          <a:xfrm>
            <a:off x="2751984" y="5034310"/>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10" name="Oval Callout 9">
            <a:extLst>
              <a:ext uri="{FF2B5EF4-FFF2-40B4-BE49-F238E27FC236}">
                <a16:creationId xmlns:a16="http://schemas.microsoft.com/office/drawing/2014/main" id="{8F3DFB35-4BA6-7C84-3202-2063E2A3F18D}"/>
              </a:ext>
            </a:extLst>
          </p:cNvPr>
          <p:cNvSpPr/>
          <p:nvPr/>
        </p:nvSpPr>
        <p:spPr>
          <a:xfrm>
            <a:off x="4488821" y="3893522"/>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11" name="Oval Callout 10">
            <a:extLst>
              <a:ext uri="{FF2B5EF4-FFF2-40B4-BE49-F238E27FC236}">
                <a16:creationId xmlns:a16="http://schemas.microsoft.com/office/drawing/2014/main" id="{DDF56CAC-77B8-A4B8-2885-157136347A5D}"/>
              </a:ext>
            </a:extLst>
          </p:cNvPr>
          <p:cNvSpPr/>
          <p:nvPr/>
        </p:nvSpPr>
        <p:spPr>
          <a:xfrm>
            <a:off x="6079641" y="5034311"/>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3" name="Graphic 2" descr="Checkmark with solid fill">
            <a:extLst>
              <a:ext uri="{FF2B5EF4-FFF2-40B4-BE49-F238E27FC236}">
                <a16:creationId xmlns:a16="http://schemas.microsoft.com/office/drawing/2014/main" id="{B9429AA5-66A6-5872-4D4B-2FD366C8BC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5507" y="4389827"/>
            <a:ext cx="914400" cy="914400"/>
          </a:xfrm>
          <a:prstGeom prst="rect">
            <a:avLst/>
          </a:prstGeom>
        </p:spPr>
      </p:pic>
    </p:spTree>
    <p:extLst>
      <p:ext uri="{BB962C8B-B14F-4D97-AF65-F5344CB8AC3E}">
        <p14:creationId xmlns:p14="http://schemas.microsoft.com/office/powerpoint/2010/main" val="387593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0DC37-6D6E-4268-E301-741A2A61E246}"/>
              </a:ext>
            </a:extLst>
          </p:cNvPr>
          <p:cNvSpPr>
            <a:spLocks noGrp="1"/>
          </p:cNvSpPr>
          <p:nvPr>
            <p:ph type="title"/>
          </p:nvPr>
        </p:nvSpPr>
        <p:spPr/>
        <p:txBody>
          <a:bodyPr/>
          <a:lstStyle/>
          <a:p>
            <a:r>
              <a:rPr lang="en-GB" dirty="0"/>
              <a:t>Case Study</a:t>
            </a:r>
          </a:p>
        </p:txBody>
      </p:sp>
      <p:sp>
        <p:nvSpPr>
          <p:cNvPr id="3" name="Text Placeholder 2">
            <a:extLst>
              <a:ext uri="{FF2B5EF4-FFF2-40B4-BE49-F238E27FC236}">
                <a16:creationId xmlns:a16="http://schemas.microsoft.com/office/drawing/2014/main" id="{4DBEAFC2-5302-9F85-34AC-D50491EE098D}"/>
              </a:ext>
            </a:extLst>
          </p:cNvPr>
          <p:cNvSpPr>
            <a:spLocks noGrp="1"/>
          </p:cNvSpPr>
          <p:nvPr>
            <p:ph type="body" sz="quarter" idx="11"/>
          </p:nvPr>
        </p:nvSpPr>
        <p:spPr>
          <a:xfrm>
            <a:off x="2305564" y="1526288"/>
            <a:ext cx="7949605" cy="1493622"/>
          </a:xfrm>
        </p:spPr>
        <p:txBody>
          <a:bodyPr>
            <a:normAutofit fontScale="85000" lnSpcReduction="10000"/>
          </a:bodyPr>
          <a:lstStyle/>
          <a:p>
            <a:pPr marL="0" indent="0">
              <a:buNone/>
            </a:pPr>
            <a:r>
              <a:rPr lang="en-GB" dirty="0" err="1"/>
              <a:t>Suade</a:t>
            </a:r>
            <a:r>
              <a:rPr lang="en-GB" dirty="0"/>
              <a:t> Labs provides an AI-enabled solution that allows financial institutions to process large volumes of granular data and generate the required regulatory data, calculations, and reports with the necessary controls and governance.</a:t>
            </a:r>
          </a:p>
        </p:txBody>
      </p:sp>
      <p:pic>
        <p:nvPicPr>
          <p:cNvPr id="9218" name="Picture 2" descr="Suade Labs - Suade Labs">
            <a:extLst>
              <a:ext uri="{FF2B5EF4-FFF2-40B4-BE49-F238E27FC236}">
                <a16:creationId xmlns:a16="http://schemas.microsoft.com/office/drawing/2014/main" id="{7F42D29E-FBBE-6760-E711-8AFB5897E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5" y="1526288"/>
            <a:ext cx="1409962" cy="1625841"/>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
        <p:nvSpPr>
          <p:cNvPr id="4" name="Oval Callout 3">
            <a:extLst>
              <a:ext uri="{FF2B5EF4-FFF2-40B4-BE49-F238E27FC236}">
                <a16:creationId xmlns:a16="http://schemas.microsoft.com/office/drawing/2014/main" id="{9A82E24E-C28E-7AA5-B439-C4BFC11FC0F7}"/>
              </a:ext>
            </a:extLst>
          </p:cNvPr>
          <p:cNvSpPr/>
          <p:nvPr/>
        </p:nvSpPr>
        <p:spPr>
          <a:xfrm>
            <a:off x="2751984" y="5034310"/>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5" name="Oval Callout 4">
            <a:extLst>
              <a:ext uri="{FF2B5EF4-FFF2-40B4-BE49-F238E27FC236}">
                <a16:creationId xmlns:a16="http://schemas.microsoft.com/office/drawing/2014/main" id="{D7CB4D97-0F81-FF93-5F4B-ABB566345FA0}"/>
              </a:ext>
            </a:extLst>
          </p:cNvPr>
          <p:cNvSpPr/>
          <p:nvPr/>
        </p:nvSpPr>
        <p:spPr>
          <a:xfrm>
            <a:off x="4488821" y="3893522"/>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6" name="Oval Callout 5">
            <a:extLst>
              <a:ext uri="{FF2B5EF4-FFF2-40B4-BE49-F238E27FC236}">
                <a16:creationId xmlns:a16="http://schemas.microsoft.com/office/drawing/2014/main" id="{421BDDCA-75BD-7648-E49B-0B8C7D7EBBF8}"/>
              </a:ext>
            </a:extLst>
          </p:cNvPr>
          <p:cNvSpPr/>
          <p:nvPr/>
        </p:nvSpPr>
        <p:spPr>
          <a:xfrm>
            <a:off x="6079641" y="5034311"/>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7" name="Graphic 6" descr="Checkmark with solid fill">
            <a:extLst>
              <a:ext uri="{FF2B5EF4-FFF2-40B4-BE49-F238E27FC236}">
                <a16:creationId xmlns:a16="http://schemas.microsoft.com/office/drawing/2014/main" id="{E4A9B853-2728-2A81-F540-1CF3C2BF41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4059" y="4479832"/>
            <a:ext cx="914400" cy="914400"/>
          </a:xfrm>
          <a:prstGeom prst="rect">
            <a:avLst/>
          </a:prstGeom>
        </p:spPr>
      </p:pic>
    </p:spTree>
    <p:extLst>
      <p:ext uri="{BB962C8B-B14F-4D97-AF65-F5344CB8AC3E}">
        <p14:creationId xmlns:p14="http://schemas.microsoft.com/office/powerpoint/2010/main" val="302091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E29A3-4B01-229D-0448-9632206443F8}"/>
              </a:ext>
            </a:extLst>
          </p:cNvPr>
          <p:cNvSpPr>
            <a:spLocks noGrp="1"/>
          </p:cNvSpPr>
          <p:nvPr>
            <p:ph type="title"/>
          </p:nvPr>
        </p:nvSpPr>
        <p:spPr/>
        <p:txBody>
          <a:bodyPr/>
          <a:lstStyle/>
          <a:p>
            <a:r>
              <a:rPr lang="en-GB" dirty="0"/>
              <a:t>Case Study</a:t>
            </a:r>
          </a:p>
        </p:txBody>
      </p:sp>
      <p:sp>
        <p:nvSpPr>
          <p:cNvPr id="3" name="Text Placeholder 2">
            <a:extLst>
              <a:ext uri="{FF2B5EF4-FFF2-40B4-BE49-F238E27FC236}">
                <a16:creationId xmlns:a16="http://schemas.microsoft.com/office/drawing/2014/main" id="{08A744B6-089E-F608-6C8B-ADA42A7B1DE4}"/>
              </a:ext>
            </a:extLst>
          </p:cNvPr>
          <p:cNvSpPr>
            <a:spLocks noGrp="1"/>
          </p:cNvSpPr>
          <p:nvPr>
            <p:ph type="body" sz="quarter" idx="11"/>
          </p:nvPr>
        </p:nvSpPr>
        <p:spPr>
          <a:xfrm>
            <a:off x="1473201" y="1314634"/>
            <a:ext cx="9452899" cy="572544"/>
          </a:xfrm>
        </p:spPr>
        <p:txBody>
          <a:bodyPr>
            <a:normAutofit/>
          </a:bodyPr>
          <a:lstStyle/>
          <a:p>
            <a:pPr marL="0" indent="0">
              <a:buNone/>
            </a:pPr>
            <a:r>
              <a:rPr lang="en-GB" sz="2400" dirty="0"/>
              <a:t>Google map helps user to navigate the routes from Point A to Point B.</a:t>
            </a:r>
          </a:p>
        </p:txBody>
      </p:sp>
      <p:pic>
        <p:nvPicPr>
          <p:cNvPr id="2050" name="Picture 2" descr="Google Maps Platform (@GMapsPlatform) / X">
            <a:extLst>
              <a:ext uri="{FF2B5EF4-FFF2-40B4-BE49-F238E27FC236}">
                <a16:creationId xmlns:a16="http://schemas.microsoft.com/office/drawing/2014/main" id="{68689238-1DE2-539F-3F93-7F3C6359D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95" y="1168400"/>
            <a:ext cx="875106" cy="875106"/>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a:extLst>
              <a:ext uri="{FF2B5EF4-FFF2-40B4-BE49-F238E27FC236}">
                <a16:creationId xmlns:a16="http://schemas.microsoft.com/office/drawing/2014/main" id="{993E5330-9709-278F-7161-229F74C1E1A2}"/>
              </a:ext>
            </a:extLst>
          </p:cNvPr>
          <p:cNvSpPr/>
          <p:nvPr/>
        </p:nvSpPr>
        <p:spPr>
          <a:xfrm>
            <a:off x="2828184" y="4096672"/>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5" name="Oval Callout 4">
            <a:extLst>
              <a:ext uri="{FF2B5EF4-FFF2-40B4-BE49-F238E27FC236}">
                <a16:creationId xmlns:a16="http://schemas.microsoft.com/office/drawing/2014/main" id="{BA3E30AF-2EC7-B158-569B-7F7E8117F6B9}"/>
              </a:ext>
            </a:extLst>
          </p:cNvPr>
          <p:cNvSpPr/>
          <p:nvPr/>
        </p:nvSpPr>
        <p:spPr>
          <a:xfrm>
            <a:off x="4565021" y="2955884"/>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6" name="Oval Callout 5">
            <a:extLst>
              <a:ext uri="{FF2B5EF4-FFF2-40B4-BE49-F238E27FC236}">
                <a16:creationId xmlns:a16="http://schemas.microsoft.com/office/drawing/2014/main" id="{CFB6B37A-45BC-3432-B239-3BA9D90BFB9E}"/>
              </a:ext>
            </a:extLst>
          </p:cNvPr>
          <p:cNvSpPr/>
          <p:nvPr/>
        </p:nvSpPr>
        <p:spPr>
          <a:xfrm>
            <a:off x="6155841" y="4096673"/>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7" name="Graphic 6" descr="Checkmark with solid fill">
            <a:extLst>
              <a:ext uri="{FF2B5EF4-FFF2-40B4-BE49-F238E27FC236}">
                <a16:creationId xmlns:a16="http://schemas.microsoft.com/office/drawing/2014/main" id="{74BDA7BF-A25F-76BD-1B14-7E6023114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1285" y="3444916"/>
            <a:ext cx="914400" cy="914400"/>
          </a:xfrm>
          <a:prstGeom prst="rect">
            <a:avLst/>
          </a:prstGeom>
        </p:spPr>
      </p:pic>
    </p:spTree>
    <p:extLst>
      <p:ext uri="{BB962C8B-B14F-4D97-AF65-F5344CB8AC3E}">
        <p14:creationId xmlns:p14="http://schemas.microsoft.com/office/powerpoint/2010/main" val="35369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EA228-E791-434F-2FE6-BDAD10E01C76}"/>
              </a:ext>
            </a:extLst>
          </p:cNvPr>
          <p:cNvSpPr>
            <a:spLocks noGrp="1"/>
          </p:cNvSpPr>
          <p:nvPr>
            <p:ph type="title"/>
          </p:nvPr>
        </p:nvSpPr>
        <p:spPr/>
        <p:txBody>
          <a:bodyPr/>
          <a:lstStyle/>
          <a:p>
            <a:r>
              <a:rPr lang="en-GB" dirty="0"/>
              <a:t>Operations Management</a:t>
            </a:r>
          </a:p>
        </p:txBody>
      </p:sp>
      <p:sp>
        <p:nvSpPr>
          <p:cNvPr id="3" name="Text Placeholder 2">
            <a:extLst>
              <a:ext uri="{FF2B5EF4-FFF2-40B4-BE49-F238E27FC236}">
                <a16:creationId xmlns:a16="http://schemas.microsoft.com/office/drawing/2014/main" id="{207A213B-3EBB-7F26-94D5-B9E3244C8CEE}"/>
              </a:ext>
            </a:extLst>
          </p:cNvPr>
          <p:cNvSpPr>
            <a:spLocks noGrp="1"/>
          </p:cNvSpPr>
          <p:nvPr>
            <p:ph type="body" sz="quarter" idx="11"/>
          </p:nvPr>
        </p:nvSpPr>
        <p:spPr/>
        <p:txBody>
          <a:bodyPr/>
          <a:lstStyle/>
          <a:p>
            <a:r>
              <a:rPr lang="en-GB" dirty="0"/>
              <a:t>Model development process</a:t>
            </a:r>
          </a:p>
          <a:p>
            <a:pPr marL="152396" indent="0">
              <a:buNone/>
            </a:pPr>
            <a:endParaRPr lang="en-GB" dirty="0"/>
          </a:p>
          <a:p>
            <a:pPr marL="152396" indent="0">
              <a:buNone/>
            </a:pPr>
            <a:endParaRPr lang="en-GB" dirty="0"/>
          </a:p>
        </p:txBody>
      </p:sp>
      <p:pic>
        <p:nvPicPr>
          <p:cNvPr id="4" name="Picture 3">
            <a:extLst>
              <a:ext uri="{FF2B5EF4-FFF2-40B4-BE49-F238E27FC236}">
                <a16:creationId xmlns:a16="http://schemas.microsoft.com/office/drawing/2014/main" id="{51892479-5BC1-3479-ED19-30F36BAED5A3}"/>
              </a:ext>
            </a:extLst>
          </p:cNvPr>
          <p:cNvPicPr>
            <a:picLocks noChangeAspect="1"/>
          </p:cNvPicPr>
          <p:nvPr/>
        </p:nvPicPr>
        <p:blipFill>
          <a:blip r:embed="rId3"/>
          <a:stretch>
            <a:fillRect/>
          </a:stretch>
        </p:blipFill>
        <p:spPr>
          <a:xfrm>
            <a:off x="1881207" y="2192221"/>
            <a:ext cx="8192745" cy="3531354"/>
          </a:xfrm>
          <a:prstGeom prst="rect">
            <a:avLst/>
          </a:prstGeom>
        </p:spPr>
      </p:pic>
      <p:sp>
        <p:nvSpPr>
          <p:cNvPr id="6" name="Rounded Rectangle 5">
            <a:extLst>
              <a:ext uri="{FF2B5EF4-FFF2-40B4-BE49-F238E27FC236}">
                <a16:creationId xmlns:a16="http://schemas.microsoft.com/office/drawing/2014/main" id="{A69CFF0A-0CD5-456B-25A9-748A8181CC50}"/>
              </a:ext>
            </a:extLst>
          </p:cNvPr>
          <p:cNvSpPr/>
          <p:nvPr/>
        </p:nvSpPr>
        <p:spPr>
          <a:xfrm>
            <a:off x="3755019" y="5555848"/>
            <a:ext cx="1423686" cy="7060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Data</a:t>
            </a:r>
          </a:p>
        </p:txBody>
      </p:sp>
      <p:sp>
        <p:nvSpPr>
          <p:cNvPr id="7" name="Rounded Rectangle 6">
            <a:extLst>
              <a:ext uri="{FF2B5EF4-FFF2-40B4-BE49-F238E27FC236}">
                <a16:creationId xmlns:a16="http://schemas.microsoft.com/office/drawing/2014/main" id="{8E3CCBAD-FBE8-0A47-11DB-A017AB5FA8A1}"/>
              </a:ext>
            </a:extLst>
          </p:cNvPr>
          <p:cNvSpPr/>
          <p:nvPr/>
        </p:nvSpPr>
        <p:spPr>
          <a:xfrm>
            <a:off x="5977579" y="5555848"/>
            <a:ext cx="1423686" cy="706056"/>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Model</a:t>
            </a:r>
          </a:p>
        </p:txBody>
      </p:sp>
      <p:sp>
        <p:nvSpPr>
          <p:cNvPr id="8" name="Plus 7">
            <a:extLst>
              <a:ext uri="{FF2B5EF4-FFF2-40B4-BE49-F238E27FC236}">
                <a16:creationId xmlns:a16="http://schemas.microsoft.com/office/drawing/2014/main" id="{7591811E-7C80-D850-EEB6-8B96F04BA64F}"/>
              </a:ext>
            </a:extLst>
          </p:cNvPr>
          <p:cNvSpPr/>
          <p:nvPr/>
        </p:nvSpPr>
        <p:spPr>
          <a:xfrm>
            <a:off x="5405377" y="5723575"/>
            <a:ext cx="381965" cy="42258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13745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1085-563D-E4E9-9020-910B01AE2742}"/>
              </a:ext>
            </a:extLst>
          </p:cNvPr>
          <p:cNvSpPr>
            <a:spLocks noGrp="1"/>
          </p:cNvSpPr>
          <p:nvPr>
            <p:ph type="title"/>
          </p:nvPr>
        </p:nvSpPr>
        <p:spPr/>
        <p:txBody>
          <a:bodyPr/>
          <a:lstStyle/>
          <a:p>
            <a:r>
              <a:rPr lang="en-GB" dirty="0"/>
              <a:t>Ensure Good Data Accountability Practices</a:t>
            </a:r>
          </a:p>
        </p:txBody>
      </p:sp>
      <p:graphicFrame>
        <p:nvGraphicFramePr>
          <p:cNvPr id="6" name="Diagram 5">
            <a:extLst>
              <a:ext uri="{FF2B5EF4-FFF2-40B4-BE49-F238E27FC236}">
                <a16:creationId xmlns:a16="http://schemas.microsoft.com/office/drawing/2014/main" id="{7ED7C882-6AE9-9919-C7C0-FBDC9A44DC02}"/>
              </a:ext>
            </a:extLst>
          </p:cNvPr>
          <p:cNvGraphicFramePr/>
          <p:nvPr>
            <p:extLst>
              <p:ext uri="{D42A27DB-BD31-4B8C-83A1-F6EECF244321}">
                <p14:modId xmlns:p14="http://schemas.microsoft.com/office/powerpoint/2010/main" val="60168936"/>
              </p:ext>
            </p:extLst>
          </p:nvPr>
        </p:nvGraphicFramePr>
        <p:xfrm>
          <a:off x="1030147" y="1203767"/>
          <a:ext cx="8773610" cy="52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10560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47C52-3765-6C41-A32A-B095433D4570}"/>
              </a:ext>
            </a:extLst>
          </p:cNvPr>
          <p:cNvSpPr>
            <a:spLocks noGrp="1"/>
          </p:cNvSpPr>
          <p:nvPr>
            <p:ph type="title"/>
          </p:nvPr>
        </p:nvSpPr>
        <p:spPr/>
        <p:txBody>
          <a:bodyPr/>
          <a:lstStyle/>
          <a:p>
            <a:r>
              <a:rPr lang="en-GB" dirty="0"/>
              <a:t>Model &amp; Algorithms</a:t>
            </a:r>
          </a:p>
        </p:txBody>
      </p:sp>
      <p:sp>
        <p:nvSpPr>
          <p:cNvPr id="3" name="Text Placeholder 2">
            <a:extLst>
              <a:ext uri="{FF2B5EF4-FFF2-40B4-BE49-F238E27FC236}">
                <a16:creationId xmlns:a16="http://schemas.microsoft.com/office/drawing/2014/main" id="{A5B1F2A7-AAB7-CEF4-4FB5-F9C4F32AA2FD}"/>
              </a:ext>
            </a:extLst>
          </p:cNvPr>
          <p:cNvSpPr>
            <a:spLocks noGrp="1"/>
          </p:cNvSpPr>
          <p:nvPr>
            <p:ph type="body" sz="quarter" idx="11"/>
          </p:nvPr>
        </p:nvSpPr>
        <p:spPr/>
        <p:txBody>
          <a:bodyPr/>
          <a:lstStyle/>
          <a:p>
            <a:r>
              <a:rPr lang="en-GB" dirty="0"/>
              <a:t>The choice of the algorithms for the model you build needs to consider various aspects such as explainability, repeatability, robustness, regular tuning, reproducibility, traceability, and auditability </a:t>
            </a:r>
          </a:p>
          <a:p>
            <a:pPr lvl="1"/>
            <a:r>
              <a:rPr lang="en-GB" dirty="0"/>
              <a:t>Contributes towards building a Trustworthy AI system</a:t>
            </a:r>
          </a:p>
          <a:p>
            <a:pPr lvl="1"/>
            <a:r>
              <a:rPr lang="en-GB" dirty="0"/>
              <a:t>Consider what is the most essential aspects for your business or stakeholders</a:t>
            </a:r>
          </a:p>
          <a:p>
            <a:pPr lvl="1"/>
            <a:endParaRPr lang="en-GB" dirty="0"/>
          </a:p>
          <a:p>
            <a:endParaRPr lang="en-GB" dirty="0"/>
          </a:p>
        </p:txBody>
      </p:sp>
    </p:spTree>
    <p:extLst>
      <p:ext uri="{BB962C8B-B14F-4D97-AF65-F5344CB8AC3E}">
        <p14:creationId xmlns:p14="http://schemas.microsoft.com/office/powerpoint/2010/main" val="1008210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5015-EFE8-4505-A4A5-F3A90F2E15D9}"/>
              </a:ext>
            </a:extLst>
          </p:cNvPr>
          <p:cNvSpPr>
            <a:spLocks noGrp="1"/>
          </p:cNvSpPr>
          <p:nvPr>
            <p:ph type="title"/>
          </p:nvPr>
        </p:nvSpPr>
        <p:spPr/>
        <p:txBody>
          <a:bodyPr>
            <a:normAutofit/>
          </a:bodyPr>
          <a:lstStyle/>
          <a:p>
            <a:r>
              <a:rPr lang="en-US" sz="3200" b="1" dirty="0">
                <a:latin typeface="+mn-lt"/>
              </a:rPr>
              <a:t>Biasness/Fairness</a:t>
            </a:r>
          </a:p>
        </p:txBody>
      </p:sp>
      <p:sp>
        <p:nvSpPr>
          <p:cNvPr id="3" name="Text Placeholder 2">
            <a:extLst>
              <a:ext uri="{FF2B5EF4-FFF2-40B4-BE49-F238E27FC236}">
                <a16:creationId xmlns:a16="http://schemas.microsoft.com/office/drawing/2014/main" id="{9F992D6A-A613-4928-9F1D-4328685C21AC}"/>
              </a:ext>
            </a:extLst>
          </p:cNvPr>
          <p:cNvSpPr>
            <a:spLocks noGrp="1"/>
          </p:cNvSpPr>
          <p:nvPr>
            <p:ph type="body" idx="1"/>
          </p:nvPr>
        </p:nvSpPr>
        <p:spPr>
          <a:xfrm>
            <a:off x="914400" y="1397876"/>
            <a:ext cx="10363200" cy="4648200"/>
          </a:xfrm>
        </p:spPr>
        <p:txBody>
          <a:bodyPr>
            <a:noAutofit/>
          </a:bodyPr>
          <a:lstStyle/>
          <a:p>
            <a:r>
              <a:rPr lang="en-US" sz="2400" b="0" dirty="0"/>
              <a:t>Identify any bias in the dataset and models that emerged during testing</a:t>
            </a:r>
          </a:p>
          <a:p>
            <a:pPr lvl="1"/>
            <a:r>
              <a:rPr lang="en-US" b="0" dirty="0"/>
              <a:t>Remove protected or discriminatory features. Such as gender and ethnicity should not be fed into the model if it irrelevant for solving the underlying problem</a:t>
            </a:r>
          </a:p>
          <a:p>
            <a:pPr lvl="1"/>
            <a:r>
              <a:rPr lang="en-US" b="0" dirty="0"/>
              <a:t>Features that seem not harmful or offensive may turn out to be highly correlated, biased or discriminatory. Gender, ethnicity and socioeconomic status can often be inferred from names, addresses and location data</a:t>
            </a:r>
          </a:p>
          <a:p>
            <a:pPr lvl="1"/>
            <a:r>
              <a:rPr lang="en-US" b="0" dirty="0"/>
              <a:t>Bias can result from an incomplete representation of a minority class. Increase diversity in data. Inclusion of view from stakeholder that are affected.</a:t>
            </a:r>
          </a:p>
          <a:p>
            <a:pPr lvl="1"/>
            <a:r>
              <a:rPr lang="en-US" b="0" dirty="0"/>
              <a:t>Sometimes a metric may not be an accurate or well-</a:t>
            </a:r>
            <a:r>
              <a:rPr lang="en-US" b="0" dirty="0" err="1"/>
              <a:t>generalised</a:t>
            </a:r>
            <a:r>
              <a:rPr lang="en-US" b="0" dirty="0"/>
              <a:t> proxy for the underlying problem</a:t>
            </a:r>
          </a:p>
        </p:txBody>
      </p:sp>
      <p:sp>
        <p:nvSpPr>
          <p:cNvPr id="4" name="Slide Number Placeholder 3">
            <a:extLst>
              <a:ext uri="{FF2B5EF4-FFF2-40B4-BE49-F238E27FC236}">
                <a16:creationId xmlns:a16="http://schemas.microsoft.com/office/drawing/2014/main" id="{FB7AA08A-CAAF-4449-9B11-0FADC0B7F9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SG" smtClean="0"/>
              <a:t>41</a:t>
            </a:fld>
            <a:endParaRPr lang="en-SG"/>
          </a:p>
        </p:txBody>
      </p:sp>
    </p:spTree>
    <p:extLst>
      <p:ext uri="{BB962C8B-B14F-4D97-AF65-F5344CB8AC3E}">
        <p14:creationId xmlns:p14="http://schemas.microsoft.com/office/powerpoint/2010/main" val="3406082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96557-BD4C-AEB4-2640-03D08D138DB8}"/>
              </a:ext>
            </a:extLst>
          </p:cNvPr>
          <p:cNvSpPr>
            <a:spLocks noGrp="1"/>
          </p:cNvSpPr>
          <p:nvPr>
            <p:ph type="title"/>
          </p:nvPr>
        </p:nvSpPr>
        <p:spPr/>
        <p:txBody>
          <a:bodyPr/>
          <a:lstStyle/>
          <a:p>
            <a:r>
              <a:rPr lang="en-US" sz="4400" b="1" dirty="0">
                <a:latin typeface="+mn-lt"/>
              </a:rPr>
              <a:t>Biasness/Fairness</a:t>
            </a:r>
            <a:endParaRPr lang="en-US" dirty="0"/>
          </a:p>
        </p:txBody>
      </p:sp>
      <p:sp>
        <p:nvSpPr>
          <p:cNvPr id="3" name="Content Placeholder 2">
            <a:extLst>
              <a:ext uri="{FF2B5EF4-FFF2-40B4-BE49-F238E27FC236}">
                <a16:creationId xmlns:a16="http://schemas.microsoft.com/office/drawing/2014/main" id="{37112FA6-19E9-CE49-CE68-B060F9D4F389}"/>
              </a:ext>
            </a:extLst>
          </p:cNvPr>
          <p:cNvSpPr>
            <a:spLocks noGrp="1"/>
          </p:cNvSpPr>
          <p:nvPr>
            <p:ph idx="1"/>
          </p:nvPr>
        </p:nvSpPr>
        <p:spPr/>
        <p:txBody>
          <a:bodyPr/>
          <a:lstStyle/>
          <a:p>
            <a:r>
              <a:rPr lang="en-US" dirty="0"/>
              <a:t>https://aif360.res.ibm.com/</a:t>
            </a:r>
          </a:p>
        </p:txBody>
      </p:sp>
      <p:pic>
        <p:nvPicPr>
          <p:cNvPr id="5" name="Picture 4">
            <a:extLst>
              <a:ext uri="{FF2B5EF4-FFF2-40B4-BE49-F238E27FC236}">
                <a16:creationId xmlns:a16="http://schemas.microsoft.com/office/drawing/2014/main" id="{D11F8230-5CCF-60D4-3B47-DAEC338F7E6F}"/>
              </a:ext>
            </a:extLst>
          </p:cNvPr>
          <p:cNvPicPr>
            <a:picLocks noChangeAspect="1"/>
          </p:cNvPicPr>
          <p:nvPr/>
        </p:nvPicPr>
        <p:blipFill>
          <a:blip r:embed="rId2"/>
          <a:stretch>
            <a:fillRect/>
          </a:stretch>
        </p:blipFill>
        <p:spPr>
          <a:xfrm>
            <a:off x="5231575" y="1160463"/>
            <a:ext cx="6507770" cy="5332412"/>
          </a:xfrm>
          <a:prstGeom prst="rect">
            <a:avLst/>
          </a:prstGeom>
        </p:spPr>
      </p:pic>
    </p:spTree>
    <p:extLst>
      <p:ext uri="{BB962C8B-B14F-4D97-AF65-F5344CB8AC3E}">
        <p14:creationId xmlns:p14="http://schemas.microsoft.com/office/powerpoint/2010/main" val="1068316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A69E-FC32-4647-BC85-174ED3FFB1B0}"/>
              </a:ext>
            </a:extLst>
          </p:cNvPr>
          <p:cNvSpPr>
            <a:spLocks noGrp="1"/>
          </p:cNvSpPr>
          <p:nvPr>
            <p:ph type="title"/>
          </p:nvPr>
        </p:nvSpPr>
        <p:spPr/>
        <p:txBody>
          <a:bodyPr>
            <a:normAutofit/>
          </a:bodyPr>
          <a:lstStyle/>
          <a:p>
            <a:r>
              <a:rPr lang="en-US" sz="3200" b="1" dirty="0">
                <a:latin typeface="+mn-lt"/>
              </a:rPr>
              <a:t>Data Privacy</a:t>
            </a:r>
          </a:p>
        </p:txBody>
      </p:sp>
      <p:sp>
        <p:nvSpPr>
          <p:cNvPr id="3" name="Text Placeholder 2">
            <a:extLst>
              <a:ext uri="{FF2B5EF4-FFF2-40B4-BE49-F238E27FC236}">
                <a16:creationId xmlns:a16="http://schemas.microsoft.com/office/drawing/2014/main" id="{C6E2699E-B3EB-4ADB-894F-AA65DF78710A}"/>
              </a:ext>
            </a:extLst>
          </p:cNvPr>
          <p:cNvSpPr>
            <a:spLocks noGrp="1"/>
          </p:cNvSpPr>
          <p:nvPr>
            <p:ph type="body" idx="1"/>
          </p:nvPr>
        </p:nvSpPr>
        <p:spPr>
          <a:xfrm>
            <a:off x="914400" y="1339855"/>
            <a:ext cx="10363200" cy="4648200"/>
          </a:xfrm>
        </p:spPr>
        <p:txBody>
          <a:bodyPr>
            <a:normAutofit/>
          </a:bodyPr>
          <a:lstStyle/>
          <a:p>
            <a:pPr algn="l"/>
            <a:r>
              <a:rPr lang="en-US" sz="2400" b="0" i="0" dirty="0">
                <a:solidFill>
                  <a:srgbClr val="000000"/>
                </a:solidFill>
                <a:effectLst/>
                <a:latin typeface="Avenir"/>
              </a:rPr>
              <a:t>The PDPA </a:t>
            </a:r>
            <a:r>
              <a:rPr lang="en-US" sz="2400" b="0" i="0" dirty="0" err="1">
                <a:solidFill>
                  <a:srgbClr val="000000"/>
                </a:solidFill>
                <a:effectLst/>
                <a:latin typeface="Avenir"/>
              </a:rPr>
              <a:t>recognises</a:t>
            </a:r>
            <a:r>
              <a:rPr lang="en-US" sz="2400" b="0" i="0" dirty="0">
                <a:solidFill>
                  <a:srgbClr val="000000"/>
                </a:solidFill>
                <a:effectLst/>
                <a:latin typeface="Avenir"/>
              </a:rPr>
              <a:t> both the need to protect individuals’ personal data and the need of </a:t>
            </a:r>
            <a:r>
              <a:rPr lang="en-US" sz="2400" b="0" i="0" dirty="0" err="1">
                <a:solidFill>
                  <a:srgbClr val="000000"/>
                </a:solidFill>
                <a:effectLst/>
                <a:latin typeface="Avenir"/>
              </a:rPr>
              <a:t>organisations</a:t>
            </a:r>
            <a:r>
              <a:rPr lang="en-US" sz="2400" b="0" i="0" dirty="0">
                <a:solidFill>
                  <a:srgbClr val="000000"/>
                </a:solidFill>
                <a:effectLst/>
                <a:latin typeface="Avenir"/>
              </a:rPr>
              <a:t> to collect, use or disclose personal data for legitimate and reasonable purposes.</a:t>
            </a:r>
          </a:p>
          <a:p>
            <a:pPr lvl="1"/>
            <a:r>
              <a:rPr lang="en-US" b="0" dirty="0">
                <a:solidFill>
                  <a:srgbClr val="000000"/>
                </a:solidFill>
                <a:latin typeface="Avenir"/>
              </a:rPr>
              <a:t>Consent Obligation</a:t>
            </a:r>
          </a:p>
          <a:p>
            <a:pPr lvl="1"/>
            <a:r>
              <a:rPr lang="en-US" b="0" i="0" dirty="0">
                <a:solidFill>
                  <a:srgbClr val="000000"/>
                </a:solidFill>
                <a:effectLst/>
                <a:latin typeface="Avenir"/>
              </a:rPr>
              <a:t>Purpose Limitation Obligation</a:t>
            </a:r>
          </a:p>
          <a:p>
            <a:pPr lvl="1"/>
            <a:r>
              <a:rPr lang="en-US" b="0" dirty="0">
                <a:solidFill>
                  <a:srgbClr val="000000"/>
                </a:solidFill>
                <a:latin typeface="Avenir"/>
              </a:rPr>
              <a:t>Protection Obligation</a:t>
            </a:r>
          </a:p>
          <a:p>
            <a:pPr lvl="1"/>
            <a:r>
              <a:rPr lang="en-US" b="0" i="0" dirty="0">
                <a:solidFill>
                  <a:srgbClr val="000000"/>
                </a:solidFill>
                <a:effectLst/>
                <a:latin typeface="Avenir"/>
              </a:rPr>
              <a:t>Retention Limitation Obligation</a:t>
            </a:r>
          </a:p>
          <a:p>
            <a:pPr lvl="1"/>
            <a:r>
              <a:rPr lang="en-US" b="0" i="0" dirty="0">
                <a:solidFill>
                  <a:srgbClr val="000000"/>
                </a:solidFill>
                <a:effectLst/>
                <a:latin typeface="Avenir"/>
              </a:rPr>
              <a:t>Transfer Limitation Obligation</a:t>
            </a:r>
          </a:p>
          <a:p>
            <a:pPr lvl="1"/>
            <a:r>
              <a:rPr lang="en-US" b="0" i="0" dirty="0">
                <a:solidFill>
                  <a:srgbClr val="000000"/>
                </a:solidFill>
                <a:effectLst/>
                <a:latin typeface="Avenir"/>
              </a:rPr>
              <a:t>Accuracy Obligation</a:t>
            </a:r>
          </a:p>
          <a:p>
            <a:pPr lvl="1"/>
            <a:endParaRPr lang="en-US" b="0" i="0" dirty="0">
              <a:solidFill>
                <a:srgbClr val="000000"/>
              </a:solidFill>
              <a:effectLst/>
              <a:latin typeface="Avenir"/>
            </a:endParaRPr>
          </a:p>
          <a:p>
            <a:pPr lvl="1"/>
            <a:endParaRPr lang="en-US" b="0" i="0" dirty="0">
              <a:solidFill>
                <a:srgbClr val="000000"/>
              </a:solidFill>
              <a:effectLst/>
              <a:latin typeface="Avenir"/>
            </a:endParaRPr>
          </a:p>
          <a:p>
            <a:endParaRPr lang="en-US" dirty="0"/>
          </a:p>
        </p:txBody>
      </p:sp>
      <p:sp>
        <p:nvSpPr>
          <p:cNvPr id="4" name="Slide Number Placeholder 3">
            <a:extLst>
              <a:ext uri="{FF2B5EF4-FFF2-40B4-BE49-F238E27FC236}">
                <a16:creationId xmlns:a16="http://schemas.microsoft.com/office/drawing/2014/main" id="{AD18AB62-2691-4D67-A387-55B0BBA43E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SG" smtClean="0"/>
              <a:t>43</a:t>
            </a:fld>
            <a:endParaRPr lang="en-SG"/>
          </a:p>
        </p:txBody>
      </p:sp>
      <p:sp>
        <p:nvSpPr>
          <p:cNvPr id="6" name="TextBox 5">
            <a:extLst>
              <a:ext uri="{FF2B5EF4-FFF2-40B4-BE49-F238E27FC236}">
                <a16:creationId xmlns:a16="http://schemas.microsoft.com/office/drawing/2014/main" id="{6D8798EC-E2B6-4033-9E68-9DA6D8E43D2E}"/>
              </a:ext>
            </a:extLst>
          </p:cNvPr>
          <p:cNvSpPr txBox="1"/>
          <p:nvPr/>
        </p:nvSpPr>
        <p:spPr>
          <a:xfrm>
            <a:off x="914400" y="5856618"/>
            <a:ext cx="9989820" cy="307777"/>
          </a:xfrm>
          <a:prstGeom prst="rect">
            <a:avLst/>
          </a:prstGeom>
          <a:noFill/>
        </p:spPr>
        <p:txBody>
          <a:bodyPr wrap="square">
            <a:spAutoFit/>
          </a:bodyPr>
          <a:lstStyle/>
          <a:p>
            <a:r>
              <a:rPr lang="en-US" dirty="0"/>
              <a:t>https://www.pdpc.gov.sg/Overview-of-PDPA/The-Legislation/Personal-Data-Protection-Act/Data-Protection-Obligations</a:t>
            </a:r>
          </a:p>
        </p:txBody>
      </p:sp>
    </p:spTree>
    <p:extLst>
      <p:ext uri="{BB962C8B-B14F-4D97-AF65-F5344CB8AC3E}">
        <p14:creationId xmlns:p14="http://schemas.microsoft.com/office/powerpoint/2010/main" val="1274829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65C7-390E-7059-E604-8B5984CA6604}"/>
              </a:ext>
            </a:extLst>
          </p:cNvPr>
          <p:cNvSpPr>
            <a:spLocks noGrp="1"/>
          </p:cNvSpPr>
          <p:nvPr>
            <p:ph type="title"/>
          </p:nvPr>
        </p:nvSpPr>
        <p:spPr/>
        <p:txBody>
          <a:bodyPr/>
          <a:lstStyle/>
          <a:p>
            <a:r>
              <a:rPr lang="en-GB" dirty="0"/>
              <a:t>Explainability</a:t>
            </a:r>
          </a:p>
        </p:txBody>
      </p:sp>
      <p:sp>
        <p:nvSpPr>
          <p:cNvPr id="3" name="Text Placeholder 2">
            <a:extLst>
              <a:ext uri="{FF2B5EF4-FFF2-40B4-BE49-F238E27FC236}">
                <a16:creationId xmlns:a16="http://schemas.microsoft.com/office/drawing/2014/main" id="{4554CBD3-68CC-8241-A724-1DF78FD580F9}"/>
              </a:ext>
            </a:extLst>
          </p:cNvPr>
          <p:cNvSpPr>
            <a:spLocks noGrp="1"/>
          </p:cNvSpPr>
          <p:nvPr>
            <p:ph type="body" sz="quarter" idx="11"/>
          </p:nvPr>
        </p:nvSpPr>
        <p:spPr>
          <a:xfrm>
            <a:off x="542018" y="1562095"/>
            <a:ext cx="11051888" cy="4791607"/>
          </a:xfrm>
        </p:spPr>
        <p:txBody>
          <a:bodyPr>
            <a:normAutofit/>
          </a:bodyPr>
          <a:lstStyle/>
          <a:p>
            <a:r>
              <a:rPr lang="en-US" sz="2400" dirty="0">
                <a:solidFill>
                  <a:srgbClr val="323032"/>
                </a:solidFill>
                <a:effectLst/>
                <a:ea typeface="Roboto" panose="02000000000000000000" pitchFamily="2" charset="0"/>
                <a:cs typeface="Roboto" panose="02000000000000000000" pitchFamily="2" charset="0"/>
              </a:rPr>
              <a:t>Explainability is achieved by explaining how deployed AI model’s</a:t>
            </a:r>
            <a:r>
              <a:rPr lang="en-US" sz="2400" dirty="0">
                <a:solidFill>
                  <a:srgbClr val="323032"/>
                </a:solidFill>
                <a:ea typeface="Roboto" panose="02000000000000000000" pitchFamily="2" charset="0"/>
                <a:cs typeface="Roboto" panose="02000000000000000000" pitchFamily="2" charset="0"/>
              </a:rPr>
              <a:t> </a:t>
            </a:r>
            <a:r>
              <a:rPr lang="en-US" sz="2400" dirty="0">
                <a:solidFill>
                  <a:srgbClr val="323032"/>
                </a:solidFill>
                <a:effectLst/>
                <a:ea typeface="Roboto" panose="02000000000000000000" pitchFamily="2" charset="0"/>
                <a:cs typeface="Roboto" panose="02000000000000000000" pitchFamily="2" charset="0"/>
              </a:rPr>
              <a:t>algorithm functions and/or how the decision-making process</a:t>
            </a:r>
            <a:r>
              <a:rPr lang="en-US" sz="2400" dirty="0">
                <a:solidFill>
                  <a:srgbClr val="323032"/>
                </a:solidFill>
                <a:ea typeface="Roboto" panose="02000000000000000000" pitchFamily="2" charset="0"/>
                <a:cs typeface="Roboto" panose="02000000000000000000" pitchFamily="2" charset="0"/>
              </a:rPr>
              <a:t> </a:t>
            </a:r>
            <a:r>
              <a:rPr lang="en-US" sz="2400" dirty="0">
                <a:solidFill>
                  <a:srgbClr val="323032"/>
                </a:solidFill>
                <a:effectLst/>
                <a:ea typeface="Roboto" panose="02000000000000000000" pitchFamily="2" charset="0"/>
                <a:cs typeface="Roboto" panose="02000000000000000000" pitchFamily="2" charset="0"/>
              </a:rPr>
              <a:t>incorporates model predictions.</a:t>
            </a:r>
          </a:p>
          <a:p>
            <a:r>
              <a:rPr lang="en-US" sz="2400" dirty="0">
                <a:solidFill>
                  <a:srgbClr val="323032"/>
                </a:solidFill>
                <a:ea typeface="Roboto" panose="02000000000000000000" pitchFamily="2" charset="0"/>
                <a:cs typeface="Roboto" panose="02000000000000000000" pitchFamily="2" charset="0"/>
              </a:rPr>
              <a:t>Some practices:</a:t>
            </a:r>
          </a:p>
          <a:p>
            <a:pPr lvl="1"/>
            <a:r>
              <a:rPr lang="en-US" sz="2000" dirty="0">
                <a:solidFill>
                  <a:srgbClr val="323032"/>
                </a:solidFill>
                <a:latin typeface="+mn-lt"/>
                <a:ea typeface="Roboto" panose="02000000000000000000" pitchFamily="2" charset="0"/>
                <a:cs typeface="Roboto" panose="02000000000000000000" pitchFamily="2" charset="0"/>
              </a:rPr>
              <a:t>Document model training and selection process </a:t>
            </a:r>
            <a:endParaRPr lang="en-GB" sz="2000" dirty="0">
              <a:solidFill>
                <a:srgbClr val="323032"/>
              </a:solidFill>
              <a:latin typeface="+mn-lt"/>
              <a:ea typeface="Roboto" panose="02000000000000000000" pitchFamily="2" charset="0"/>
              <a:cs typeface="Roboto" panose="02000000000000000000" pitchFamily="2" charset="0"/>
            </a:endParaRPr>
          </a:p>
          <a:p>
            <a:pPr lvl="1"/>
            <a:r>
              <a:rPr lang="en-GB" sz="2000" dirty="0">
                <a:solidFill>
                  <a:srgbClr val="323032"/>
                </a:solidFill>
                <a:effectLst/>
                <a:latin typeface="+mn-lt"/>
                <a:ea typeface="Roboto" panose="02000000000000000000" pitchFamily="2" charset="0"/>
                <a:cs typeface="Roboto" panose="02000000000000000000" pitchFamily="2" charset="0"/>
              </a:rPr>
              <a:t>Documen</a:t>
            </a:r>
            <a:r>
              <a:rPr lang="en-GB" sz="2000" dirty="0">
                <a:solidFill>
                  <a:srgbClr val="323032"/>
                </a:solidFill>
                <a:latin typeface="+mn-lt"/>
                <a:ea typeface="Roboto" panose="02000000000000000000" pitchFamily="2" charset="0"/>
                <a:cs typeface="Roboto" panose="02000000000000000000" pitchFamily="2" charset="0"/>
              </a:rPr>
              <a:t>t why certain features are selected over others for training </a:t>
            </a:r>
          </a:p>
          <a:p>
            <a:pPr lvl="1"/>
            <a:r>
              <a:rPr lang="en-GB" sz="2000" dirty="0">
                <a:solidFill>
                  <a:srgbClr val="323032"/>
                </a:solidFill>
                <a:latin typeface="+mn-lt"/>
                <a:ea typeface="Roboto" panose="02000000000000000000" pitchFamily="2" charset="0"/>
                <a:cs typeface="Roboto" panose="02000000000000000000" pitchFamily="2" charset="0"/>
              </a:rPr>
              <a:t>For ‘black box’ model, some supplementary explanation tool can be help to visualize what the model is focusing when making a prediction or decision</a:t>
            </a:r>
          </a:p>
        </p:txBody>
      </p:sp>
      <p:pic>
        <p:nvPicPr>
          <p:cNvPr id="4" name="Picture 3">
            <a:extLst>
              <a:ext uri="{FF2B5EF4-FFF2-40B4-BE49-F238E27FC236}">
                <a16:creationId xmlns:a16="http://schemas.microsoft.com/office/drawing/2014/main" id="{CBC1A48F-5791-B267-F2B0-9C4371CFEF28}"/>
              </a:ext>
            </a:extLst>
          </p:cNvPr>
          <p:cNvPicPr>
            <a:picLocks noChangeAspect="1"/>
          </p:cNvPicPr>
          <p:nvPr/>
        </p:nvPicPr>
        <p:blipFill>
          <a:blip r:embed="rId3"/>
          <a:srcRect l="51447" r="2643" b="76407"/>
          <a:stretch/>
        </p:blipFill>
        <p:spPr>
          <a:xfrm>
            <a:off x="6601429" y="4360404"/>
            <a:ext cx="1809439" cy="806024"/>
          </a:xfrm>
          <a:prstGeom prst="rect">
            <a:avLst/>
          </a:prstGeom>
        </p:spPr>
      </p:pic>
      <p:pic>
        <p:nvPicPr>
          <p:cNvPr id="5" name="Picture 4">
            <a:extLst>
              <a:ext uri="{FF2B5EF4-FFF2-40B4-BE49-F238E27FC236}">
                <a16:creationId xmlns:a16="http://schemas.microsoft.com/office/drawing/2014/main" id="{E25FC878-71E2-B4E1-E475-4554F9577572}"/>
              </a:ext>
            </a:extLst>
          </p:cNvPr>
          <p:cNvPicPr>
            <a:picLocks noChangeAspect="1"/>
          </p:cNvPicPr>
          <p:nvPr/>
        </p:nvPicPr>
        <p:blipFill>
          <a:blip r:embed="rId3"/>
          <a:srcRect l="51447" t="27941" r="2643" b="3903"/>
          <a:stretch/>
        </p:blipFill>
        <p:spPr>
          <a:xfrm>
            <a:off x="8497921" y="4256232"/>
            <a:ext cx="1809439" cy="2328440"/>
          </a:xfrm>
          <a:prstGeom prst="rect">
            <a:avLst/>
          </a:prstGeom>
        </p:spPr>
      </p:pic>
      <p:pic>
        <p:nvPicPr>
          <p:cNvPr id="6" name="Picture 5">
            <a:extLst>
              <a:ext uri="{FF2B5EF4-FFF2-40B4-BE49-F238E27FC236}">
                <a16:creationId xmlns:a16="http://schemas.microsoft.com/office/drawing/2014/main" id="{01A2DD0C-DF07-FD0D-6B61-E5E307E73CA7}"/>
              </a:ext>
            </a:extLst>
          </p:cNvPr>
          <p:cNvPicPr>
            <a:picLocks noChangeAspect="1"/>
          </p:cNvPicPr>
          <p:nvPr/>
        </p:nvPicPr>
        <p:blipFill>
          <a:blip r:embed="rId3"/>
          <a:srcRect l="1860" r="49778" b="78118"/>
          <a:stretch/>
        </p:blipFill>
        <p:spPr>
          <a:xfrm>
            <a:off x="1089915" y="4377977"/>
            <a:ext cx="1906034" cy="747580"/>
          </a:xfrm>
          <a:prstGeom prst="rect">
            <a:avLst/>
          </a:prstGeom>
        </p:spPr>
      </p:pic>
      <p:pic>
        <p:nvPicPr>
          <p:cNvPr id="7" name="Picture 6">
            <a:extLst>
              <a:ext uri="{FF2B5EF4-FFF2-40B4-BE49-F238E27FC236}">
                <a16:creationId xmlns:a16="http://schemas.microsoft.com/office/drawing/2014/main" id="{68A343BE-DE0A-6580-D3C0-E42941CAC485}"/>
              </a:ext>
            </a:extLst>
          </p:cNvPr>
          <p:cNvPicPr>
            <a:picLocks noChangeAspect="1"/>
          </p:cNvPicPr>
          <p:nvPr/>
        </p:nvPicPr>
        <p:blipFill>
          <a:blip r:embed="rId3"/>
          <a:srcRect l="3085" t="28845" r="52618" b="4242"/>
          <a:stretch/>
        </p:blipFill>
        <p:spPr>
          <a:xfrm>
            <a:off x="2995949" y="4367159"/>
            <a:ext cx="1689904" cy="2212749"/>
          </a:xfrm>
          <a:prstGeom prst="rect">
            <a:avLst/>
          </a:prstGeom>
        </p:spPr>
      </p:pic>
    </p:spTree>
    <p:extLst>
      <p:ext uri="{BB962C8B-B14F-4D97-AF65-F5344CB8AC3E}">
        <p14:creationId xmlns:p14="http://schemas.microsoft.com/office/powerpoint/2010/main" val="3922411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4F37-A624-7547-F11E-AD7C5B7FCC52}"/>
              </a:ext>
            </a:extLst>
          </p:cNvPr>
          <p:cNvSpPr>
            <a:spLocks noGrp="1"/>
          </p:cNvSpPr>
          <p:nvPr>
            <p:ph type="title"/>
          </p:nvPr>
        </p:nvSpPr>
        <p:spPr/>
        <p:txBody>
          <a:bodyPr/>
          <a:lstStyle/>
          <a:p>
            <a:r>
              <a:rPr lang="en-GB" dirty="0"/>
              <a:t>Explainability vs Interpretability</a:t>
            </a:r>
          </a:p>
        </p:txBody>
      </p:sp>
      <p:sp>
        <p:nvSpPr>
          <p:cNvPr id="3" name="Text Placeholder 2">
            <a:extLst>
              <a:ext uri="{FF2B5EF4-FFF2-40B4-BE49-F238E27FC236}">
                <a16:creationId xmlns:a16="http://schemas.microsoft.com/office/drawing/2014/main" id="{CB781323-D568-7FCD-D80C-45931B435BD7}"/>
              </a:ext>
            </a:extLst>
          </p:cNvPr>
          <p:cNvSpPr>
            <a:spLocks noGrp="1"/>
          </p:cNvSpPr>
          <p:nvPr>
            <p:ph type="body" sz="quarter" idx="11"/>
          </p:nvPr>
        </p:nvSpPr>
        <p:spPr>
          <a:xfrm>
            <a:off x="542019" y="1562095"/>
            <a:ext cx="7085698" cy="4791607"/>
          </a:xfrm>
        </p:spPr>
        <p:txBody>
          <a:bodyPr>
            <a:normAutofit fontScale="85000" lnSpcReduction="20000"/>
          </a:bodyPr>
          <a:lstStyle/>
          <a:p>
            <a:pPr marL="0" indent="0" algn="ctr">
              <a:lnSpc>
                <a:spcPct val="120000"/>
              </a:lnSpc>
              <a:spcAft>
                <a:spcPts val="600"/>
              </a:spcAft>
              <a:buNone/>
            </a:pPr>
            <a:r>
              <a:rPr lang="en-US" b="1" i="1" dirty="0">
                <a:solidFill>
                  <a:srgbClr val="000000"/>
                </a:solidFill>
                <a:effectLst/>
                <a:ea typeface="Roboto" panose="02000000000000000000" pitchFamily="2" charset="0"/>
                <a:cs typeface="Roboto" panose="02000000000000000000" pitchFamily="2" charset="0"/>
              </a:rPr>
              <a:t>Explainable AI </a:t>
            </a:r>
            <a:r>
              <a:rPr lang="en-US" b="0" i="1" dirty="0">
                <a:solidFill>
                  <a:srgbClr val="000000"/>
                </a:solidFill>
                <a:effectLst/>
                <a:ea typeface="Roboto" panose="02000000000000000000" pitchFamily="2" charset="0"/>
                <a:cs typeface="Roboto" panose="02000000000000000000" pitchFamily="2" charset="0"/>
              </a:rPr>
              <a:t>describes </a:t>
            </a:r>
            <a:r>
              <a:rPr lang="en-US" b="1" i="1" dirty="0">
                <a:solidFill>
                  <a:srgbClr val="000000"/>
                </a:solidFill>
                <a:effectLst/>
                <a:ea typeface="Roboto" panose="02000000000000000000" pitchFamily="2" charset="0"/>
                <a:cs typeface="Roboto" panose="02000000000000000000" pitchFamily="2" charset="0"/>
              </a:rPr>
              <a:t>why</a:t>
            </a:r>
            <a:r>
              <a:rPr lang="en-US" b="0" i="1" dirty="0">
                <a:solidFill>
                  <a:srgbClr val="000000"/>
                </a:solidFill>
                <a:effectLst/>
                <a:ea typeface="Roboto" panose="02000000000000000000" pitchFamily="2" charset="0"/>
                <a:cs typeface="Roboto" panose="02000000000000000000" pitchFamily="2" charset="0"/>
              </a:rPr>
              <a:t> the AI model made a prediction.</a:t>
            </a:r>
          </a:p>
          <a:p>
            <a:pPr marL="0" indent="0" algn="ctr">
              <a:lnSpc>
                <a:spcPct val="120000"/>
              </a:lnSpc>
              <a:spcAft>
                <a:spcPts val="600"/>
              </a:spcAft>
              <a:buNone/>
            </a:pPr>
            <a:r>
              <a:rPr lang="en-US" b="1" i="1" dirty="0">
                <a:solidFill>
                  <a:srgbClr val="000000"/>
                </a:solidFill>
                <a:effectLst/>
                <a:ea typeface="Roboto" panose="02000000000000000000" pitchFamily="2" charset="0"/>
                <a:cs typeface="Roboto" panose="02000000000000000000" pitchFamily="2" charset="0"/>
              </a:rPr>
              <a:t>Interpretable AI</a:t>
            </a:r>
            <a:r>
              <a:rPr lang="en-US" b="0" i="1" dirty="0">
                <a:solidFill>
                  <a:srgbClr val="000000"/>
                </a:solidFill>
                <a:effectLst/>
                <a:ea typeface="Roboto" panose="02000000000000000000" pitchFamily="2" charset="0"/>
                <a:cs typeface="Roboto" panose="02000000000000000000" pitchFamily="2" charset="0"/>
              </a:rPr>
              <a:t> describes </a:t>
            </a:r>
            <a:r>
              <a:rPr lang="en-US" b="1" i="1" dirty="0">
                <a:solidFill>
                  <a:srgbClr val="000000"/>
                </a:solidFill>
                <a:effectLst/>
                <a:ea typeface="Roboto" panose="02000000000000000000" pitchFamily="2" charset="0"/>
                <a:cs typeface="Roboto" panose="02000000000000000000" pitchFamily="2" charset="0"/>
              </a:rPr>
              <a:t>how</a:t>
            </a:r>
            <a:r>
              <a:rPr lang="en-US" b="0" i="1" dirty="0">
                <a:solidFill>
                  <a:srgbClr val="000000"/>
                </a:solidFill>
                <a:effectLst/>
                <a:ea typeface="Roboto" panose="02000000000000000000" pitchFamily="2" charset="0"/>
                <a:cs typeface="Roboto" panose="02000000000000000000" pitchFamily="2" charset="0"/>
              </a:rPr>
              <a:t> it makes the prediction.</a:t>
            </a:r>
          </a:p>
          <a:p>
            <a:pPr marL="0" indent="0">
              <a:lnSpc>
                <a:spcPct val="120000"/>
              </a:lnSpc>
              <a:spcAft>
                <a:spcPts val="600"/>
              </a:spcAft>
              <a:buNone/>
            </a:pPr>
            <a:r>
              <a:rPr lang="en-US" sz="2400" b="0" i="1" dirty="0">
                <a:solidFill>
                  <a:srgbClr val="000000"/>
                </a:solidFill>
                <a:effectLst/>
              </a:rPr>
              <a:t>Example:  an AI model used to improve employee health and productivity. The health of employees may depend on factors including their age, demographics, department and business function, past health conditions, and additional factors.</a:t>
            </a:r>
          </a:p>
          <a:p>
            <a:pPr marL="0" indent="0">
              <a:lnSpc>
                <a:spcPct val="120000"/>
              </a:lnSpc>
              <a:spcAft>
                <a:spcPts val="600"/>
              </a:spcAft>
              <a:buNone/>
            </a:pPr>
            <a:r>
              <a:rPr lang="en-US" sz="2200" b="0" i="0" dirty="0">
                <a:solidFill>
                  <a:srgbClr val="000000"/>
                </a:solidFill>
                <a:effectLst/>
              </a:rPr>
              <a:t>A </a:t>
            </a:r>
            <a:r>
              <a:rPr lang="en-US" sz="2200" b="1" i="0" dirty="0">
                <a:solidFill>
                  <a:srgbClr val="000000"/>
                </a:solidFill>
                <a:effectLst/>
              </a:rPr>
              <a:t>fully explainable AI system</a:t>
            </a:r>
            <a:r>
              <a:rPr lang="en-US" sz="2200" b="0" i="0" dirty="0">
                <a:solidFill>
                  <a:srgbClr val="000000"/>
                </a:solidFill>
                <a:effectLst/>
              </a:rPr>
              <a:t> will help the HR to discover the exact cause-and-effect of their decision controls on the corresponding employee health attributes.</a:t>
            </a:r>
          </a:p>
          <a:p>
            <a:pPr marL="0" indent="0">
              <a:lnSpc>
                <a:spcPct val="120000"/>
              </a:lnSpc>
              <a:spcAft>
                <a:spcPts val="600"/>
              </a:spcAft>
              <a:buNone/>
            </a:pPr>
            <a:r>
              <a:rPr lang="en-US" sz="2200" b="0" i="0" dirty="0">
                <a:solidFill>
                  <a:srgbClr val="000000"/>
                </a:solidFill>
                <a:effectLst/>
              </a:rPr>
              <a:t>A </a:t>
            </a:r>
            <a:r>
              <a:rPr lang="en-US" sz="2200" b="1" i="0" dirty="0">
                <a:solidFill>
                  <a:srgbClr val="000000"/>
                </a:solidFill>
                <a:effectLst/>
              </a:rPr>
              <a:t>fully interpretable model</a:t>
            </a:r>
            <a:r>
              <a:rPr lang="en-US" sz="2200" b="0" i="0" dirty="0">
                <a:solidFill>
                  <a:srgbClr val="000000"/>
                </a:solidFill>
                <a:effectLst/>
              </a:rPr>
              <a:t> will help them discover the inner logic of this cause-and-effect.</a:t>
            </a:r>
          </a:p>
          <a:p>
            <a:endParaRPr lang="en-GB" dirty="0">
              <a:ea typeface="Roboto" panose="02000000000000000000" pitchFamily="2" charset="0"/>
              <a:cs typeface="Roboto" panose="02000000000000000000" pitchFamily="2" charset="0"/>
            </a:endParaRPr>
          </a:p>
        </p:txBody>
      </p:sp>
      <p:pic>
        <p:nvPicPr>
          <p:cNvPr id="4" name="Picture 2" descr="Description unavailable">
            <a:extLst>
              <a:ext uri="{FF2B5EF4-FFF2-40B4-BE49-F238E27FC236}">
                <a16:creationId xmlns:a16="http://schemas.microsoft.com/office/drawing/2014/main" id="{4E0BE115-5D68-CE10-BB75-ABB380E95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3813" y="1356967"/>
            <a:ext cx="3404529" cy="4491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374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ADDF-2D46-2B75-C8D4-BA3D1DC84FFB}"/>
              </a:ext>
            </a:extLst>
          </p:cNvPr>
          <p:cNvSpPr>
            <a:spLocks noGrp="1"/>
          </p:cNvSpPr>
          <p:nvPr>
            <p:ph type="title"/>
          </p:nvPr>
        </p:nvSpPr>
        <p:spPr/>
        <p:txBody>
          <a:bodyPr/>
          <a:lstStyle/>
          <a:p>
            <a:r>
              <a:rPr lang="en-GB" dirty="0"/>
              <a:t>Explainability</a:t>
            </a:r>
            <a:endParaRPr lang="en-US" dirty="0"/>
          </a:p>
        </p:txBody>
      </p:sp>
      <p:sp>
        <p:nvSpPr>
          <p:cNvPr id="3" name="Text Placeholder 2">
            <a:extLst>
              <a:ext uri="{FF2B5EF4-FFF2-40B4-BE49-F238E27FC236}">
                <a16:creationId xmlns:a16="http://schemas.microsoft.com/office/drawing/2014/main" id="{B08C1828-AFCE-C367-9828-1D851135E62A}"/>
              </a:ext>
            </a:extLst>
          </p:cNvPr>
          <p:cNvSpPr>
            <a:spLocks noGrp="1"/>
          </p:cNvSpPr>
          <p:nvPr>
            <p:ph type="body" sz="quarter" idx="11"/>
          </p:nvPr>
        </p:nvSpPr>
        <p:spPr/>
        <p:txBody>
          <a:bodyPr/>
          <a:lstStyle/>
          <a:p>
            <a:r>
              <a:rPr lang="en-US" dirty="0"/>
              <a:t>Http://www.heatmapping.org/</a:t>
            </a:r>
          </a:p>
        </p:txBody>
      </p:sp>
      <p:pic>
        <p:nvPicPr>
          <p:cNvPr id="5" name="Picture 4">
            <a:extLst>
              <a:ext uri="{FF2B5EF4-FFF2-40B4-BE49-F238E27FC236}">
                <a16:creationId xmlns:a16="http://schemas.microsoft.com/office/drawing/2014/main" id="{6ACD7109-1985-4F2A-EA91-858D448CCF6F}"/>
              </a:ext>
            </a:extLst>
          </p:cNvPr>
          <p:cNvPicPr>
            <a:picLocks noChangeAspect="1"/>
          </p:cNvPicPr>
          <p:nvPr/>
        </p:nvPicPr>
        <p:blipFill>
          <a:blip r:embed="rId2"/>
          <a:stretch>
            <a:fillRect/>
          </a:stretch>
        </p:blipFill>
        <p:spPr>
          <a:xfrm>
            <a:off x="5838825" y="504298"/>
            <a:ext cx="5924550" cy="4972050"/>
          </a:xfrm>
          <a:prstGeom prst="rect">
            <a:avLst/>
          </a:prstGeom>
        </p:spPr>
      </p:pic>
    </p:spTree>
    <p:extLst>
      <p:ext uri="{BB962C8B-B14F-4D97-AF65-F5344CB8AC3E}">
        <p14:creationId xmlns:p14="http://schemas.microsoft.com/office/powerpoint/2010/main" val="3929622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9B8C-60B8-CE5E-3D6D-87BFF5FE8BE3}"/>
              </a:ext>
            </a:extLst>
          </p:cNvPr>
          <p:cNvSpPr>
            <a:spLocks noGrp="1"/>
          </p:cNvSpPr>
          <p:nvPr>
            <p:ph type="title"/>
          </p:nvPr>
        </p:nvSpPr>
        <p:spPr/>
        <p:txBody>
          <a:bodyPr/>
          <a:lstStyle/>
          <a:p>
            <a:r>
              <a:rPr lang="en-GB" dirty="0"/>
              <a:t>Testing for Robustness of Model</a:t>
            </a:r>
          </a:p>
        </p:txBody>
      </p:sp>
      <p:sp>
        <p:nvSpPr>
          <p:cNvPr id="3" name="Text Placeholder 2">
            <a:extLst>
              <a:ext uri="{FF2B5EF4-FFF2-40B4-BE49-F238E27FC236}">
                <a16:creationId xmlns:a16="http://schemas.microsoft.com/office/drawing/2014/main" id="{CE73B9EB-DD17-12BA-6B56-6E15A1948880}"/>
              </a:ext>
            </a:extLst>
          </p:cNvPr>
          <p:cNvSpPr>
            <a:spLocks noGrp="1"/>
          </p:cNvSpPr>
          <p:nvPr>
            <p:ph type="body" sz="quarter" idx="11"/>
          </p:nvPr>
        </p:nvSpPr>
        <p:spPr>
          <a:xfrm>
            <a:off x="542018" y="1562096"/>
            <a:ext cx="11042651" cy="983847"/>
          </a:xfrm>
        </p:spPr>
        <p:txBody>
          <a:bodyPr>
            <a:normAutofit/>
          </a:bodyPr>
          <a:lstStyle/>
          <a:p>
            <a:pPr marL="0" indent="0">
              <a:buNone/>
            </a:pPr>
            <a:r>
              <a:rPr lang="en-GB" sz="2400" dirty="0"/>
              <a:t>Model can produce unexpected results even with minor (even not perceptible to human) modifications to input </a:t>
            </a:r>
          </a:p>
          <a:p>
            <a:endParaRPr lang="en-GB" sz="2400" dirty="0"/>
          </a:p>
          <a:p>
            <a:endParaRPr lang="en-GB" sz="2400" dirty="0"/>
          </a:p>
          <a:p>
            <a:endParaRPr lang="en-GB" sz="2400" dirty="0"/>
          </a:p>
        </p:txBody>
      </p:sp>
      <p:pic>
        <p:nvPicPr>
          <p:cNvPr id="4" name="Picture 3">
            <a:extLst>
              <a:ext uri="{FF2B5EF4-FFF2-40B4-BE49-F238E27FC236}">
                <a16:creationId xmlns:a16="http://schemas.microsoft.com/office/drawing/2014/main" id="{A73088E5-5087-9DDA-60C6-6002C0F3DFDD}"/>
              </a:ext>
            </a:extLst>
          </p:cNvPr>
          <p:cNvPicPr>
            <a:picLocks noChangeAspect="1"/>
          </p:cNvPicPr>
          <p:nvPr/>
        </p:nvPicPr>
        <p:blipFill>
          <a:blip r:embed="rId3"/>
          <a:stretch>
            <a:fillRect/>
          </a:stretch>
        </p:blipFill>
        <p:spPr>
          <a:xfrm>
            <a:off x="886727" y="4594723"/>
            <a:ext cx="6898373" cy="1985185"/>
          </a:xfrm>
          <a:prstGeom prst="rect">
            <a:avLst/>
          </a:prstGeom>
        </p:spPr>
      </p:pic>
      <p:pic>
        <p:nvPicPr>
          <p:cNvPr id="11266" name="Picture 2">
            <a:extLst>
              <a:ext uri="{FF2B5EF4-FFF2-40B4-BE49-F238E27FC236}">
                <a16:creationId xmlns:a16="http://schemas.microsoft.com/office/drawing/2014/main" id="{9F41AE18-4CDC-E2EB-A4BC-F03AA9134C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545943"/>
            <a:ext cx="4902200" cy="196088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8A598F7A-E9C6-3FD8-1E57-E300887A99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605" r="41996" b="68069"/>
          <a:stretch/>
        </p:blipFill>
        <p:spPr bwMode="auto">
          <a:xfrm>
            <a:off x="8448604" y="2545943"/>
            <a:ext cx="1687214" cy="16974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582EA37-95E1-AFDE-756E-8A858299548C}"/>
              </a:ext>
            </a:extLst>
          </p:cNvPr>
          <p:cNvSpPr txBox="1"/>
          <p:nvPr/>
        </p:nvSpPr>
        <p:spPr>
          <a:xfrm>
            <a:off x="8016804" y="4410057"/>
            <a:ext cx="2966357" cy="369332"/>
          </a:xfrm>
          <a:prstGeom prst="rect">
            <a:avLst/>
          </a:prstGeom>
          <a:noFill/>
        </p:spPr>
        <p:txBody>
          <a:bodyPr wrap="square">
            <a:spAutoFit/>
          </a:bodyPr>
          <a:lstStyle/>
          <a:p>
            <a:r>
              <a:rPr lang="en-US" b="0" i="0" dirty="0">
                <a:solidFill>
                  <a:srgbClr val="6B6B6B"/>
                </a:solidFill>
                <a:effectLst/>
                <a:latin typeface="sohne"/>
              </a:rPr>
              <a:t>Physical Adversarial Attacks</a:t>
            </a:r>
            <a:endParaRPr lang="en-GB" dirty="0"/>
          </a:p>
        </p:txBody>
      </p:sp>
    </p:spTree>
    <p:extLst>
      <p:ext uri="{BB962C8B-B14F-4D97-AF65-F5344CB8AC3E}">
        <p14:creationId xmlns:p14="http://schemas.microsoft.com/office/powerpoint/2010/main" val="1062503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688C7-F64A-9118-94DF-9E1989B51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936E2-9153-77D0-01D2-481C73819296}"/>
              </a:ext>
            </a:extLst>
          </p:cNvPr>
          <p:cNvSpPr>
            <a:spLocks noGrp="1"/>
          </p:cNvSpPr>
          <p:nvPr>
            <p:ph type="title"/>
          </p:nvPr>
        </p:nvSpPr>
        <p:spPr/>
        <p:txBody>
          <a:bodyPr/>
          <a:lstStyle/>
          <a:p>
            <a:r>
              <a:rPr lang="en-GB" dirty="0"/>
              <a:t>Testing for Robustness of Model</a:t>
            </a:r>
          </a:p>
        </p:txBody>
      </p:sp>
      <p:sp>
        <p:nvSpPr>
          <p:cNvPr id="6" name="TextBox 5">
            <a:extLst>
              <a:ext uri="{FF2B5EF4-FFF2-40B4-BE49-F238E27FC236}">
                <a16:creationId xmlns:a16="http://schemas.microsoft.com/office/drawing/2014/main" id="{F41A8F9B-134E-2860-DA83-AFCB75CE5797}"/>
              </a:ext>
            </a:extLst>
          </p:cNvPr>
          <p:cNvSpPr txBox="1"/>
          <p:nvPr/>
        </p:nvSpPr>
        <p:spPr>
          <a:xfrm>
            <a:off x="551395" y="1534636"/>
            <a:ext cx="9855200" cy="2246769"/>
          </a:xfrm>
          <a:prstGeom prst="rect">
            <a:avLst/>
          </a:prstGeom>
          <a:noFill/>
        </p:spPr>
        <p:txBody>
          <a:bodyPr wrap="square">
            <a:spAutoFit/>
          </a:bodyPr>
          <a:lstStyle/>
          <a:p>
            <a:pPr marL="285750" indent="-285750">
              <a:buFont typeface="Arial" panose="020B0604020202020204" pitchFamily="34" charset="0"/>
              <a:buChar char="•"/>
            </a:pPr>
            <a:r>
              <a:rPr lang="en-GB" sz="2800" dirty="0"/>
              <a:t>Consider adversarial testing (red teaming) on model to ensure that it can handle a broader range of unexpected input variables</a:t>
            </a:r>
          </a:p>
          <a:p>
            <a:pPr marL="285750" indent="-285750">
              <a:buFont typeface="Arial" panose="020B0604020202020204" pitchFamily="34" charset="0"/>
              <a:buChar char="•"/>
            </a:pPr>
            <a:r>
              <a:rPr lang="en-GB" sz="2800" dirty="0"/>
              <a:t>Consider risk-based approach to decide what AI-powered features requires adversarial testing </a:t>
            </a:r>
          </a:p>
          <a:p>
            <a:pPr marL="742950" lvl="1" indent="-285750">
              <a:buFont typeface="Arial" panose="020B0604020202020204" pitchFamily="34" charset="0"/>
              <a:buChar char="•"/>
            </a:pPr>
            <a:r>
              <a:rPr lang="en-GB" sz="2800" dirty="0"/>
              <a:t>Adversarial testing is a resource-intensive exercise</a:t>
            </a:r>
          </a:p>
        </p:txBody>
      </p:sp>
    </p:spTree>
    <p:extLst>
      <p:ext uri="{BB962C8B-B14F-4D97-AF65-F5344CB8AC3E}">
        <p14:creationId xmlns:p14="http://schemas.microsoft.com/office/powerpoint/2010/main" val="2619453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8E61-5C75-6CCA-7C9C-F5C963820C3E}"/>
              </a:ext>
            </a:extLst>
          </p:cNvPr>
          <p:cNvSpPr>
            <a:spLocks noGrp="1"/>
          </p:cNvSpPr>
          <p:nvPr>
            <p:ph type="title"/>
          </p:nvPr>
        </p:nvSpPr>
        <p:spPr/>
        <p:txBody>
          <a:bodyPr/>
          <a:lstStyle/>
          <a:p>
            <a:r>
              <a:rPr lang="en-GB" dirty="0"/>
              <a:t>Regular tuning</a:t>
            </a:r>
          </a:p>
        </p:txBody>
      </p:sp>
      <p:sp>
        <p:nvSpPr>
          <p:cNvPr id="3" name="Text Placeholder 2">
            <a:extLst>
              <a:ext uri="{FF2B5EF4-FFF2-40B4-BE49-F238E27FC236}">
                <a16:creationId xmlns:a16="http://schemas.microsoft.com/office/drawing/2014/main" id="{8D97F757-EAE0-FB44-AE0B-054387FA0666}"/>
              </a:ext>
            </a:extLst>
          </p:cNvPr>
          <p:cNvSpPr>
            <a:spLocks noGrp="1"/>
          </p:cNvSpPr>
          <p:nvPr>
            <p:ph type="body" sz="quarter" idx="11"/>
          </p:nvPr>
        </p:nvSpPr>
        <p:spPr>
          <a:xfrm>
            <a:off x="542018" y="1597953"/>
            <a:ext cx="11042651" cy="4791607"/>
          </a:xfrm>
        </p:spPr>
        <p:txBody>
          <a:bodyPr/>
          <a:lstStyle/>
          <a:p>
            <a:r>
              <a:rPr lang="en-GB" noProof="0">
                <a:solidFill>
                  <a:srgbClr val="323032"/>
                </a:solidFill>
                <a:effectLst/>
              </a:rPr>
              <a:t>Establish an internal policy and process to perform regular</a:t>
            </a:r>
            <a:r>
              <a:rPr lang="en-GB" noProof="0">
                <a:solidFill>
                  <a:srgbClr val="323032"/>
                </a:solidFill>
              </a:rPr>
              <a:t> </a:t>
            </a:r>
            <a:r>
              <a:rPr lang="en-GB" noProof="0">
                <a:solidFill>
                  <a:srgbClr val="323032"/>
                </a:solidFill>
                <a:effectLst/>
              </a:rPr>
              <a:t>model tuning </a:t>
            </a:r>
            <a:endParaRPr lang="en-GB" noProof="0">
              <a:solidFill>
                <a:srgbClr val="323032"/>
              </a:solidFill>
            </a:endParaRPr>
          </a:p>
          <a:p>
            <a:pPr lvl="1"/>
            <a:r>
              <a:rPr lang="en-GB" noProof="0" dirty="0">
                <a:solidFill>
                  <a:srgbClr val="323032"/>
                </a:solidFill>
                <a:effectLst/>
                <a:latin typeface="+mn-lt"/>
              </a:rPr>
              <a:t>Changes to customer behaviour over time. </a:t>
            </a:r>
          </a:p>
          <a:p>
            <a:pPr lvl="1"/>
            <a:r>
              <a:rPr lang="en-GB" noProof="0" dirty="0">
                <a:solidFill>
                  <a:srgbClr val="323032"/>
                </a:solidFill>
                <a:latin typeface="+mn-lt"/>
              </a:rPr>
              <a:t>Changes in </a:t>
            </a:r>
            <a:r>
              <a:rPr lang="en-GB" noProof="0" dirty="0">
                <a:solidFill>
                  <a:srgbClr val="323032"/>
                </a:solidFill>
                <a:effectLst/>
                <a:latin typeface="+mn-lt"/>
              </a:rPr>
              <a:t>commercial objectives, risks, or corporate values</a:t>
            </a:r>
          </a:p>
          <a:p>
            <a:endParaRPr lang="en-GB" noProof="0" dirty="0"/>
          </a:p>
        </p:txBody>
      </p:sp>
    </p:spTree>
    <p:extLst>
      <p:ext uri="{BB962C8B-B14F-4D97-AF65-F5344CB8AC3E}">
        <p14:creationId xmlns:p14="http://schemas.microsoft.com/office/powerpoint/2010/main" val="2186340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E939-55A9-8FC4-5B7B-01D62B56ABAE}"/>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28CFED40-CAEA-2F58-1054-C304A2964877}"/>
              </a:ext>
            </a:extLst>
          </p:cNvPr>
          <p:cNvSpPr>
            <a:spLocks noGrp="1"/>
          </p:cNvSpPr>
          <p:nvPr>
            <p:ph type="body" sz="quarter" idx="11"/>
          </p:nvPr>
        </p:nvSpPr>
        <p:spPr>
          <a:xfrm>
            <a:off x="542018" y="1562095"/>
            <a:ext cx="10773681" cy="1219205"/>
          </a:xfrm>
        </p:spPr>
        <p:txBody>
          <a:bodyPr>
            <a:normAutofit/>
          </a:bodyPr>
          <a:lstStyle/>
          <a:p>
            <a:r>
              <a:rPr lang="en-GB" dirty="0"/>
              <a:t>A good communication with the stakeholders is essential in building trust in the AI system</a:t>
            </a:r>
          </a:p>
          <a:p>
            <a:pPr marL="0" indent="0">
              <a:buNone/>
            </a:pPr>
            <a:endParaRPr lang="en-GB" dirty="0"/>
          </a:p>
        </p:txBody>
      </p:sp>
      <p:graphicFrame>
        <p:nvGraphicFramePr>
          <p:cNvPr id="7" name="Diagram 6">
            <a:extLst>
              <a:ext uri="{FF2B5EF4-FFF2-40B4-BE49-F238E27FC236}">
                <a16:creationId xmlns:a16="http://schemas.microsoft.com/office/drawing/2014/main" id="{4AF0F8CB-B353-1187-821B-139B000351A2}"/>
              </a:ext>
            </a:extLst>
          </p:cNvPr>
          <p:cNvGraphicFramePr/>
          <p:nvPr>
            <p:extLst>
              <p:ext uri="{D42A27DB-BD31-4B8C-83A1-F6EECF244321}">
                <p14:modId xmlns:p14="http://schemas.microsoft.com/office/powerpoint/2010/main" val="3736843361"/>
              </p:ext>
            </p:extLst>
          </p:nvPr>
        </p:nvGraphicFramePr>
        <p:xfrm>
          <a:off x="2070100" y="2628900"/>
          <a:ext cx="635000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1436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DD0-023F-B426-7663-9D9D12ECD8D5}"/>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F09E641C-B219-0D32-A21D-A6581ED9A84F}"/>
              </a:ext>
            </a:extLst>
          </p:cNvPr>
          <p:cNvSpPr>
            <a:spLocks noGrp="1"/>
          </p:cNvSpPr>
          <p:nvPr>
            <p:ph type="body" sz="quarter" idx="11"/>
          </p:nvPr>
        </p:nvSpPr>
        <p:spPr/>
        <p:txBody>
          <a:bodyPr>
            <a:normAutofit/>
          </a:bodyPr>
          <a:lstStyle/>
          <a:p>
            <a:r>
              <a:rPr lang="en-GB" dirty="0"/>
              <a:t>General Disclosure</a:t>
            </a:r>
          </a:p>
          <a:p>
            <a:pPr lvl="1"/>
            <a:r>
              <a:rPr lang="en-GB" dirty="0"/>
              <a:t>Provide info on whether AI is used in the product or service</a:t>
            </a:r>
          </a:p>
          <a:p>
            <a:pPr lvl="1"/>
            <a:r>
              <a:rPr lang="en-GB" dirty="0"/>
              <a:t>Info such as how AI is used in decision-making,  what are the benefits, what steps are taken to mitigate risks, how it can affect the end-user, will be helpful to instil confidence and trust </a:t>
            </a:r>
          </a:p>
          <a:p>
            <a:endParaRPr lang="en-GB" dirty="0"/>
          </a:p>
          <a:p>
            <a:endParaRPr lang="en-GB" dirty="0"/>
          </a:p>
        </p:txBody>
      </p:sp>
      <p:pic>
        <p:nvPicPr>
          <p:cNvPr id="4" name="Picture 3">
            <a:extLst>
              <a:ext uri="{FF2B5EF4-FFF2-40B4-BE49-F238E27FC236}">
                <a16:creationId xmlns:a16="http://schemas.microsoft.com/office/drawing/2014/main" id="{B4A6A544-A10D-B487-C73B-3728BA3A2DC4}"/>
              </a:ext>
            </a:extLst>
          </p:cNvPr>
          <p:cNvPicPr>
            <a:picLocks noChangeAspect="1"/>
          </p:cNvPicPr>
          <p:nvPr/>
        </p:nvPicPr>
        <p:blipFill>
          <a:blip r:embed="rId2"/>
          <a:stretch>
            <a:fillRect/>
          </a:stretch>
        </p:blipFill>
        <p:spPr>
          <a:xfrm>
            <a:off x="2819400" y="3734222"/>
            <a:ext cx="6718300" cy="2860779"/>
          </a:xfrm>
          <a:prstGeom prst="rect">
            <a:avLst/>
          </a:prstGeom>
        </p:spPr>
      </p:pic>
    </p:spTree>
    <p:extLst>
      <p:ext uri="{BB962C8B-B14F-4D97-AF65-F5344CB8AC3E}">
        <p14:creationId xmlns:p14="http://schemas.microsoft.com/office/powerpoint/2010/main" val="4041534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73A8C-D09E-DC59-3783-40B74FD266C8}"/>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19F27052-6D07-1443-71FA-F494745E9578}"/>
              </a:ext>
            </a:extLst>
          </p:cNvPr>
          <p:cNvSpPr>
            <a:spLocks noGrp="1"/>
          </p:cNvSpPr>
          <p:nvPr>
            <p:ph type="body" sz="quarter" idx="11"/>
          </p:nvPr>
        </p:nvSpPr>
        <p:spPr/>
        <p:txBody>
          <a:bodyPr/>
          <a:lstStyle/>
          <a:p>
            <a:r>
              <a:rPr lang="en-GB" dirty="0"/>
              <a:t>Option to opt-out </a:t>
            </a:r>
          </a:p>
          <a:p>
            <a:pPr lvl="1"/>
            <a:r>
              <a:rPr lang="en-GB" dirty="0"/>
              <a:t>Depends on the degree of risk/harm to individuals, reversibility of AI decision, cost of alternate way of decision making, technical feasibility, complexity of maintaining two parallel system</a:t>
            </a:r>
          </a:p>
          <a:p>
            <a:r>
              <a:rPr lang="en-GB" dirty="0"/>
              <a:t>Communication channels</a:t>
            </a:r>
          </a:p>
          <a:p>
            <a:pPr lvl="1"/>
            <a:r>
              <a:rPr lang="en-GB" dirty="0"/>
              <a:t>Feedback channels</a:t>
            </a:r>
          </a:p>
          <a:p>
            <a:pPr lvl="2"/>
            <a:r>
              <a:rPr lang="en-GB" dirty="0"/>
              <a:t>Raise feedback or queries, e.g. if inaccuracies spotted by user</a:t>
            </a:r>
          </a:p>
          <a:p>
            <a:pPr lvl="1"/>
            <a:r>
              <a:rPr lang="en-GB" dirty="0"/>
              <a:t>Decision review channels</a:t>
            </a:r>
          </a:p>
          <a:p>
            <a:pPr lvl="2"/>
            <a:r>
              <a:rPr lang="en-GB" dirty="0"/>
              <a:t>For user to raise request to review material AI decision </a:t>
            </a:r>
          </a:p>
        </p:txBody>
      </p:sp>
    </p:spTree>
    <p:extLst>
      <p:ext uri="{BB962C8B-B14F-4D97-AF65-F5344CB8AC3E}">
        <p14:creationId xmlns:p14="http://schemas.microsoft.com/office/powerpoint/2010/main" val="34344635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F048-D754-BFA6-9662-A8EAF128547F}"/>
              </a:ext>
            </a:extLst>
          </p:cNvPr>
          <p:cNvSpPr>
            <a:spLocks noGrp="1"/>
          </p:cNvSpPr>
          <p:nvPr>
            <p:ph type="title"/>
          </p:nvPr>
        </p:nvSpPr>
        <p:spPr/>
        <p:txBody>
          <a:bodyPr/>
          <a:lstStyle/>
          <a:p>
            <a:r>
              <a:rPr lang="en-GB" dirty="0"/>
              <a:t>Case study - Facebook</a:t>
            </a:r>
          </a:p>
        </p:txBody>
      </p:sp>
      <p:pic>
        <p:nvPicPr>
          <p:cNvPr id="4" name="Picture 3">
            <a:extLst>
              <a:ext uri="{FF2B5EF4-FFF2-40B4-BE49-F238E27FC236}">
                <a16:creationId xmlns:a16="http://schemas.microsoft.com/office/drawing/2014/main" id="{8C69CEF9-0F27-98AE-BC2F-2D612F2BC4CB}"/>
              </a:ext>
            </a:extLst>
          </p:cNvPr>
          <p:cNvPicPr>
            <a:picLocks noChangeAspect="1"/>
          </p:cNvPicPr>
          <p:nvPr/>
        </p:nvPicPr>
        <p:blipFill>
          <a:blip r:embed="rId2"/>
          <a:stretch>
            <a:fillRect/>
          </a:stretch>
        </p:blipFill>
        <p:spPr>
          <a:xfrm>
            <a:off x="825500" y="2463837"/>
            <a:ext cx="4695403" cy="2425845"/>
          </a:xfrm>
          <a:prstGeom prst="rect">
            <a:avLst/>
          </a:prstGeom>
        </p:spPr>
      </p:pic>
      <p:sp>
        <p:nvSpPr>
          <p:cNvPr id="5" name="TextBox 4">
            <a:extLst>
              <a:ext uri="{FF2B5EF4-FFF2-40B4-BE49-F238E27FC236}">
                <a16:creationId xmlns:a16="http://schemas.microsoft.com/office/drawing/2014/main" id="{AE2C0BD0-43BA-1B61-32D8-CBB8DDC1CE24}"/>
              </a:ext>
            </a:extLst>
          </p:cNvPr>
          <p:cNvSpPr txBox="1"/>
          <p:nvPr/>
        </p:nvSpPr>
        <p:spPr>
          <a:xfrm>
            <a:off x="825500" y="1598987"/>
            <a:ext cx="3835400" cy="369332"/>
          </a:xfrm>
          <a:prstGeom prst="rect">
            <a:avLst/>
          </a:prstGeom>
          <a:noFill/>
        </p:spPr>
        <p:txBody>
          <a:bodyPr wrap="square" rtlCol="0">
            <a:spAutoFit/>
          </a:bodyPr>
          <a:lstStyle/>
          <a:p>
            <a:r>
              <a:rPr lang="en-GB" dirty="0"/>
              <a:t>Disclosure on information collected</a:t>
            </a:r>
          </a:p>
        </p:txBody>
      </p:sp>
      <p:pic>
        <p:nvPicPr>
          <p:cNvPr id="6" name="Picture 5">
            <a:extLst>
              <a:ext uri="{FF2B5EF4-FFF2-40B4-BE49-F238E27FC236}">
                <a16:creationId xmlns:a16="http://schemas.microsoft.com/office/drawing/2014/main" id="{6ADAFE06-C3E9-0784-8E15-D84E2EA5FD57}"/>
              </a:ext>
            </a:extLst>
          </p:cNvPr>
          <p:cNvPicPr>
            <a:picLocks noChangeAspect="1"/>
          </p:cNvPicPr>
          <p:nvPr/>
        </p:nvPicPr>
        <p:blipFill>
          <a:blip r:embed="rId3"/>
          <a:stretch>
            <a:fillRect/>
          </a:stretch>
        </p:blipFill>
        <p:spPr>
          <a:xfrm>
            <a:off x="6375327" y="2463837"/>
            <a:ext cx="4597474" cy="2375250"/>
          </a:xfrm>
          <a:prstGeom prst="rect">
            <a:avLst/>
          </a:prstGeom>
        </p:spPr>
      </p:pic>
      <p:sp>
        <p:nvSpPr>
          <p:cNvPr id="7" name="TextBox 6">
            <a:extLst>
              <a:ext uri="{FF2B5EF4-FFF2-40B4-BE49-F238E27FC236}">
                <a16:creationId xmlns:a16="http://schemas.microsoft.com/office/drawing/2014/main" id="{F73D3842-96B3-74D4-B164-E2A19F2F601F}"/>
              </a:ext>
            </a:extLst>
          </p:cNvPr>
          <p:cNvSpPr txBox="1"/>
          <p:nvPr/>
        </p:nvSpPr>
        <p:spPr>
          <a:xfrm>
            <a:off x="6654800" y="1598987"/>
            <a:ext cx="3835400" cy="369332"/>
          </a:xfrm>
          <a:prstGeom prst="rect">
            <a:avLst/>
          </a:prstGeom>
          <a:noFill/>
        </p:spPr>
        <p:txBody>
          <a:bodyPr wrap="square" rtlCol="0">
            <a:spAutoFit/>
          </a:bodyPr>
          <a:lstStyle/>
          <a:p>
            <a:r>
              <a:rPr lang="en-GB" dirty="0"/>
              <a:t>Disclosure on information use</a:t>
            </a:r>
          </a:p>
        </p:txBody>
      </p:sp>
    </p:spTree>
    <p:extLst>
      <p:ext uri="{BB962C8B-B14F-4D97-AF65-F5344CB8AC3E}">
        <p14:creationId xmlns:p14="http://schemas.microsoft.com/office/powerpoint/2010/main" val="3273044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0D5B-193B-7CD1-C845-CC4138988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873EE-82D5-9308-BDB0-0569B9F8725B}"/>
              </a:ext>
            </a:extLst>
          </p:cNvPr>
          <p:cNvSpPr>
            <a:spLocks noGrp="1"/>
          </p:cNvSpPr>
          <p:nvPr>
            <p:ph type="title"/>
          </p:nvPr>
        </p:nvSpPr>
        <p:spPr/>
        <p:txBody>
          <a:bodyPr/>
          <a:lstStyle/>
          <a:p>
            <a:r>
              <a:rPr lang="en-GB" dirty="0"/>
              <a:t>Sector-specific Regulations and Guidelines </a:t>
            </a:r>
          </a:p>
        </p:txBody>
      </p:sp>
      <p:sp>
        <p:nvSpPr>
          <p:cNvPr id="5" name="TextBox 4">
            <a:extLst>
              <a:ext uri="{FF2B5EF4-FFF2-40B4-BE49-F238E27FC236}">
                <a16:creationId xmlns:a16="http://schemas.microsoft.com/office/drawing/2014/main" id="{EBA962AD-5334-0E7B-3931-2651F5E347D5}"/>
              </a:ext>
            </a:extLst>
          </p:cNvPr>
          <p:cNvSpPr txBox="1"/>
          <p:nvPr/>
        </p:nvSpPr>
        <p:spPr>
          <a:xfrm>
            <a:off x="551395" y="1583212"/>
            <a:ext cx="9945643" cy="1200329"/>
          </a:xfrm>
          <a:prstGeom prst="rect">
            <a:avLst/>
          </a:prstGeom>
          <a:noFill/>
        </p:spPr>
        <p:txBody>
          <a:bodyPr wrap="square">
            <a:spAutoFit/>
          </a:bodyPr>
          <a:lstStyle/>
          <a:p>
            <a:r>
              <a:rPr lang="en-GB" sz="2400" dirty="0"/>
              <a:t>Monetary Authority of Singapore published the Principles to Promote Fairness, Ethics, Accountability and Transparency in the Use of Artificial Intelligence and Data Analytics in Singapore’s Financial Sector (the “FEAT Principles”) </a:t>
            </a:r>
          </a:p>
        </p:txBody>
      </p:sp>
    </p:spTree>
    <p:extLst>
      <p:ext uri="{BB962C8B-B14F-4D97-AF65-F5344CB8AC3E}">
        <p14:creationId xmlns:p14="http://schemas.microsoft.com/office/powerpoint/2010/main" val="2594403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5351-9089-B298-5C32-068BB9FBF501}"/>
              </a:ext>
            </a:extLst>
          </p:cNvPr>
          <p:cNvSpPr>
            <a:spLocks noGrp="1"/>
          </p:cNvSpPr>
          <p:nvPr>
            <p:ph type="title"/>
          </p:nvPr>
        </p:nvSpPr>
        <p:spPr/>
        <p:txBody>
          <a:bodyPr/>
          <a:lstStyle/>
          <a:p>
            <a:r>
              <a:rPr lang="en-GB" noProof="0" dirty="0"/>
              <a:t>Implementation and Self-Assessment Guide for Organizations (ISAGO)</a:t>
            </a:r>
          </a:p>
        </p:txBody>
      </p:sp>
      <p:sp>
        <p:nvSpPr>
          <p:cNvPr id="6" name="Text Placeholder 5">
            <a:extLst>
              <a:ext uri="{FF2B5EF4-FFF2-40B4-BE49-F238E27FC236}">
                <a16:creationId xmlns:a16="http://schemas.microsoft.com/office/drawing/2014/main" id="{94BB093D-CEF5-E76A-95EE-9052FB2ABA80}"/>
              </a:ext>
            </a:extLst>
          </p:cNvPr>
          <p:cNvSpPr>
            <a:spLocks noGrp="1"/>
          </p:cNvSpPr>
          <p:nvPr>
            <p:ph type="body" sz="quarter" idx="11"/>
          </p:nvPr>
        </p:nvSpPr>
        <p:spPr/>
        <p:txBody>
          <a:bodyPr/>
          <a:lstStyle/>
          <a:p>
            <a:r>
              <a:rPr lang="en-GB" dirty="0"/>
              <a:t>provides a set of questions and practical examples to enable organizations to assess the alignment of their AI governance practices with the Model Framework</a:t>
            </a:r>
          </a:p>
          <a:p>
            <a:endParaRPr lang="en-GB" dirty="0"/>
          </a:p>
        </p:txBody>
      </p:sp>
      <p:pic>
        <p:nvPicPr>
          <p:cNvPr id="8" name="Picture 7">
            <a:extLst>
              <a:ext uri="{FF2B5EF4-FFF2-40B4-BE49-F238E27FC236}">
                <a16:creationId xmlns:a16="http://schemas.microsoft.com/office/drawing/2014/main" id="{43D35FC9-50CF-A4AC-E369-EE7EB1A0CA6A}"/>
              </a:ext>
            </a:extLst>
          </p:cNvPr>
          <p:cNvPicPr>
            <a:picLocks noChangeAspect="1"/>
          </p:cNvPicPr>
          <p:nvPr/>
        </p:nvPicPr>
        <p:blipFill>
          <a:blip r:embed="rId2"/>
          <a:stretch>
            <a:fillRect/>
          </a:stretch>
        </p:blipFill>
        <p:spPr>
          <a:xfrm>
            <a:off x="1248000" y="3458332"/>
            <a:ext cx="4906333" cy="2272867"/>
          </a:xfrm>
          <a:prstGeom prst="rect">
            <a:avLst/>
          </a:prstGeom>
        </p:spPr>
      </p:pic>
      <p:pic>
        <p:nvPicPr>
          <p:cNvPr id="9" name="Picture 8">
            <a:extLst>
              <a:ext uri="{FF2B5EF4-FFF2-40B4-BE49-F238E27FC236}">
                <a16:creationId xmlns:a16="http://schemas.microsoft.com/office/drawing/2014/main" id="{40B27DD5-A70A-8E8B-917E-39C20660CA3E}"/>
              </a:ext>
            </a:extLst>
          </p:cNvPr>
          <p:cNvPicPr>
            <a:picLocks noChangeAspect="1"/>
          </p:cNvPicPr>
          <p:nvPr/>
        </p:nvPicPr>
        <p:blipFill>
          <a:blip r:embed="rId3"/>
          <a:stretch>
            <a:fillRect/>
          </a:stretch>
        </p:blipFill>
        <p:spPr>
          <a:xfrm>
            <a:off x="6268182" y="3458331"/>
            <a:ext cx="4949641" cy="2272868"/>
          </a:xfrm>
          <a:prstGeom prst="rect">
            <a:avLst/>
          </a:prstGeom>
        </p:spPr>
      </p:pic>
    </p:spTree>
    <p:extLst>
      <p:ext uri="{BB962C8B-B14F-4D97-AF65-F5344CB8AC3E}">
        <p14:creationId xmlns:p14="http://schemas.microsoft.com/office/powerpoint/2010/main" val="35168455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9A1E-0C86-7FCF-DFB1-474403FD739C}"/>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4B3E746A-4A8A-F38B-9F42-DDF2F13671D5}"/>
              </a:ext>
            </a:extLst>
          </p:cNvPr>
          <p:cNvSpPr>
            <a:spLocks noGrp="1"/>
          </p:cNvSpPr>
          <p:nvPr>
            <p:ph type="body" sz="quarter" idx="11"/>
          </p:nvPr>
        </p:nvSpPr>
        <p:spPr/>
        <p:txBody>
          <a:bodyPr>
            <a:normAutofit/>
          </a:bodyPr>
          <a:lstStyle/>
          <a:p>
            <a:pPr marL="0" indent="0">
              <a:buNone/>
            </a:pPr>
            <a:r>
              <a:rPr lang="en-GB" b="1" dirty="0"/>
              <a:t>Mistakes And “Hallucinations”</a:t>
            </a:r>
          </a:p>
          <a:p>
            <a:pPr marL="0" indent="0">
              <a:buNone/>
            </a:pPr>
            <a:endParaRPr lang="en-GB" dirty="0"/>
          </a:p>
          <a:p>
            <a:pPr marL="0" indent="0">
              <a:buNone/>
            </a:pPr>
            <a:endParaRPr lang="en-GB" dirty="0"/>
          </a:p>
          <a:p>
            <a:pPr marL="0" indent="0">
              <a:buNone/>
            </a:pPr>
            <a:endParaRPr lang="en-GB" dirty="0"/>
          </a:p>
        </p:txBody>
      </p:sp>
      <p:pic>
        <p:nvPicPr>
          <p:cNvPr id="4" name="Picture 3">
            <a:extLst>
              <a:ext uri="{FF2B5EF4-FFF2-40B4-BE49-F238E27FC236}">
                <a16:creationId xmlns:a16="http://schemas.microsoft.com/office/drawing/2014/main" id="{89FF2B84-7491-D3FD-B267-7EF3DE2B18C5}"/>
              </a:ext>
            </a:extLst>
          </p:cNvPr>
          <p:cNvPicPr>
            <a:picLocks noChangeAspect="1"/>
          </p:cNvPicPr>
          <p:nvPr/>
        </p:nvPicPr>
        <p:blipFill>
          <a:blip r:embed="rId2"/>
          <a:stretch>
            <a:fillRect/>
          </a:stretch>
        </p:blipFill>
        <p:spPr>
          <a:xfrm>
            <a:off x="1828800" y="2325751"/>
            <a:ext cx="7772400" cy="3806698"/>
          </a:xfrm>
          <a:prstGeom prst="rect">
            <a:avLst/>
          </a:prstGeom>
        </p:spPr>
      </p:pic>
    </p:spTree>
    <p:extLst>
      <p:ext uri="{BB962C8B-B14F-4D97-AF65-F5344CB8AC3E}">
        <p14:creationId xmlns:p14="http://schemas.microsoft.com/office/powerpoint/2010/main" val="40481047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24FC-5C6B-E241-6C90-2FE7DD5EC903}"/>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C7E8A983-94B5-16A7-C876-8AEF8F5DEF5D}"/>
              </a:ext>
            </a:extLst>
          </p:cNvPr>
          <p:cNvSpPr>
            <a:spLocks noGrp="1"/>
          </p:cNvSpPr>
          <p:nvPr>
            <p:ph type="body" sz="quarter" idx="11"/>
          </p:nvPr>
        </p:nvSpPr>
        <p:spPr/>
        <p:txBody>
          <a:bodyPr>
            <a:normAutofit/>
          </a:bodyPr>
          <a:lstStyle/>
          <a:p>
            <a:pPr marL="0" indent="0">
              <a:buNone/>
            </a:pPr>
            <a:r>
              <a:rPr lang="en-GB" b="1" dirty="0"/>
              <a:t>Privacy And Confidentiality</a:t>
            </a:r>
          </a:p>
          <a:p>
            <a:r>
              <a:rPr lang="en-GB" dirty="0"/>
              <a:t>Generative AI tends to have a property of “memorisation”, posing risks to privacy</a:t>
            </a:r>
          </a:p>
          <a:p>
            <a:pPr lvl="1"/>
            <a:r>
              <a:rPr lang="en-GB" dirty="0"/>
              <a:t>Adversaries may find out if a certain individual is part of a training set by querying the trained model or even reconstruct training data by querying the model.</a:t>
            </a:r>
          </a:p>
          <a:p>
            <a:r>
              <a:rPr lang="en-GB" dirty="0"/>
              <a:t>Memorisation property also poses copyright and confidentiality issues for enterprises and companies</a:t>
            </a:r>
          </a:p>
          <a:p>
            <a:pPr marL="0" indent="0">
              <a:buNone/>
            </a:pPr>
            <a:endParaRPr lang="en-GB" dirty="0"/>
          </a:p>
        </p:txBody>
      </p:sp>
      <p:pic>
        <p:nvPicPr>
          <p:cNvPr id="6" name="Picture 5">
            <a:extLst>
              <a:ext uri="{FF2B5EF4-FFF2-40B4-BE49-F238E27FC236}">
                <a16:creationId xmlns:a16="http://schemas.microsoft.com/office/drawing/2014/main" id="{04BB2B8F-B7A1-FECE-2328-39F768167160}"/>
              </a:ext>
            </a:extLst>
          </p:cNvPr>
          <p:cNvPicPr>
            <a:picLocks noChangeAspect="1"/>
          </p:cNvPicPr>
          <p:nvPr/>
        </p:nvPicPr>
        <p:blipFill>
          <a:blip r:embed="rId2"/>
          <a:stretch>
            <a:fillRect/>
          </a:stretch>
        </p:blipFill>
        <p:spPr>
          <a:xfrm>
            <a:off x="6273800" y="4366349"/>
            <a:ext cx="4483100" cy="1987353"/>
          </a:xfrm>
          <a:prstGeom prst="rect">
            <a:avLst/>
          </a:prstGeom>
        </p:spPr>
      </p:pic>
    </p:spTree>
    <p:extLst>
      <p:ext uri="{BB962C8B-B14F-4D97-AF65-F5344CB8AC3E}">
        <p14:creationId xmlns:p14="http://schemas.microsoft.com/office/powerpoint/2010/main" val="22139933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DC54-1B15-6ADA-A02C-F6B527D7B79C}"/>
              </a:ext>
            </a:extLst>
          </p:cNvPr>
          <p:cNvSpPr>
            <a:spLocks noGrp="1"/>
          </p:cNvSpPr>
          <p:nvPr>
            <p:ph type="title"/>
          </p:nvPr>
        </p:nvSpPr>
        <p:spPr/>
        <p:txBody>
          <a:bodyPr/>
          <a:lstStyle/>
          <a:p>
            <a:r>
              <a:rPr lang="en-GB" dirty="0"/>
              <a:t>New Risks with Generative AI </a:t>
            </a:r>
          </a:p>
        </p:txBody>
      </p:sp>
      <p:sp>
        <p:nvSpPr>
          <p:cNvPr id="3" name="Text Placeholder 2">
            <a:extLst>
              <a:ext uri="{FF2B5EF4-FFF2-40B4-BE49-F238E27FC236}">
                <a16:creationId xmlns:a16="http://schemas.microsoft.com/office/drawing/2014/main" id="{EB5A5B6A-DF72-A9C0-1576-D668719F7FE3}"/>
              </a:ext>
            </a:extLst>
          </p:cNvPr>
          <p:cNvSpPr>
            <a:spLocks noGrp="1"/>
          </p:cNvSpPr>
          <p:nvPr>
            <p:ph type="body" sz="quarter" idx="11"/>
          </p:nvPr>
        </p:nvSpPr>
        <p:spPr/>
        <p:txBody>
          <a:bodyPr/>
          <a:lstStyle/>
          <a:p>
            <a:pPr marL="0" indent="0">
              <a:buNone/>
            </a:pPr>
            <a:r>
              <a:rPr lang="en-GB" b="1" dirty="0"/>
              <a:t>Scaling Disinformation,  Toxicity And Cyber-threats</a:t>
            </a:r>
          </a:p>
          <a:p>
            <a:r>
              <a:rPr lang="en-GB" dirty="0"/>
              <a:t>Dissemination of false content such as fake news is becoming increasingly hard to identify due to convincing but misleading text, images and videos, potentially generated at scale by generative AI. </a:t>
            </a:r>
          </a:p>
        </p:txBody>
      </p:sp>
      <p:pic>
        <p:nvPicPr>
          <p:cNvPr id="6" name="Online Media 5" descr="Deepfake of DPM Lawrence Wong circulating online">
            <a:hlinkClick r:id="" action="ppaction://media"/>
            <a:extLst>
              <a:ext uri="{FF2B5EF4-FFF2-40B4-BE49-F238E27FC236}">
                <a16:creationId xmlns:a16="http://schemas.microsoft.com/office/drawing/2014/main" id="{4219AFF0-C1C9-8674-6F07-9C0B722AA992}"/>
              </a:ext>
            </a:extLst>
          </p:cNvPr>
          <p:cNvPicPr>
            <a:picLocks noRot="1" noChangeAspect="1"/>
          </p:cNvPicPr>
          <p:nvPr>
            <a:videoFile r:link="rId1"/>
          </p:nvPr>
        </p:nvPicPr>
        <p:blipFill>
          <a:blip r:embed="rId3"/>
          <a:stretch>
            <a:fillRect/>
          </a:stretch>
        </p:blipFill>
        <p:spPr>
          <a:xfrm>
            <a:off x="3479800" y="3627825"/>
            <a:ext cx="4508500" cy="2547303"/>
          </a:xfrm>
          <a:prstGeom prst="rect">
            <a:avLst/>
          </a:prstGeom>
        </p:spPr>
      </p:pic>
    </p:spTree>
    <p:extLst>
      <p:ext uri="{BB962C8B-B14F-4D97-AF65-F5344CB8AC3E}">
        <p14:creationId xmlns:p14="http://schemas.microsoft.com/office/powerpoint/2010/main" val="7612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F783-5A8B-9627-1B9A-DA4AF8DA00C3}"/>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F20E158A-2A09-4202-C968-37B5CB0F7FB8}"/>
              </a:ext>
            </a:extLst>
          </p:cNvPr>
          <p:cNvSpPr>
            <a:spLocks noGrp="1"/>
          </p:cNvSpPr>
          <p:nvPr>
            <p:ph type="body" sz="quarter" idx="11"/>
          </p:nvPr>
        </p:nvSpPr>
        <p:spPr/>
        <p:txBody>
          <a:bodyPr>
            <a:normAutofit/>
          </a:bodyPr>
          <a:lstStyle/>
          <a:p>
            <a:r>
              <a:rPr lang="en-GB" b="1" dirty="0"/>
              <a:t>An Era of Copyright Challenges</a:t>
            </a:r>
          </a:p>
          <a:p>
            <a:pPr lvl="1"/>
            <a:r>
              <a:rPr lang="en-GB" dirty="0">
                <a:latin typeface="+mn-lt"/>
              </a:rPr>
              <a:t>Concerns of copyrighted materials used for training the generative model such as GPT and Stable Diffusion </a:t>
            </a:r>
          </a:p>
          <a:p>
            <a:pPr lvl="1"/>
            <a:r>
              <a:rPr lang="en-GB" dirty="0">
                <a:latin typeface="+mn-lt"/>
              </a:rPr>
              <a:t>Rising concern in the creative community regarding AI that explicitly creates the style and expression of authors, artists or musicians.</a:t>
            </a:r>
          </a:p>
          <a:p>
            <a:pPr marL="0" indent="0">
              <a:buNone/>
            </a:pPr>
            <a:endParaRPr lang="en-GB" dirty="0"/>
          </a:p>
          <a:p>
            <a:endParaRPr lang="en-GB" dirty="0"/>
          </a:p>
          <a:p>
            <a:endParaRPr lang="en-GB" dirty="0"/>
          </a:p>
          <a:p>
            <a:endParaRPr lang="en-GB" dirty="0"/>
          </a:p>
          <a:p>
            <a:endParaRPr lang="en-GB" dirty="0"/>
          </a:p>
        </p:txBody>
      </p:sp>
      <p:pic>
        <p:nvPicPr>
          <p:cNvPr id="5" name="Picture 4">
            <a:extLst>
              <a:ext uri="{FF2B5EF4-FFF2-40B4-BE49-F238E27FC236}">
                <a16:creationId xmlns:a16="http://schemas.microsoft.com/office/drawing/2014/main" id="{89538851-00CD-C345-4186-801D129653BB}"/>
              </a:ext>
            </a:extLst>
          </p:cNvPr>
          <p:cNvPicPr>
            <a:picLocks noChangeAspect="1"/>
          </p:cNvPicPr>
          <p:nvPr/>
        </p:nvPicPr>
        <p:blipFill>
          <a:blip r:embed="rId2"/>
          <a:stretch>
            <a:fillRect/>
          </a:stretch>
        </p:blipFill>
        <p:spPr>
          <a:xfrm>
            <a:off x="2387600" y="3842977"/>
            <a:ext cx="6756400" cy="2467411"/>
          </a:xfrm>
          <a:prstGeom prst="rect">
            <a:avLst/>
          </a:prstGeom>
        </p:spPr>
      </p:pic>
    </p:spTree>
    <p:extLst>
      <p:ext uri="{BB962C8B-B14F-4D97-AF65-F5344CB8AC3E}">
        <p14:creationId xmlns:p14="http://schemas.microsoft.com/office/powerpoint/2010/main" val="31404426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A241-DC8A-E215-2C01-E7F21DCE8B3B}"/>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FBF27B68-92EA-E0DC-A946-724303566D7C}"/>
              </a:ext>
            </a:extLst>
          </p:cNvPr>
          <p:cNvSpPr>
            <a:spLocks noGrp="1"/>
          </p:cNvSpPr>
          <p:nvPr>
            <p:ph type="body" sz="quarter" idx="11"/>
          </p:nvPr>
        </p:nvSpPr>
        <p:spPr/>
        <p:txBody>
          <a:bodyPr/>
          <a:lstStyle/>
          <a:p>
            <a:pPr marL="0" indent="0">
              <a:buNone/>
            </a:pPr>
            <a:r>
              <a:rPr lang="en-GB" b="1" dirty="0"/>
              <a:t>Embedded Biases Which Echo In Downstream Applications</a:t>
            </a:r>
          </a:p>
          <a:p>
            <a:r>
              <a:rPr lang="en-GB" dirty="0"/>
              <a:t>Foundation models capture the inherent biases present in the training dataset (e.g. corpus of the web). </a:t>
            </a:r>
          </a:p>
          <a:p>
            <a:r>
              <a:rPr lang="en-GB" dirty="0"/>
              <a:t>Especially problematic as these biases spread to downstream models trained from them, as well as the applications developed based on them </a:t>
            </a:r>
          </a:p>
          <a:p>
            <a:endParaRPr lang="en-GB" dirty="0"/>
          </a:p>
        </p:txBody>
      </p:sp>
      <p:pic>
        <p:nvPicPr>
          <p:cNvPr id="4" name="Picture 3">
            <a:extLst>
              <a:ext uri="{FF2B5EF4-FFF2-40B4-BE49-F238E27FC236}">
                <a16:creationId xmlns:a16="http://schemas.microsoft.com/office/drawing/2014/main" id="{C9C970A5-41A7-B0B9-228B-D45001654AC8}"/>
              </a:ext>
            </a:extLst>
          </p:cNvPr>
          <p:cNvPicPr>
            <a:picLocks noChangeAspect="1"/>
          </p:cNvPicPr>
          <p:nvPr/>
        </p:nvPicPr>
        <p:blipFill>
          <a:blip r:embed="rId2"/>
          <a:stretch>
            <a:fillRect/>
          </a:stretch>
        </p:blipFill>
        <p:spPr>
          <a:xfrm>
            <a:off x="3102051" y="4102100"/>
            <a:ext cx="5102150" cy="2405206"/>
          </a:xfrm>
          <a:prstGeom prst="rect">
            <a:avLst/>
          </a:prstGeom>
        </p:spPr>
      </p:pic>
    </p:spTree>
    <p:extLst>
      <p:ext uri="{BB962C8B-B14F-4D97-AF65-F5344CB8AC3E}">
        <p14:creationId xmlns:p14="http://schemas.microsoft.com/office/powerpoint/2010/main" val="18796573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72532-1513-2A00-EF59-FAD4AC6BDE1F}"/>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73E65CAA-A03B-B9F5-3E49-88469B3171BA}"/>
              </a:ext>
            </a:extLst>
          </p:cNvPr>
          <p:cNvSpPr>
            <a:spLocks noGrp="1"/>
          </p:cNvSpPr>
          <p:nvPr>
            <p:ph type="body" sz="quarter" idx="11"/>
          </p:nvPr>
        </p:nvSpPr>
        <p:spPr/>
        <p:txBody>
          <a:bodyPr>
            <a:normAutofit/>
          </a:bodyPr>
          <a:lstStyle/>
          <a:p>
            <a:pPr marL="0" indent="0">
              <a:buNone/>
            </a:pPr>
            <a:r>
              <a:rPr lang="en-GB" sz="2400" b="1" dirty="0"/>
              <a:t>Values, Alignment, And The Difficulty  Of Good Instructions</a:t>
            </a:r>
          </a:p>
          <a:p>
            <a:r>
              <a:rPr lang="en-GB" sz="2400" dirty="0"/>
              <a:t>An objective function for AI assistants needs to prioritise between the assistant being “helpful” or “harmless”. </a:t>
            </a:r>
          </a:p>
          <a:p>
            <a:r>
              <a:rPr lang="en-GB" sz="2400" dirty="0"/>
              <a:t>However, it is difficult to define and specify what these concepts are, and how to trade-off between them</a:t>
            </a:r>
          </a:p>
          <a:p>
            <a:pPr lvl="1"/>
            <a:r>
              <a:rPr lang="en-GB" sz="2000" dirty="0">
                <a:latin typeface="+mn-lt"/>
              </a:rPr>
              <a:t>Insistence on avoiding harm can lead to “safe” responses that might not be valuable to the user. </a:t>
            </a:r>
          </a:p>
          <a:p>
            <a:pPr marL="0" indent="0">
              <a:buNone/>
            </a:pPr>
            <a:endParaRPr lang="en-GB" sz="2400" dirty="0"/>
          </a:p>
        </p:txBody>
      </p:sp>
      <p:graphicFrame>
        <p:nvGraphicFramePr>
          <p:cNvPr id="5" name="Diagram 4">
            <a:extLst>
              <a:ext uri="{FF2B5EF4-FFF2-40B4-BE49-F238E27FC236}">
                <a16:creationId xmlns:a16="http://schemas.microsoft.com/office/drawing/2014/main" id="{B22C322D-7F19-FC7F-7AEA-E5E0E2AEEF75}"/>
              </a:ext>
            </a:extLst>
          </p:cNvPr>
          <p:cNvGraphicFramePr/>
          <p:nvPr>
            <p:extLst>
              <p:ext uri="{D42A27DB-BD31-4B8C-83A1-F6EECF244321}">
                <p14:modId xmlns:p14="http://schemas.microsoft.com/office/powerpoint/2010/main" val="782869917"/>
              </p:ext>
            </p:extLst>
          </p:nvPr>
        </p:nvGraphicFramePr>
        <p:xfrm>
          <a:off x="4089400" y="4258040"/>
          <a:ext cx="3086100" cy="207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96229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093E-56D3-E254-9CC8-3E9BB2AD80E6}"/>
              </a:ext>
            </a:extLst>
          </p:cNvPr>
          <p:cNvSpPr>
            <a:spLocks noGrp="1"/>
          </p:cNvSpPr>
          <p:nvPr>
            <p:ph type="title"/>
          </p:nvPr>
        </p:nvSpPr>
        <p:spPr/>
        <p:txBody>
          <a:bodyPr/>
          <a:lstStyle/>
          <a:p>
            <a:r>
              <a:rPr lang="en-GB" dirty="0"/>
              <a:t>Model Framework for Generative AI (2024)</a:t>
            </a:r>
          </a:p>
        </p:txBody>
      </p:sp>
      <p:pic>
        <p:nvPicPr>
          <p:cNvPr id="4" name="Picture 3">
            <a:extLst>
              <a:ext uri="{FF2B5EF4-FFF2-40B4-BE49-F238E27FC236}">
                <a16:creationId xmlns:a16="http://schemas.microsoft.com/office/drawing/2014/main" id="{3919F74C-D22C-38BB-E172-0B85D66E4DD8}"/>
              </a:ext>
            </a:extLst>
          </p:cNvPr>
          <p:cNvPicPr>
            <a:picLocks noChangeAspect="1"/>
          </p:cNvPicPr>
          <p:nvPr/>
        </p:nvPicPr>
        <p:blipFill>
          <a:blip r:embed="rId2"/>
          <a:stretch>
            <a:fillRect/>
          </a:stretch>
        </p:blipFill>
        <p:spPr>
          <a:xfrm>
            <a:off x="2362200" y="1441633"/>
            <a:ext cx="7799850" cy="4998542"/>
          </a:xfrm>
          <a:prstGeom prst="rect">
            <a:avLst/>
          </a:prstGeom>
        </p:spPr>
      </p:pic>
    </p:spTree>
    <p:extLst>
      <p:ext uri="{BB962C8B-B14F-4D97-AF65-F5344CB8AC3E}">
        <p14:creationId xmlns:p14="http://schemas.microsoft.com/office/powerpoint/2010/main" val="2584676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3C6C2-6CB9-33EC-6C20-D32397F32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6B8FF-4653-6195-0370-11848C1AE089}"/>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E3DFDAFB-F615-EBB1-31E7-D9743CF93C9A}"/>
              </a:ext>
            </a:extLst>
          </p:cNvPr>
          <p:cNvSpPr>
            <a:spLocks noGrp="1"/>
          </p:cNvSpPr>
          <p:nvPr>
            <p:ph type="body" sz="quarter" idx="11"/>
          </p:nvPr>
        </p:nvSpPr>
        <p:spPr/>
        <p:txBody>
          <a:bodyPr>
            <a:normAutofit/>
          </a:bodyPr>
          <a:lstStyle/>
          <a:p>
            <a:r>
              <a:rPr lang="en-US" sz="2400" b="1" dirty="0"/>
              <a:t>Accountability</a:t>
            </a:r>
          </a:p>
          <a:p>
            <a:pPr lvl="1"/>
            <a:r>
              <a:rPr lang="en-US" dirty="0">
                <a:latin typeface="+mn-lt"/>
              </a:rPr>
              <a:t>Shared responsibility across the AI development chain</a:t>
            </a:r>
          </a:p>
          <a:p>
            <a:pPr lvl="1"/>
            <a:r>
              <a:rPr lang="en-US" dirty="0">
                <a:latin typeface="+mn-lt"/>
              </a:rPr>
              <a:t>Practical steps to allocate accountability</a:t>
            </a:r>
          </a:p>
          <a:p>
            <a:r>
              <a:rPr lang="en-US" sz="2400" b="1" dirty="0"/>
              <a:t>Data</a:t>
            </a:r>
          </a:p>
          <a:p>
            <a:pPr lvl="1"/>
            <a:r>
              <a:rPr lang="en-US" dirty="0">
                <a:latin typeface="+mn-lt"/>
              </a:rPr>
              <a:t>Data quality and ethical sourcing</a:t>
            </a:r>
          </a:p>
          <a:p>
            <a:pPr lvl="1"/>
            <a:r>
              <a:rPr lang="en-US" dirty="0">
                <a:latin typeface="+mn-lt"/>
              </a:rPr>
              <a:t>Clear guidelines for using personal data and copyrighted material</a:t>
            </a:r>
          </a:p>
          <a:p>
            <a:r>
              <a:rPr lang="en-US" sz="2400" b="1" dirty="0"/>
              <a:t>Trusted Development and Deployment</a:t>
            </a:r>
          </a:p>
          <a:p>
            <a:pPr lvl="1"/>
            <a:r>
              <a:rPr lang="en-US" dirty="0">
                <a:latin typeface="+mn-lt"/>
              </a:rPr>
              <a:t>Transparency around safety and hygiene measures</a:t>
            </a:r>
          </a:p>
          <a:p>
            <a:pPr lvl="1"/>
            <a:r>
              <a:rPr lang="en-US" dirty="0">
                <a:latin typeface="+mn-lt"/>
              </a:rPr>
              <a:t>Industry adoption of best practices and disclosure </a:t>
            </a:r>
          </a:p>
        </p:txBody>
      </p:sp>
    </p:spTree>
    <p:extLst>
      <p:ext uri="{BB962C8B-B14F-4D97-AF65-F5344CB8AC3E}">
        <p14:creationId xmlns:p14="http://schemas.microsoft.com/office/powerpoint/2010/main" val="2606275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5D9E-ECE5-7E9A-15E0-EE39F8B40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C17EA-FE3A-4194-06B4-4D320A755825}"/>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E2DA97AF-1C43-352B-9415-725A47046242}"/>
              </a:ext>
            </a:extLst>
          </p:cNvPr>
          <p:cNvSpPr>
            <a:spLocks noGrp="1"/>
          </p:cNvSpPr>
          <p:nvPr>
            <p:ph type="body" sz="quarter" idx="11"/>
          </p:nvPr>
        </p:nvSpPr>
        <p:spPr/>
        <p:txBody>
          <a:bodyPr>
            <a:normAutofit/>
          </a:bodyPr>
          <a:lstStyle/>
          <a:p>
            <a:r>
              <a:rPr lang="en-US" sz="2400" b="1" dirty="0"/>
              <a:t>Incident Reporting</a:t>
            </a:r>
          </a:p>
          <a:p>
            <a:pPr lvl="1"/>
            <a:r>
              <a:rPr lang="en-US" dirty="0">
                <a:latin typeface="+mn-lt"/>
              </a:rPr>
              <a:t>Establishing structures for monitoring and reporting incidents</a:t>
            </a:r>
          </a:p>
          <a:p>
            <a:pPr lvl="1"/>
            <a:r>
              <a:rPr lang="en-US" dirty="0">
                <a:latin typeface="+mn-lt"/>
              </a:rPr>
              <a:t>Continuous improvement of AI systems</a:t>
            </a:r>
          </a:p>
          <a:p>
            <a:r>
              <a:rPr lang="en-US" sz="2400" b="1" dirty="0"/>
              <a:t>Testing and Assurance</a:t>
            </a:r>
          </a:p>
          <a:p>
            <a:pPr lvl="1"/>
            <a:r>
              <a:rPr lang="en-US" dirty="0">
                <a:latin typeface="+mn-lt"/>
              </a:rPr>
              <a:t>Third-party testing and assurance</a:t>
            </a:r>
          </a:p>
          <a:p>
            <a:pPr lvl="1"/>
            <a:r>
              <a:rPr lang="en-US" dirty="0">
                <a:latin typeface="+mn-lt"/>
              </a:rPr>
              <a:t>Development of common standards for AI testing</a:t>
            </a:r>
          </a:p>
          <a:p>
            <a:r>
              <a:rPr lang="en-US" sz="2400" b="1" dirty="0"/>
              <a:t>Security</a:t>
            </a:r>
          </a:p>
          <a:p>
            <a:pPr lvl="1"/>
            <a:r>
              <a:rPr lang="en-US" dirty="0">
                <a:latin typeface="+mn-lt"/>
              </a:rPr>
              <a:t>Addressing new security risks posed by generative AI</a:t>
            </a:r>
          </a:p>
          <a:p>
            <a:pPr lvl="1"/>
            <a:r>
              <a:rPr lang="en-US" dirty="0">
                <a:latin typeface="+mn-lt"/>
              </a:rPr>
              <a:t>Adapting existing information security frameworks</a:t>
            </a:r>
          </a:p>
        </p:txBody>
      </p:sp>
    </p:spTree>
    <p:extLst>
      <p:ext uri="{BB962C8B-B14F-4D97-AF65-F5344CB8AC3E}">
        <p14:creationId xmlns:p14="http://schemas.microsoft.com/office/powerpoint/2010/main" val="3873997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CB0C-FDD8-0576-31FD-091EAFCBF161}"/>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5247FB5F-FA08-3898-B2C6-0DBE41FBBB75}"/>
              </a:ext>
            </a:extLst>
          </p:cNvPr>
          <p:cNvSpPr>
            <a:spLocks noGrp="1"/>
          </p:cNvSpPr>
          <p:nvPr>
            <p:ph type="body" sz="quarter" idx="11"/>
          </p:nvPr>
        </p:nvSpPr>
        <p:spPr/>
        <p:txBody>
          <a:bodyPr>
            <a:normAutofit/>
          </a:bodyPr>
          <a:lstStyle/>
          <a:p>
            <a:r>
              <a:rPr lang="en-GB" sz="2400" b="1" noProof="0"/>
              <a:t>Content Provenance</a:t>
            </a:r>
          </a:p>
          <a:p>
            <a:pPr lvl="1"/>
            <a:r>
              <a:rPr lang="en-GB" noProof="0" dirty="0">
                <a:latin typeface="+mn-lt"/>
              </a:rPr>
              <a:t>Transparency about content origin</a:t>
            </a:r>
          </a:p>
          <a:p>
            <a:pPr lvl="1"/>
            <a:r>
              <a:rPr lang="en-GB" noProof="0" dirty="0">
                <a:latin typeface="+mn-lt"/>
              </a:rPr>
              <a:t>Leveraging technologies like digital watermarking and cryptographic provenance</a:t>
            </a:r>
          </a:p>
          <a:p>
            <a:r>
              <a:rPr lang="en-GB" sz="2400" b="1" noProof="0" dirty="0"/>
              <a:t>Safety and Alignment R&amp;D</a:t>
            </a:r>
          </a:p>
          <a:p>
            <a:pPr lvl="1"/>
            <a:r>
              <a:rPr lang="en-GB" noProof="0" dirty="0">
                <a:latin typeface="+mn-lt"/>
              </a:rPr>
              <a:t>Accelerated investment in R&amp;D to improve model safety and alignment</a:t>
            </a:r>
          </a:p>
          <a:p>
            <a:pPr lvl="1"/>
            <a:r>
              <a:rPr lang="en-GB" noProof="0" dirty="0">
                <a:latin typeface="+mn-lt"/>
              </a:rPr>
              <a:t>Global cooperation among AI safety R&amp;D institutes</a:t>
            </a:r>
          </a:p>
          <a:p>
            <a:r>
              <a:rPr lang="en-GB" sz="2400" b="1" noProof="0" dirty="0"/>
              <a:t>AI for Public Good</a:t>
            </a:r>
          </a:p>
          <a:p>
            <a:pPr lvl="1"/>
            <a:r>
              <a:rPr lang="en-GB" noProof="0" dirty="0">
                <a:latin typeface="+mn-lt"/>
              </a:rPr>
              <a:t>Democratising AI access</a:t>
            </a:r>
          </a:p>
          <a:p>
            <a:pPr lvl="1"/>
            <a:r>
              <a:rPr lang="en-GB" noProof="0" dirty="0">
                <a:latin typeface="+mn-lt"/>
              </a:rPr>
              <a:t>Improving public sector AI adoption</a:t>
            </a:r>
          </a:p>
          <a:p>
            <a:pPr lvl="1"/>
            <a:r>
              <a:rPr lang="en-GB" noProof="0" dirty="0">
                <a:latin typeface="+mn-lt"/>
              </a:rPr>
              <a:t>Upskilling workers and developing AI sustainably</a:t>
            </a:r>
          </a:p>
        </p:txBody>
      </p:sp>
    </p:spTree>
    <p:extLst>
      <p:ext uri="{BB962C8B-B14F-4D97-AF65-F5344CB8AC3E}">
        <p14:creationId xmlns:p14="http://schemas.microsoft.com/office/powerpoint/2010/main" val="1965739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DD53-6E9D-C197-943B-B96C3265BA3F}"/>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2E66BE82-4268-4F16-C12B-932ADF8E0C82}"/>
              </a:ext>
            </a:extLst>
          </p:cNvPr>
          <p:cNvSpPr>
            <a:spLocks noGrp="1"/>
          </p:cNvSpPr>
          <p:nvPr>
            <p:ph type="body" sz="quarter" idx="11"/>
          </p:nvPr>
        </p:nvSpPr>
        <p:spPr/>
        <p:txBody>
          <a:bodyPr/>
          <a:lstStyle/>
          <a:p>
            <a:r>
              <a:rPr lang="en-US" dirty="0"/>
              <a:t>A trusted AI ecosystem requires a collective effort from policymakers, industry, researchers, and the public.</a:t>
            </a:r>
          </a:p>
          <a:p>
            <a:r>
              <a:rPr lang="en-US" dirty="0"/>
              <a:t>By addressing these key dimensions, we can harness the potential of generative AI while mitigating its risks.</a:t>
            </a:r>
          </a:p>
          <a:p>
            <a:r>
              <a:rPr lang="en-US" dirty="0"/>
              <a:t>Continuous adaptation and innovation are essential to keep pace with the rapidly evolving AI landscape.</a:t>
            </a:r>
          </a:p>
        </p:txBody>
      </p:sp>
    </p:spTree>
    <p:extLst>
      <p:ext uri="{BB962C8B-B14F-4D97-AF65-F5344CB8AC3E}">
        <p14:creationId xmlns:p14="http://schemas.microsoft.com/office/powerpoint/2010/main" val="36245300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9139-B5C8-7E14-232E-73B6C13FE1FC}"/>
              </a:ext>
            </a:extLst>
          </p:cNvPr>
          <p:cNvSpPr>
            <a:spLocks noGrp="1"/>
          </p:cNvSpPr>
          <p:nvPr>
            <p:ph type="title"/>
          </p:nvPr>
        </p:nvSpPr>
        <p:spPr/>
        <p:txBody>
          <a:bodyPr/>
          <a:lstStyle/>
          <a:p>
            <a:r>
              <a:rPr lang="en-GB" dirty="0"/>
              <a:t>Case Study – Use of AI in Israel’s war on Gaza</a:t>
            </a:r>
          </a:p>
        </p:txBody>
      </p:sp>
      <p:sp>
        <p:nvSpPr>
          <p:cNvPr id="3" name="Text Placeholder 2">
            <a:extLst>
              <a:ext uri="{FF2B5EF4-FFF2-40B4-BE49-F238E27FC236}">
                <a16:creationId xmlns:a16="http://schemas.microsoft.com/office/drawing/2014/main" id="{A46127EC-A57B-88D1-FFEF-9668E8CEDF46}"/>
              </a:ext>
            </a:extLst>
          </p:cNvPr>
          <p:cNvSpPr>
            <a:spLocks noGrp="1"/>
          </p:cNvSpPr>
          <p:nvPr>
            <p:ph type="body" sz="quarter" idx="11"/>
          </p:nvPr>
        </p:nvSpPr>
        <p:spPr/>
        <p:txBody>
          <a:bodyPr>
            <a:normAutofit fontScale="77500" lnSpcReduction="20000"/>
          </a:bodyPr>
          <a:lstStyle/>
          <a:p>
            <a:r>
              <a:rPr lang="en-US" b="0" i="0" dirty="0">
                <a:solidFill>
                  <a:srgbClr val="2F2F2F"/>
                </a:solidFill>
                <a:effectLst/>
                <a:latin typeface="-apple-system"/>
              </a:rPr>
              <a:t>In the past wars, Israeli defined ”human targets” to kill as senior military commanders after carefully marked them so. However, after 7</a:t>
            </a:r>
            <a:r>
              <a:rPr lang="en-US" b="0" i="0" baseline="30000" dirty="0">
                <a:solidFill>
                  <a:srgbClr val="2F2F2F"/>
                </a:solidFill>
                <a:effectLst/>
                <a:latin typeface="-apple-system"/>
              </a:rPr>
              <a:t>th</a:t>
            </a:r>
            <a:r>
              <a:rPr lang="en-US" b="0" i="0" dirty="0">
                <a:solidFill>
                  <a:srgbClr val="2F2F2F"/>
                </a:solidFill>
                <a:effectLst/>
                <a:latin typeface="-apple-system"/>
              </a:rPr>
              <a:t> Oct 2023 attack (where Hamas Hamas-led militants launched a deadly assault on southern Israeli communities), the army decided to designate </a:t>
            </a:r>
            <a:r>
              <a:rPr lang="en-US" dirty="0">
                <a:solidFill>
                  <a:srgbClr val="2F2F2F"/>
                </a:solidFill>
                <a:latin typeface="-apple-system"/>
              </a:rPr>
              <a:t>all operatives of Hamas’ military wing as human targets, regardless of ranks. </a:t>
            </a:r>
          </a:p>
          <a:p>
            <a:r>
              <a:rPr lang="en-US" b="0" i="0" dirty="0">
                <a:solidFill>
                  <a:srgbClr val="2F2F2F"/>
                </a:solidFill>
                <a:effectLst/>
                <a:latin typeface="-apple-system"/>
              </a:rPr>
              <a:t>In previous wars, to authorize assassination of single human target, an officer had to go through a complex and lengthy cross-checking of evidence that the person was indeed a senior member of Hamas’ military wing. However, once the list was expanded to include tens of thousands of lower-ranking operatives, the Israeli army figured it had to rely on artificial intelligence – Lavender. </a:t>
            </a:r>
          </a:p>
          <a:p>
            <a:r>
              <a:rPr lang="en-US" b="0" i="0" dirty="0">
                <a:solidFill>
                  <a:srgbClr val="2F2F2F"/>
                </a:solidFill>
                <a:effectLst/>
                <a:latin typeface="-apple-system"/>
              </a:rPr>
              <a:t>Lavender learns </a:t>
            </a:r>
            <a:r>
              <a:rPr lang="en-US" dirty="0">
                <a:solidFill>
                  <a:srgbClr val="2F2F2F"/>
                </a:solidFill>
                <a:latin typeface="-apple-system"/>
              </a:rPr>
              <a:t>to</a:t>
            </a:r>
            <a:r>
              <a:rPr lang="en-US" b="0" i="0" dirty="0">
                <a:solidFill>
                  <a:srgbClr val="2F2F2F"/>
                </a:solidFill>
                <a:effectLst/>
                <a:latin typeface="-apple-system"/>
              </a:rPr>
              <a:t> identify characteristics of known Hamas operatives, whose information was fed to the machine as training data, and then to locate these same characteristics — also called “features” — among the general population.</a:t>
            </a:r>
          </a:p>
          <a:p>
            <a:r>
              <a:rPr lang="en-US" dirty="0">
                <a:solidFill>
                  <a:srgbClr val="2F2F2F"/>
                </a:solidFill>
                <a:latin typeface="-apple-system"/>
              </a:rPr>
              <a:t>After manually checking that the AI system achieve 90% accuracy with a random test sample targets, sweeping order was given to treat Lavender decision as order, w</a:t>
            </a:r>
            <a:r>
              <a:rPr lang="en-US" b="0" i="0" dirty="0">
                <a:solidFill>
                  <a:srgbClr val="2F2F2F"/>
                </a:solidFill>
                <a:effectLst/>
                <a:latin typeface="-apple-system"/>
              </a:rPr>
              <a:t>ith no </a:t>
            </a:r>
            <a:r>
              <a:rPr lang="en-US" dirty="0">
                <a:solidFill>
                  <a:srgbClr val="2F2F2F"/>
                </a:solidFill>
                <a:latin typeface="-apple-system"/>
              </a:rPr>
              <a:t>independent verification of the choice and examination of the raw intelligence data on which the decision is based on.</a:t>
            </a:r>
            <a:endParaRPr lang="en-GB" dirty="0"/>
          </a:p>
        </p:txBody>
      </p:sp>
    </p:spTree>
    <p:extLst>
      <p:ext uri="{BB962C8B-B14F-4D97-AF65-F5344CB8AC3E}">
        <p14:creationId xmlns:p14="http://schemas.microsoft.com/office/powerpoint/2010/main" val="2274101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9DFE-093D-8D51-A3D7-4A6BE6EE1C92}"/>
              </a:ext>
            </a:extLst>
          </p:cNvPr>
          <p:cNvSpPr>
            <a:spLocks noGrp="1"/>
          </p:cNvSpPr>
          <p:nvPr>
            <p:ph type="title"/>
          </p:nvPr>
        </p:nvSpPr>
        <p:spPr/>
        <p:txBody>
          <a:bodyPr/>
          <a:lstStyle/>
          <a:p>
            <a:r>
              <a:rPr lang="en-GB" dirty="0"/>
              <a:t>Case Study Discussion – Video surveillance</a:t>
            </a:r>
          </a:p>
        </p:txBody>
      </p:sp>
      <p:pic>
        <p:nvPicPr>
          <p:cNvPr id="5" name="Picture 4">
            <a:extLst>
              <a:ext uri="{FF2B5EF4-FFF2-40B4-BE49-F238E27FC236}">
                <a16:creationId xmlns:a16="http://schemas.microsoft.com/office/drawing/2014/main" id="{6F3575D7-3890-7BC4-1EDD-EAF96700A127}"/>
              </a:ext>
            </a:extLst>
          </p:cNvPr>
          <p:cNvPicPr>
            <a:picLocks noChangeAspect="1"/>
          </p:cNvPicPr>
          <p:nvPr/>
        </p:nvPicPr>
        <p:blipFill>
          <a:blip r:embed="rId3"/>
          <a:stretch>
            <a:fillRect/>
          </a:stretch>
        </p:blipFill>
        <p:spPr>
          <a:xfrm>
            <a:off x="1028700" y="2725772"/>
            <a:ext cx="9232900" cy="2283669"/>
          </a:xfrm>
          <a:prstGeom prst="rect">
            <a:avLst/>
          </a:prstGeom>
        </p:spPr>
      </p:pic>
      <p:sp>
        <p:nvSpPr>
          <p:cNvPr id="7" name="TextBox 6">
            <a:extLst>
              <a:ext uri="{FF2B5EF4-FFF2-40B4-BE49-F238E27FC236}">
                <a16:creationId xmlns:a16="http://schemas.microsoft.com/office/drawing/2014/main" id="{69E05BA3-3E80-FBE3-FFEF-5A73654F42F8}"/>
              </a:ext>
            </a:extLst>
          </p:cNvPr>
          <p:cNvSpPr txBox="1"/>
          <p:nvPr/>
        </p:nvSpPr>
        <p:spPr>
          <a:xfrm>
            <a:off x="508000" y="1374446"/>
            <a:ext cx="11042510" cy="1323439"/>
          </a:xfrm>
          <a:prstGeom prst="rect">
            <a:avLst/>
          </a:prstGeom>
          <a:noFill/>
        </p:spPr>
        <p:txBody>
          <a:bodyPr wrap="square">
            <a:spAutoFit/>
          </a:bodyPr>
          <a:lstStyle/>
          <a:p>
            <a:r>
              <a:rPr lang="en-GB" sz="2000" dirty="0"/>
              <a:t> CCTV systems are deployed across a variety of settings, from healthcare facilities and retail spaces to banks and public transportation, to protect the safety and security of people within these premises. These surveillance systems are monitored by surveillance officers who work in shifts, following pre-defined protocols to respond to incidents.</a:t>
            </a:r>
          </a:p>
        </p:txBody>
      </p:sp>
      <p:sp>
        <p:nvSpPr>
          <p:cNvPr id="8" name="TextBox 7">
            <a:extLst>
              <a:ext uri="{FF2B5EF4-FFF2-40B4-BE49-F238E27FC236}">
                <a16:creationId xmlns:a16="http://schemas.microsoft.com/office/drawing/2014/main" id="{E20DD772-42DF-4DB6-01D8-AC9FFE6F86C3}"/>
              </a:ext>
            </a:extLst>
          </p:cNvPr>
          <p:cNvSpPr txBox="1"/>
          <p:nvPr/>
        </p:nvSpPr>
        <p:spPr>
          <a:xfrm>
            <a:off x="1498600" y="5397500"/>
            <a:ext cx="8267700" cy="707886"/>
          </a:xfrm>
          <a:prstGeom prst="rect">
            <a:avLst/>
          </a:prstGeom>
          <a:noFill/>
        </p:spPr>
        <p:txBody>
          <a:bodyPr wrap="square" rtlCol="0">
            <a:spAutoFit/>
          </a:bodyPr>
          <a:lstStyle/>
          <a:p>
            <a:r>
              <a:rPr lang="en-GB" sz="2000" dirty="0"/>
              <a:t>Discuss some design consideration of such as system in the context of Responsible AI principles. </a:t>
            </a:r>
          </a:p>
        </p:txBody>
      </p:sp>
    </p:spTree>
    <p:extLst>
      <p:ext uri="{BB962C8B-B14F-4D97-AF65-F5344CB8AC3E}">
        <p14:creationId xmlns:p14="http://schemas.microsoft.com/office/powerpoint/2010/main" val="28367995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18D82-246D-204B-FD11-B4254DD916D3}"/>
              </a:ext>
            </a:extLst>
          </p:cNvPr>
          <p:cNvSpPr>
            <a:spLocks noGrp="1"/>
          </p:cNvSpPr>
          <p:nvPr>
            <p:ph type="title"/>
          </p:nvPr>
        </p:nvSpPr>
        <p:spPr/>
        <p:txBody>
          <a:bodyPr/>
          <a:lstStyle/>
          <a:p>
            <a:r>
              <a:rPr lang="en-GB" dirty="0"/>
              <a:t>Case Study Discussion – Fraud Detection </a:t>
            </a:r>
          </a:p>
        </p:txBody>
      </p:sp>
      <p:sp>
        <p:nvSpPr>
          <p:cNvPr id="3" name="Text Placeholder 2">
            <a:extLst>
              <a:ext uri="{FF2B5EF4-FFF2-40B4-BE49-F238E27FC236}">
                <a16:creationId xmlns:a16="http://schemas.microsoft.com/office/drawing/2014/main" id="{92E4990F-BB32-7204-5BCC-E85C931277FE}"/>
              </a:ext>
            </a:extLst>
          </p:cNvPr>
          <p:cNvSpPr>
            <a:spLocks noGrp="1"/>
          </p:cNvSpPr>
          <p:nvPr>
            <p:ph type="body" sz="quarter" idx="11"/>
          </p:nvPr>
        </p:nvSpPr>
        <p:spPr/>
        <p:txBody>
          <a:bodyPr>
            <a:normAutofit/>
          </a:bodyPr>
          <a:lstStyle/>
          <a:p>
            <a:r>
              <a:rPr lang="en-GB" dirty="0"/>
              <a:t>To improve the operational efficiency and effectiveness of its current anti money laundering surveillance, DBS developed an AI model  - the Anti-Money Laundering (AML) Filter Model. </a:t>
            </a:r>
          </a:p>
          <a:p>
            <a:r>
              <a:rPr lang="en-GB" dirty="0"/>
              <a:t>The AML Filter Model identifies predictive indicators of suspicious transactions to reduce the number of false positives generated by the non-AI system, thereby reducing the number of alerts that require manual review.</a:t>
            </a:r>
          </a:p>
          <a:p>
            <a:r>
              <a:rPr lang="en-GB" dirty="0"/>
              <a:t>Suggest some of the possible risks and how relevant AI governance practices can be implemented by the bank to address the risks </a:t>
            </a:r>
          </a:p>
        </p:txBody>
      </p:sp>
    </p:spTree>
    <p:extLst>
      <p:ext uri="{BB962C8B-B14F-4D97-AF65-F5344CB8AC3E}">
        <p14:creationId xmlns:p14="http://schemas.microsoft.com/office/powerpoint/2010/main" val="29318309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97FA-A626-6723-1E34-2155600E7B9A}"/>
              </a:ext>
            </a:extLst>
          </p:cNvPr>
          <p:cNvSpPr>
            <a:spLocks noGrp="1"/>
          </p:cNvSpPr>
          <p:nvPr>
            <p:ph type="title"/>
          </p:nvPr>
        </p:nvSpPr>
        <p:spPr>
          <a:xfrm>
            <a:off x="542158" y="285217"/>
            <a:ext cx="11042511" cy="1078875"/>
          </a:xfrm>
        </p:spPr>
        <p:txBody>
          <a:bodyPr/>
          <a:lstStyle/>
          <a:p>
            <a:r>
              <a:rPr lang="en-GB" dirty="0"/>
              <a:t>Case Study Discussion - AI-assisted HR tools</a:t>
            </a:r>
          </a:p>
        </p:txBody>
      </p:sp>
      <p:sp>
        <p:nvSpPr>
          <p:cNvPr id="3" name="Text Placeholder 2">
            <a:extLst>
              <a:ext uri="{FF2B5EF4-FFF2-40B4-BE49-F238E27FC236}">
                <a16:creationId xmlns:a16="http://schemas.microsoft.com/office/drawing/2014/main" id="{B1DE1E8F-D1BD-1DBD-976F-0A0EB6184B33}"/>
              </a:ext>
            </a:extLst>
          </p:cNvPr>
          <p:cNvSpPr>
            <a:spLocks noGrp="1"/>
          </p:cNvSpPr>
          <p:nvPr>
            <p:ph type="body" sz="quarter" idx="11"/>
          </p:nvPr>
        </p:nvSpPr>
        <p:spPr/>
        <p:txBody>
          <a:bodyPr/>
          <a:lstStyle/>
          <a:p>
            <a:r>
              <a:rPr lang="en-GB" dirty="0"/>
              <a:t>AI use in HR tools for hiring or promotion decision</a:t>
            </a:r>
          </a:p>
          <a:p>
            <a:endParaRPr lang="en-GB" dirty="0"/>
          </a:p>
          <a:p>
            <a:endParaRPr lang="en-GB" dirty="0"/>
          </a:p>
          <a:p>
            <a:endParaRPr lang="en-GB" dirty="0"/>
          </a:p>
          <a:p>
            <a:endParaRPr lang="en-GB" dirty="0"/>
          </a:p>
          <a:p>
            <a:r>
              <a:rPr lang="en-GB" dirty="0"/>
              <a:t>Applying the responsible AI principles, what are the steps you can take to mitigate the risks? </a:t>
            </a:r>
          </a:p>
        </p:txBody>
      </p:sp>
      <p:pic>
        <p:nvPicPr>
          <p:cNvPr id="6" name="Picture 5">
            <a:extLst>
              <a:ext uri="{FF2B5EF4-FFF2-40B4-BE49-F238E27FC236}">
                <a16:creationId xmlns:a16="http://schemas.microsoft.com/office/drawing/2014/main" id="{4731C64A-E250-ED0E-3574-B4702D6ECF02}"/>
              </a:ext>
            </a:extLst>
          </p:cNvPr>
          <p:cNvPicPr>
            <a:picLocks noChangeAspect="1"/>
          </p:cNvPicPr>
          <p:nvPr/>
        </p:nvPicPr>
        <p:blipFill>
          <a:blip r:embed="rId3"/>
          <a:stretch>
            <a:fillRect/>
          </a:stretch>
        </p:blipFill>
        <p:spPr>
          <a:xfrm>
            <a:off x="1598357" y="2515050"/>
            <a:ext cx="2589556" cy="328833"/>
          </a:xfrm>
          <a:prstGeom prst="rect">
            <a:avLst/>
          </a:prstGeom>
        </p:spPr>
      </p:pic>
      <p:pic>
        <p:nvPicPr>
          <p:cNvPr id="7" name="Picture 6">
            <a:extLst>
              <a:ext uri="{FF2B5EF4-FFF2-40B4-BE49-F238E27FC236}">
                <a16:creationId xmlns:a16="http://schemas.microsoft.com/office/drawing/2014/main" id="{FAFA8E49-AD1E-787E-565A-0C83BB4B8750}"/>
              </a:ext>
            </a:extLst>
          </p:cNvPr>
          <p:cNvPicPr>
            <a:picLocks noChangeAspect="1"/>
          </p:cNvPicPr>
          <p:nvPr/>
        </p:nvPicPr>
        <p:blipFill>
          <a:blip r:embed="rId4"/>
          <a:stretch>
            <a:fillRect/>
          </a:stretch>
        </p:blipFill>
        <p:spPr>
          <a:xfrm>
            <a:off x="4357344" y="2541011"/>
            <a:ext cx="2589556" cy="302872"/>
          </a:xfrm>
          <a:prstGeom prst="rect">
            <a:avLst/>
          </a:prstGeom>
        </p:spPr>
      </p:pic>
      <p:pic>
        <p:nvPicPr>
          <p:cNvPr id="8" name="Picture 7">
            <a:extLst>
              <a:ext uri="{FF2B5EF4-FFF2-40B4-BE49-F238E27FC236}">
                <a16:creationId xmlns:a16="http://schemas.microsoft.com/office/drawing/2014/main" id="{508A0C76-27CF-E87C-BCEB-F11D3EA536C4}"/>
              </a:ext>
            </a:extLst>
          </p:cNvPr>
          <p:cNvPicPr>
            <a:picLocks noChangeAspect="1"/>
          </p:cNvPicPr>
          <p:nvPr/>
        </p:nvPicPr>
        <p:blipFill>
          <a:blip r:embed="rId5"/>
          <a:stretch>
            <a:fillRect/>
          </a:stretch>
        </p:blipFill>
        <p:spPr>
          <a:xfrm>
            <a:off x="1598357" y="2990701"/>
            <a:ext cx="5348543" cy="776401"/>
          </a:xfrm>
          <a:prstGeom prst="rect">
            <a:avLst/>
          </a:prstGeom>
        </p:spPr>
      </p:pic>
    </p:spTree>
    <p:extLst>
      <p:ext uri="{BB962C8B-B14F-4D97-AF65-F5344CB8AC3E}">
        <p14:creationId xmlns:p14="http://schemas.microsoft.com/office/powerpoint/2010/main" val="7999795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04EB0-1BC0-960B-24A3-85B044D62965}"/>
              </a:ext>
            </a:extLst>
          </p:cNvPr>
          <p:cNvSpPr>
            <a:spLocks noGrp="1"/>
          </p:cNvSpPr>
          <p:nvPr>
            <p:ph type="title"/>
          </p:nvPr>
        </p:nvSpPr>
        <p:spPr/>
        <p:txBody>
          <a:bodyPr/>
          <a:lstStyle/>
          <a:p>
            <a:r>
              <a:rPr lang="en-GB" dirty="0"/>
              <a:t>Case Study Discussion – Smart Retail Shop</a:t>
            </a:r>
          </a:p>
        </p:txBody>
      </p:sp>
      <p:pic>
        <p:nvPicPr>
          <p:cNvPr id="4" name="Picture 3">
            <a:extLst>
              <a:ext uri="{FF2B5EF4-FFF2-40B4-BE49-F238E27FC236}">
                <a16:creationId xmlns:a16="http://schemas.microsoft.com/office/drawing/2014/main" id="{A0977FE0-B9F1-47CE-6478-957913103B18}"/>
              </a:ext>
            </a:extLst>
          </p:cNvPr>
          <p:cNvPicPr>
            <a:picLocks noChangeAspect="1"/>
          </p:cNvPicPr>
          <p:nvPr/>
        </p:nvPicPr>
        <p:blipFill>
          <a:blip r:embed="rId3"/>
          <a:stretch>
            <a:fillRect/>
          </a:stretch>
        </p:blipFill>
        <p:spPr>
          <a:xfrm>
            <a:off x="698089" y="1465122"/>
            <a:ext cx="4997245" cy="1084673"/>
          </a:xfrm>
          <a:prstGeom prst="rect">
            <a:avLst/>
          </a:prstGeom>
        </p:spPr>
      </p:pic>
      <p:pic>
        <p:nvPicPr>
          <p:cNvPr id="2050" name="Picture 2">
            <a:extLst>
              <a:ext uri="{FF2B5EF4-FFF2-40B4-BE49-F238E27FC236}">
                <a16:creationId xmlns:a16="http://schemas.microsoft.com/office/drawing/2014/main" id="{C248C75E-7875-F4BE-3642-BFEA0238C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089" y="2799634"/>
            <a:ext cx="4630995" cy="3085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11C3E3-7B95-0FF9-3F91-649422DC7360}"/>
              </a:ext>
            </a:extLst>
          </p:cNvPr>
          <p:cNvSpPr txBox="1"/>
          <p:nvPr/>
        </p:nvSpPr>
        <p:spPr>
          <a:xfrm>
            <a:off x="5695333" y="1356967"/>
            <a:ext cx="5898573" cy="3631763"/>
          </a:xfrm>
          <a:prstGeom prst="rect">
            <a:avLst/>
          </a:prstGeom>
          <a:noFill/>
        </p:spPr>
        <p:txBody>
          <a:bodyPr wrap="square">
            <a:spAutoFit/>
          </a:bodyPr>
          <a:lstStyle/>
          <a:p>
            <a:pPr algn="l"/>
            <a:r>
              <a:rPr lang="en-US" sz="1600" b="0" i="0" dirty="0">
                <a:solidFill>
                  <a:srgbClr val="000000"/>
                </a:solidFill>
                <a:effectLst/>
              </a:rPr>
              <a:t>In the unmanned stores, customers can walk in, grab the items they need and walk out without having to whip out their phone, credit card or cash to make payment.</a:t>
            </a:r>
          </a:p>
          <a:p>
            <a:pPr algn="l"/>
            <a:endParaRPr lang="en-US" sz="1600" b="0" i="0" dirty="0">
              <a:solidFill>
                <a:srgbClr val="000000"/>
              </a:solidFill>
              <a:effectLst/>
            </a:endParaRPr>
          </a:p>
          <a:p>
            <a:pPr algn="l"/>
            <a:r>
              <a:rPr lang="en-US" sz="1600" b="0" i="0" dirty="0">
                <a:solidFill>
                  <a:srgbClr val="000000"/>
                </a:solidFill>
                <a:effectLst/>
              </a:rPr>
              <a:t>Before entering, they will have to scan their FPG app’s Pay/Earn QR code, or tap their debit or credit card, at the store gantry.</a:t>
            </a:r>
          </a:p>
          <a:p>
            <a:pPr algn="l"/>
            <a:endParaRPr lang="en-US" sz="1600" b="0" i="0" dirty="0">
              <a:solidFill>
                <a:srgbClr val="000000"/>
              </a:solidFill>
              <a:effectLst/>
            </a:endParaRPr>
          </a:p>
          <a:p>
            <a:pPr algn="l"/>
            <a:r>
              <a:rPr lang="en-US" sz="1600" b="0" i="0" dirty="0">
                <a:solidFill>
                  <a:srgbClr val="000000"/>
                </a:solidFill>
                <a:effectLst/>
              </a:rPr>
              <a:t>An advanced artificial intelligence (AI) system in the outlet tracks customers’ actions, while items removed from shelves are recorded automatically.</a:t>
            </a:r>
          </a:p>
          <a:p>
            <a:pPr algn="l"/>
            <a:endParaRPr lang="en-US" sz="1600" b="0" i="0" dirty="0">
              <a:solidFill>
                <a:srgbClr val="000000"/>
              </a:solidFill>
              <a:effectLst/>
            </a:endParaRPr>
          </a:p>
          <a:p>
            <a:pPr algn="l"/>
            <a:r>
              <a:rPr lang="en-US" sz="1600" b="0" i="0" dirty="0">
                <a:solidFill>
                  <a:srgbClr val="000000"/>
                </a:solidFill>
                <a:effectLst/>
              </a:rPr>
              <a:t>The customers’ virtual baskets are updated accordingly, and their digital accounts are automatically and securely charged within 10 seconds of them exiting the store.</a:t>
            </a:r>
          </a:p>
        </p:txBody>
      </p:sp>
      <p:sp>
        <p:nvSpPr>
          <p:cNvPr id="7" name="TextBox 6">
            <a:extLst>
              <a:ext uri="{FF2B5EF4-FFF2-40B4-BE49-F238E27FC236}">
                <a16:creationId xmlns:a16="http://schemas.microsoft.com/office/drawing/2014/main" id="{94C6B1AC-7FE7-2E27-A109-F5CEBE233868}"/>
              </a:ext>
            </a:extLst>
          </p:cNvPr>
          <p:cNvSpPr txBox="1"/>
          <p:nvPr/>
        </p:nvSpPr>
        <p:spPr>
          <a:xfrm>
            <a:off x="5784232" y="5700393"/>
            <a:ext cx="5404467" cy="707886"/>
          </a:xfrm>
          <a:prstGeom prst="rect">
            <a:avLst/>
          </a:prstGeom>
          <a:noFill/>
        </p:spPr>
        <p:txBody>
          <a:bodyPr wrap="square" rtlCol="0">
            <a:spAutoFit/>
          </a:bodyPr>
          <a:lstStyle/>
          <a:p>
            <a:r>
              <a:rPr lang="en-GB" sz="2000" dirty="0"/>
              <a:t>Discuss some AI governance practices that can be applied here.</a:t>
            </a:r>
          </a:p>
        </p:txBody>
      </p:sp>
    </p:spTree>
    <p:extLst>
      <p:ext uri="{BB962C8B-B14F-4D97-AF65-F5344CB8AC3E}">
        <p14:creationId xmlns:p14="http://schemas.microsoft.com/office/powerpoint/2010/main" val="2780781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0EE154-A736-456D-A3E2-277453621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SEN 129(23) A19</Template>
  <TotalTime>7297</TotalTime>
  <Words>4909</Words>
  <Application>Microsoft Office PowerPoint</Application>
  <PresentationFormat>Widescreen</PresentationFormat>
  <Paragraphs>483</Paragraphs>
  <Slides>71</Slides>
  <Notes>37</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71</vt:i4>
      </vt:variant>
    </vt:vector>
  </HeadingPairs>
  <TitlesOfParts>
    <vt:vector size="85" baseType="lpstr">
      <vt:lpstr>-apple-system</vt:lpstr>
      <vt:lpstr>Arvo</vt:lpstr>
      <vt:lpstr>Avenir</vt:lpstr>
      <vt:lpstr>Google Sans</vt:lpstr>
      <vt:lpstr>Inter var ISO</vt:lpstr>
      <vt:lpstr>Pretendard</vt:lpstr>
      <vt:lpstr>sohne</vt:lpstr>
      <vt:lpstr>Arial</vt:lpstr>
      <vt:lpstr>Calibri</vt:lpstr>
      <vt:lpstr>Calibri Light</vt:lpstr>
      <vt:lpstr>Helvetica</vt:lpstr>
      <vt:lpstr>Roboto</vt:lpstr>
      <vt:lpstr>Times New Roman</vt:lpstr>
      <vt:lpstr>SEN 129(23) A19</vt:lpstr>
      <vt:lpstr>PowerPoint Presentation</vt:lpstr>
      <vt:lpstr>What is Responsible AI?</vt:lpstr>
      <vt:lpstr>AI Ethics, AI Governance &amp; Responsible AI</vt:lpstr>
      <vt:lpstr>AI Ethics, Responsible AI, AI Governance?</vt:lpstr>
      <vt:lpstr>Why is Responsible AI important?</vt:lpstr>
      <vt:lpstr>Responsible AI Principles</vt:lpstr>
      <vt:lpstr>ISO – Key Responsible AI Principles </vt:lpstr>
      <vt:lpstr>OECD AI Principles</vt:lpstr>
      <vt:lpstr>Responsible AI in Military Domain (REAIM)</vt:lpstr>
      <vt:lpstr>Key Responsible AI Principle - Fairness</vt:lpstr>
      <vt:lpstr>Key Responsible AI Principle - Transparency</vt:lpstr>
      <vt:lpstr>Key Responsible AI Principle - Robustness &amp; Veracity</vt:lpstr>
      <vt:lpstr>Key Responsible AI Principle - Accountability</vt:lpstr>
      <vt:lpstr>Key Responsible AI Principle - Privacy</vt:lpstr>
      <vt:lpstr>Building Trustworthy AI</vt:lpstr>
      <vt:lpstr>Building Trustworthy AI</vt:lpstr>
      <vt:lpstr>Trustworthy AI Framework</vt:lpstr>
      <vt:lpstr>Model AI Governance Framework</vt:lpstr>
      <vt:lpstr>Why we need AI governance framework? AI Governance?</vt:lpstr>
      <vt:lpstr>Do we need another Governance Framework for AI?</vt:lpstr>
      <vt:lpstr>Where AI governance fits? </vt:lpstr>
      <vt:lpstr>Singapore Model AI Governance Framework</vt:lpstr>
      <vt:lpstr>Guiding Principles</vt:lpstr>
      <vt:lpstr>4 Key Areas</vt:lpstr>
      <vt:lpstr>Internal Governance Structures</vt:lpstr>
      <vt:lpstr>Case Study - Master Card</vt:lpstr>
      <vt:lpstr>Case Study – Master Card</vt:lpstr>
      <vt:lpstr>Case Study Exercise </vt:lpstr>
      <vt:lpstr>Human Involvement in AI-augmented Decision Making</vt:lpstr>
      <vt:lpstr>Human-in-the-Loop</vt:lpstr>
      <vt:lpstr>Human-out-of-the-loop</vt:lpstr>
      <vt:lpstr>Human-over-the-loop</vt:lpstr>
      <vt:lpstr>Probability-Severity of Harm Matrix </vt:lpstr>
      <vt:lpstr>Case study</vt:lpstr>
      <vt:lpstr>Case Study </vt:lpstr>
      <vt:lpstr>Case Study</vt:lpstr>
      <vt:lpstr>Case Study</vt:lpstr>
      <vt:lpstr>Operations Management</vt:lpstr>
      <vt:lpstr>Ensure Good Data Accountability Practices</vt:lpstr>
      <vt:lpstr>Model &amp; Algorithms</vt:lpstr>
      <vt:lpstr>Biasness/Fairness</vt:lpstr>
      <vt:lpstr>Biasness/Fairness</vt:lpstr>
      <vt:lpstr>Data Privacy</vt:lpstr>
      <vt:lpstr>Explainability</vt:lpstr>
      <vt:lpstr>Explainability vs Interpretability</vt:lpstr>
      <vt:lpstr>Explainability</vt:lpstr>
      <vt:lpstr>Testing for Robustness of Model</vt:lpstr>
      <vt:lpstr>Testing for Robustness of Model</vt:lpstr>
      <vt:lpstr>Regular tuning</vt:lpstr>
      <vt:lpstr>Stakeholder Communication</vt:lpstr>
      <vt:lpstr>Stakeholder communication</vt:lpstr>
      <vt:lpstr>Stakeholder communication</vt:lpstr>
      <vt:lpstr>Case study - Facebook</vt:lpstr>
      <vt:lpstr>Sector-specific Regulations and Guidelines </vt:lpstr>
      <vt:lpstr>Implementation and Self-Assessment Guide for Organizations (ISAGO)</vt:lpstr>
      <vt:lpstr>New Risks with Generative AI</vt:lpstr>
      <vt:lpstr>New Risks with Generative AI</vt:lpstr>
      <vt:lpstr>New Risks with Generative AI </vt:lpstr>
      <vt:lpstr>New Risks with Generative AI</vt:lpstr>
      <vt:lpstr>New Risks with Generative AI</vt:lpstr>
      <vt:lpstr>New Risks with Generative AI</vt:lpstr>
      <vt:lpstr>Model Framework for Generative AI (2024)</vt:lpstr>
      <vt:lpstr>Key Dimensions of a Trusted AI Ecosystem</vt:lpstr>
      <vt:lpstr>Key Dimensions of a Trusted AI Ecosystem</vt:lpstr>
      <vt:lpstr>Key Dimensions of a Trusted AI Ecosystem</vt:lpstr>
      <vt:lpstr>Key Dimensions of a Trusted AI Ecosystem</vt:lpstr>
      <vt:lpstr>Case Study – Use of AI in Israel’s war on Gaza</vt:lpstr>
      <vt:lpstr>Case Study Discussion – Video surveillance</vt:lpstr>
      <vt:lpstr>Case Study Discussion – Fraud Detection </vt:lpstr>
      <vt:lpstr>Case Study Discussion - AI-assisted HR tools</vt:lpstr>
      <vt:lpstr>Case Study Discussion – Smart Retail 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 (NYP)</cp:lastModifiedBy>
  <cp:revision>16</cp:revision>
  <dcterms:created xsi:type="dcterms:W3CDTF">2023-04-05T14:55:09Z</dcterms:created>
  <dcterms:modified xsi:type="dcterms:W3CDTF">2026-05-04T10:26:52Z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